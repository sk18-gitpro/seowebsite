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</p:sldIdLst>
  <p:sldSz cx="18288000" cy="10287000"/>
  <p:notesSz cx="6858000" cy="9144000"/>
  <p:embeddedFontLst>
    <p:embeddedFont>
      <p:font typeface="Calibri (MS)" panose="020B0604020202020204" charset="0"/>
      <p:regular r:id="rId21"/>
    </p:embeddedFont>
    <p:embeddedFont>
      <p:font typeface="Inter" panose="020B0604020202020204" charset="0"/>
      <p:regular r:id="rId22"/>
    </p:embeddedFont>
    <p:embeddedFont>
      <p:font typeface="Inter Bold" panose="020B0604020202020204" charset="0"/>
      <p:regular r:id="rId23"/>
    </p:embeddedFont>
    <p:embeddedFont>
      <p:font typeface="Inter Italics" panose="020B0604020202020204" charset="0"/>
      <p:regular r:id="rId24"/>
    </p:embeddedFont>
    <p:embeddedFont>
      <p:font typeface="Montserrat Bold" panose="020B0604020202020204" charset="0"/>
      <p:regular r:id="rId25"/>
    </p:embeddedFont>
    <p:embeddedFont>
      <p:font typeface="Montserrat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212"/>
    <a:srgbClr val="191970"/>
    <a:srgbClr val="0000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" d="100"/>
          <a:sy n="10" d="100"/>
        </p:scale>
        <p:origin x="3250" y="14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~30 sec. Open with the one-line promise: SkillAscend takes a person from unverified to employed. Name the five verbs on the tagline; the rest of the deck walks through them.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~60 sec. Four gaps, one theme: capable people can't prove skill, don't know their next step, can't navigate stable (government) routes, and have no network. Replace the ~80% framing figure with a sourced number before presenting.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~60 sec. Make Pratik real. He is the persona you return to in the journey slide. Emphasise: real skill, no proof, no path, no network.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~45 sec. The reframe: people don't lack ambition, they lack a connected path. Every existing tool solves one piece.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~60 sec. The whole product on one slide. Say the six steps out loud, then tell judges you'll go deep on the first five, then the government-exam route.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~60 sec. Be upfront: this is a confidence signal, not a certificate. That honesty is what makes the next question (can it be gamed?) easier to answer.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~60 sec. Show the chain: what he proved becomes his CV; the CV vs the target role reveals a gap; the gap drives the lessons. Mention that the examples are illustrative.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~45 sec. Say what P2P means concretely: study groups, mentors, referrals. Safety comes from verification. It's a later-phase feature, so say so.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~45 sec. Judges will ask what 'stable' means. Give the four-part working definition. Then hand over to the government module as the most stable route.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~60 sec. This is the government route, presented after the core journey. Stress the eligibility check: it stops people spending a year on an exam they can't sit. Verify every rule against the current official notification before it goes on screen.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BACKUP (or 30 sec if judges are technical). Answers 'is the AI doing real work?': three separate AI jobs plus a deterministic rules engine for exams.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BACKUP. Answers 'is this feasible?'. Point out that the core thread runs on existing speech, LLM and embedding APIs; only data and partnerships are missing.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~60 sec. Tell this as a story, one sentence per step, ending with Pratik in a stable job. No app is needed: the story is the demo.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BACKUP. Use for 'how is this different from LinkedIn / Naukri / Testbook?'. Never say competitors can't do something; say they weren't designed for this user. Check the marks against current products first.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~45 sec. Free for the user is the point. Say plainly that unit economics are unproven and the first goal is a pilot.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BACKUP (or 20 sec). Shows scope discipline: start with the core thread, add peers and jobs once it works.</a:t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05120-31A3-B7F1-51D2-351C4D88A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5A9A24-5E13-0EEE-63A7-1B3FB35766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B58401-0AFD-2805-4C8F-E956758E3B7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07F6681-6343-ACAF-0F9D-AE51D53B25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1FF4465-2E3B-F42A-960A-BB7D53306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~15 sec. End on the promise, then invite questions.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16CE0-7EFD-0DA5-A6DA-03F5BB1953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2E8DB-3BD8-416F-035D-9C6725571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049359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LIVE PITCH · ~15 sec. End on the promise, then invite questions.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67360" y="-3017520"/>
            <a:ext cx="8915400" cy="8915400"/>
            <a:chOff x="0" y="0"/>
            <a:chExt cx="11887200" cy="1188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87200" cy="11887200"/>
            </a:xfrm>
            <a:custGeom>
              <a:avLst/>
              <a:gdLst/>
              <a:ahLst/>
              <a:cxnLst/>
              <a:rect l="l" t="t" r="r" b="b"/>
              <a:pathLst>
                <a:path w="11887200" h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14B8A6">
                <a:alpha val="78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910560" y="4937760"/>
            <a:ext cx="5760720" cy="5760720"/>
            <a:chOff x="0" y="0"/>
            <a:chExt cx="7680960" cy="7680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0960" cy="7680960"/>
            </a:xfrm>
            <a:custGeom>
              <a:avLst/>
              <a:gdLst/>
              <a:ahLst/>
              <a:cxnLst/>
              <a:rect l="l" t="t" r="r" b="b"/>
              <a:pathLst>
                <a:path w="7680960" h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60120" y="1577340"/>
            <a:ext cx="12344400" cy="548640"/>
            <a:chOff x="0" y="0"/>
            <a:chExt cx="16459200" cy="7315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00" cy="731520"/>
            </a:xfrm>
            <a:custGeom>
              <a:avLst/>
              <a:gdLst/>
              <a:ahLst/>
              <a:cxnLst/>
              <a:rect l="l" t="t" r="r" b="b"/>
              <a:pathLst>
                <a:path w="16459200" h="73152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13" b="-38841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64592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 dirty="0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FUTURE OF WORK CHALLENGES · AI/TECHNOLOGY TRACK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1540" y="2125980"/>
            <a:ext cx="13030200" cy="1783080"/>
            <a:chOff x="0" y="0"/>
            <a:chExt cx="17373600" cy="23774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73600" cy="2377440"/>
            </a:xfrm>
            <a:custGeom>
              <a:avLst/>
              <a:gdLst/>
              <a:ahLst/>
              <a:cxnLst/>
              <a:rect l="l" t="t" r="r" b="b"/>
              <a:pathLst>
                <a:path w="17373600" h="2377440">
                  <a:moveTo>
                    <a:pt x="0" y="0"/>
                  </a:moveTo>
                  <a:lnTo>
                    <a:pt x="17373600" y="0"/>
                  </a:lnTo>
                  <a:lnTo>
                    <a:pt x="173736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390" b="-9239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7373600" cy="2377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0"/>
                </a:lnSpc>
              </a:pPr>
              <a:r>
                <a:rPr lang="en-US" sz="90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SkillAscend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0120" y="3840480"/>
            <a:ext cx="12344400" cy="822960"/>
            <a:chOff x="0" y="0"/>
            <a:chExt cx="16459200" cy="10972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459200" cy="1097280"/>
            </a:xfrm>
            <a:custGeom>
              <a:avLst/>
              <a:gdLst/>
              <a:ahLst/>
              <a:cxnLst/>
              <a:rect l="l" t="t" r="r" b="b"/>
              <a:pathLst>
                <a:path w="16459200" h="109728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69"/>
                </a:lnSpc>
              </a:pPr>
              <a:r>
                <a:rPr lang="en-US" sz="3225" i="1">
                  <a:solidFill>
                    <a:srgbClr val="CBD5E1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Verify. Build. Learn. Connect. Get hired.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 rot="29580">
            <a:off x="940984" y="4928235"/>
            <a:ext cx="4427382" cy="0"/>
          </a:xfrm>
          <a:prstGeom prst="line">
            <a:avLst/>
          </a:prstGeom>
          <a:ln w="19050" cap="rnd">
            <a:solidFill>
              <a:srgbClr val="14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960120" y="5349240"/>
            <a:ext cx="11795760" cy="1508760"/>
            <a:chOff x="0" y="0"/>
            <a:chExt cx="15727680" cy="20116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727680" cy="2011680"/>
            </a:xfrm>
            <a:custGeom>
              <a:avLst/>
              <a:gdLst/>
              <a:ahLst/>
              <a:cxnLst/>
              <a:rect l="l" t="t" r="r" b="b"/>
              <a:pathLst>
                <a:path w="15727680" h="2011680">
                  <a:moveTo>
                    <a:pt x="0" y="0"/>
                  </a:moveTo>
                  <a:lnTo>
                    <a:pt x="15727680" y="0"/>
                  </a:lnTo>
                  <a:lnTo>
                    <a:pt x="15727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337" b="-10233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15727680" cy="2106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61"/>
                </a:lnSpc>
              </a:pPr>
              <a:r>
                <a:rPr lang="en-US" sz="24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An AI-powered career path for people facing hardship: verify your skills, build your CV, close your skill gaps, learn, network with peers, and reach a stable job — private or government.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0595" y="7397115"/>
            <a:ext cx="3516630" cy="773430"/>
            <a:chOff x="0" y="0"/>
            <a:chExt cx="4688840" cy="10312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688840" cy="1031240"/>
            </a:xfrm>
            <a:custGeom>
              <a:avLst/>
              <a:gdLst/>
              <a:ahLst/>
              <a:cxnLst/>
              <a:rect l="l" t="t" r="r" b="b"/>
              <a:pathLst>
                <a:path w="46888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173220" y="0"/>
                  </a:lnTo>
                  <a:cubicBezTo>
                    <a:pt x="4457954" y="0"/>
                    <a:pt x="4688840" y="230886"/>
                    <a:pt x="4688840" y="515620"/>
                  </a:cubicBezTo>
                  <a:cubicBezTo>
                    <a:pt x="4688840" y="800354"/>
                    <a:pt x="4457954" y="1031240"/>
                    <a:pt x="417322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097280" y="7406640"/>
            <a:ext cx="3223260" cy="754380"/>
            <a:chOff x="0" y="0"/>
            <a:chExt cx="4297680" cy="10058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97680" cy="1005840"/>
            </a:xfrm>
            <a:custGeom>
              <a:avLst/>
              <a:gdLst/>
              <a:ahLst/>
              <a:cxnLst/>
              <a:rect l="l" t="t" r="r" b="b"/>
              <a:pathLst>
                <a:path w="4297680" h="1005840">
                  <a:moveTo>
                    <a:pt x="0" y="0"/>
                  </a:moveTo>
                  <a:lnTo>
                    <a:pt x="4297680" y="0"/>
                  </a:lnTo>
                  <a:lnTo>
                    <a:pt x="4297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54" b="-3325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429768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dirty="0" err="1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Verify’s</a:t>
              </a:r>
              <a:r>
                <a:rPr lang="en-US" sz="1950" dirty="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 skills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22495" y="7397115"/>
            <a:ext cx="3516630" cy="773430"/>
            <a:chOff x="0" y="0"/>
            <a:chExt cx="4688840" cy="10312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688840" cy="1031240"/>
            </a:xfrm>
            <a:custGeom>
              <a:avLst/>
              <a:gdLst/>
              <a:ahLst/>
              <a:cxnLst/>
              <a:rect l="l" t="t" r="r" b="b"/>
              <a:pathLst>
                <a:path w="46888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173220" y="0"/>
                  </a:lnTo>
                  <a:cubicBezTo>
                    <a:pt x="4457954" y="0"/>
                    <a:pt x="4688840" y="230886"/>
                    <a:pt x="4688840" y="515620"/>
                  </a:cubicBezTo>
                  <a:cubicBezTo>
                    <a:pt x="4688840" y="800354"/>
                    <a:pt x="4457954" y="1031240"/>
                    <a:pt x="417322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869180" y="7406640"/>
            <a:ext cx="3223260" cy="754380"/>
            <a:chOff x="0" y="0"/>
            <a:chExt cx="4297680" cy="10058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97680" cy="1005840"/>
            </a:xfrm>
            <a:custGeom>
              <a:avLst/>
              <a:gdLst/>
              <a:ahLst/>
              <a:cxnLst/>
              <a:rect l="l" t="t" r="r" b="b"/>
              <a:pathLst>
                <a:path w="4297680" h="1005840">
                  <a:moveTo>
                    <a:pt x="0" y="0"/>
                  </a:moveTo>
                  <a:lnTo>
                    <a:pt x="4297680" y="0"/>
                  </a:lnTo>
                  <a:lnTo>
                    <a:pt x="4297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54" b="-3325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29768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CV + skill gaps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494395" y="7397115"/>
            <a:ext cx="3516630" cy="773430"/>
            <a:chOff x="0" y="0"/>
            <a:chExt cx="4688840" cy="10312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688840" cy="1031240"/>
            </a:xfrm>
            <a:custGeom>
              <a:avLst/>
              <a:gdLst/>
              <a:ahLst/>
              <a:cxnLst/>
              <a:rect l="l" t="t" r="r" b="b"/>
              <a:pathLst>
                <a:path w="46888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173220" y="0"/>
                  </a:lnTo>
                  <a:cubicBezTo>
                    <a:pt x="4457954" y="0"/>
                    <a:pt x="4688840" y="230886"/>
                    <a:pt x="4688840" y="515620"/>
                  </a:cubicBezTo>
                  <a:cubicBezTo>
                    <a:pt x="4688840" y="800354"/>
                    <a:pt x="4457954" y="1031240"/>
                    <a:pt x="417322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641080" y="7406640"/>
            <a:ext cx="3223260" cy="754380"/>
            <a:chOff x="0" y="0"/>
            <a:chExt cx="4297680" cy="10058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297680" cy="1005840"/>
            </a:xfrm>
            <a:custGeom>
              <a:avLst/>
              <a:gdLst/>
              <a:ahLst/>
              <a:cxnLst/>
              <a:rect l="l" t="t" r="r" b="b"/>
              <a:pathLst>
                <a:path w="4297680" h="1005840">
                  <a:moveTo>
                    <a:pt x="0" y="0"/>
                  </a:moveTo>
                  <a:lnTo>
                    <a:pt x="4297680" y="0"/>
                  </a:lnTo>
                  <a:lnTo>
                    <a:pt x="4297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54" b="-3325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429768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Learn + peer network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266295" y="7397115"/>
            <a:ext cx="3516630" cy="773430"/>
            <a:chOff x="0" y="0"/>
            <a:chExt cx="4688840" cy="10312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688840" cy="1031240"/>
            </a:xfrm>
            <a:custGeom>
              <a:avLst/>
              <a:gdLst/>
              <a:ahLst/>
              <a:cxnLst/>
              <a:rect l="l" t="t" r="r" b="b"/>
              <a:pathLst>
                <a:path w="46888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173220" y="0"/>
                  </a:lnTo>
                  <a:cubicBezTo>
                    <a:pt x="4457954" y="0"/>
                    <a:pt x="4688840" y="230886"/>
                    <a:pt x="4688840" y="515620"/>
                  </a:cubicBezTo>
                  <a:cubicBezTo>
                    <a:pt x="4688840" y="800354"/>
                    <a:pt x="4457954" y="1031240"/>
                    <a:pt x="417322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2412980" y="7406640"/>
            <a:ext cx="3223260" cy="754380"/>
            <a:chOff x="0" y="0"/>
            <a:chExt cx="4297680" cy="10058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297680" cy="1005840"/>
            </a:xfrm>
            <a:custGeom>
              <a:avLst/>
              <a:gdLst/>
              <a:ahLst/>
              <a:cxnLst/>
              <a:rect l="l" t="t" r="r" b="b"/>
              <a:pathLst>
                <a:path w="4297680" h="1005840">
                  <a:moveTo>
                    <a:pt x="0" y="0"/>
                  </a:moveTo>
                  <a:lnTo>
                    <a:pt x="4297680" y="0"/>
                  </a:lnTo>
                  <a:lnTo>
                    <a:pt x="4297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54" b="-3325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429768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Private &amp; govt jobs</a:t>
              </a:r>
            </a:p>
          </p:txBody>
        </p:sp>
      </p:grpSp>
      <p:grpSp>
        <p:nvGrpSpPr>
          <p:cNvPr id="39" name="Group 2">
            <a:extLst>
              <a:ext uri="{FF2B5EF4-FFF2-40B4-BE49-F238E27FC236}">
                <a16:creationId xmlns:a16="http://schemas.microsoft.com/office/drawing/2014/main" id="{05498A98-9D88-9F2D-1284-91CA867BBCC4}"/>
              </a:ext>
            </a:extLst>
          </p:cNvPr>
          <p:cNvGrpSpPr/>
          <p:nvPr/>
        </p:nvGrpSpPr>
        <p:grpSpPr>
          <a:xfrm>
            <a:off x="965835" y="11013757"/>
            <a:ext cx="12344400" cy="480060"/>
            <a:chOff x="0" y="0"/>
            <a:chExt cx="16459200" cy="640080"/>
          </a:xfrm>
        </p:grpSpPr>
        <p:sp>
          <p:nvSpPr>
            <p:cNvPr id="40" name="Freeform 3">
              <a:extLst>
                <a:ext uri="{FF2B5EF4-FFF2-40B4-BE49-F238E27FC236}">
                  <a16:creationId xmlns:a16="http://schemas.microsoft.com/office/drawing/2014/main" id="{B1EBCA8C-17DF-43A5-048F-EFF396A6A680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1" name="TextBox 4">
              <a:extLst>
                <a:ext uri="{FF2B5EF4-FFF2-40B4-BE49-F238E27FC236}">
                  <a16:creationId xmlns:a16="http://schemas.microsoft.com/office/drawing/2014/main" id="{D877783D-75DC-F44D-A7FE-35276D4AF052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PROBLEM</a:t>
              </a:r>
            </a:p>
          </p:txBody>
        </p:sp>
      </p:grpSp>
      <p:grpSp>
        <p:nvGrpSpPr>
          <p:cNvPr id="42" name="Group 5">
            <a:extLst>
              <a:ext uri="{FF2B5EF4-FFF2-40B4-BE49-F238E27FC236}">
                <a16:creationId xmlns:a16="http://schemas.microsoft.com/office/drawing/2014/main" id="{21EBA13F-64EF-F544-7225-7E3BC8F20662}"/>
              </a:ext>
            </a:extLst>
          </p:cNvPr>
          <p:cNvGrpSpPr/>
          <p:nvPr/>
        </p:nvGrpSpPr>
        <p:grpSpPr>
          <a:xfrm>
            <a:off x="965835" y="11493817"/>
            <a:ext cx="16322040" cy="1234440"/>
            <a:chOff x="0" y="0"/>
            <a:chExt cx="21762720" cy="1645920"/>
          </a:xfrm>
        </p:grpSpPr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ACEA41C7-C3BC-E7EF-936E-4C9283E2F415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44" name="TextBox 7">
              <a:extLst>
                <a:ext uri="{FF2B5EF4-FFF2-40B4-BE49-F238E27FC236}">
                  <a16:creationId xmlns:a16="http://schemas.microsoft.com/office/drawing/2014/main" id="{F51E9E6F-76E5-3CE4-7D47-48A0376619FB}"/>
                </a:ext>
              </a:extLst>
            </p:cNvPr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Talent is everywhere. A path to stable work isn't.</a:t>
              </a:r>
            </a:p>
          </p:txBody>
        </p:sp>
      </p:grpSp>
      <p:grpSp>
        <p:nvGrpSpPr>
          <p:cNvPr id="45" name="Group 8">
            <a:extLst>
              <a:ext uri="{FF2B5EF4-FFF2-40B4-BE49-F238E27FC236}">
                <a16:creationId xmlns:a16="http://schemas.microsoft.com/office/drawing/2014/main" id="{18CF7847-23C0-8F8A-9B30-108179CA1D13}"/>
              </a:ext>
            </a:extLst>
          </p:cNvPr>
          <p:cNvGrpSpPr/>
          <p:nvPr/>
        </p:nvGrpSpPr>
        <p:grpSpPr>
          <a:xfrm>
            <a:off x="965835" y="13208317"/>
            <a:ext cx="685800" cy="685800"/>
            <a:chOff x="0" y="0"/>
            <a:chExt cx="914400" cy="914400"/>
          </a:xfrm>
        </p:grpSpPr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B1932E00-8914-55EA-03EC-388D29F6AD5C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47" name="Group 10">
            <a:extLst>
              <a:ext uri="{FF2B5EF4-FFF2-40B4-BE49-F238E27FC236}">
                <a16:creationId xmlns:a16="http://schemas.microsoft.com/office/drawing/2014/main" id="{A59FC6C1-E4FD-64B3-BB94-305956BC8C44}"/>
              </a:ext>
            </a:extLst>
          </p:cNvPr>
          <p:cNvGrpSpPr/>
          <p:nvPr/>
        </p:nvGrpSpPr>
        <p:grpSpPr>
          <a:xfrm>
            <a:off x="965835" y="13208317"/>
            <a:ext cx="685800" cy="685800"/>
            <a:chOff x="0" y="0"/>
            <a:chExt cx="914400" cy="914400"/>
          </a:xfrm>
        </p:grpSpPr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5FBAE535-9102-C0E5-4DC8-6F569CA22EE1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9" name="TextBox 12">
              <a:extLst>
                <a:ext uri="{FF2B5EF4-FFF2-40B4-BE49-F238E27FC236}">
                  <a16:creationId xmlns:a16="http://schemas.microsoft.com/office/drawing/2014/main" id="{BF4EA19C-2E59-5B35-9438-CA845F3D14B0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50" name="Group 13">
            <a:extLst>
              <a:ext uri="{FF2B5EF4-FFF2-40B4-BE49-F238E27FC236}">
                <a16:creationId xmlns:a16="http://schemas.microsoft.com/office/drawing/2014/main" id="{8834C393-5C6A-1AAB-0AE0-8AF831ABB141}"/>
              </a:ext>
            </a:extLst>
          </p:cNvPr>
          <p:cNvGrpSpPr/>
          <p:nvPr/>
        </p:nvGrpSpPr>
        <p:grpSpPr>
          <a:xfrm>
            <a:off x="1994535" y="13139737"/>
            <a:ext cx="10972800" cy="548640"/>
            <a:chOff x="0" y="0"/>
            <a:chExt cx="14630400" cy="731520"/>
          </a:xfrm>
        </p:grpSpPr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0B00409D-C968-69EA-C2DB-8D38B9E8228A}"/>
                </a:ext>
              </a:extLst>
            </p:cNvPr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52" name="TextBox 15">
              <a:extLst>
                <a:ext uri="{FF2B5EF4-FFF2-40B4-BE49-F238E27FC236}">
                  <a16:creationId xmlns:a16="http://schemas.microsoft.com/office/drawing/2014/main" id="{32CC5757-E3F3-886A-AA8A-D227AA8D646A}"/>
                </a:ext>
              </a:extLst>
            </p:cNvPr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Skills without proof</a:t>
              </a:r>
            </a:p>
          </p:txBody>
        </p:sp>
      </p:grpSp>
      <p:sp>
        <p:nvSpPr>
          <p:cNvPr id="53" name="TextBox 16">
            <a:extLst>
              <a:ext uri="{FF2B5EF4-FFF2-40B4-BE49-F238E27FC236}">
                <a16:creationId xmlns:a16="http://schemas.microsoft.com/office/drawing/2014/main" id="{B0E8C898-9C85-F757-C6D5-514FA369E8DA}"/>
              </a:ext>
            </a:extLst>
          </p:cNvPr>
          <p:cNvSpPr txBox="1"/>
          <p:nvPr/>
        </p:nvSpPr>
        <p:spPr>
          <a:xfrm>
            <a:off x="1994535" y="13654468"/>
            <a:ext cx="1110996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mechanic, cook or tailor who learned by doing has no certificate or digital footprint, so employers can't verify what they can actually do.</a:t>
            </a:r>
          </a:p>
        </p:txBody>
      </p:sp>
      <p:grpSp>
        <p:nvGrpSpPr>
          <p:cNvPr id="54" name="Group 17">
            <a:extLst>
              <a:ext uri="{FF2B5EF4-FFF2-40B4-BE49-F238E27FC236}">
                <a16:creationId xmlns:a16="http://schemas.microsoft.com/office/drawing/2014/main" id="{751577FC-9D3E-BD0C-2CEF-9B30462B59C4}"/>
              </a:ext>
            </a:extLst>
          </p:cNvPr>
          <p:cNvGrpSpPr/>
          <p:nvPr/>
        </p:nvGrpSpPr>
        <p:grpSpPr>
          <a:xfrm>
            <a:off x="965835" y="14881669"/>
            <a:ext cx="685800" cy="685800"/>
            <a:chOff x="0" y="0"/>
            <a:chExt cx="914400" cy="914400"/>
          </a:xfrm>
        </p:grpSpPr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DC2A54FD-698C-5AB4-4B02-DCBBE8212A84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56" name="Group 19">
            <a:extLst>
              <a:ext uri="{FF2B5EF4-FFF2-40B4-BE49-F238E27FC236}">
                <a16:creationId xmlns:a16="http://schemas.microsoft.com/office/drawing/2014/main" id="{0083DA88-C565-B1D5-EA90-47E4996B60A5}"/>
              </a:ext>
            </a:extLst>
          </p:cNvPr>
          <p:cNvGrpSpPr/>
          <p:nvPr/>
        </p:nvGrpSpPr>
        <p:grpSpPr>
          <a:xfrm>
            <a:off x="965835" y="14881669"/>
            <a:ext cx="685800" cy="685800"/>
            <a:chOff x="0" y="0"/>
            <a:chExt cx="914400" cy="914400"/>
          </a:xfrm>
        </p:grpSpPr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9A4915D1-15A9-CE06-A087-973C0111152D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8" name="TextBox 21">
              <a:extLst>
                <a:ext uri="{FF2B5EF4-FFF2-40B4-BE49-F238E27FC236}">
                  <a16:creationId xmlns:a16="http://schemas.microsoft.com/office/drawing/2014/main" id="{5ACD2811-7130-DE59-8BFE-8326755F57E7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59" name="Group 22">
            <a:extLst>
              <a:ext uri="{FF2B5EF4-FFF2-40B4-BE49-F238E27FC236}">
                <a16:creationId xmlns:a16="http://schemas.microsoft.com/office/drawing/2014/main" id="{14A40740-50EA-1070-C8FE-F1539D6BF361}"/>
              </a:ext>
            </a:extLst>
          </p:cNvPr>
          <p:cNvGrpSpPr/>
          <p:nvPr/>
        </p:nvGrpSpPr>
        <p:grpSpPr>
          <a:xfrm>
            <a:off x="1994535" y="14813089"/>
            <a:ext cx="10972800" cy="548640"/>
            <a:chOff x="0" y="0"/>
            <a:chExt cx="14630400" cy="731520"/>
          </a:xfrm>
        </p:grpSpPr>
        <p:sp>
          <p:nvSpPr>
            <p:cNvPr id="60" name="Freeform 23">
              <a:extLst>
                <a:ext uri="{FF2B5EF4-FFF2-40B4-BE49-F238E27FC236}">
                  <a16:creationId xmlns:a16="http://schemas.microsoft.com/office/drawing/2014/main" id="{6F9D060A-9D3B-7417-DD43-6EA01607BACE}"/>
                </a:ext>
              </a:extLst>
            </p:cNvPr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61" name="TextBox 24">
              <a:extLst>
                <a:ext uri="{FF2B5EF4-FFF2-40B4-BE49-F238E27FC236}">
                  <a16:creationId xmlns:a16="http://schemas.microsoft.com/office/drawing/2014/main" id="{B412FB50-6A45-56C8-57A0-8677570719D3}"/>
                </a:ext>
              </a:extLst>
            </p:cNvPr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 CV, no direction</a:t>
              </a:r>
            </a:p>
          </p:txBody>
        </p:sp>
      </p:grpSp>
      <p:sp>
        <p:nvSpPr>
          <p:cNvPr id="62" name="TextBox 25">
            <a:extLst>
              <a:ext uri="{FF2B5EF4-FFF2-40B4-BE49-F238E27FC236}">
                <a16:creationId xmlns:a16="http://schemas.microsoft.com/office/drawing/2014/main" id="{23238034-BCE1-218A-748C-128AC923F724}"/>
              </a:ext>
            </a:extLst>
          </p:cNvPr>
          <p:cNvSpPr txBox="1"/>
          <p:nvPr/>
        </p:nvSpPr>
        <p:spPr>
          <a:xfrm>
            <a:off x="1994535" y="15327820"/>
            <a:ext cx="1110996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Many have never written a CV, don't know which roles fit them, and can't see which missing skill is blocking the next job.</a:t>
            </a:r>
          </a:p>
        </p:txBody>
      </p:sp>
      <p:grpSp>
        <p:nvGrpSpPr>
          <p:cNvPr id="63" name="Group 26">
            <a:extLst>
              <a:ext uri="{FF2B5EF4-FFF2-40B4-BE49-F238E27FC236}">
                <a16:creationId xmlns:a16="http://schemas.microsoft.com/office/drawing/2014/main" id="{DF568E72-1B87-357F-F10E-66AB4B75A341}"/>
              </a:ext>
            </a:extLst>
          </p:cNvPr>
          <p:cNvGrpSpPr/>
          <p:nvPr/>
        </p:nvGrpSpPr>
        <p:grpSpPr>
          <a:xfrm>
            <a:off x="965835" y="16555021"/>
            <a:ext cx="685800" cy="685800"/>
            <a:chOff x="0" y="0"/>
            <a:chExt cx="914400" cy="914400"/>
          </a:xfrm>
        </p:grpSpPr>
        <p:sp>
          <p:nvSpPr>
            <p:cNvPr id="64" name="Freeform 27">
              <a:extLst>
                <a:ext uri="{FF2B5EF4-FFF2-40B4-BE49-F238E27FC236}">
                  <a16:creationId xmlns:a16="http://schemas.microsoft.com/office/drawing/2014/main" id="{06FC2E1B-6A80-2E71-A080-62082BA258DF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65" name="Group 28">
            <a:extLst>
              <a:ext uri="{FF2B5EF4-FFF2-40B4-BE49-F238E27FC236}">
                <a16:creationId xmlns:a16="http://schemas.microsoft.com/office/drawing/2014/main" id="{DA029E2A-CFF4-8F12-A186-1E62D747B242}"/>
              </a:ext>
            </a:extLst>
          </p:cNvPr>
          <p:cNvGrpSpPr/>
          <p:nvPr/>
        </p:nvGrpSpPr>
        <p:grpSpPr>
          <a:xfrm>
            <a:off x="965835" y="16555021"/>
            <a:ext cx="685800" cy="685800"/>
            <a:chOff x="0" y="0"/>
            <a:chExt cx="914400" cy="914400"/>
          </a:xfrm>
        </p:grpSpPr>
        <p:sp>
          <p:nvSpPr>
            <p:cNvPr id="66" name="Freeform 29">
              <a:extLst>
                <a:ext uri="{FF2B5EF4-FFF2-40B4-BE49-F238E27FC236}">
                  <a16:creationId xmlns:a16="http://schemas.microsoft.com/office/drawing/2014/main" id="{7924682A-05D0-1A9C-3149-B91854FB2158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7" name="TextBox 30">
              <a:extLst>
                <a:ext uri="{FF2B5EF4-FFF2-40B4-BE49-F238E27FC236}">
                  <a16:creationId xmlns:a16="http://schemas.microsoft.com/office/drawing/2014/main" id="{369FA778-C63C-38F2-4A0F-85DEA068ACDC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68" name="Group 31">
            <a:extLst>
              <a:ext uri="{FF2B5EF4-FFF2-40B4-BE49-F238E27FC236}">
                <a16:creationId xmlns:a16="http://schemas.microsoft.com/office/drawing/2014/main" id="{3FE60E74-60E9-50E7-FDCD-7AF23B6E9A73}"/>
              </a:ext>
            </a:extLst>
          </p:cNvPr>
          <p:cNvGrpSpPr/>
          <p:nvPr/>
        </p:nvGrpSpPr>
        <p:grpSpPr>
          <a:xfrm>
            <a:off x="1994535" y="16486441"/>
            <a:ext cx="10972800" cy="548640"/>
            <a:chOff x="0" y="0"/>
            <a:chExt cx="14630400" cy="731520"/>
          </a:xfrm>
        </p:grpSpPr>
        <p:sp>
          <p:nvSpPr>
            <p:cNvPr id="69" name="Freeform 32">
              <a:extLst>
                <a:ext uri="{FF2B5EF4-FFF2-40B4-BE49-F238E27FC236}">
                  <a16:creationId xmlns:a16="http://schemas.microsoft.com/office/drawing/2014/main" id="{0D6FD9D7-67E5-C622-6974-4363258D26F4}"/>
                </a:ext>
              </a:extLst>
            </p:cNvPr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70" name="TextBox 33">
              <a:extLst>
                <a:ext uri="{FF2B5EF4-FFF2-40B4-BE49-F238E27FC236}">
                  <a16:creationId xmlns:a16="http://schemas.microsoft.com/office/drawing/2014/main" id="{45554679-DD23-F39B-C7D7-32E98B47E93B}"/>
                </a:ext>
              </a:extLst>
            </p:cNvPr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 guidance to stable work</a:t>
              </a:r>
            </a:p>
          </p:txBody>
        </p:sp>
      </p:grpSp>
      <p:sp>
        <p:nvSpPr>
          <p:cNvPr id="71" name="TextBox 34">
            <a:extLst>
              <a:ext uri="{FF2B5EF4-FFF2-40B4-BE49-F238E27FC236}">
                <a16:creationId xmlns:a16="http://schemas.microsoft.com/office/drawing/2014/main" id="{EC6E5803-45F3-BDB7-2324-B052E6AC0CA7}"/>
              </a:ext>
            </a:extLst>
          </p:cNvPr>
          <p:cNvSpPr txBox="1"/>
          <p:nvPr/>
        </p:nvSpPr>
        <p:spPr>
          <a:xfrm>
            <a:off x="1994535" y="17001172"/>
            <a:ext cx="1110996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Government exams are the most stable route, but eligibility rules, syllabi and deadlines are scattered and confusing.</a:t>
            </a:r>
          </a:p>
        </p:txBody>
      </p:sp>
      <p:grpSp>
        <p:nvGrpSpPr>
          <p:cNvPr id="72" name="Group 35">
            <a:extLst>
              <a:ext uri="{FF2B5EF4-FFF2-40B4-BE49-F238E27FC236}">
                <a16:creationId xmlns:a16="http://schemas.microsoft.com/office/drawing/2014/main" id="{27F62816-C969-1F0A-BAFE-AF2F793D6845}"/>
              </a:ext>
            </a:extLst>
          </p:cNvPr>
          <p:cNvGrpSpPr/>
          <p:nvPr/>
        </p:nvGrpSpPr>
        <p:grpSpPr>
          <a:xfrm>
            <a:off x="965835" y="18228373"/>
            <a:ext cx="685800" cy="685800"/>
            <a:chOff x="0" y="0"/>
            <a:chExt cx="914400" cy="914400"/>
          </a:xfrm>
        </p:grpSpPr>
        <p:sp>
          <p:nvSpPr>
            <p:cNvPr id="73" name="Freeform 36">
              <a:extLst>
                <a:ext uri="{FF2B5EF4-FFF2-40B4-BE49-F238E27FC236}">
                  <a16:creationId xmlns:a16="http://schemas.microsoft.com/office/drawing/2014/main" id="{E2252F9B-8951-3430-2331-C433ADCBAA5A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74" name="Group 37">
            <a:extLst>
              <a:ext uri="{FF2B5EF4-FFF2-40B4-BE49-F238E27FC236}">
                <a16:creationId xmlns:a16="http://schemas.microsoft.com/office/drawing/2014/main" id="{DEB9C67A-1792-328D-CD80-A9A4BFA738BF}"/>
              </a:ext>
            </a:extLst>
          </p:cNvPr>
          <p:cNvGrpSpPr/>
          <p:nvPr/>
        </p:nvGrpSpPr>
        <p:grpSpPr>
          <a:xfrm>
            <a:off x="965835" y="18228373"/>
            <a:ext cx="685800" cy="685800"/>
            <a:chOff x="0" y="0"/>
            <a:chExt cx="914400" cy="914400"/>
          </a:xfrm>
        </p:grpSpPr>
        <p:sp>
          <p:nvSpPr>
            <p:cNvPr id="75" name="Freeform 38">
              <a:extLst>
                <a:ext uri="{FF2B5EF4-FFF2-40B4-BE49-F238E27FC236}">
                  <a16:creationId xmlns:a16="http://schemas.microsoft.com/office/drawing/2014/main" id="{A0494995-E691-DAE7-BF80-937311D5924A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6" name="TextBox 39">
              <a:extLst>
                <a:ext uri="{FF2B5EF4-FFF2-40B4-BE49-F238E27FC236}">
                  <a16:creationId xmlns:a16="http://schemas.microsoft.com/office/drawing/2014/main" id="{7D83AFCB-260B-3862-E81C-7F3FE9A02D72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77" name="Group 40">
            <a:extLst>
              <a:ext uri="{FF2B5EF4-FFF2-40B4-BE49-F238E27FC236}">
                <a16:creationId xmlns:a16="http://schemas.microsoft.com/office/drawing/2014/main" id="{E93782D4-6FCD-E5E2-8A4A-4ABD5021C11E}"/>
              </a:ext>
            </a:extLst>
          </p:cNvPr>
          <p:cNvGrpSpPr/>
          <p:nvPr/>
        </p:nvGrpSpPr>
        <p:grpSpPr>
          <a:xfrm>
            <a:off x="1994535" y="18159793"/>
            <a:ext cx="10972800" cy="548640"/>
            <a:chOff x="0" y="0"/>
            <a:chExt cx="14630400" cy="731520"/>
          </a:xfrm>
        </p:grpSpPr>
        <p:sp>
          <p:nvSpPr>
            <p:cNvPr id="78" name="Freeform 41">
              <a:extLst>
                <a:ext uri="{FF2B5EF4-FFF2-40B4-BE49-F238E27FC236}">
                  <a16:creationId xmlns:a16="http://schemas.microsoft.com/office/drawing/2014/main" id="{CF9E6C73-5862-12BF-DE72-845B89605839}"/>
                </a:ext>
              </a:extLst>
            </p:cNvPr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79" name="TextBox 42">
              <a:extLst>
                <a:ext uri="{FF2B5EF4-FFF2-40B4-BE49-F238E27FC236}">
                  <a16:creationId xmlns:a16="http://schemas.microsoft.com/office/drawing/2014/main" id="{9A1A1EE1-173A-3B98-A6EC-16AF27C069BE}"/>
                </a:ext>
              </a:extLst>
            </p:cNvPr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 network to lean on</a:t>
              </a:r>
            </a:p>
          </p:txBody>
        </p:sp>
      </p:grpSp>
      <p:sp>
        <p:nvSpPr>
          <p:cNvPr id="80" name="TextBox 43">
            <a:extLst>
              <a:ext uri="{FF2B5EF4-FFF2-40B4-BE49-F238E27FC236}">
                <a16:creationId xmlns:a16="http://schemas.microsoft.com/office/drawing/2014/main" id="{AA9159F1-1992-3AD0-FD99-20726428144C}"/>
              </a:ext>
            </a:extLst>
          </p:cNvPr>
          <p:cNvSpPr txBox="1"/>
          <p:nvPr/>
        </p:nvSpPr>
        <p:spPr>
          <a:xfrm>
            <a:off x="1994535" y="18674524"/>
            <a:ext cx="1110996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Referrals and mentors decide who gets hired, and people facing hardship rarely have anyone who can vouch for them or guide them.</a:t>
            </a:r>
          </a:p>
        </p:txBody>
      </p:sp>
      <p:grpSp>
        <p:nvGrpSpPr>
          <p:cNvPr id="81" name="Group 44">
            <a:extLst>
              <a:ext uri="{FF2B5EF4-FFF2-40B4-BE49-F238E27FC236}">
                <a16:creationId xmlns:a16="http://schemas.microsoft.com/office/drawing/2014/main" id="{D05D5C5C-AD4D-1C45-F746-49F8399F180E}"/>
              </a:ext>
            </a:extLst>
          </p:cNvPr>
          <p:cNvGrpSpPr/>
          <p:nvPr/>
        </p:nvGrpSpPr>
        <p:grpSpPr>
          <a:xfrm>
            <a:off x="13712190" y="13198792"/>
            <a:ext cx="3585210" cy="6534150"/>
            <a:chOff x="0" y="0"/>
            <a:chExt cx="4780280" cy="8712200"/>
          </a:xfrm>
        </p:grpSpPr>
        <p:sp>
          <p:nvSpPr>
            <p:cNvPr id="82" name="Freeform 45">
              <a:extLst>
                <a:ext uri="{FF2B5EF4-FFF2-40B4-BE49-F238E27FC236}">
                  <a16:creationId xmlns:a16="http://schemas.microsoft.com/office/drawing/2014/main" id="{97C43F3B-FB6E-6A90-38EF-3BF031B22933}"/>
                </a:ext>
              </a:extLst>
            </p:cNvPr>
            <p:cNvSpPr/>
            <p:nvPr/>
          </p:nvSpPr>
          <p:spPr>
            <a:xfrm>
              <a:off x="0" y="0"/>
              <a:ext cx="4780280" cy="8712200"/>
            </a:xfrm>
            <a:custGeom>
              <a:avLst/>
              <a:gdLst/>
              <a:ahLst/>
              <a:cxnLst/>
              <a:rect l="l" t="t" r="r" b="b"/>
              <a:pathLst>
                <a:path w="4780280" h="871220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4596384" y="0"/>
                  </a:lnTo>
                  <a:cubicBezTo>
                    <a:pt x="4697984" y="0"/>
                    <a:pt x="4780280" y="82296"/>
                    <a:pt x="4780280" y="183896"/>
                  </a:cubicBezTo>
                  <a:lnTo>
                    <a:pt x="4780280" y="8528304"/>
                  </a:lnTo>
                  <a:cubicBezTo>
                    <a:pt x="4780280" y="8629904"/>
                    <a:pt x="4697984" y="8712200"/>
                    <a:pt x="4596384" y="8712200"/>
                  </a:cubicBezTo>
                  <a:lnTo>
                    <a:pt x="183896" y="8712200"/>
                  </a:lnTo>
                  <a:cubicBezTo>
                    <a:pt x="82296" y="8712200"/>
                    <a:pt x="0" y="8629904"/>
                    <a:pt x="0" y="8528304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83" name="Group 46">
            <a:extLst>
              <a:ext uri="{FF2B5EF4-FFF2-40B4-BE49-F238E27FC236}">
                <a16:creationId xmlns:a16="http://schemas.microsoft.com/office/drawing/2014/main" id="{9BE0B4F9-1A41-26A9-B856-690E50992EE5}"/>
              </a:ext>
            </a:extLst>
          </p:cNvPr>
          <p:cNvGrpSpPr/>
          <p:nvPr/>
        </p:nvGrpSpPr>
        <p:grpSpPr>
          <a:xfrm>
            <a:off x="13721715" y="13825537"/>
            <a:ext cx="3566160" cy="1234440"/>
            <a:chOff x="0" y="0"/>
            <a:chExt cx="4754880" cy="1645920"/>
          </a:xfrm>
        </p:grpSpPr>
        <p:sp>
          <p:nvSpPr>
            <p:cNvPr id="84" name="Freeform 47">
              <a:extLst>
                <a:ext uri="{FF2B5EF4-FFF2-40B4-BE49-F238E27FC236}">
                  <a16:creationId xmlns:a16="http://schemas.microsoft.com/office/drawing/2014/main" id="{A36D7540-D428-507D-77B4-0B78328F6537}"/>
                </a:ext>
              </a:extLst>
            </p:cNvPr>
            <p:cNvSpPr/>
            <p:nvPr/>
          </p:nvSpPr>
          <p:spPr>
            <a:xfrm>
              <a:off x="0" y="0"/>
              <a:ext cx="4754880" cy="1645920"/>
            </a:xfrm>
            <a:custGeom>
              <a:avLst/>
              <a:gdLst/>
              <a:ahLst/>
              <a:cxnLst/>
              <a:rect l="l" t="t" r="r" b="b"/>
              <a:pathLst>
                <a:path w="4754880" h="1645920">
                  <a:moveTo>
                    <a:pt x="0" y="0"/>
                  </a:moveTo>
                  <a:lnTo>
                    <a:pt x="4754880" y="0"/>
                  </a:lnTo>
                  <a:lnTo>
                    <a:pt x="47548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90" b="-6290"/>
              </a:stretch>
            </a:blipFill>
          </p:spPr>
        </p:sp>
        <p:sp>
          <p:nvSpPr>
            <p:cNvPr id="85" name="TextBox 48">
              <a:extLst>
                <a:ext uri="{FF2B5EF4-FFF2-40B4-BE49-F238E27FC236}">
                  <a16:creationId xmlns:a16="http://schemas.microsoft.com/office/drawing/2014/main" id="{3BFD48C7-D022-59EA-780E-591538F19910}"/>
                </a:ext>
              </a:extLst>
            </p:cNvPr>
            <p:cNvSpPr txBox="1"/>
            <p:nvPr/>
          </p:nvSpPr>
          <p:spPr>
            <a:xfrm>
              <a:off x="0" y="-9525"/>
              <a:ext cx="47548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559"/>
                </a:lnSpc>
              </a:pPr>
              <a:r>
                <a:rPr lang="en-US" sz="6300" b="1">
                  <a:solidFill>
                    <a:srgbClr val="14B8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~80%</a:t>
              </a:r>
            </a:p>
          </p:txBody>
        </p:sp>
      </p:grpSp>
      <p:sp>
        <p:nvSpPr>
          <p:cNvPr id="86" name="TextBox 49">
            <a:extLst>
              <a:ext uri="{FF2B5EF4-FFF2-40B4-BE49-F238E27FC236}">
                <a16:creationId xmlns:a16="http://schemas.microsoft.com/office/drawing/2014/main" id="{BCCFB058-CC4A-8935-DFA0-46CB2F6CFE8A}"/>
              </a:ext>
            </a:extLst>
          </p:cNvPr>
          <p:cNvSpPr txBox="1"/>
          <p:nvPr/>
        </p:nvSpPr>
        <p:spPr>
          <a:xfrm>
            <a:off x="14064615" y="15002827"/>
            <a:ext cx="2880360" cy="362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of India's workforce works in the informal economy: largely undocumented, underemployed, and without a clear path to stable work.</a:t>
            </a:r>
          </a:p>
        </p:txBody>
      </p:sp>
      <p:grpSp>
        <p:nvGrpSpPr>
          <p:cNvPr id="87" name="Group 50">
            <a:extLst>
              <a:ext uri="{FF2B5EF4-FFF2-40B4-BE49-F238E27FC236}">
                <a16:creationId xmlns:a16="http://schemas.microsoft.com/office/drawing/2014/main" id="{88D99139-88AB-0FE6-EE2C-76FAD99A771C}"/>
              </a:ext>
            </a:extLst>
          </p:cNvPr>
          <p:cNvGrpSpPr/>
          <p:nvPr/>
        </p:nvGrpSpPr>
        <p:grpSpPr>
          <a:xfrm>
            <a:off x="17219295" y="20134897"/>
            <a:ext cx="822960" cy="411480"/>
            <a:chOff x="0" y="0"/>
            <a:chExt cx="1097280" cy="548640"/>
          </a:xfrm>
        </p:grpSpPr>
        <p:sp>
          <p:nvSpPr>
            <p:cNvPr id="88" name="Freeform 51">
              <a:extLst>
                <a:ext uri="{FF2B5EF4-FFF2-40B4-BE49-F238E27FC236}">
                  <a16:creationId xmlns:a16="http://schemas.microsoft.com/office/drawing/2014/main" id="{869C5DDC-B70D-F583-7A66-411020C2CA75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89" name="TextBox 52">
              <a:extLst>
                <a:ext uri="{FF2B5EF4-FFF2-40B4-BE49-F238E27FC236}">
                  <a16:creationId xmlns:a16="http://schemas.microsoft.com/office/drawing/2014/main" id="{D29B98D8-D329-8DF0-75F2-D7248C77446D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PROBLEM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097280"/>
            <a:ext cx="16322040" cy="1234440"/>
            <a:chOff x="0" y="0"/>
            <a:chExt cx="2176272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Talent is everywhere. A path to stable work isn't.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0120" y="281178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60120" y="2811780"/>
            <a:ext cx="685800" cy="685800"/>
            <a:chOff x="0" y="0"/>
            <a:chExt cx="91440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88820" y="2743200"/>
            <a:ext cx="10972800" cy="548640"/>
            <a:chOff x="0" y="0"/>
            <a:chExt cx="1463040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Skills without proof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88820" y="3257931"/>
            <a:ext cx="1110996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mechanic, cook or tailor who learned by doing has no certificate or digital footprint, so employers can't verify what they can actually do.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60120" y="4485132"/>
            <a:ext cx="685800" cy="685800"/>
            <a:chOff x="0" y="0"/>
            <a:chExt cx="914400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60120" y="4485132"/>
            <a:ext cx="685800" cy="685800"/>
            <a:chOff x="0" y="0"/>
            <a:chExt cx="914400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988820" y="4416552"/>
            <a:ext cx="10972800" cy="548640"/>
            <a:chOff x="0" y="0"/>
            <a:chExt cx="1463040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 CV, no direction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988820" y="4931283"/>
            <a:ext cx="1110996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Many have never written a CV, don't know which roles fit them, and can't see which missing skill is blocking the next job.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60120" y="6158484"/>
            <a:ext cx="685800" cy="685800"/>
            <a:chOff x="0" y="0"/>
            <a:chExt cx="914400" cy="914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60120" y="6158484"/>
            <a:ext cx="685800" cy="685800"/>
            <a:chOff x="0" y="0"/>
            <a:chExt cx="914400" cy="914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988820" y="6089904"/>
            <a:ext cx="10972800" cy="548640"/>
            <a:chOff x="0" y="0"/>
            <a:chExt cx="14630400" cy="7315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 guidance to stable work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988820" y="6604635"/>
            <a:ext cx="1110996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Government exams are the most stable route, but eligibility rules, syllabi and deadlines are scattered and confusing.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60120" y="7831836"/>
            <a:ext cx="685800" cy="685800"/>
            <a:chOff x="0" y="0"/>
            <a:chExt cx="91440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60120" y="7831836"/>
            <a:ext cx="685800" cy="685800"/>
            <a:chOff x="0" y="0"/>
            <a:chExt cx="914400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988820" y="7763256"/>
            <a:ext cx="10972800" cy="548640"/>
            <a:chOff x="0" y="0"/>
            <a:chExt cx="14630400" cy="7315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 network to lean on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988820" y="8277987"/>
            <a:ext cx="1110996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Referrals and mentors decide who gets hired, and people facing hardship rarely have anyone who can vouch for them or guide them.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3706475" y="2802255"/>
            <a:ext cx="3585210" cy="6534150"/>
            <a:chOff x="0" y="0"/>
            <a:chExt cx="4780280" cy="8712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780280" cy="8712200"/>
            </a:xfrm>
            <a:custGeom>
              <a:avLst/>
              <a:gdLst/>
              <a:ahLst/>
              <a:cxnLst/>
              <a:rect l="l" t="t" r="r" b="b"/>
              <a:pathLst>
                <a:path w="4780280" h="871220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4596384" y="0"/>
                  </a:lnTo>
                  <a:cubicBezTo>
                    <a:pt x="4697984" y="0"/>
                    <a:pt x="4780280" y="82296"/>
                    <a:pt x="4780280" y="183896"/>
                  </a:cubicBezTo>
                  <a:lnTo>
                    <a:pt x="4780280" y="8528304"/>
                  </a:lnTo>
                  <a:cubicBezTo>
                    <a:pt x="4780280" y="8629904"/>
                    <a:pt x="4697984" y="8712200"/>
                    <a:pt x="4596384" y="8712200"/>
                  </a:cubicBezTo>
                  <a:lnTo>
                    <a:pt x="183896" y="8712200"/>
                  </a:lnTo>
                  <a:cubicBezTo>
                    <a:pt x="82296" y="8712200"/>
                    <a:pt x="0" y="8629904"/>
                    <a:pt x="0" y="8528304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3716000" y="3429000"/>
            <a:ext cx="3566160" cy="1234440"/>
            <a:chOff x="0" y="0"/>
            <a:chExt cx="4754880" cy="16459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754880" cy="1645920"/>
            </a:xfrm>
            <a:custGeom>
              <a:avLst/>
              <a:gdLst/>
              <a:ahLst/>
              <a:cxnLst/>
              <a:rect l="l" t="t" r="r" b="b"/>
              <a:pathLst>
                <a:path w="4754880" h="1645920">
                  <a:moveTo>
                    <a:pt x="0" y="0"/>
                  </a:moveTo>
                  <a:lnTo>
                    <a:pt x="4754880" y="0"/>
                  </a:lnTo>
                  <a:lnTo>
                    <a:pt x="47548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90" b="-629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47548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559"/>
                </a:lnSpc>
              </a:pPr>
              <a:r>
                <a:rPr lang="en-US" sz="6300" b="1">
                  <a:solidFill>
                    <a:srgbClr val="14B8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~80%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4058900" y="4606290"/>
            <a:ext cx="2880360" cy="362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of India's workforce works in the informal economy: largely undocumented, underemployed, and without a clear path to stable work.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</a:p>
          </p:txBody>
        </p:sp>
      </p:grpSp>
      <p:grpSp>
        <p:nvGrpSpPr>
          <p:cNvPr id="53" name="Group 4">
            <a:extLst>
              <a:ext uri="{FF2B5EF4-FFF2-40B4-BE49-F238E27FC236}">
                <a16:creationId xmlns:a16="http://schemas.microsoft.com/office/drawing/2014/main" id="{FF20ADD8-BABF-C187-5E3E-B0E7D34C6A58}"/>
              </a:ext>
            </a:extLst>
          </p:cNvPr>
          <p:cNvGrpSpPr/>
          <p:nvPr/>
        </p:nvGrpSpPr>
        <p:grpSpPr>
          <a:xfrm>
            <a:off x="15019020" y="-7252525"/>
            <a:ext cx="5760720" cy="5760720"/>
            <a:chOff x="0" y="0"/>
            <a:chExt cx="7680960" cy="7680960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79B77E41-98DF-8273-1083-36F52A8C2455}"/>
                </a:ext>
              </a:extLst>
            </p:cNvPr>
            <p:cNvSpPr/>
            <p:nvPr/>
          </p:nvSpPr>
          <p:spPr>
            <a:xfrm>
              <a:off x="0" y="0"/>
              <a:ext cx="7680960" cy="7680960"/>
            </a:xfrm>
            <a:custGeom>
              <a:avLst/>
              <a:gdLst/>
              <a:ahLst/>
              <a:cxnLst/>
              <a:rect l="l" t="t" r="r" b="b"/>
              <a:pathLst>
                <a:path w="7680960" h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id="55" name="Group 6">
            <a:extLst>
              <a:ext uri="{FF2B5EF4-FFF2-40B4-BE49-F238E27FC236}">
                <a16:creationId xmlns:a16="http://schemas.microsoft.com/office/drawing/2014/main" id="{436E4FFF-74DF-EC1B-7EC6-27E7229F2BBB}"/>
              </a:ext>
            </a:extLst>
          </p:cNvPr>
          <p:cNvGrpSpPr/>
          <p:nvPr/>
        </p:nvGrpSpPr>
        <p:grpSpPr>
          <a:xfrm>
            <a:off x="68580" y="-10612945"/>
            <a:ext cx="12344400" cy="548640"/>
            <a:chOff x="0" y="0"/>
            <a:chExt cx="16459200" cy="731520"/>
          </a:xfrm>
        </p:grpSpPr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3724DE6D-02FC-74C4-55DE-BEE0C97155CB}"/>
                </a:ext>
              </a:extLst>
            </p:cNvPr>
            <p:cNvSpPr/>
            <p:nvPr/>
          </p:nvSpPr>
          <p:spPr>
            <a:xfrm>
              <a:off x="0" y="0"/>
              <a:ext cx="16459200" cy="731520"/>
            </a:xfrm>
            <a:custGeom>
              <a:avLst/>
              <a:gdLst/>
              <a:ahLst/>
              <a:cxnLst/>
              <a:rect l="l" t="t" r="r" b="b"/>
              <a:pathLst>
                <a:path w="16459200" h="73152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13" b="-388413"/>
              </a:stretch>
            </a:blipFill>
          </p:spPr>
        </p:sp>
        <p:sp>
          <p:nvSpPr>
            <p:cNvPr id="57" name="TextBox 8">
              <a:extLst>
                <a:ext uri="{FF2B5EF4-FFF2-40B4-BE49-F238E27FC236}">
                  <a16:creationId xmlns:a16="http://schemas.microsoft.com/office/drawing/2014/main" id="{AB8D450A-FB9F-4E14-554E-462213E26342}"/>
                </a:ext>
              </a:extLst>
            </p:cNvPr>
            <p:cNvSpPr txBox="1"/>
            <p:nvPr/>
          </p:nvSpPr>
          <p:spPr>
            <a:xfrm>
              <a:off x="0" y="0"/>
              <a:ext cx="164592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PUBLIC SERVICE CHALLENGES · AI/TECHNOLOGY TRACK</a:t>
              </a:r>
            </a:p>
          </p:txBody>
        </p:sp>
      </p:grpSp>
      <p:grpSp>
        <p:nvGrpSpPr>
          <p:cNvPr id="58" name="Group 9">
            <a:extLst>
              <a:ext uri="{FF2B5EF4-FFF2-40B4-BE49-F238E27FC236}">
                <a16:creationId xmlns:a16="http://schemas.microsoft.com/office/drawing/2014/main" id="{F34BDF8B-7904-11E5-CE4A-A705074F71F4}"/>
              </a:ext>
            </a:extLst>
          </p:cNvPr>
          <p:cNvGrpSpPr/>
          <p:nvPr/>
        </p:nvGrpSpPr>
        <p:grpSpPr>
          <a:xfrm>
            <a:off x="0" y="-10064305"/>
            <a:ext cx="13030200" cy="1783080"/>
            <a:chOff x="0" y="0"/>
            <a:chExt cx="17373600" cy="2377440"/>
          </a:xfrm>
        </p:grpSpPr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49947D24-D289-C574-611A-389310F85931}"/>
                </a:ext>
              </a:extLst>
            </p:cNvPr>
            <p:cNvSpPr/>
            <p:nvPr/>
          </p:nvSpPr>
          <p:spPr>
            <a:xfrm>
              <a:off x="0" y="0"/>
              <a:ext cx="17373600" cy="2377440"/>
            </a:xfrm>
            <a:custGeom>
              <a:avLst/>
              <a:gdLst/>
              <a:ahLst/>
              <a:cxnLst/>
              <a:rect l="l" t="t" r="r" b="b"/>
              <a:pathLst>
                <a:path w="17373600" h="2377440">
                  <a:moveTo>
                    <a:pt x="0" y="0"/>
                  </a:moveTo>
                  <a:lnTo>
                    <a:pt x="17373600" y="0"/>
                  </a:lnTo>
                  <a:lnTo>
                    <a:pt x="173736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390" b="-92390"/>
              </a:stretch>
            </a:blipFill>
          </p:spPr>
        </p:sp>
        <p:sp>
          <p:nvSpPr>
            <p:cNvPr id="60" name="TextBox 11">
              <a:extLst>
                <a:ext uri="{FF2B5EF4-FFF2-40B4-BE49-F238E27FC236}">
                  <a16:creationId xmlns:a16="http://schemas.microsoft.com/office/drawing/2014/main" id="{457BFA92-2CC6-AD05-F4A9-5501AF210CFD}"/>
                </a:ext>
              </a:extLst>
            </p:cNvPr>
            <p:cNvSpPr txBox="1"/>
            <p:nvPr/>
          </p:nvSpPr>
          <p:spPr>
            <a:xfrm>
              <a:off x="0" y="0"/>
              <a:ext cx="17373600" cy="2377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0"/>
                </a:lnSpc>
              </a:pPr>
              <a:r>
                <a:rPr lang="en-US" sz="90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SkillAscend</a:t>
              </a:r>
            </a:p>
          </p:txBody>
        </p:sp>
      </p:grpSp>
      <p:grpSp>
        <p:nvGrpSpPr>
          <p:cNvPr id="61" name="Group 12">
            <a:extLst>
              <a:ext uri="{FF2B5EF4-FFF2-40B4-BE49-F238E27FC236}">
                <a16:creationId xmlns:a16="http://schemas.microsoft.com/office/drawing/2014/main" id="{5141A5E3-3F56-2582-370F-2717B61DD7EA}"/>
              </a:ext>
            </a:extLst>
          </p:cNvPr>
          <p:cNvGrpSpPr/>
          <p:nvPr/>
        </p:nvGrpSpPr>
        <p:grpSpPr>
          <a:xfrm>
            <a:off x="68580" y="-8349805"/>
            <a:ext cx="12344400" cy="822960"/>
            <a:chOff x="0" y="0"/>
            <a:chExt cx="16459200" cy="1097280"/>
          </a:xfrm>
        </p:grpSpPr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B459EE05-60B5-FB1E-1A62-300E9A68E279}"/>
                </a:ext>
              </a:extLst>
            </p:cNvPr>
            <p:cNvSpPr/>
            <p:nvPr/>
          </p:nvSpPr>
          <p:spPr>
            <a:xfrm>
              <a:off x="0" y="0"/>
              <a:ext cx="16459200" cy="1097280"/>
            </a:xfrm>
            <a:custGeom>
              <a:avLst/>
              <a:gdLst/>
              <a:ahLst/>
              <a:cxnLst/>
              <a:rect l="l" t="t" r="r" b="b"/>
              <a:pathLst>
                <a:path w="16459200" h="109728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3" name="TextBox 14">
              <a:extLst>
                <a:ext uri="{FF2B5EF4-FFF2-40B4-BE49-F238E27FC236}">
                  <a16:creationId xmlns:a16="http://schemas.microsoft.com/office/drawing/2014/main" id="{F66B5CA3-1946-11AF-BAA2-A80D52AF2EFF}"/>
                </a:ext>
              </a:extLst>
            </p:cNvPr>
            <p:cNvSpPr txBox="1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69"/>
                </a:lnSpc>
              </a:pPr>
              <a:r>
                <a:rPr lang="en-US" sz="3225" i="1">
                  <a:solidFill>
                    <a:srgbClr val="CBD5E1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Verify. Build. Learn. Connect. Get hired.</a:t>
              </a:r>
            </a:p>
          </p:txBody>
        </p:sp>
      </p:grpSp>
      <p:sp>
        <p:nvSpPr>
          <p:cNvPr id="64" name="AutoShape 15">
            <a:extLst>
              <a:ext uri="{FF2B5EF4-FFF2-40B4-BE49-F238E27FC236}">
                <a16:creationId xmlns:a16="http://schemas.microsoft.com/office/drawing/2014/main" id="{FEB23E78-AFCA-BC28-9F72-30F2328E5B6B}"/>
              </a:ext>
            </a:extLst>
          </p:cNvPr>
          <p:cNvSpPr/>
          <p:nvPr/>
        </p:nvSpPr>
        <p:spPr>
          <a:xfrm rot="29580">
            <a:off x="49444" y="-7262050"/>
            <a:ext cx="4427382" cy="0"/>
          </a:xfrm>
          <a:prstGeom prst="line">
            <a:avLst/>
          </a:prstGeom>
          <a:ln w="19050" cap="rnd">
            <a:solidFill>
              <a:srgbClr val="14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5" name="Group 16">
            <a:extLst>
              <a:ext uri="{FF2B5EF4-FFF2-40B4-BE49-F238E27FC236}">
                <a16:creationId xmlns:a16="http://schemas.microsoft.com/office/drawing/2014/main" id="{33BF35D7-7312-239B-6C21-3DD20AD99B3F}"/>
              </a:ext>
            </a:extLst>
          </p:cNvPr>
          <p:cNvGrpSpPr/>
          <p:nvPr/>
        </p:nvGrpSpPr>
        <p:grpSpPr>
          <a:xfrm>
            <a:off x="68580" y="-6841045"/>
            <a:ext cx="11795760" cy="1508760"/>
            <a:chOff x="0" y="0"/>
            <a:chExt cx="15727680" cy="2011680"/>
          </a:xfrm>
        </p:grpSpPr>
        <p:sp>
          <p:nvSpPr>
            <p:cNvPr id="66" name="Freeform 17">
              <a:extLst>
                <a:ext uri="{FF2B5EF4-FFF2-40B4-BE49-F238E27FC236}">
                  <a16:creationId xmlns:a16="http://schemas.microsoft.com/office/drawing/2014/main" id="{D3E5645C-66CC-CAC5-BE77-852B0C9CD815}"/>
                </a:ext>
              </a:extLst>
            </p:cNvPr>
            <p:cNvSpPr/>
            <p:nvPr/>
          </p:nvSpPr>
          <p:spPr>
            <a:xfrm>
              <a:off x="0" y="0"/>
              <a:ext cx="15727680" cy="2011680"/>
            </a:xfrm>
            <a:custGeom>
              <a:avLst/>
              <a:gdLst/>
              <a:ahLst/>
              <a:cxnLst/>
              <a:rect l="l" t="t" r="r" b="b"/>
              <a:pathLst>
                <a:path w="15727680" h="2011680">
                  <a:moveTo>
                    <a:pt x="0" y="0"/>
                  </a:moveTo>
                  <a:lnTo>
                    <a:pt x="15727680" y="0"/>
                  </a:lnTo>
                  <a:lnTo>
                    <a:pt x="15727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337" b="-102337"/>
              </a:stretch>
            </a:blipFill>
          </p:spPr>
        </p:sp>
        <p:sp>
          <p:nvSpPr>
            <p:cNvPr id="67" name="TextBox 18">
              <a:extLst>
                <a:ext uri="{FF2B5EF4-FFF2-40B4-BE49-F238E27FC236}">
                  <a16:creationId xmlns:a16="http://schemas.microsoft.com/office/drawing/2014/main" id="{DF28E58D-6205-E896-B237-6ECA57EAA68B}"/>
                </a:ext>
              </a:extLst>
            </p:cNvPr>
            <p:cNvSpPr txBox="1"/>
            <p:nvPr/>
          </p:nvSpPr>
          <p:spPr>
            <a:xfrm>
              <a:off x="0" y="-95250"/>
              <a:ext cx="15727680" cy="2106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61"/>
                </a:lnSpc>
              </a:pPr>
              <a:r>
                <a:rPr lang="en-US" sz="24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An AI-powered career path for people facing hardship: verify your skills, build your CV, close your skill gaps, learn, network with peers, and reach a stable job — private or government.</a:t>
              </a:r>
            </a:p>
          </p:txBody>
        </p:sp>
      </p:grpSp>
      <p:grpSp>
        <p:nvGrpSpPr>
          <p:cNvPr id="68" name="Group 19">
            <a:extLst>
              <a:ext uri="{FF2B5EF4-FFF2-40B4-BE49-F238E27FC236}">
                <a16:creationId xmlns:a16="http://schemas.microsoft.com/office/drawing/2014/main" id="{7F56978B-0BDF-8A92-D6DF-F6A3870AC8F6}"/>
              </a:ext>
            </a:extLst>
          </p:cNvPr>
          <p:cNvGrpSpPr/>
          <p:nvPr/>
        </p:nvGrpSpPr>
        <p:grpSpPr>
          <a:xfrm>
            <a:off x="59055" y="-4793170"/>
            <a:ext cx="3516630" cy="773430"/>
            <a:chOff x="0" y="0"/>
            <a:chExt cx="4688840" cy="1031240"/>
          </a:xfrm>
        </p:grpSpPr>
        <p:sp>
          <p:nvSpPr>
            <p:cNvPr id="69" name="Freeform 20">
              <a:extLst>
                <a:ext uri="{FF2B5EF4-FFF2-40B4-BE49-F238E27FC236}">
                  <a16:creationId xmlns:a16="http://schemas.microsoft.com/office/drawing/2014/main" id="{85D6FB59-CB21-A28A-6361-D74C7C17C91D}"/>
                </a:ext>
              </a:extLst>
            </p:cNvPr>
            <p:cNvSpPr/>
            <p:nvPr/>
          </p:nvSpPr>
          <p:spPr>
            <a:xfrm>
              <a:off x="0" y="0"/>
              <a:ext cx="4688840" cy="1031240"/>
            </a:xfrm>
            <a:custGeom>
              <a:avLst/>
              <a:gdLst/>
              <a:ahLst/>
              <a:cxnLst/>
              <a:rect l="l" t="t" r="r" b="b"/>
              <a:pathLst>
                <a:path w="46888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173220" y="0"/>
                  </a:lnTo>
                  <a:cubicBezTo>
                    <a:pt x="4457954" y="0"/>
                    <a:pt x="4688840" y="230886"/>
                    <a:pt x="4688840" y="515620"/>
                  </a:cubicBezTo>
                  <a:cubicBezTo>
                    <a:pt x="4688840" y="800354"/>
                    <a:pt x="4457954" y="1031240"/>
                    <a:pt x="417322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70" name="Group 21">
            <a:extLst>
              <a:ext uri="{FF2B5EF4-FFF2-40B4-BE49-F238E27FC236}">
                <a16:creationId xmlns:a16="http://schemas.microsoft.com/office/drawing/2014/main" id="{0A777D3C-BFA4-938C-4D02-EE3F039215D7}"/>
              </a:ext>
            </a:extLst>
          </p:cNvPr>
          <p:cNvGrpSpPr/>
          <p:nvPr/>
        </p:nvGrpSpPr>
        <p:grpSpPr>
          <a:xfrm>
            <a:off x="205740" y="-4783645"/>
            <a:ext cx="3223260" cy="754380"/>
            <a:chOff x="0" y="0"/>
            <a:chExt cx="4297680" cy="1005840"/>
          </a:xfrm>
        </p:grpSpPr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4591E063-2E2D-D900-0E41-4728BF1BB5B8}"/>
                </a:ext>
              </a:extLst>
            </p:cNvPr>
            <p:cNvSpPr/>
            <p:nvPr/>
          </p:nvSpPr>
          <p:spPr>
            <a:xfrm>
              <a:off x="0" y="0"/>
              <a:ext cx="4297680" cy="1005840"/>
            </a:xfrm>
            <a:custGeom>
              <a:avLst/>
              <a:gdLst/>
              <a:ahLst/>
              <a:cxnLst/>
              <a:rect l="l" t="t" r="r" b="b"/>
              <a:pathLst>
                <a:path w="4297680" h="1005840">
                  <a:moveTo>
                    <a:pt x="0" y="0"/>
                  </a:moveTo>
                  <a:lnTo>
                    <a:pt x="4297680" y="0"/>
                  </a:lnTo>
                  <a:lnTo>
                    <a:pt x="4297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54" b="-33254"/>
              </a:stretch>
            </a:blipFill>
          </p:spPr>
        </p:sp>
        <p:sp>
          <p:nvSpPr>
            <p:cNvPr id="72" name="TextBox 23">
              <a:extLst>
                <a:ext uri="{FF2B5EF4-FFF2-40B4-BE49-F238E27FC236}">
                  <a16:creationId xmlns:a16="http://schemas.microsoft.com/office/drawing/2014/main" id="{81B915D9-6FB6-EF42-A69C-98949B79E92E}"/>
                </a:ext>
              </a:extLst>
            </p:cNvPr>
            <p:cNvSpPr txBox="1"/>
            <p:nvPr/>
          </p:nvSpPr>
          <p:spPr>
            <a:xfrm>
              <a:off x="0" y="-9525"/>
              <a:ext cx="429768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Verified skills</a:t>
              </a:r>
            </a:p>
          </p:txBody>
        </p:sp>
      </p:grpSp>
      <p:grpSp>
        <p:nvGrpSpPr>
          <p:cNvPr id="73" name="Group 24">
            <a:extLst>
              <a:ext uri="{FF2B5EF4-FFF2-40B4-BE49-F238E27FC236}">
                <a16:creationId xmlns:a16="http://schemas.microsoft.com/office/drawing/2014/main" id="{DFAFBCE1-978E-10D3-19C1-49408B1DBF89}"/>
              </a:ext>
            </a:extLst>
          </p:cNvPr>
          <p:cNvGrpSpPr/>
          <p:nvPr/>
        </p:nvGrpSpPr>
        <p:grpSpPr>
          <a:xfrm>
            <a:off x="3830955" y="-4793170"/>
            <a:ext cx="3516630" cy="773430"/>
            <a:chOff x="0" y="0"/>
            <a:chExt cx="4688840" cy="1031240"/>
          </a:xfrm>
        </p:grpSpPr>
        <p:sp>
          <p:nvSpPr>
            <p:cNvPr id="74" name="Freeform 25">
              <a:extLst>
                <a:ext uri="{FF2B5EF4-FFF2-40B4-BE49-F238E27FC236}">
                  <a16:creationId xmlns:a16="http://schemas.microsoft.com/office/drawing/2014/main" id="{79ED1A11-5BC5-91A1-3033-32266971B419}"/>
                </a:ext>
              </a:extLst>
            </p:cNvPr>
            <p:cNvSpPr/>
            <p:nvPr/>
          </p:nvSpPr>
          <p:spPr>
            <a:xfrm>
              <a:off x="0" y="0"/>
              <a:ext cx="4688840" cy="1031240"/>
            </a:xfrm>
            <a:custGeom>
              <a:avLst/>
              <a:gdLst/>
              <a:ahLst/>
              <a:cxnLst/>
              <a:rect l="l" t="t" r="r" b="b"/>
              <a:pathLst>
                <a:path w="46888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173220" y="0"/>
                  </a:lnTo>
                  <a:cubicBezTo>
                    <a:pt x="4457954" y="0"/>
                    <a:pt x="4688840" y="230886"/>
                    <a:pt x="4688840" y="515620"/>
                  </a:cubicBezTo>
                  <a:cubicBezTo>
                    <a:pt x="4688840" y="800354"/>
                    <a:pt x="4457954" y="1031240"/>
                    <a:pt x="417322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75" name="Group 26">
            <a:extLst>
              <a:ext uri="{FF2B5EF4-FFF2-40B4-BE49-F238E27FC236}">
                <a16:creationId xmlns:a16="http://schemas.microsoft.com/office/drawing/2014/main" id="{FBC58FCD-053F-F3F4-6E95-1AC25BD57387}"/>
              </a:ext>
            </a:extLst>
          </p:cNvPr>
          <p:cNvGrpSpPr/>
          <p:nvPr/>
        </p:nvGrpSpPr>
        <p:grpSpPr>
          <a:xfrm>
            <a:off x="3977640" y="-4783645"/>
            <a:ext cx="3223260" cy="754380"/>
            <a:chOff x="0" y="0"/>
            <a:chExt cx="4297680" cy="1005840"/>
          </a:xfrm>
        </p:grpSpPr>
        <p:sp>
          <p:nvSpPr>
            <p:cNvPr id="76" name="Freeform 27">
              <a:extLst>
                <a:ext uri="{FF2B5EF4-FFF2-40B4-BE49-F238E27FC236}">
                  <a16:creationId xmlns:a16="http://schemas.microsoft.com/office/drawing/2014/main" id="{3805EDAA-4CF7-2EBB-4ABE-EC411B917105}"/>
                </a:ext>
              </a:extLst>
            </p:cNvPr>
            <p:cNvSpPr/>
            <p:nvPr/>
          </p:nvSpPr>
          <p:spPr>
            <a:xfrm>
              <a:off x="0" y="0"/>
              <a:ext cx="4297680" cy="1005840"/>
            </a:xfrm>
            <a:custGeom>
              <a:avLst/>
              <a:gdLst/>
              <a:ahLst/>
              <a:cxnLst/>
              <a:rect l="l" t="t" r="r" b="b"/>
              <a:pathLst>
                <a:path w="4297680" h="1005840">
                  <a:moveTo>
                    <a:pt x="0" y="0"/>
                  </a:moveTo>
                  <a:lnTo>
                    <a:pt x="4297680" y="0"/>
                  </a:lnTo>
                  <a:lnTo>
                    <a:pt x="4297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54" b="-33254"/>
              </a:stretch>
            </a:blipFill>
          </p:spPr>
        </p:sp>
        <p:sp>
          <p:nvSpPr>
            <p:cNvPr id="77" name="TextBox 28">
              <a:extLst>
                <a:ext uri="{FF2B5EF4-FFF2-40B4-BE49-F238E27FC236}">
                  <a16:creationId xmlns:a16="http://schemas.microsoft.com/office/drawing/2014/main" id="{48CA42F8-9C31-4864-CF4C-B01583C6D130}"/>
                </a:ext>
              </a:extLst>
            </p:cNvPr>
            <p:cNvSpPr txBox="1"/>
            <p:nvPr/>
          </p:nvSpPr>
          <p:spPr>
            <a:xfrm>
              <a:off x="0" y="-9525"/>
              <a:ext cx="429768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CV + skill gaps</a:t>
              </a:r>
            </a:p>
          </p:txBody>
        </p:sp>
      </p:grpSp>
      <p:grpSp>
        <p:nvGrpSpPr>
          <p:cNvPr id="78" name="Group 29">
            <a:extLst>
              <a:ext uri="{FF2B5EF4-FFF2-40B4-BE49-F238E27FC236}">
                <a16:creationId xmlns:a16="http://schemas.microsoft.com/office/drawing/2014/main" id="{C08A7605-D80B-40E3-97DC-C57FC6F52A72}"/>
              </a:ext>
            </a:extLst>
          </p:cNvPr>
          <p:cNvGrpSpPr/>
          <p:nvPr/>
        </p:nvGrpSpPr>
        <p:grpSpPr>
          <a:xfrm>
            <a:off x="7602855" y="-4793170"/>
            <a:ext cx="3516630" cy="773430"/>
            <a:chOff x="0" y="0"/>
            <a:chExt cx="4688840" cy="1031240"/>
          </a:xfrm>
        </p:grpSpPr>
        <p:sp>
          <p:nvSpPr>
            <p:cNvPr id="79" name="Freeform 30">
              <a:extLst>
                <a:ext uri="{FF2B5EF4-FFF2-40B4-BE49-F238E27FC236}">
                  <a16:creationId xmlns:a16="http://schemas.microsoft.com/office/drawing/2014/main" id="{E3E3EE50-27DA-8487-E30A-3061D8F3F88A}"/>
                </a:ext>
              </a:extLst>
            </p:cNvPr>
            <p:cNvSpPr/>
            <p:nvPr/>
          </p:nvSpPr>
          <p:spPr>
            <a:xfrm>
              <a:off x="0" y="0"/>
              <a:ext cx="4688840" cy="1031240"/>
            </a:xfrm>
            <a:custGeom>
              <a:avLst/>
              <a:gdLst/>
              <a:ahLst/>
              <a:cxnLst/>
              <a:rect l="l" t="t" r="r" b="b"/>
              <a:pathLst>
                <a:path w="46888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173220" y="0"/>
                  </a:lnTo>
                  <a:cubicBezTo>
                    <a:pt x="4457954" y="0"/>
                    <a:pt x="4688840" y="230886"/>
                    <a:pt x="4688840" y="515620"/>
                  </a:cubicBezTo>
                  <a:cubicBezTo>
                    <a:pt x="4688840" y="800354"/>
                    <a:pt x="4457954" y="1031240"/>
                    <a:pt x="417322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80" name="Group 31">
            <a:extLst>
              <a:ext uri="{FF2B5EF4-FFF2-40B4-BE49-F238E27FC236}">
                <a16:creationId xmlns:a16="http://schemas.microsoft.com/office/drawing/2014/main" id="{3F9737EE-ABD0-D696-359A-61005EE4FF4B}"/>
              </a:ext>
            </a:extLst>
          </p:cNvPr>
          <p:cNvGrpSpPr/>
          <p:nvPr/>
        </p:nvGrpSpPr>
        <p:grpSpPr>
          <a:xfrm>
            <a:off x="7749540" y="-4783645"/>
            <a:ext cx="3223260" cy="754380"/>
            <a:chOff x="0" y="0"/>
            <a:chExt cx="4297680" cy="1005840"/>
          </a:xfrm>
        </p:grpSpPr>
        <p:sp>
          <p:nvSpPr>
            <p:cNvPr id="81" name="Freeform 32">
              <a:extLst>
                <a:ext uri="{FF2B5EF4-FFF2-40B4-BE49-F238E27FC236}">
                  <a16:creationId xmlns:a16="http://schemas.microsoft.com/office/drawing/2014/main" id="{47252AAA-F044-1A37-CF50-71DDA0804076}"/>
                </a:ext>
              </a:extLst>
            </p:cNvPr>
            <p:cNvSpPr/>
            <p:nvPr/>
          </p:nvSpPr>
          <p:spPr>
            <a:xfrm>
              <a:off x="0" y="0"/>
              <a:ext cx="4297680" cy="1005840"/>
            </a:xfrm>
            <a:custGeom>
              <a:avLst/>
              <a:gdLst/>
              <a:ahLst/>
              <a:cxnLst/>
              <a:rect l="l" t="t" r="r" b="b"/>
              <a:pathLst>
                <a:path w="4297680" h="1005840">
                  <a:moveTo>
                    <a:pt x="0" y="0"/>
                  </a:moveTo>
                  <a:lnTo>
                    <a:pt x="4297680" y="0"/>
                  </a:lnTo>
                  <a:lnTo>
                    <a:pt x="4297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54" b="-33254"/>
              </a:stretch>
            </a:blipFill>
          </p:spPr>
        </p:sp>
        <p:sp>
          <p:nvSpPr>
            <p:cNvPr id="82" name="TextBox 33">
              <a:extLst>
                <a:ext uri="{FF2B5EF4-FFF2-40B4-BE49-F238E27FC236}">
                  <a16:creationId xmlns:a16="http://schemas.microsoft.com/office/drawing/2014/main" id="{A97BB36F-BE52-FAA7-D16A-0499E6909C89}"/>
                </a:ext>
              </a:extLst>
            </p:cNvPr>
            <p:cNvSpPr txBox="1"/>
            <p:nvPr/>
          </p:nvSpPr>
          <p:spPr>
            <a:xfrm>
              <a:off x="0" y="-9525"/>
              <a:ext cx="429768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Learn + peer network</a:t>
              </a:r>
            </a:p>
          </p:txBody>
        </p:sp>
      </p:grpSp>
      <p:grpSp>
        <p:nvGrpSpPr>
          <p:cNvPr id="83" name="Group 34">
            <a:extLst>
              <a:ext uri="{FF2B5EF4-FFF2-40B4-BE49-F238E27FC236}">
                <a16:creationId xmlns:a16="http://schemas.microsoft.com/office/drawing/2014/main" id="{34FC9986-8769-BCE6-3D03-D1E70750471B}"/>
              </a:ext>
            </a:extLst>
          </p:cNvPr>
          <p:cNvGrpSpPr/>
          <p:nvPr/>
        </p:nvGrpSpPr>
        <p:grpSpPr>
          <a:xfrm>
            <a:off x="11374755" y="-4793170"/>
            <a:ext cx="3516630" cy="773430"/>
            <a:chOff x="0" y="0"/>
            <a:chExt cx="4688840" cy="1031240"/>
          </a:xfrm>
        </p:grpSpPr>
        <p:sp>
          <p:nvSpPr>
            <p:cNvPr id="84" name="Freeform 35">
              <a:extLst>
                <a:ext uri="{FF2B5EF4-FFF2-40B4-BE49-F238E27FC236}">
                  <a16:creationId xmlns:a16="http://schemas.microsoft.com/office/drawing/2014/main" id="{A92BF15F-607F-4E8C-3E11-2512E42CE75C}"/>
                </a:ext>
              </a:extLst>
            </p:cNvPr>
            <p:cNvSpPr/>
            <p:nvPr/>
          </p:nvSpPr>
          <p:spPr>
            <a:xfrm>
              <a:off x="0" y="0"/>
              <a:ext cx="4688840" cy="1031240"/>
            </a:xfrm>
            <a:custGeom>
              <a:avLst/>
              <a:gdLst/>
              <a:ahLst/>
              <a:cxnLst/>
              <a:rect l="l" t="t" r="r" b="b"/>
              <a:pathLst>
                <a:path w="46888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173220" y="0"/>
                  </a:lnTo>
                  <a:cubicBezTo>
                    <a:pt x="4457954" y="0"/>
                    <a:pt x="4688840" y="230886"/>
                    <a:pt x="4688840" y="515620"/>
                  </a:cubicBezTo>
                  <a:cubicBezTo>
                    <a:pt x="4688840" y="800354"/>
                    <a:pt x="4457954" y="1031240"/>
                    <a:pt x="417322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85" name="Group 36">
            <a:extLst>
              <a:ext uri="{FF2B5EF4-FFF2-40B4-BE49-F238E27FC236}">
                <a16:creationId xmlns:a16="http://schemas.microsoft.com/office/drawing/2014/main" id="{ED2E07DE-1589-37A4-DFC5-D36AC1AAF72E}"/>
              </a:ext>
            </a:extLst>
          </p:cNvPr>
          <p:cNvGrpSpPr/>
          <p:nvPr/>
        </p:nvGrpSpPr>
        <p:grpSpPr>
          <a:xfrm>
            <a:off x="11521440" y="-4783645"/>
            <a:ext cx="3223260" cy="754380"/>
            <a:chOff x="0" y="0"/>
            <a:chExt cx="4297680" cy="1005840"/>
          </a:xfrm>
        </p:grpSpPr>
        <p:sp>
          <p:nvSpPr>
            <p:cNvPr id="86" name="Freeform 37">
              <a:extLst>
                <a:ext uri="{FF2B5EF4-FFF2-40B4-BE49-F238E27FC236}">
                  <a16:creationId xmlns:a16="http://schemas.microsoft.com/office/drawing/2014/main" id="{37A88104-59A0-9391-B8ED-3FBCA35EC13B}"/>
                </a:ext>
              </a:extLst>
            </p:cNvPr>
            <p:cNvSpPr/>
            <p:nvPr/>
          </p:nvSpPr>
          <p:spPr>
            <a:xfrm>
              <a:off x="0" y="0"/>
              <a:ext cx="4297680" cy="1005840"/>
            </a:xfrm>
            <a:custGeom>
              <a:avLst/>
              <a:gdLst/>
              <a:ahLst/>
              <a:cxnLst/>
              <a:rect l="l" t="t" r="r" b="b"/>
              <a:pathLst>
                <a:path w="4297680" h="1005840">
                  <a:moveTo>
                    <a:pt x="0" y="0"/>
                  </a:moveTo>
                  <a:lnTo>
                    <a:pt x="4297680" y="0"/>
                  </a:lnTo>
                  <a:lnTo>
                    <a:pt x="4297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54" b="-33254"/>
              </a:stretch>
            </a:blipFill>
          </p:spPr>
        </p:sp>
        <p:sp>
          <p:nvSpPr>
            <p:cNvPr id="87" name="TextBox 38">
              <a:extLst>
                <a:ext uri="{FF2B5EF4-FFF2-40B4-BE49-F238E27FC236}">
                  <a16:creationId xmlns:a16="http://schemas.microsoft.com/office/drawing/2014/main" id="{C7F0289E-6915-C8E1-172A-361DE93AE9D5}"/>
                </a:ext>
              </a:extLst>
            </p:cNvPr>
            <p:cNvSpPr txBox="1"/>
            <p:nvPr/>
          </p:nvSpPr>
          <p:spPr>
            <a:xfrm>
              <a:off x="0" y="-9525"/>
              <a:ext cx="429768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Private &amp; govt jobs</a:t>
              </a:r>
            </a:p>
          </p:txBody>
        </p:sp>
      </p:grpSp>
      <p:sp>
        <p:nvSpPr>
          <p:cNvPr id="92" name="Freeform 6">
            <a:extLst>
              <a:ext uri="{FF2B5EF4-FFF2-40B4-BE49-F238E27FC236}">
                <a16:creationId xmlns:a16="http://schemas.microsoft.com/office/drawing/2014/main" id="{378D6D74-820D-F992-A150-152AA2C313D4}"/>
              </a:ext>
            </a:extLst>
          </p:cNvPr>
          <p:cNvSpPr/>
          <p:nvPr/>
        </p:nvSpPr>
        <p:spPr>
          <a:xfrm>
            <a:off x="617220" y="11963971"/>
            <a:ext cx="16322040" cy="1234440"/>
          </a:xfrm>
          <a:custGeom>
            <a:avLst/>
            <a:gdLst/>
            <a:ahLst/>
            <a:cxnLst/>
            <a:rect l="l" t="t" r="r" b="b"/>
            <a:pathLst>
              <a:path w="21762720" h="1645920">
                <a:moveTo>
                  <a:pt x="0" y="0"/>
                </a:moveTo>
                <a:lnTo>
                  <a:pt x="21762720" y="0"/>
                </a:lnTo>
                <a:lnTo>
                  <a:pt x="21762720" y="1645920"/>
                </a:lnTo>
                <a:lnTo>
                  <a:pt x="0" y="1645920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07635" b="-207635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7151370" cy="10306050"/>
            <a:chOff x="0" y="0"/>
            <a:chExt cx="9535160" cy="13741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35160" cy="13741400"/>
            </a:xfrm>
            <a:custGeom>
              <a:avLst/>
              <a:gdLst/>
              <a:ahLst/>
              <a:cxnLst/>
              <a:rect l="l" t="t" r="r" b="b"/>
              <a:pathLst>
                <a:path w="9535160" h="13741400">
                  <a:moveTo>
                    <a:pt x="0" y="183388"/>
                  </a:moveTo>
                  <a:cubicBezTo>
                    <a:pt x="0" y="82042"/>
                    <a:pt x="82042" y="0"/>
                    <a:pt x="183388" y="0"/>
                  </a:cubicBezTo>
                  <a:lnTo>
                    <a:pt x="9351772" y="0"/>
                  </a:lnTo>
                  <a:cubicBezTo>
                    <a:pt x="9452990" y="0"/>
                    <a:pt x="9535160" y="82042"/>
                    <a:pt x="9535160" y="183388"/>
                  </a:cubicBezTo>
                  <a:lnTo>
                    <a:pt x="9535160" y="13558013"/>
                  </a:lnTo>
                  <a:cubicBezTo>
                    <a:pt x="9535160" y="13659231"/>
                    <a:pt x="9453118" y="13741400"/>
                    <a:pt x="9351772" y="13741400"/>
                  </a:cubicBezTo>
                  <a:lnTo>
                    <a:pt x="183388" y="13741400"/>
                  </a:lnTo>
                  <a:cubicBezTo>
                    <a:pt x="82042" y="13741400"/>
                    <a:pt x="0" y="13659358"/>
                    <a:pt x="0" y="13558013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2606040" y="2880360"/>
            <a:ext cx="2057400" cy="2057400"/>
            <a:chOff x="0" y="0"/>
            <a:chExt cx="2743200" cy="274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1371600"/>
                  </a:moveTo>
                  <a:cubicBezTo>
                    <a:pt x="0" y="614045"/>
                    <a:pt x="614045" y="0"/>
                    <a:pt x="1371600" y="0"/>
                  </a:cubicBezTo>
                  <a:cubicBezTo>
                    <a:pt x="2129155" y="0"/>
                    <a:pt x="2743200" y="614045"/>
                    <a:pt x="2743200" y="1371600"/>
                  </a:cubicBezTo>
                  <a:cubicBezTo>
                    <a:pt x="2743200" y="2129155"/>
                    <a:pt x="2129155" y="2743200"/>
                    <a:pt x="1371600" y="2743200"/>
                  </a:cubicBezTo>
                  <a:cubicBezTo>
                    <a:pt x="614045" y="2743200"/>
                    <a:pt x="0" y="2129155"/>
                    <a:pt x="0" y="13716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606040" y="2880360"/>
            <a:ext cx="2057400" cy="2057400"/>
            <a:chOff x="0" y="0"/>
            <a:chExt cx="2743200" cy="2743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743200" cy="2743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020"/>
                </a:lnSpc>
              </a:pPr>
              <a:r>
                <a:rPr lang="en-US" sz="58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120" y="5349240"/>
            <a:ext cx="5212080" cy="685800"/>
            <a:chOff x="0" y="0"/>
            <a:chExt cx="6949440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49440" cy="914400"/>
            </a:xfrm>
            <a:custGeom>
              <a:avLst/>
              <a:gdLst/>
              <a:ahLst/>
              <a:cxnLst/>
              <a:rect l="l" t="t" r="r" b="b"/>
              <a:pathLst>
                <a:path w="6949440" h="914400">
                  <a:moveTo>
                    <a:pt x="0" y="0"/>
                  </a:moveTo>
                  <a:lnTo>
                    <a:pt x="6949440" y="0"/>
                  </a:lnTo>
                  <a:lnTo>
                    <a:pt x="6949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8086" b="-9808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694944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Pratik, 24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0120" y="6035040"/>
            <a:ext cx="5212080" cy="548640"/>
            <a:chOff x="0" y="0"/>
            <a:chExt cx="694944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49440" cy="731520"/>
            </a:xfrm>
            <a:custGeom>
              <a:avLst/>
              <a:gdLst/>
              <a:ahLst/>
              <a:cxnLst/>
              <a:rect l="l" t="t" r="r" b="b"/>
              <a:pathLst>
                <a:path w="6949440" h="73152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5107" b="-13510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69494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i="1">
                  <a:solidFill>
                    <a:srgbClr val="CCFBF1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Self-taught two-wheeler mechanic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4915" y="6848475"/>
            <a:ext cx="4682490" cy="2419350"/>
            <a:chOff x="0" y="0"/>
            <a:chExt cx="6243320" cy="3225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243320" cy="3225800"/>
            </a:xfrm>
            <a:custGeom>
              <a:avLst/>
              <a:gdLst/>
              <a:ahLst/>
              <a:cxnLst/>
              <a:rect l="l" t="t" r="r" b="b"/>
              <a:pathLst>
                <a:path w="6243320" h="322580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6059043" y="0"/>
                  </a:lnTo>
                  <a:cubicBezTo>
                    <a:pt x="6160897" y="0"/>
                    <a:pt x="6243320" y="82550"/>
                    <a:pt x="6243320" y="184277"/>
                  </a:cubicBezTo>
                  <a:lnTo>
                    <a:pt x="6243320" y="3041523"/>
                  </a:lnTo>
                  <a:cubicBezTo>
                    <a:pt x="6243320" y="3143377"/>
                    <a:pt x="6160770" y="3225800"/>
                    <a:pt x="6059043" y="3225800"/>
                  </a:cubicBezTo>
                  <a:lnTo>
                    <a:pt x="184277" y="3225800"/>
                  </a:lnTo>
                  <a:cubicBezTo>
                    <a:pt x="82550" y="3225800"/>
                    <a:pt x="0" y="3143250"/>
                    <a:pt x="0" y="3041523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577340" y="7036308"/>
            <a:ext cx="4114800" cy="411480"/>
            <a:chOff x="0" y="0"/>
            <a:chExt cx="5486400" cy="548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54864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Today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55280" y="1234440"/>
            <a:ext cx="9464040" cy="2331720"/>
            <a:chOff x="0" y="0"/>
            <a:chExt cx="12618720" cy="31089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18720" cy="3108960"/>
            </a:xfrm>
            <a:custGeom>
              <a:avLst/>
              <a:gdLst/>
              <a:ahLst/>
              <a:cxnLst/>
              <a:rect l="l" t="t" r="r" b="b"/>
              <a:pathLst>
                <a:path w="12618720" h="3108960">
                  <a:moveTo>
                    <a:pt x="0" y="0"/>
                  </a:moveTo>
                  <a:lnTo>
                    <a:pt x="12618720" y="0"/>
                  </a:lnTo>
                  <a:lnTo>
                    <a:pt x="1261872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9086" b="-2908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23825"/>
              <a:ext cx="12618720" cy="3232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50"/>
                </a:lnSpc>
              </a:pPr>
              <a:r>
                <a:rPr lang="en-US" sz="3750" i="1">
                  <a:solidFill>
                    <a:srgbClr val="F8FAFC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“I can fix almost any bike. But I have no certificate, no CV, and no idea what to do next to get a stable job.”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 rot="115320">
            <a:off x="7926229" y="3757612"/>
            <a:ext cx="1704032" cy="0"/>
          </a:xfrm>
          <a:prstGeom prst="line">
            <a:avLst/>
          </a:prstGeom>
          <a:ln w="28575" cap="rnd">
            <a:solidFill>
              <a:srgbClr val="14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7945755" y="6162675"/>
            <a:ext cx="9345930" cy="3310890"/>
            <a:chOff x="0" y="0"/>
            <a:chExt cx="12461240" cy="4414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461239" cy="4414520"/>
            </a:xfrm>
            <a:custGeom>
              <a:avLst/>
              <a:gdLst/>
              <a:ahLst/>
              <a:cxnLst/>
              <a:rect l="l" t="t" r="r" b="b"/>
              <a:pathLst>
                <a:path w="12461239" h="44145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12277344" y="0"/>
                  </a:lnTo>
                  <a:cubicBezTo>
                    <a:pt x="12378944" y="0"/>
                    <a:pt x="12461239" y="82296"/>
                    <a:pt x="12461239" y="183896"/>
                  </a:cubicBezTo>
                  <a:lnTo>
                    <a:pt x="12461239" y="4230624"/>
                  </a:lnTo>
                  <a:cubicBezTo>
                    <a:pt x="12461239" y="4332224"/>
                    <a:pt x="12378944" y="4414520"/>
                    <a:pt x="12277344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8298180" y="6377940"/>
            <a:ext cx="6858000" cy="411480"/>
            <a:chOff x="0" y="0"/>
            <a:chExt cx="9144000" cy="5486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44000" cy="548640"/>
            </a:xfrm>
            <a:custGeom>
              <a:avLst/>
              <a:gdLst/>
              <a:ahLst/>
              <a:cxnLst/>
              <a:rect l="l" t="t" r="r" b="b"/>
              <a:pathLst>
                <a:path w="9144000" h="54864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91440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With SkillAscend (illustrative)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298180" y="6926580"/>
            <a:ext cx="8641080" cy="548640"/>
            <a:chOff x="0" y="0"/>
            <a:chExt cx="1152144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521440" cy="731520"/>
            </a:xfrm>
            <a:custGeom>
              <a:avLst/>
              <a:gdLst/>
              <a:ahLst/>
              <a:cxnLst/>
              <a:rect l="l" t="t" r="r" b="b"/>
              <a:pathLst>
                <a:path w="11521440" h="731520">
                  <a:moveTo>
                    <a:pt x="0" y="0"/>
                  </a:moveTo>
                  <a:lnTo>
                    <a:pt x="11521440" y="0"/>
                  </a:lnTo>
                  <a:lnTo>
                    <a:pt x="1152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6889" b="-256889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115214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✓  A verified skill profile from one 90-second voice note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298180" y="7530084"/>
            <a:ext cx="8641080" cy="548640"/>
            <a:chOff x="0" y="0"/>
            <a:chExt cx="11521440" cy="731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521440" cy="731520"/>
            </a:xfrm>
            <a:custGeom>
              <a:avLst/>
              <a:gdLst/>
              <a:ahLst/>
              <a:cxnLst/>
              <a:rect l="l" t="t" r="r" b="b"/>
              <a:pathLst>
                <a:path w="11521440" h="731520">
                  <a:moveTo>
                    <a:pt x="0" y="0"/>
                  </a:moveTo>
                  <a:lnTo>
                    <a:pt x="11521440" y="0"/>
                  </a:lnTo>
                  <a:lnTo>
                    <a:pt x="1152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6889" b="-256889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115214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✓  A ready-made CV and the one skill gap holding him back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298180" y="8133588"/>
            <a:ext cx="8641080" cy="548640"/>
            <a:chOff x="0" y="0"/>
            <a:chExt cx="11521440" cy="7315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521440" cy="731520"/>
            </a:xfrm>
            <a:custGeom>
              <a:avLst/>
              <a:gdLst/>
              <a:ahLst/>
              <a:cxnLst/>
              <a:rect l="l" t="t" r="r" b="b"/>
              <a:pathLst>
                <a:path w="11521440" h="731520">
                  <a:moveTo>
                    <a:pt x="0" y="0"/>
                  </a:moveTo>
                  <a:lnTo>
                    <a:pt x="11521440" y="0"/>
                  </a:lnTo>
                  <a:lnTo>
                    <a:pt x="1152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6889" b="-256889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115214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✓  A study plan for a government exam he's eligible for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98180" y="8737092"/>
            <a:ext cx="8641080" cy="548640"/>
            <a:chOff x="0" y="0"/>
            <a:chExt cx="11521440" cy="7315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521440" cy="731520"/>
            </a:xfrm>
            <a:custGeom>
              <a:avLst/>
              <a:gdLst/>
              <a:ahLst/>
              <a:cxnLst/>
              <a:rect l="l" t="t" r="r" b="b"/>
              <a:pathLst>
                <a:path w="11521440" h="731520">
                  <a:moveTo>
                    <a:pt x="0" y="0"/>
                  </a:moveTo>
                  <a:lnTo>
                    <a:pt x="11521440" y="0"/>
                  </a:lnTo>
                  <a:lnTo>
                    <a:pt x="1152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6889" b="-25688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115214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✓  Peers and mentors who've made the same journey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577340" y="7427595"/>
            <a:ext cx="4114800" cy="169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6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Relies on a few regulars. No CV, no proof of skill, no idea which stable job or exam he's eligible for, and nobody to ask.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55280" y="4088130"/>
            <a:ext cx="9464040" cy="187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3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Pratik represents a huge, overlooked group: people with real, demonstrable skill and no digital way to prove it. SkillAscend is the CV Pratik never had to write, and the path that takes him to a stable job.</a:t>
            </a:r>
          </a:p>
        </p:txBody>
      </p:sp>
      <p:pic>
        <p:nvPicPr>
          <p:cNvPr id="46" name="Picture 4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t="465" b="465"/>
          <a:stretch>
            <a:fillRect/>
          </a:stretch>
        </p:blipFill>
        <p:spPr>
          <a:xfrm>
            <a:off x="-133409" y="0"/>
            <a:ext cx="18421409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4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INSIGHT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097280"/>
            <a:ext cx="16322040" cy="1234440"/>
            <a:chOff x="0" y="0"/>
            <a:chExt cx="2176272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This isn't a job-board problem.</a:t>
              </a:r>
            </a:p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It's a path problem.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595" y="3625215"/>
            <a:ext cx="7837170" cy="5985510"/>
            <a:chOff x="0" y="0"/>
            <a:chExt cx="10449560" cy="79806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49560" cy="7980680"/>
            </a:xfrm>
            <a:custGeom>
              <a:avLst/>
              <a:gdLst/>
              <a:ahLst/>
              <a:cxnLst/>
              <a:rect l="l" t="t" r="r" b="b"/>
              <a:pathLst>
                <a:path w="10449560" h="79806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266045" y="0"/>
                  </a:lnTo>
                  <a:cubicBezTo>
                    <a:pt x="10367390" y="0"/>
                    <a:pt x="10449560" y="82169"/>
                    <a:pt x="10449560" y="183515"/>
                  </a:cubicBezTo>
                  <a:lnTo>
                    <a:pt x="10449560" y="7797165"/>
                  </a:lnTo>
                  <a:cubicBezTo>
                    <a:pt x="10449560" y="7898511"/>
                    <a:pt x="10367390" y="7980680"/>
                    <a:pt x="10266045" y="7980680"/>
                  </a:cubicBezTo>
                  <a:lnTo>
                    <a:pt x="183515" y="7980680"/>
                  </a:lnTo>
                  <a:cubicBezTo>
                    <a:pt x="82169" y="7980680"/>
                    <a:pt x="0" y="7898511"/>
                    <a:pt x="0" y="779716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440180" y="4018788"/>
            <a:ext cx="6858000" cy="617220"/>
            <a:chOff x="0" y="0"/>
            <a:chExt cx="9144000" cy="8229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0" cy="822960"/>
            </a:xfrm>
            <a:custGeom>
              <a:avLst/>
              <a:gdLst/>
              <a:ahLst/>
              <a:cxnLst/>
              <a:rect l="l" t="t" r="r" b="b"/>
              <a:pathLst>
                <a:path w="9144000" h="822960">
                  <a:moveTo>
                    <a:pt x="0" y="0"/>
                  </a:moveTo>
                  <a:lnTo>
                    <a:pt x="9144000" y="0"/>
                  </a:lnTo>
                  <a:lnTo>
                    <a:pt x="9144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500" b="-16650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914400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29"/>
                </a:lnSpc>
              </a:pPr>
              <a:r>
                <a:rPr lang="en-US" sz="277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Generic job &amp; learning apps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40180" y="4759452"/>
            <a:ext cx="6858000" cy="754380"/>
            <a:chOff x="0" y="0"/>
            <a:chExt cx="9144000" cy="1005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✕  Assume a CV and a network already exist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40180" y="5650992"/>
            <a:ext cx="6858000" cy="754380"/>
            <a:chOff x="0" y="0"/>
            <a:chExt cx="9144000" cy="10058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✕  Treat jobs, learning and exams as separate tools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40180" y="6542532"/>
            <a:ext cx="6858000" cy="754380"/>
            <a:chOff x="0" y="0"/>
            <a:chExt cx="9144000" cy="1005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✕  Can't verify skills learned informally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40180" y="7434072"/>
            <a:ext cx="6858000" cy="754380"/>
            <a:chOff x="0" y="0"/>
            <a:chExt cx="9144000" cy="10058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✕  Leave people to find peers on their own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40180" y="8325612"/>
            <a:ext cx="6858000" cy="754380"/>
            <a:chOff x="0" y="0"/>
            <a:chExt cx="9144000" cy="10058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✕  Optimise for any job, not a stable one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454515" y="3625215"/>
            <a:ext cx="7837170" cy="5985510"/>
            <a:chOff x="0" y="0"/>
            <a:chExt cx="10449560" cy="79806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449560" cy="7980680"/>
            </a:xfrm>
            <a:custGeom>
              <a:avLst/>
              <a:gdLst/>
              <a:ahLst/>
              <a:cxnLst/>
              <a:rect l="l" t="t" r="r" b="b"/>
              <a:pathLst>
                <a:path w="10449560" h="79806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266045" y="0"/>
                  </a:lnTo>
                  <a:cubicBezTo>
                    <a:pt x="10367390" y="0"/>
                    <a:pt x="10449560" y="82169"/>
                    <a:pt x="10449560" y="183515"/>
                  </a:cubicBezTo>
                  <a:lnTo>
                    <a:pt x="10449560" y="7797165"/>
                  </a:lnTo>
                  <a:cubicBezTo>
                    <a:pt x="10449560" y="7898511"/>
                    <a:pt x="10367390" y="7980680"/>
                    <a:pt x="10266045" y="7980680"/>
                  </a:cubicBezTo>
                  <a:lnTo>
                    <a:pt x="183515" y="7980680"/>
                  </a:lnTo>
                  <a:cubicBezTo>
                    <a:pt x="82169" y="7980680"/>
                    <a:pt x="0" y="7898511"/>
                    <a:pt x="0" y="7797165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9944100" y="4018788"/>
            <a:ext cx="6858000" cy="617220"/>
            <a:chOff x="0" y="0"/>
            <a:chExt cx="9144000" cy="8229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44000" cy="822960"/>
            </a:xfrm>
            <a:custGeom>
              <a:avLst/>
              <a:gdLst/>
              <a:ahLst/>
              <a:cxnLst/>
              <a:rect l="l" t="t" r="r" b="b"/>
              <a:pathLst>
                <a:path w="9144000" h="822960">
                  <a:moveTo>
                    <a:pt x="0" y="0"/>
                  </a:moveTo>
                  <a:lnTo>
                    <a:pt x="9144000" y="0"/>
                  </a:lnTo>
                  <a:lnTo>
                    <a:pt x="9144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500" b="-16650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914400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29"/>
                </a:lnSpc>
              </a:pPr>
              <a:r>
                <a:rPr lang="en-US" sz="27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SkillAscend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944100" y="4759452"/>
            <a:ext cx="6858000" cy="754380"/>
            <a:chOff x="0" y="0"/>
            <a:chExt cx="9144000" cy="10058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Starts from a spoken description, not a CV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944100" y="5650992"/>
            <a:ext cx="6858000" cy="754380"/>
            <a:chOff x="0" y="0"/>
            <a:chExt cx="9144000" cy="10058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One path: verify → CV → gaps → learn → hired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944100" y="6542532"/>
            <a:ext cx="6858000" cy="754380"/>
            <a:chOff x="0" y="0"/>
            <a:chExt cx="9144000" cy="10058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Verifies skills with an AI micro-check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44100" y="7434072"/>
            <a:ext cx="6858000" cy="754380"/>
            <a:chOff x="0" y="0"/>
            <a:chExt cx="9144000" cy="10058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Connects peers and mentors on the same route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944100" y="8325612"/>
            <a:ext cx="6858000" cy="754380"/>
            <a:chOff x="0" y="0"/>
            <a:chExt cx="9144000" cy="10058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Aims for stable work, private or government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05</a:t>
              </a:r>
            </a:p>
          </p:txBody>
        </p:sp>
      </p:grpSp>
      <p:grpSp>
        <p:nvGrpSpPr>
          <p:cNvPr id="51" name="Group 2">
            <a:extLst>
              <a:ext uri="{FF2B5EF4-FFF2-40B4-BE49-F238E27FC236}">
                <a16:creationId xmlns:a16="http://schemas.microsoft.com/office/drawing/2014/main" id="{9F2CA321-C13A-116F-56F3-CBAC637E5CEB}"/>
              </a:ext>
            </a:extLst>
          </p:cNvPr>
          <p:cNvGrpSpPr/>
          <p:nvPr/>
        </p:nvGrpSpPr>
        <p:grpSpPr>
          <a:xfrm>
            <a:off x="960120" y="11044428"/>
            <a:ext cx="12344400" cy="480060"/>
            <a:chOff x="0" y="0"/>
            <a:chExt cx="16459200" cy="640080"/>
          </a:xfrm>
        </p:grpSpPr>
        <p:sp>
          <p:nvSpPr>
            <p:cNvPr id="52" name="Freeform 3">
              <a:extLst>
                <a:ext uri="{FF2B5EF4-FFF2-40B4-BE49-F238E27FC236}">
                  <a16:creationId xmlns:a16="http://schemas.microsoft.com/office/drawing/2014/main" id="{97413DA3-A707-7B82-7DBF-2FEADED8E5CA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53" name="TextBox 4">
              <a:extLst>
                <a:ext uri="{FF2B5EF4-FFF2-40B4-BE49-F238E27FC236}">
                  <a16:creationId xmlns:a16="http://schemas.microsoft.com/office/drawing/2014/main" id="{32A021A1-6937-67C3-9CF2-23640DEAB3CF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SOLUTION</a:t>
              </a:r>
            </a:p>
          </p:txBody>
        </p:sp>
      </p:grpSp>
      <p:grpSp>
        <p:nvGrpSpPr>
          <p:cNvPr id="54" name="Group 5">
            <a:extLst>
              <a:ext uri="{FF2B5EF4-FFF2-40B4-BE49-F238E27FC236}">
                <a16:creationId xmlns:a16="http://schemas.microsoft.com/office/drawing/2014/main" id="{BCE5ADEC-4BA6-D5E0-474D-E051F523C348}"/>
              </a:ext>
            </a:extLst>
          </p:cNvPr>
          <p:cNvGrpSpPr/>
          <p:nvPr/>
        </p:nvGrpSpPr>
        <p:grpSpPr>
          <a:xfrm>
            <a:off x="960120" y="11524488"/>
            <a:ext cx="16322040" cy="1234440"/>
            <a:chOff x="0" y="0"/>
            <a:chExt cx="21762720" cy="1645920"/>
          </a:xfrm>
        </p:grpSpPr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3F1F5739-14FD-672B-2281-57457FC9FE82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56" name="TextBox 7">
              <a:extLst>
                <a:ext uri="{FF2B5EF4-FFF2-40B4-BE49-F238E27FC236}">
                  <a16:creationId xmlns:a16="http://schemas.microsoft.com/office/drawing/2014/main" id="{E6DF3A06-816D-09F0-0DFC-C8BB6BE9ED0D}"/>
                </a:ext>
              </a:extLst>
            </p:cNvPr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Six steps, one path to a stable job</a:t>
              </a:r>
            </a:p>
          </p:txBody>
        </p:sp>
      </p:grpSp>
      <p:grpSp>
        <p:nvGrpSpPr>
          <p:cNvPr id="57" name="Group 8">
            <a:extLst>
              <a:ext uri="{FF2B5EF4-FFF2-40B4-BE49-F238E27FC236}">
                <a16:creationId xmlns:a16="http://schemas.microsoft.com/office/drawing/2014/main" id="{596FD88C-30A2-B888-0341-054006DF8649}"/>
              </a:ext>
            </a:extLst>
          </p:cNvPr>
          <p:cNvGrpSpPr/>
          <p:nvPr/>
        </p:nvGrpSpPr>
        <p:grpSpPr>
          <a:xfrm>
            <a:off x="950595" y="13092303"/>
            <a:ext cx="5135118" cy="2830830"/>
            <a:chOff x="0" y="0"/>
            <a:chExt cx="6846824" cy="3774440"/>
          </a:xfrm>
        </p:grpSpPr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BB3A3EF0-7A47-44C8-D9F0-8A9B9F0D7DD0}"/>
                </a:ext>
              </a:extLst>
            </p:cNvPr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59" name="Group 10">
            <a:extLst>
              <a:ext uri="{FF2B5EF4-FFF2-40B4-BE49-F238E27FC236}">
                <a16:creationId xmlns:a16="http://schemas.microsoft.com/office/drawing/2014/main" id="{9F46CB0F-20DE-9276-2392-D8DDF9934FA8}"/>
              </a:ext>
            </a:extLst>
          </p:cNvPr>
          <p:cNvGrpSpPr/>
          <p:nvPr/>
        </p:nvGrpSpPr>
        <p:grpSpPr>
          <a:xfrm>
            <a:off x="1371600" y="13485876"/>
            <a:ext cx="685800" cy="685800"/>
            <a:chOff x="0" y="0"/>
            <a:chExt cx="914400" cy="914400"/>
          </a:xfrm>
        </p:grpSpPr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5A6AB6EE-C5A8-B546-B365-605B18910BE4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61" name="Group 12">
            <a:extLst>
              <a:ext uri="{FF2B5EF4-FFF2-40B4-BE49-F238E27FC236}">
                <a16:creationId xmlns:a16="http://schemas.microsoft.com/office/drawing/2014/main" id="{C25AB02A-BAB7-22DD-2311-3C1C001421B3}"/>
              </a:ext>
            </a:extLst>
          </p:cNvPr>
          <p:cNvGrpSpPr/>
          <p:nvPr/>
        </p:nvGrpSpPr>
        <p:grpSpPr>
          <a:xfrm>
            <a:off x="1371600" y="13485876"/>
            <a:ext cx="685800" cy="685800"/>
            <a:chOff x="0" y="0"/>
            <a:chExt cx="914400" cy="914400"/>
          </a:xfrm>
        </p:grpSpPr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7BC1C304-EEB2-E4B7-3324-20CC096118CB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3" name="TextBox 14">
              <a:extLst>
                <a:ext uri="{FF2B5EF4-FFF2-40B4-BE49-F238E27FC236}">
                  <a16:creationId xmlns:a16="http://schemas.microsoft.com/office/drawing/2014/main" id="{30EAFC40-1978-10F6-EE47-9FBFEB305D4B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64" name="Group 15">
            <a:extLst>
              <a:ext uri="{FF2B5EF4-FFF2-40B4-BE49-F238E27FC236}">
                <a16:creationId xmlns:a16="http://schemas.microsoft.com/office/drawing/2014/main" id="{25681E07-6966-1F45-E787-63389948CE59}"/>
              </a:ext>
            </a:extLst>
          </p:cNvPr>
          <p:cNvGrpSpPr/>
          <p:nvPr/>
        </p:nvGrpSpPr>
        <p:grpSpPr>
          <a:xfrm>
            <a:off x="2331720" y="13485876"/>
            <a:ext cx="3470148" cy="685800"/>
            <a:chOff x="0" y="0"/>
            <a:chExt cx="4626864" cy="914400"/>
          </a:xfrm>
        </p:grpSpPr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A7E97252-F05E-B184-E571-52724BCD7335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66" name="TextBox 17">
              <a:extLst>
                <a:ext uri="{FF2B5EF4-FFF2-40B4-BE49-F238E27FC236}">
                  <a16:creationId xmlns:a16="http://schemas.microsoft.com/office/drawing/2014/main" id="{5E96073D-41DD-CD27-20E5-F43817677687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Verify</a:t>
              </a:r>
            </a:p>
          </p:txBody>
        </p:sp>
      </p:grpSp>
      <p:sp>
        <p:nvSpPr>
          <p:cNvPr id="67" name="TextBox 18">
            <a:extLst>
              <a:ext uri="{FF2B5EF4-FFF2-40B4-BE49-F238E27FC236}">
                <a16:creationId xmlns:a16="http://schemas.microsoft.com/office/drawing/2014/main" id="{E2617C70-9E81-C768-9249-F04FE604E33C}"/>
              </a:ext>
            </a:extLst>
          </p:cNvPr>
          <p:cNvSpPr txBox="1"/>
          <p:nvPr/>
        </p:nvSpPr>
        <p:spPr>
          <a:xfrm>
            <a:off x="1371600" y="14366748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voice note plus a short AI micro-check confirm real skills. A light identity check keeps the peer network safe.</a:t>
            </a:r>
          </a:p>
        </p:txBody>
      </p:sp>
      <p:grpSp>
        <p:nvGrpSpPr>
          <p:cNvPr id="68" name="Group 19">
            <a:extLst>
              <a:ext uri="{FF2B5EF4-FFF2-40B4-BE49-F238E27FC236}">
                <a16:creationId xmlns:a16="http://schemas.microsoft.com/office/drawing/2014/main" id="{D19C1B8F-1656-DF8F-353C-1FB913B71E31}"/>
              </a:ext>
            </a:extLst>
          </p:cNvPr>
          <p:cNvGrpSpPr/>
          <p:nvPr/>
        </p:nvGrpSpPr>
        <p:grpSpPr>
          <a:xfrm>
            <a:off x="6546723" y="13092303"/>
            <a:ext cx="5135118" cy="2830830"/>
            <a:chOff x="0" y="0"/>
            <a:chExt cx="6846824" cy="3774440"/>
          </a:xfrm>
        </p:grpSpPr>
        <p:sp>
          <p:nvSpPr>
            <p:cNvPr id="69" name="Freeform 20">
              <a:extLst>
                <a:ext uri="{FF2B5EF4-FFF2-40B4-BE49-F238E27FC236}">
                  <a16:creationId xmlns:a16="http://schemas.microsoft.com/office/drawing/2014/main" id="{B52B8187-67DC-E240-AB44-62B27ED6D28C}"/>
                </a:ext>
              </a:extLst>
            </p:cNvPr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70" name="Group 21">
            <a:extLst>
              <a:ext uri="{FF2B5EF4-FFF2-40B4-BE49-F238E27FC236}">
                <a16:creationId xmlns:a16="http://schemas.microsoft.com/office/drawing/2014/main" id="{4DE5C07D-FC52-B28D-8D01-1E7BFD5D5C65}"/>
              </a:ext>
            </a:extLst>
          </p:cNvPr>
          <p:cNvGrpSpPr/>
          <p:nvPr/>
        </p:nvGrpSpPr>
        <p:grpSpPr>
          <a:xfrm>
            <a:off x="6967728" y="13485876"/>
            <a:ext cx="685800" cy="685800"/>
            <a:chOff x="0" y="0"/>
            <a:chExt cx="914400" cy="914400"/>
          </a:xfrm>
        </p:grpSpPr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69F46E3A-80A7-22A1-D2FF-98BAA10615BD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72" name="Group 23">
            <a:extLst>
              <a:ext uri="{FF2B5EF4-FFF2-40B4-BE49-F238E27FC236}">
                <a16:creationId xmlns:a16="http://schemas.microsoft.com/office/drawing/2014/main" id="{54D4F952-BADD-4575-31C6-1E18D308200C}"/>
              </a:ext>
            </a:extLst>
          </p:cNvPr>
          <p:cNvGrpSpPr/>
          <p:nvPr/>
        </p:nvGrpSpPr>
        <p:grpSpPr>
          <a:xfrm>
            <a:off x="6967728" y="13485876"/>
            <a:ext cx="685800" cy="685800"/>
            <a:chOff x="0" y="0"/>
            <a:chExt cx="914400" cy="914400"/>
          </a:xfrm>
        </p:grpSpPr>
        <p:sp>
          <p:nvSpPr>
            <p:cNvPr id="73" name="Freeform 24">
              <a:extLst>
                <a:ext uri="{FF2B5EF4-FFF2-40B4-BE49-F238E27FC236}">
                  <a16:creationId xmlns:a16="http://schemas.microsoft.com/office/drawing/2014/main" id="{12207332-23F7-7AC6-6FC6-74BD7475AA06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4" name="TextBox 25">
              <a:extLst>
                <a:ext uri="{FF2B5EF4-FFF2-40B4-BE49-F238E27FC236}">
                  <a16:creationId xmlns:a16="http://schemas.microsoft.com/office/drawing/2014/main" id="{1FE79F0B-0EFA-1CE7-6C82-A99501ADBC3A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75" name="Group 26">
            <a:extLst>
              <a:ext uri="{FF2B5EF4-FFF2-40B4-BE49-F238E27FC236}">
                <a16:creationId xmlns:a16="http://schemas.microsoft.com/office/drawing/2014/main" id="{63A2C19A-E97A-5D09-D9AC-1D7FF46D7EA9}"/>
              </a:ext>
            </a:extLst>
          </p:cNvPr>
          <p:cNvGrpSpPr/>
          <p:nvPr/>
        </p:nvGrpSpPr>
        <p:grpSpPr>
          <a:xfrm>
            <a:off x="7927848" y="13485876"/>
            <a:ext cx="3470148" cy="685800"/>
            <a:chOff x="0" y="0"/>
            <a:chExt cx="4626864" cy="914400"/>
          </a:xfrm>
        </p:grpSpPr>
        <p:sp>
          <p:nvSpPr>
            <p:cNvPr id="76" name="Freeform 27">
              <a:extLst>
                <a:ext uri="{FF2B5EF4-FFF2-40B4-BE49-F238E27FC236}">
                  <a16:creationId xmlns:a16="http://schemas.microsoft.com/office/drawing/2014/main" id="{FC25CAD4-161E-7A05-E5B9-3090CA04917E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77" name="TextBox 28">
              <a:extLst>
                <a:ext uri="{FF2B5EF4-FFF2-40B4-BE49-F238E27FC236}">
                  <a16:creationId xmlns:a16="http://schemas.microsoft.com/office/drawing/2014/main" id="{2ADD4DCF-196E-0E67-5A70-8CEFDCE75683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 your CV</a:t>
              </a:r>
            </a:p>
          </p:txBody>
        </p:sp>
      </p:grpSp>
      <p:sp>
        <p:nvSpPr>
          <p:cNvPr id="78" name="TextBox 29">
            <a:extLst>
              <a:ext uri="{FF2B5EF4-FFF2-40B4-BE49-F238E27FC236}">
                <a16:creationId xmlns:a16="http://schemas.microsoft.com/office/drawing/2014/main" id="{DF999EF4-F60C-B965-9FF8-606E76D5F340}"/>
              </a:ext>
            </a:extLst>
          </p:cNvPr>
          <p:cNvSpPr txBox="1"/>
          <p:nvPr/>
        </p:nvSpPr>
        <p:spPr>
          <a:xfrm>
            <a:off x="6967728" y="14366748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turns what you said and proved into a professional CV. No writing, no template hunting.</a:t>
            </a:r>
          </a:p>
        </p:txBody>
      </p:sp>
      <p:grpSp>
        <p:nvGrpSpPr>
          <p:cNvPr id="79" name="Group 30">
            <a:extLst>
              <a:ext uri="{FF2B5EF4-FFF2-40B4-BE49-F238E27FC236}">
                <a16:creationId xmlns:a16="http://schemas.microsoft.com/office/drawing/2014/main" id="{EC82F98C-BEB2-31D9-B637-030A28EAD966}"/>
              </a:ext>
            </a:extLst>
          </p:cNvPr>
          <p:cNvGrpSpPr/>
          <p:nvPr/>
        </p:nvGrpSpPr>
        <p:grpSpPr>
          <a:xfrm>
            <a:off x="12142851" y="13092303"/>
            <a:ext cx="5135118" cy="2830830"/>
            <a:chOff x="0" y="0"/>
            <a:chExt cx="6846824" cy="3774440"/>
          </a:xfrm>
        </p:grpSpPr>
        <p:sp>
          <p:nvSpPr>
            <p:cNvPr id="80" name="Freeform 31">
              <a:extLst>
                <a:ext uri="{FF2B5EF4-FFF2-40B4-BE49-F238E27FC236}">
                  <a16:creationId xmlns:a16="http://schemas.microsoft.com/office/drawing/2014/main" id="{8A8BCFB5-68C6-063C-1C23-022F64E909E4}"/>
                </a:ext>
              </a:extLst>
            </p:cNvPr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81" name="Group 32">
            <a:extLst>
              <a:ext uri="{FF2B5EF4-FFF2-40B4-BE49-F238E27FC236}">
                <a16:creationId xmlns:a16="http://schemas.microsoft.com/office/drawing/2014/main" id="{A27A54F9-6699-C950-4FAD-8767885410E0}"/>
              </a:ext>
            </a:extLst>
          </p:cNvPr>
          <p:cNvGrpSpPr/>
          <p:nvPr/>
        </p:nvGrpSpPr>
        <p:grpSpPr>
          <a:xfrm>
            <a:off x="12563856" y="13485876"/>
            <a:ext cx="685800" cy="685800"/>
            <a:chOff x="0" y="0"/>
            <a:chExt cx="914400" cy="914400"/>
          </a:xfrm>
        </p:grpSpPr>
        <p:sp>
          <p:nvSpPr>
            <p:cNvPr id="82" name="Freeform 33">
              <a:extLst>
                <a:ext uri="{FF2B5EF4-FFF2-40B4-BE49-F238E27FC236}">
                  <a16:creationId xmlns:a16="http://schemas.microsoft.com/office/drawing/2014/main" id="{0B1F7494-C113-A2B1-9BA7-847950FB1F78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83" name="Group 34">
            <a:extLst>
              <a:ext uri="{FF2B5EF4-FFF2-40B4-BE49-F238E27FC236}">
                <a16:creationId xmlns:a16="http://schemas.microsoft.com/office/drawing/2014/main" id="{63D12FDC-9F86-D13D-8DFB-782FE37D9611}"/>
              </a:ext>
            </a:extLst>
          </p:cNvPr>
          <p:cNvGrpSpPr/>
          <p:nvPr/>
        </p:nvGrpSpPr>
        <p:grpSpPr>
          <a:xfrm>
            <a:off x="12563856" y="13485876"/>
            <a:ext cx="685800" cy="685800"/>
            <a:chOff x="0" y="0"/>
            <a:chExt cx="914400" cy="914400"/>
          </a:xfrm>
        </p:grpSpPr>
        <p:sp>
          <p:nvSpPr>
            <p:cNvPr id="84" name="Freeform 35">
              <a:extLst>
                <a:ext uri="{FF2B5EF4-FFF2-40B4-BE49-F238E27FC236}">
                  <a16:creationId xmlns:a16="http://schemas.microsoft.com/office/drawing/2014/main" id="{4477C8E1-C2B7-0199-C781-8F6C36F145A4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5" name="TextBox 36">
              <a:extLst>
                <a:ext uri="{FF2B5EF4-FFF2-40B4-BE49-F238E27FC236}">
                  <a16:creationId xmlns:a16="http://schemas.microsoft.com/office/drawing/2014/main" id="{C7C66A8B-75D5-1E07-C2CF-ECF8E388F08B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86" name="Group 37">
            <a:extLst>
              <a:ext uri="{FF2B5EF4-FFF2-40B4-BE49-F238E27FC236}">
                <a16:creationId xmlns:a16="http://schemas.microsoft.com/office/drawing/2014/main" id="{E6C4D47D-50A0-C4D4-FD3C-121C8840B958}"/>
              </a:ext>
            </a:extLst>
          </p:cNvPr>
          <p:cNvGrpSpPr/>
          <p:nvPr/>
        </p:nvGrpSpPr>
        <p:grpSpPr>
          <a:xfrm>
            <a:off x="13523976" y="13485876"/>
            <a:ext cx="3470148" cy="685800"/>
            <a:chOff x="0" y="0"/>
            <a:chExt cx="4626864" cy="914400"/>
          </a:xfrm>
        </p:grpSpPr>
        <p:sp>
          <p:nvSpPr>
            <p:cNvPr id="87" name="Freeform 38">
              <a:extLst>
                <a:ext uri="{FF2B5EF4-FFF2-40B4-BE49-F238E27FC236}">
                  <a16:creationId xmlns:a16="http://schemas.microsoft.com/office/drawing/2014/main" id="{0456FD88-7917-9B18-05F2-89BD5BFFEF64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88" name="TextBox 39">
              <a:extLst>
                <a:ext uri="{FF2B5EF4-FFF2-40B4-BE49-F238E27FC236}">
                  <a16:creationId xmlns:a16="http://schemas.microsoft.com/office/drawing/2014/main" id="{CDFE8FB8-CA68-F979-4116-2144EAF56B03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Find your gaps</a:t>
              </a:r>
            </a:p>
          </p:txBody>
        </p:sp>
      </p:grpSp>
      <p:sp>
        <p:nvSpPr>
          <p:cNvPr id="89" name="TextBox 40">
            <a:extLst>
              <a:ext uri="{FF2B5EF4-FFF2-40B4-BE49-F238E27FC236}">
                <a16:creationId xmlns:a16="http://schemas.microsoft.com/office/drawing/2014/main" id="{EB5AF7C1-C644-9A11-1746-BF399931D7BC}"/>
              </a:ext>
            </a:extLst>
          </p:cNvPr>
          <p:cNvSpPr txBox="1"/>
          <p:nvPr/>
        </p:nvSpPr>
        <p:spPr>
          <a:xfrm>
            <a:off x="12563856" y="14366748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Your verified skills are compared with the roles you want, and what's missing is ranked by impact.</a:t>
            </a:r>
          </a:p>
        </p:txBody>
      </p:sp>
      <p:grpSp>
        <p:nvGrpSpPr>
          <p:cNvPr id="90" name="Group 41">
            <a:extLst>
              <a:ext uri="{FF2B5EF4-FFF2-40B4-BE49-F238E27FC236}">
                <a16:creationId xmlns:a16="http://schemas.microsoft.com/office/drawing/2014/main" id="{DF7566FE-E447-90F9-D053-A766B3AB6DDE}"/>
              </a:ext>
            </a:extLst>
          </p:cNvPr>
          <p:cNvGrpSpPr/>
          <p:nvPr/>
        </p:nvGrpSpPr>
        <p:grpSpPr>
          <a:xfrm>
            <a:off x="950595" y="16315563"/>
            <a:ext cx="5135118" cy="2830830"/>
            <a:chOff x="0" y="0"/>
            <a:chExt cx="6846824" cy="3774440"/>
          </a:xfrm>
        </p:grpSpPr>
        <p:sp>
          <p:nvSpPr>
            <p:cNvPr id="91" name="Freeform 42">
              <a:extLst>
                <a:ext uri="{FF2B5EF4-FFF2-40B4-BE49-F238E27FC236}">
                  <a16:creationId xmlns:a16="http://schemas.microsoft.com/office/drawing/2014/main" id="{6F183491-6006-EFA2-0DB4-D5A0996B3818}"/>
                </a:ext>
              </a:extLst>
            </p:cNvPr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92" name="Group 43">
            <a:extLst>
              <a:ext uri="{FF2B5EF4-FFF2-40B4-BE49-F238E27FC236}">
                <a16:creationId xmlns:a16="http://schemas.microsoft.com/office/drawing/2014/main" id="{55BADCF3-2DD2-3363-E3E4-1594A537F755}"/>
              </a:ext>
            </a:extLst>
          </p:cNvPr>
          <p:cNvGrpSpPr/>
          <p:nvPr/>
        </p:nvGrpSpPr>
        <p:grpSpPr>
          <a:xfrm>
            <a:off x="1371600" y="16709136"/>
            <a:ext cx="685800" cy="685800"/>
            <a:chOff x="0" y="0"/>
            <a:chExt cx="914400" cy="914400"/>
          </a:xfrm>
        </p:grpSpPr>
        <p:sp>
          <p:nvSpPr>
            <p:cNvPr id="93" name="Freeform 44">
              <a:extLst>
                <a:ext uri="{FF2B5EF4-FFF2-40B4-BE49-F238E27FC236}">
                  <a16:creationId xmlns:a16="http://schemas.microsoft.com/office/drawing/2014/main" id="{FD0606ED-CB40-C40D-61D6-D9D54E5F4F2D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94" name="Group 45">
            <a:extLst>
              <a:ext uri="{FF2B5EF4-FFF2-40B4-BE49-F238E27FC236}">
                <a16:creationId xmlns:a16="http://schemas.microsoft.com/office/drawing/2014/main" id="{5A65F968-5465-2DC5-7CC2-0A96F129051B}"/>
              </a:ext>
            </a:extLst>
          </p:cNvPr>
          <p:cNvGrpSpPr/>
          <p:nvPr/>
        </p:nvGrpSpPr>
        <p:grpSpPr>
          <a:xfrm>
            <a:off x="1371600" y="16709136"/>
            <a:ext cx="685800" cy="685800"/>
            <a:chOff x="0" y="0"/>
            <a:chExt cx="914400" cy="914400"/>
          </a:xfrm>
        </p:grpSpPr>
        <p:sp>
          <p:nvSpPr>
            <p:cNvPr id="95" name="Freeform 46">
              <a:extLst>
                <a:ext uri="{FF2B5EF4-FFF2-40B4-BE49-F238E27FC236}">
                  <a16:creationId xmlns:a16="http://schemas.microsoft.com/office/drawing/2014/main" id="{B71F86A1-60E9-7746-C9F7-D1AF43657E3F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6" name="TextBox 47">
              <a:extLst>
                <a:ext uri="{FF2B5EF4-FFF2-40B4-BE49-F238E27FC236}">
                  <a16:creationId xmlns:a16="http://schemas.microsoft.com/office/drawing/2014/main" id="{07C67D9D-3BB4-A3E9-0413-DC2A03FDE3B7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97" name="Group 48">
            <a:extLst>
              <a:ext uri="{FF2B5EF4-FFF2-40B4-BE49-F238E27FC236}">
                <a16:creationId xmlns:a16="http://schemas.microsoft.com/office/drawing/2014/main" id="{00E8A7DC-D760-EFFA-ED93-C1862D7763EE}"/>
              </a:ext>
            </a:extLst>
          </p:cNvPr>
          <p:cNvGrpSpPr/>
          <p:nvPr/>
        </p:nvGrpSpPr>
        <p:grpSpPr>
          <a:xfrm>
            <a:off x="2331720" y="16709136"/>
            <a:ext cx="3470148" cy="685800"/>
            <a:chOff x="0" y="0"/>
            <a:chExt cx="4626864" cy="914400"/>
          </a:xfrm>
        </p:grpSpPr>
        <p:sp>
          <p:nvSpPr>
            <p:cNvPr id="98" name="Freeform 49">
              <a:extLst>
                <a:ext uri="{FF2B5EF4-FFF2-40B4-BE49-F238E27FC236}">
                  <a16:creationId xmlns:a16="http://schemas.microsoft.com/office/drawing/2014/main" id="{B8AE67A6-BD39-FDFD-4FF9-8206CA3473D7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99" name="TextBox 50">
              <a:extLst>
                <a:ext uri="{FF2B5EF4-FFF2-40B4-BE49-F238E27FC236}">
                  <a16:creationId xmlns:a16="http://schemas.microsoft.com/office/drawing/2014/main" id="{09C3D064-7B12-AD55-26E0-67B6B69EDBDA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Learn</a:t>
              </a:r>
            </a:p>
          </p:txBody>
        </p:sp>
      </p:grpSp>
      <p:sp>
        <p:nvSpPr>
          <p:cNvPr id="100" name="TextBox 51">
            <a:extLst>
              <a:ext uri="{FF2B5EF4-FFF2-40B4-BE49-F238E27FC236}">
                <a16:creationId xmlns:a16="http://schemas.microsoft.com/office/drawing/2014/main" id="{BDC75139-1395-2EFC-8235-BA87D2E898D5}"/>
              </a:ext>
            </a:extLst>
          </p:cNvPr>
          <p:cNvSpPr txBox="1"/>
          <p:nvPr/>
        </p:nvSpPr>
        <p:spPr>
          <a:xfrm>
            <a:off x="1371600" y="17590008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Short, free, curated lessons aimed at your specific gaps, sequenced around your time.</a:t>
            </a:r>
          </a:p>
        </p:txBody>
      </p:sp>
      <p:grpSp>
        <p:nvGrpSpPr>
          <p:cNvPr id="101" name="Group 52">
            <a:extLst>
              <a:ext uri="{FF2B5EF4-FFF2-40B4-BE49-F238E27FC236}">
                <a16:creationId xmlns:a16="http://schemas.microsoft.com/office/drawing/2014/main" id="{287FC468-11E5-2638-75AE-838F6FA8A24A}"/>
              </a:ext>
            </a:extLst>
          </p:cNvPr>
          <p:cNvGrpSpPr/>
          <p:nvPr/>
        </p:nvGrpSpPr>
        <p:grpSpPr>
          <a:xfrm>
            <a:off x="6546723" y="16315563"/>
            <a:ext cx="5135118" cy="2830830"/>
            <a:chOff x="0" y="0"/>
            <a:chExt cx="6846824" cy="3774440"/>
          </a:xfrm>
        </p:grpSpPr>
        <p:sp>
          <p:nvSpPr>
            <p:cNvPr id="102" name="Freeform 53">
              <a:extLst>
                <a:ext uri="{FF2B5EF4-FFF2-40B4-BE49-F238E27FC236}">
                  <a16:creationId xmlns:a16="http://schemas.microsoft.com/office/drawing/2014/main" id="{29039E88-E689-260A-6006-1696993B420B}"/>
                </a:ext>
              </a:extLst>
            </p:cNvPr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3" name="Group 54">
            <a:extLst>
              <a:ext uri="{FF2B5EF4-FFF2-40B4-BE49-F238E27FC236}">
                <a16:creationId xmlns:a16="http://schemas.microsoft.com/office/drawing/2014/main" id="{9E67DA60-0D6E-3AAF-7878-D2F28C9B4435}"/>
              </a:ext>
            </a:extLst>
          </p:cNvPr>
          <p:cNvGrpSpPr/>
          <p:nvPr/>
        </p:nvGrpSpPr>
        <p:grpSpPr>
          <a:xfrm>
            <a:off x="6967728" y="16709136"/>
            <a:ext cx="685800" cy="685800"/>
            <a:chOff x="0" y="0"/>
            <a:chExt cx="914400" cy="914400"/>
          </a:xfrm>
        </p:grpSpPr>
        <p:sp>
          <p:nvSpPr>
            <p:cNvPr id="104" name="Freeform 55">
              <a:extLst>
                <a:ext uri="{FF2B5EF4-FFF2-40B4-BE49-F238E27FC236}">
                  <a16:creationId xmlns:a16="http://schemas.microsoft.com/office/drawing/2014/main" id="{95CC90E2-20C2-0A2E-5E01-8842481D8599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05" name="Group 56">
            <a:extLst>
              <a:ext uri="{FF2B5EF4-FFF2-40B4-BE49-F238E27FC236}">
                <a16:creationId xmlns:a16="http://schemas.microsoft.com/office/drawing/2014/main" id="{6B6EEAB8-4BEC-59AB-298A-41BE1C864E1A}"/>
              </a:ext>
            </a:extLst>
          </p:cNvPr>
          <p:cNvGrpSpPr/>
          <p:nvPr/>
        </p:nvGrpSpPr>
        <p:grpSpPr>
          <a:xfrm>
            <a:off x="6967728" y="16709136"/>
            <a:ext cx="685800" cy="685800"/>
            <a:chOff x="0" y="0"/>
            <a:chExt cx="914400" cy="914400"/>
          </a:xfrm>
        </p:grpSpPr>
        <p:sp>
          <p:nvSpPr>
            <p:cNvPr id="106" name="Freeform 57">
              <a:extLst>
                <a:ext uri="{FF2B5EF4-FFF2-40B4-BE49-F238E27FC236}">
                  <a16:creationId xmlns:a16="http://schemas.microsoft.com/office/drawing/2014/main" id="{1048B4C0-12FA-5851-C7DD-64524CA22BD7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7" name="TextBox 58">
              <a:extLst>
                <a:ext uri="{FF2B5EF4-FFF2-40B4-BE49-F238E27FC236}">
                  <a16:creationId xmlns:a16="http://schemas.microsoft.com/office/drawing/2014/main" id="{F6E0E4FF-AC83-D5C2-08DE-42B50E566767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id="108" name="Group 59">
            <a:extLst>
              <a:ext uri="{FF2B5EF4-FFF2-40B4-BE49-F238E27FC236}">
                <a16:creationId xmlns:a16="http://schemas.microsoft.com/office/drawing/2014/main" id="{D3FF72C3-9923-DE5C-7CF2-9CD0A57606FF}"/>
              </a:ext>
            </a:extLst>
          </p:cNvPr>
          <p:cNvGrpSpPr/>
          <p:nvPr/>
        </p:nvGrpSpPr>
        <p:grpSpPr>
          <a:xfrm>
            <a:off x="7927848" y="16709136"/>
            <a:ext cx="3470148" cy="685800"/>
            <a:chOff x="0" y="0"/>
            <a:chExt cx="4626864" cy="914400"/>
          </a:xfrm>
        </p:grpSpPr>
        <p:sp>
          <p:nvSpPr>
            <p:cNvPr id="109" name="Freeform 60">
              <a:extLst>
                <a:ext uri="{FF2B5EF4-FFF2-40B4-BE49-F238E27FC236}">
                  <a16:creationId xmlns:a16="http://schemas.microsoft.com/office/drawing/2014/main" id="{91AAC7E2-9DC8-0E69-A4A7-DD4F18B92E7C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10" name="TextBox 61">
              <a:extLst>
                <a:ext uri="{FF2B5EF4-FFF2-40B4-BE49-F238E27FC236}">
                  <a16:creationId xmlns:a16="http://schemas.microsoft.com/office/drawing/2014/main" id="{C2765A37-4B78-2059-705C-DA3F6AF268E6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Connect</a:t>
              </a:r>
            </a:p>
          </p:txBody>
        </p:sp>
      </p:grpSp>
      <p:sp>
        <p:nvSpPr>
          <p:cNvPr id="111" name="TextBox 62">
            <a:extLst>
              <a:ext uri="{FF2B5EF4-FFF2-40B4-BE49-F238E27FC236}">
                <a16:creationId xmlns:a16="http://schemas.microsoft.com/office/drawing/2014/main" id="{6BF18333-39F8-0CFF-36D8-48421B324D74}"/>
              </a:ext>
            </a:extLst>
          </p:cNvPr>
          <p:cNvSpPr txBox="1"/>
          <p:nvPr/>
        </p:nvSpPr>
        <p:spPr>
          <a:xfrm>
            <a:off x="6967728" y="17590008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Peer study groups and verified mentors who have walked the same route.</a:t>
            </a:r>
          </a:p>
        </p:txBody>
      </p:sp>
      <p:grpSp>
        <p:nvGrpSpPr>
          <p:cNvPr id="112" name="Group 63">
            <a:extLst>
              <a:ext uri="{FF2B5EF4-FFF2-40B4-BE49-F238E27FC236}">
                <a16:creationId xmlns:a16="http://schemas.microsoft.com/office/drawing/2014/main" id="{B31FEA3E-B0B4-4AAE-9AC5-880BAC16ACD7}"/>
              </a:ext>
            </a:extLst>
          </p:cNvPr>
          <p:cNvGrpSpPr/>
          <p:nvPr/>
        </p:nvGrpSpPr>
        <p:grpSpPr>
          <a:xfrm>
            <a:off x="12142851" y="16315563"/>
            <a:ext cx="5135118" cy="2830830"/>
            <a:chOff x="0" y="0"/>
            <a:chExt cx="6846824" cy="3774440"/>
          </a:xfrm>
        </p:grpSpPr>
        <p:sp>
          <p:nvSpPr>
            <p:cNvPr id="113" name="Freeform 64">
              <a:extLst>
                <a:ext uri="{FF2B5EF4-FFF2-40B4-BE49-F238E27FC236}">
                  <a16:creationId xmlns:a16="http://schemas.microsoft.com/office/drawing/2014/main" id="{FA123E24-3514-E2F3-B7E4-D624AEDCDB7F}"/>
                </a:ext>
              </a:extLst>
            </p:cNvPr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14" name="Group 65">
            <a:extLst>
              <a:ext uri="{FF2B5EF4-FFF2-40B4-BE49-F238E27FC236}">
                <a16:creationId xmlns:a16="http://schemas.microsoft.com/office/drawing/2014/main" id="{8D97B5C0-14AF-A187-5C30-06A033346346}"/>
              </a:ext>
            </a:extLst>
          </p:cNvPr>
          <p:cNvGrpSpPr/>
          <p:nvPr/>
        </p:nvGrpSpPr>
        <p:grpSpPr>
          <a:xfrm>
            <a:off x="12563856" y="16709136"/>
            <a:ext cx="685800" cy="685800"/>
            <a:chOff x="0" y="0"/>
            <a:chExt cx="914400" cy="914400"/>
          </a:xfrm>
        </p:grpSpPr>
        <p:sp>
          <p:nvSpPr>
            <p:cNvPr id="115" name="Freeform 66">
              <a:extLst>
                <a:ext uri="{FF2B5EF4-FFF2-40B4-BE49-F238E27FC236}">
                  <a16:creationId xmlns:a16="http://schemas.microsoft.com/office/drawing/2014/main" id="{275DEFBE-BBD2-3D84-C980-7DD350EFACF6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16" name="Group 67">
            <a:extLst>
              <a:ext uri="{FF2B5EF4-FFF2-40B4-BE49-F238E27FC236}">
                <a16:creationId xmlns:a16="http://schemas.microsoft.com/office/drawing/2014/main" id="{FADB7D6F-66E4-4877-3055-C584C2A3320A}"/>
              </a:ext>
            </a:extLst>
          </p:cNvPr>
          <p:cNvGrpSpPr/>
          <p:nvPr/>
        </p:nvGrpSpPr>
        <p:grpSpPr>
          <a:xfrm>
            <a:off x="12563856" y="16709136"/>
            <a:ext cx="685800" cy="685800"/>
            <a:chOff x="0" y="0"/>
            <a:chExt cx="914400" cy="914400"/>
          </a:xfrm>
        </p:grpSpPr>
        <p:sp>
          <p:nvSpPr>
            <p:cNvPr id="117" name="Freeform 68">
              <a:extLst>
                <a:ext uri="{FF2B5EF4-FFF2-40B4-BE49-F238E27FC236}">
                  <a16:creationId xmlns:a16="http://schemas.microsoft.com/office/drawing/2014/main" id="{FD49E070-F03D-60EA-758D-8CB8C046D2F8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8" name="TextBox 69">
              <a:extLst>
                <a:ext uri="{FF2B5EF4-FFF2-40B4-BE49-F238E27FC236}">
                  <a16:creationId xmlns:a16="http://schemas.microsoft.com/office/drawing/2014/main" id="{5D900D3A-CF3A-568A-8702-57802C70D2F5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</a:t>
              </a:r>
            </a:p>
          </p:txBody>
        </p:sp>
      </p:grpSp>
      <p:grpSp>
        <p:nvGrpSpPr>
          <p:cNvPr id="119" name="Group 70">
            <a:extLst>
              <a:ext uri="{FF2B5EF4-FFF2-40B4-BE49-F238E27FC236}">
                <a16:creationId xmlns:a16="http://schemas.microsoft.com/office/drawing/2014/main" id="{2CD6FD5E-DC89-72B7-FE24-71554DE9F46A}"/>
              </a:ext>
            </a:extLst>
          </p:cNvPr>
          <p:cNvGrpSpPr/>
          <p:nvPr/>
        </p:nvGrpSpPr>
        <p:grpSpPr>
          <a:xfrm>
            <a:off x="13523976" y="16709136"/>
            <a:ext cx="3470148" cy="685800"/>
            <a:chOff x="0" y="0"/>
            <a:chExt cx="4626864" cy="914400"/>
          </a:xfrm>
        </p:grpSpPr>
        <p:sp>
          <p:nvSpPr>
            <p:cNvPr id="120" name="Freeform 71">
              <a:extLst>
                <a:ext uri="{FF2B5EF4-FFF2-40B4-BE49-F238E27FC236}">
                  <a16:creationId xmlns:a16="http://schemas.microsoft.com/office/drawing/2014/main" id="{FD00D226-5EAD-F86A-A28B-C9C2F495636E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21" name="TextBox 72">
              <a:extLst>
                <a:ext uri="{FF2B5EF4-FFF2-40B4-BE49-F238E27FC236}">
                  <a16:creationId xmlns:a16="http://schemas.microsoft.com/office/drawing/2014/main" id="{8B61271A-AB96-5E6A-3918-2609EA1605E2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 a stable job</a:t>
              </a:r>
            </a:p>
          </p:txBody>
        </p:sp>
      </p:grpSp>
      <p:sp>
        <p:nvSpPr>
          <p:cNvPr id="122" name="TextBox 73">
            <a:extLst>
              <a:ext uri="{FF2B5EF4-FFF2-40B4-BE49-F238E27FC236}">
                <a16:creationId xmlns:a16="http://schemas.microsoft.com/office/drawing/2014/main" id="{70ECC815-5884-6F0B-9207-EFFFC2332A2A}"/>
              </a:ext>
            </a:extLst>
          </p:cNvPr>
          <p:cNvSpPr txBox="1"/>
          <p:nvPr/>
        </p:nvSpPr>
        <p:spPr>
          <a:xfrm>
            <a:off x="12563856" y="17590008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Private roles filtered for stability, plus government exams you're actually eligible for.</a:t>
            </a:r>
          </a:p>
        </p:txBody>
      </p:sp>
      <p:grpSp>
        <p:nvGrpSpPr>
          <p:cNvPr id="123" name="Group 74">
            <a:extLst>
              <a:ext uri="{FF2B5EF4-FFF2-40B4-BE49-F238E27FC236}">
                <a16:creationId xmlns:a16="http://schemas.microsoft.com/office/drawing/2014/main" id="{08676CA0-28D7-F604-9CEC-828EAEB96B79}"/>
              </a:ext>
            </a:extLst>
          </p:cNvPr>
          <p:cNvGrpSpPr/>
          <p:nvPr/>
        </p:nvGrpSpPr>
        <p:grpSpPr>
          <a:xfrm>
            <a:off x="17213580" y="20165568"/>
            <a:ext cx="822960" cy="411480"/>
            <a:chOff x="0" y="0"/>
            <a:chExt cx="1097280" cy="548640"/>
          </a:xfrm>
        </p:grpSpPr>
        <p:sp>
          <p:nvSpPr>
            <p:cNvPr id="124" name="Freeform 75">
              <a:extLst>
                <a:ext uri="{FF2B5EF4-FFF2-40B4-BE49-F238E27FC236}">
                  <a16:creationId xmlns:a16="http://schemas.microsoft.com/office/drawing/2014/main" id="{00CD72CB-4595-0463-E375-B05BA74BB6AA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25" name="TextBox 76">
              <a:extLst>
                <a:ext uri="{FF2B5EF4-FFF2-40B4-BE49-F238E27FC236}">
                  <a16:creationId xmlns:a16="http://schemas.microsoft.com/office/drawing/2014/main" id="{FED7AA6B-0DF5-1C34-4D87-000BD687C6BB}"/>
                </a:ext>
              </a:extLst>
            </p:cNvPr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06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SOLUTION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097280"/>
            <a:ext cx="16322040" cy="1234440"/>
            <a:chOff x="0" y="0"/>
            <a:chExt cx="2176272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Six steps, one path to a stable job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595" y="2665095"/>
            <a:ext cx="5135118" cy="2830830"/>
            <a:chOff x="0" y="0"/>
            <a:chExt cx="6846824" cy="3774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371600" y="3058668"/>
            <a:ext cx="685800" cy="685800"/>
            <a:chOff x="0" y="0"/>
            <a:chExt cx="91440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71600" y="3058668"/>
            <a:ext cx="685800" cy="685800"/>
            <a:chOff x="0" y="0"/>
            <a:chExt cx="9144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331720" y="3058668"/>
            <a:ext cx="3470148" cy="685800"/>
            <a:chOff x="0" y="0"/>
            <a:chExt cx="4626864" cy="914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Verify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71600" y="3939540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voice note plus a short AI micro-check confirm real skills. A light identity check keeps the peer network safe.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546723" y="2665095"/>
            <a:ext cx="5135118" cy="2830830"/>
            <a:chOff x="0" y="0"/>
            <a:chExt cx="6846824" cy="3774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967728" y="3058668"/>
            <a:ext cx="685800" cy="685800"/>
            <a:chOff x="0" y="0"/>
            <a:chExt cx="91440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967728" y="3058668"/>
            <a:ext cx="685800" cy="685800"/>
            <a:chOff x="0" y="0"/>
            <a:chExt cx="914400" cy="91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927848" y="3058668"/>
            <a:ext cx="3470148" cy="685800"/>
            <a:chOff x="0" y="0"/>
            <a:chExt cx="4626864" cy="914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 your CV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967728" y="3939540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turns what you said and proved into a professional CV. No writing, no template hunting.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142851" y="2665095"/>
            <a:ext cx="5135118" cy="2830830"/>
            <a:chOff x="0" y="0"/>
            <a:chExt cx="6846824" cy="37744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2563856" y="3058668"/>
            <a:ext cx="685800" cy="685800"/>
            <a:chOff x="0" y="0"/>
            <a:chExt cx="91440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2563856" y="3058668"/>
            <a:ext cx="685800" cy="685800"/>
            <a:chOff x="0" y="0"/>
            <a:chExt cx="914400" cy="914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523976" y="3058668"/>
            <a:ext cx="3470148" cy="685800"/>
            <a:chOff x="0" y="0"/>
            <a:chExt cx="4626864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Find your gaps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563856" y="3939540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Your verified skills are compared with the roles you want, and what's missing is ranked by impact.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50595" y="5888355"/>
            <a:ext cx="5135118" cy="2830830"/>
            <a:chOff x="0" y="0"/>
            <a:chExt cx="6846824" cy="37744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371600" y="6281928"/>
            <a:ext cx="685800" cy="685800"/>
            <a:chOff x="0" y="0"/>
            <a:chExt cx="914400" cy="914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371600" y="6281928"/>
            <a:ext cx="685800" cy="685800"/>
            <a:chOff x="0" y="0"/>
            <a:chExt cx="914400" cy="914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331720" y="6281928"/>
            <a:ext cx="3470148" cy="685800"/>
            <a:chOff x="0" y="0"/>
            <a:chExt cx="4626864" cy="9144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Learn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371600" y="7162800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Short, free, curated lessons aimed at your specific gaps, sequenced around your time.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6546723" y="5888355"/>
            <a:ext cx="5135118" cy="2830830"/>
            <a:chOff x="0" y="0"/>
            <a:chExt cx="6846824" cy="37744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6967728" y="6281928"/>
            <a:ext cx="685800" cy="685800"/>
            <a:chOff x="0" y="0"/>
            <a:chExt cx="914400" cy="9144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6967728" y="6281928"/>
            <a:ext cx="685800" cy="685800"/>
            <a:chOff x="0" y="0"/>
            <a:chExt cx="914400" cy="914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927848" y="6281928"/>
            <a:ext cx="3470148" cy="685800"/>
            <a:chOff x="0" y="0"/>
            <a:chExt cx="4626864" cy="9144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Connect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6967728" y="7162800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Peer study groups and verified mentors who have walked the same route.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2142851" y="5888355"/>
            <a:ext cx="5135118" cy="2830830"/>
            <a:chOff x="0" y="0"/>
            <a:chExt cx="6846824" cy="37744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12563856" y="6281928"/>
            <a:ext cx="685800" cy="685800"/>
            <a:chOff x="0" y="0"/>
            <a:chExt cx="914400" cy="9144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12563856" y="6281928"/>
            <a:ext cx="685800" cy="685800"/>
            <a:chOff x="0" y="0"/>
            <a:chExt cx="914400" cy="9144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3523976" y="6281928"/>
            <a:ext cx="3470148" cy="685800"/>
            <a:chOff x="0" y="0"/>
            <a:chExt cx="4626864" cy="9144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 a stable job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2563856" y="7162800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Private roles filtered for stability, plus government exams you're actually eligible for.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06</a:t>
              </a:r>
            </a:p>
          </p:txBody>
        </p:sp>
      </p:grpSp>
      <p:grpSp>
        <p:nvGrpSpPr>
          <p:cNvPr id="77" name="Group 2">
            <a:extLst>
              <a:ext uri="{FF2B5EF4-FFF2-40B4-BE49-F238E27FC236}">
                <a16:creationId xmlns:a16="http://schemas.microsoft.com/office/drawing/2014/main" id="{37975F6E-1480-C504-25B7-25120E66984C}"/>
              </a:ext>
            </a:extLst>
          </p:cNvPr>
          <p:cNvGrpSpPr/>
          <p:nvPr/>
        </p:nvGrpSpPr>
        <p:grpSpPr>
          <a:xfrm>
            <a:off x="1014984" y="-10412539"/>
            <a:ext cx="12344400" cy="480060"/>
            <a:chOff x="0" y="0"/>
            <a:chExt cx="16459200" cy="640080"/>
          </a:xfrm>
        </p:grpSpPr>
        <p:sp>
          <p:nvSpPr>
            <p:cNvPr id="78" name="Freeform 3">
              <a:extLst>
                <a:ext uri="{FF2B5EF4-FFF2-40B4-BE49-F238E27FC236}">
                  <a16:creationId xmlns:a16="http://schemas.microsoft.com/office/drawing/2014/main" id="{40529313-6786-17B7-3E4C-CBD068997F60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79" name="TextBox 4">
              <a:extLst>
                <a:ext uri="{FF2B5EF4-FFF2-40B4-BE49-F238E27FC236}">
                  <a16:creationId xmlns:a16="http://schemas.microsoft.com/office/drawing/2014/main" id="{3F6A11B6-5B77-1B22-95D1-EFEFCC0E3CF6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INSIGHT</a:t>
              </a:r>
            </a:p>
          </p:txBody>
        </p:sp>
      </p:grpSp>
      <p:grpSp>
        <p:nvGrpSpPr>
          <p:cNvPr id="80" name="Group 5">
            <a:extLst>
              <a:ext uri="{FF2B5EF4-FFF2-40B4-BE49-F238E27FC236}">
                <a16:creationId xmlns:a16="http://schemas.microsoft.com/office/drawing/2014/main" id="{37E57267-7FDD-4B80-A4FE-E560EF46FB9B}"/>
              </a:ext>
            </a:extLst>
          </p:cNvPr>
          <p:cNvGrpSpPr/>
          <p:nvPr/>
        </p:nvGrpSpPr>
        <p:grpSpPr>
          <a:xfrm>
            <a:off x="1014984" y="-9932479"/>
            <a:ext cx="16322040" cy="1234440"/>
            <a:chOff x="0" y="0"/>
            <a:chExt cx="21762720" cy="1645920"/>
          </a:xfrm>
        </p:grpSpPr>
        <p:sp>
          <p:nvSpPr>
            <p:cNvPr id="81" name="Freeform 6">
              <a:extLst>
                <a:ext uri="{FF2B5EF4-FFF2-40B4-BE49-F238E27FC236}">
                  <a16:creationId xmlns:a16="http://schemas.microsoft.com/office/drawing/2014/main" id="{F8E2C022-9C28-7467-D8BB-D235CCBF0428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82" name="TextBox 7">
              <a:extLst>
                <a:ext uri="{FF2B5EF4-FFF2-40B4-BE49-F238E27FC236}">
                  <a16:creationId xmlns:a16="http://schemas.microsoft.com/office/drawing/2014/main" id="{09BE81D5-AF59-3496-0586-359D271A4372}"/>
                </a:ext>
              </a:extLst>
            </p:cNvPr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This isn't a job-board problem.</a:t>
              </a:r>
            </a:p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It's a path problem.</a:t>
              </a:r>
            </a:p>
          </p:txBody>
        </p:sp>
      </p:grpSp>
      <p:grpSp>
        <p:nvGrpSpPr>
          <p:cNvPr id="83" name="Group 8">
            <a:extLst>
              <a:ext uri="{FF2B5EF4-FFF2-40B4-BE49-F238E27FC236}">
                <a16:creationId xmlns:a16="http://schemas.microsoft.com/office/drawing/2014/main" id="{3CE0C010-816B-0508-2CFF-1B65F20ED9B4}"/>
              </a:ext>
            </a:extLst>
          </p:cNvPr>
          <p:cNvGrpSpPr/>
          <p:nvPr/>
        </p:nvGrpSpPr>
        <p:grpSpPr>
          <a:xfrm>
            <a:off x="1005459" y="-7404544"/>
            <a:ext cx="7837170" cy="5985510"/>
            <a:chOff x="0" y="0"/>
            <a:chExt cx="10449560" cy="7980680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E8E95047-1197-B155-E34F-F834278E3A31}"/>
                </a:ext>
              </a:extLst>
            </p:cNvPr>
            <p:cNvSpPr/>
            <p:nvPr/>
          </p:nvSpPr>
          <p:spPr>
            <a:xfrm>
              <a:off x="0" y="0"/>
              <a:ext cx="10449560" cy="7980680"/>
            </a:xfrm>
            <a:custGeom>
              <a:avLst/>
              <a:gdLst/>
              <a:ahLst/>
              <a:cxnLst/>
              <a:rect l="l" t="t" r="r" b="b"/>
              <a:pathLst>
                <a:path w="10449560" h="79806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266045" y="0"/>
                  </a:lnTo>
                  <a:cubicBezTo>
                    <a:pt x="10367390" y="0"/>
                    <a:pt x="10449560" y="82169"/>
                    <a:pt x="10449560" y="183515"/>
                  </a:cubicBezTo>
                  <a:lnTo>
                    <a:pt x="10449560" y="7797165"/>
                  </a:lnTo>
                  <a:cubicBezTo>
                    <a:pt x="10449560" y="7898511"/>
                    <a:pt x="10367390" y="7980680"/>
                    <a:pt x="10266045" y="7980680"/>
                  </a:cubicBezTo>
                  <a:lnTo>
                    <a:pt x="183515" y="7980680"/>
                  </a:lnTo>
                  <a:cubicBezTo>
                    <a:pt x="82169" y="7980680"/>
                    <a:pt x="0" y="7898511"/>
                    <a:pt x="0" y="779716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85" name="Group 10">
            <a:extLst>
              <a:ext uri="{FF2B5EF4-FFF2-40B4-BE49-F238E27FC236}">
                <a16:creationId xmlns:a16="http://schemas.microsoft.com/office/drawing/2014/main" id="{91F3C553-074D-3ABC-07C3-814C76A493A5}"/>
              </a:ext>
            </a:extLst>
          </p:cNvPr>
          <p:cNvGrpSpPr/>
          <p:nvPr/>
        </p:nvGrpSpPr>
        <p:grpSpPr>
          <a:xfrm>
            <a:off x="1495044" y="-7010971"/>
            <a:ext cx="6858000" cy="617220"/>
            <a:chOff x="0" y="0"/>
            <a:chExt cx="9144000" cy="822960"/>
          </a:xfrm>
        </p:grpSpPr>
        <p:sp>
          <p:nvSpPr>
            <p:cNvPr id="86" name="Freeform 11">
              <a:extLst>
                <a:ext uri="{FF2B5EF4-FFF2-40B4-BE49-F238E27FC236}">
                  <a16:creationId xmlns:a16="http://schemas.microsoft.com/office/drawing/2014/main" id="{3B74B62A-A623-2652-1853-270E3F896BBD}"/>
                </a:ext>
              </a:extLst>
            </p:cNvPr>
            <p:cNvSpPr/>
            <p:nvPr/>
          </p:nvSpPr>
          <p:spPr>
            <a:xfrm>
              <a:off x="0" y="0"/>
              <a:ext cx="9144000" cy="822960"/>
            </a:xfrm>
            <a:custGeom>
              <a:avLst/>
              <a:gdLst/>
              <a:ahLst/>
              <a:cxnLst/>
              <a:rect l="l" t="t" r="r" b="b"/>
              <a:pathLst>
                <a:path w="9144000" h="822960">
                  <a:moveTo>
                    <a:pt x="0" y="0"/>
                  </a:moveTo>
                  <a:lnTo>
                    <a:pt x="9144000" y="0"/>
                  </a:lnTo>
                  <a:lnTo>
                    <a:pt x="9144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500" b="-166500"/>
              </a:stretch>
            </a:blipFill>
          </p:spPr>
        </p:sp>
        <p:sp>
          <p:nvSpPr>
            <p:cNvPr id="87" name="TextBox 12">
              <a:extLst>
                <a:ext uri="{FF2B5EF4-FFF2-40B4-BE49-F238E27FC236}">
                  <a16:creationId xmlns:a16="http://schemas.microsoft.com/office/drawing/2014/main" id="{36B9C0E0-91DF-7622-74EA-1CEA7A740366}"/>
                </a:ext>
              </a:extLst>
            </p:cNvPr>
            <p:cNvSpPr txBox="1"/>
            <p:nvPr/>
          </p:nvSpPr>
          <p:spPr>
            <a:xfrm>
              <a:off x="0" y="-9525"/>
              <a:ext cx="914400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29"/>
                </a:lnSpc>
              </a:pPr>
              <a:r>
                <a:rPr lang="en-US" sz="277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Generic job &amp; learning apps</a:t>
              </a:r>
            </a:p>
          </p:txBody>
        </p:sp>
      </p:grpSp>
      <p:grpSp>
        <p:nvGrpSpPr>
          <p:cNvPr id="88" name="Group 13">
            <a:extLst>
              <a:ext uri="{FF2B5EF4-FFF2-40B4-BE49-F238E27FC236}">
                <a16:creationId xmlns:a16="http://schemas.microsoft.com/office/drawing/2014/main" id="{9D954943-1CE7-722C-25A5-1AE41510084B}"/>
              </a:ext>
            </a:extLst>
          </p:cNvPr>
          <p:cNvGrpSpPr/>
          <p:nvPr/>
        </p:nvGrpSpPr>
        <p:grpSpPr>
          <a:xfrm>
            <a:off x="1495044" y="-6270307"/>
            <a:ext cx="6858000" cy="754380"/>
            <a:chOff x="0" y="0"/>
            <a:chExt cx="9144000" cy="1005840"/>
          </a:xfrm>
        </p:grpSpPr>
        <p:sp>
          <p:nvSpPr>
            <p:cNvPr id="89" name="Freeform 14">
              <a:extLst>
                <a:ext uri="{FF2B5EF4-FFF2-40B4-BE49-F238E27FC236}">
                  <a16:creationId xmlns:a16="http://schemas.microsoft.com/office/drawing/2014/main" id="{C569F7CE-8E3E-0C46-0C6D-87CDE2F78223}"/>
                </a:ext>
              </a:extLst>
            </p:cNvPr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90" name="TextBox 15">
              <a:extLst>
                <a:ext uri="{FF2B5EF4-FFF2-40B4-BE49-F238E27FC236}">
                  <a16:creationId xmlns:a16="http://schemas.microsoft.com/office/drawing/2014/main" id="{9FD8BC73-51FB-1432-E30F-4C46FAD81A5D}"/>
                </a:ext>
              </a:extLst>
            </p:cNvPr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✕  Assume a CV and a network already exist</a:t>
              </a:r>
            </a:p>
          </p:txBody>
        </p:sp>
      </p:grpSp>
      <p:grpSp>
        <p:nvGrpSpPr>
          <p:cNvPr id="91" name="Group 16">
            <a:extLst>
              <a:ext uri="{FF2B5EF4-FFF2-40B4-BE49-F238E27FC236}">
                <a16:creationId xmlns:a16="http://schemas.microsoft.com/office/drawing/2014/main" id="{33BA3244-6EFB-0824-B588-FB79B2B6702F}"/>
              </a:ext>
            </a:extLst>
          </p:cNvPr>
          <p:cNvGrpSpPr/>
          <p:nvPr/>
        </p:nvGrpSpPr>
        <p:grpSpPr>
          <a:xfrm>
            <a:off x="1495044" y="-5378767"/>
            <a:ext cx="6858000" cy="754380"/>
            <a:chOff x="0" y="0"/>
            <a:chExt cx="9144000" cy="1005840"/>
          </a:xfrm>
        </p:grpSpPr>
        <p:sp>
          <p:nvSpPr>
            <p:cNvPr id="92" name="Freeform 17">
              <a:extLst>
                <a:ext uri="{FF2B5EF4-FFF2-40B4-BE49-F238E27FC236}">
                  <a16:creationId xmlns:a16="http://schemas.microsoft.com/office/drawing/2014/main" id="{8013F3A6-A09C-2A48-4099-8D52AFA6F7E8}"/>
                </a:ext>
              </a:extLst>
            </p:cNvPr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93" name="TextBox 18">
              <a:extLst>
                <a:ext uri="{FF2B5EF4-FFF2-40B4-BE49-F238E27FC236}">
                  <a16:creationId xmlns:a16="http://schemas.microsoft.com/office/drawing/2014/main" id="{152C12A0-CDFE-D860-5822-6196304FE77D}"/>
                </a:ext>
              </a:extLst>
            </p:cNvPr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✕  Treat jobs, learning and exams as separate tools</a:t>
              </a:r>
            </a:p>
          </p:txBody>
        </p:sp>
      </p:grpSp>
      <p:grpSp>
        <p:nvGrpSpPr>
          <p:cNvPr id="94" name="Group 19">
            <a:extLst>
              <a:ext uri="{FF2B5EF4-FFF2-40B4-BE49-F238E27FC236}">
                <a16:creationId xmlns:a16="http://schemas.microsoft.com/office/drawing/2014/main" id="{86272499-2066-B932-ED7C-AEF23F281EF0}"/>
              </a:ext>
            </a:extLst>
          </p:cNvPr>
          <p:cNvGrpSpPr/>
          <p:nvPr/>
        </p:nvGrpSpPr>
        <p:grpSpPr>
          <a:xfrm>
            <a:off x="1495044" y="-4487227"/>
            <a:ext cx="6858000" cy="754380"/>
            <a:chOff x="0" y="0"/>
            <a:chExt cx="9144000" cy="1005840"/>
          </a:xfrm>
        </p:grpSpPr>
        <p:sp>
          <p:nvSpPr>
            <p:cNvPr id="95" name="Freeform 20">
              <a:extLst>
                <a:ext uri="{FF2B5EF4-FFF2-40B4-BE49-F238E27FC236}">
                  <a16:creationId xmlns:a16="http://schemas.microsoft.com/office/drawing/2014/main" id="{9C9E97E4-F5D4-0303-D9E9-1A6A772A83D3}"/>
                </a:ext>
              </a:extLst>
            </p:cNvPr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96" name="TextBox 21">
              <a:extLst>
                <a:ext uri="{FF2B5EF4-FFF2-40B4-BE49-F238E27FC236}">
                  <a16:creationId xmlns:a16="http://schemas.microsoft.com/office/drawing/2014/main" id="{D01FCB6F-28DC-FB65-9094-885EA294923E}"/>
                </a:ext>
              </a:extLst>
            </p:cNvPr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✕  Can't verify skills learned informally</a:t>
              </a:r>
            </a:p>
          </p:txBody>
        </p:sp>
      </p:grpSp>
      <p:grpSp>
        <p:nvGrpSpPr>
          <p:cNvPr id="97" name="Group 22">
            <a:extLst>
              <a:ext uri="{FF2B5EF4-FFF2-40B4-BE49-F238E27FC236}">
                <a16:creationId xmlns:a16="http://schemas.microsoft.com/office/drawing/2014/main" id="{DD050B76-CE10-5811-66BE-3DBF836413C3}"/>
              </a:ext>
            </a:extLst>
          </p:cNvPr>
          <p:cNvGrpSpPr/>
          <p:nvPr/>
        </p:nvGrpSpPr>
        <p:grpSpPr>
          <a:xfrm>
            <a:off x="1495044" y="-3595687"/>
            <a:ext cx="6858000" cy="754380"/>
            <a:chOff x="0" y="0"/>
            <a:chExt cx="9144000" cy="1005840"/>
          </a:xfrm>
        </p:grpSpPr>
        <p:sp>
          <p:nvSpPr>
            <p:cNvPr id="98" name="Freeform 23">
              <a:extLst>
                <a:ext uri="{FF2B5EF4-FFF2-40B4-BE49-F238E27FC236}">
                  <a16:creationId xmlns:a16="http://schemas.microsoft.com/office/drawing/2014/main" id="{2183B1D6-4C62-2E39-FB1F-4ACEA989D434}"/>
                </a:ext>
              </a:extLst>
            </p:cNvPr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99" name="TextBox 24">
              <a:extLst>
                <a:ext uri="{FF2B5EF4-FFF2-40B4-BE49-F238E27FC236}">
                  <a16:creationId xmlns:a16="http://schemas.microsoft.com/office/drawing/2014/main" id="{67BD7943-4686-7B43-E026-336333C6D4B3}"/>
                </a:ext>
              </a:extLst>
            </p:cNvPr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✕  Leave people to find peers on their own</a:t>
              </a:r>
            </a:p>
          </p:txBody>
        </p:sp>
      </p:grpSp>
      <p:grpSp>
        <p:nvGrpSpPr>
          <p:cNvPr id="100" name="Group 25">
            <a:extLst>
              <a:ext uri="{FF2B5EF4-FFF2-40B4-BE49-F238E27FC236}">
                <a16:creationId xmlns:a16="http://schemas.microsoft.com/office/drawing/2014/main" id="{16607F46-47F8-4C33-052E-F7FAC5A2F792}"/>
              </a:ext>
            </a:extLst>
          </p:cNvPr>
          <p:cNvGrpSpPr/>
          <p:nvPr/>
        </p:nvGrpSpPr>
        <p:grpSpPr>
          <a:xfrm>
            <a:off x="1495044" y="-2704147"/>
            <a:ext cx="6858000" cy="754380"/>
            <a:chOff x="0" y="0"/>
            <a:chExt cx="9144000" cy="1005840"/>
          </a:xfrm>
        </p:grpSpPr>
        <p:sp>
          <p:nvSpPr>
            <p:cNvPr id="101" name="Freeform 26">
              <a:extLst>
                <a:ext uri="{FF2B5EF4-FFF2-40B4-BE49-F238E27FC236}">
                  <a16:creationId xmlns:a16="http://schemas.microsoft.com/office/drawing/2014/main" id="{E6E1A827-5211-17D0-3A06-C2B1AC892A7A}"/>
                </a:ext>
              </a:extLst>
            </p:cNvPr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102" name="TextBox 27">
              <a:extLst>
                <a:ext uri="{FF2B5EF4-FFF2-40B4-BE49-F238E27FC236}">
                  <a16:creationId xmlns:a16="http://schemas.microsoft.com/office/drawing/2014/main" id="{8E14BFF3-62E0-BA36-26BE-7ED3B9921142}"/>
                </a:ext>
              </a:extLst>
            </p:cNvPr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✕  Optimise for any job, not a stable one</a:t>
              </a:r>
            </a:p>
          </p:txBody>
        </p:sp>
      </p:grpSp>
      <p:grpSp>
        <p:nvGrpSpPr>
          <p:cNvPr id="103" name="Group 28">
            <a:extLst>
              <a:ext uri="{FF2B5EF4-FFF2-40B4-BE49-F238E27FC236}">
                <a16:creationId xmlns:a16="http://schemas.microsoft.com/office/drawing/2014/main" id="{EF3EC63B-06B3-ECE8-26B4-D6D4D3CCAB29}"/>
              </a:ext>
            </a:extLst>
          </p:cNvPr>
          <p:cNvGrpSpPr/>
          <p:nvPr/>
        </p:nvGrpSpPr>
        <p:grpSpPr>
          <a:xfrm>
            <a:off x="9509379" y="-7404544"/>
            <a:ext cx="7837170" cy="5985510"/>
            <a:chOff x="0" y="0"/>
            <a:chExt cx="10449560" cy="7980680"/>
          </a:xfrm>
        </p:grpSpPr>
        <p:sp>
          <p:nvSpPr>
            <p:cNvPr id="104" name="Freeform 29">
              <a:extLst>
                <a:ext uri="{FF2B5EF4-FFF2-40B4-BE49-F238E27FC236}">
                  <a16:creationId xmlns:a16="http://schemas.microsoft.com/office/drawing/2014/main" id="{033C1D40-B1E9-443D-823E-EB5441AF14AD}"/>
                </a:ext>
              </a:extLst>
            </p:cNvPr>
            <p:cNvSpPr/>
            <p:nvPr/>
          </p:nvSpPr>
          <p:spPr>
            <a:xfrm>
              <a:off x="0" y="0"/>
              <a:ext cx="10449560" cy="7980680"/>
            </a:xfrm>
            <a:custGeom>
              <a:avLst/>
              <a:gdLst/>
              <a:ahLst/>
              <a:cxnLst/>
              <a:rect l="l" t="t" r="r" b="b"/>
              <a:pathLst>
                <a:path w="10449560" h="79806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266045" y="0"/>
                  </a:lnTo>
                  <a:cubicBezTo>
                    <a:pt x="10367390" y="0"/>
                    <a:pt x="10449560" y="82169"/>
                    <a:pt x="10449560" y="183515"/>
                  </a:cubicBezTo>
                  <a:lnTo>
                    <a:pt x="10449560" y="7797165"/>
                  </a:lnTo>
                  <a:cubicBezTo>
                    <a:pt x="10449560" y="7898511"/>
                    <a:pt x="10367390" y="7980680"/>
                    <a:pt x="10266045" y="7980680"/>
                  </a:cubicBezTo>
                  <a:lnTo>
                    <a:pt x="183515" y="7980680"/>
                  </a:lnTo>
                  <a:cubicBezTo>
                    <a:pt x="82169" y="7980680"/>
                    <a:pt x="0" y="7898511"/>
                    <a:pt x="0" y="7797165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5" name="Group 30">
            <a:extLst>
              <a:ext uri="{FF2B5EF4-FFF2-40B4-BE49-F238E27FC236}">
                <a16:creationId xmlns:a16="http://schemas.microsoft.com/office/drawing/2014/main" id="{D36B4ED7-36A3-84ED-BAD9-024951C2C377}"/>
              </a:ext>
            </a:extLst>
          </p:cNvPr>
          <p:cNvGrpSpPr/>
          <p:nvPr/>
        </p:nvGrpSpPr>
        <p:grpSpPr>
          <a:xfrm>
            <a:off x="9998964" y="-7010971"/>
            <a:ext cx="6858000" cy="617220"/>
            <a:chOff x="0" y="0"/>
            <a:chExt cx="9144000" cy="822960"/>
          </a:xfrm>
        </p:grpSpPr>
        <p:sp>
          <p:nvSpPr>
            <p:cNvPr id="106" name="Freeform 31">
              <a:extLst>
                <a:ext uri="{FF2B5EF4-FFF2-40B4-BE49-F238E27FC236}">
                  <a16:creationId xmlns:a16="http://schemas.microsoft.com/office/drawing/2014/main" id="{8A76EC69-3279-6E2F-55AF-BAE6CFB57B53}"/>
                </a:ext>
              </a:extLst>
            </p:cNvPr>
            <p:cNvSpPr/>
            <p:nvPr/>
          </p:nvSpPr>
          <p:spPr>
            <a:xfrm>
              <a:off x="0" y="0"/>
              <a:ext cx="9144000" cy="822960"/>
            </a:xfrm>
            <a:custGeom>
              <a:avLst/>
              <a:gdLst/>
              <a:ahLst/>
              <a:cxnLst/>
              <a:rect l="l" t="t" r="r" b="b"/>
              <a:pathLst>
                <a:path w="9144000" h="822960">
                  <a:moveTo>
                    <a:pt x="0" y="0"/>
                  </a:moveTo>
                  <a:lnTo>
                    <a:pt x="9144000" y="0"/>
                  </a:lnTo>
                  <a:lnTo>
                    <a:pt x="9144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500" b="-166500"/>
              </a:stretch>
            </a:blipFill>
          </p:spPr>
        </p:sp>
        <p:sp>
          <p:nvSpPr>
            <p:cNvPr id="107" name="TextBox 32">
              <a:extLst>
                <a:ext uri="{FF2B5EF4-FFF2-40B4-BE49-F238E27FC236}">
                  <a16:creationId xmlns:a16="http://schemas.microsoft.com/office/drawing/2014/main" id="{98C6AACD-7995-9212-56B6-DEF839154C8A}"/>
                </a:ext>
              </a:extLst>
            </p:cNvPr>
            <p:cNvSpPr txBox="1"/>
            <p:nvPr/>
          </p:nvSpPr>
          <p:spPr>
            <a:xfrm>
              <a:off x="0" y="-9525"/>
              <a:ext cx="914400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29"/>
                </a:lnSpc>
              </a:pPr>
              <a:r>
                <a:rPr lang="en-US" sz="27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SkillAscend</a:t>
              </a:r>
            </a:p>
          </p:txBody>
        </p:sp>
      </p:grpSp>
      <p:grpSp>
        <p:nvGrpSpPr>
          <p:cNvPr id="108" name="Group 33">
            <a:extLst>
              <a:ext uri="{FF2B5EF4-FFF2-40B4-BE49-F238E27FC236}">
                <a16:creationId xmlns:a16="http://schemas.microsoft.com/office/drawing/2014/main" id="{11D2C8C3-EB93-8313-AA6B-19DA62FEC5C5}"/>
              </a:ext>
            </a:extLst>
          </p:cNvPr>
          <p:cNvGrpSpPr/>
          <p:nvPr/>
        </p:nvGrpSpPr>
        <p:grpSpPr>
          <a:xfrm>
            <a:off x="9998964" y="-6270307"/>
            <a:ext cx="6858000" cy="754380"/>
            <a:chOff x="0" y="0"/>
            <a:chExt cx="9144000" cy="1005840"/>
          </a:xfrm>
        </p:grpSpPr>
        <p:sp>
          <p:nvSpPr>
            <p:cNvPr id="109" name="Freeform 34">
              <a:extLst>
                <a:ext uri="{FF2B5EF4-FFF2-40B4-BE49-F238E27FC236}">
                  <a16:creationId xmlns:a16="http://schemas.microsoft.com/office/drawing/2014/main" id="{0D5AE988-F550-4DFC-EE1D-552ACFA8931E}"/>
                </a:ext>
              </a:extLst>
            </p:cNvPr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110" name="TextBox 35">
              <a:extLst>
                <a:ext uri="{FF2B5EF4-FFF2-40B4-BE49-F238E27FC236}">
                  <a16:creationId xmlns:a16="http://schemas.microsoft.com/office/drawing/2014/main" id="{E403AD9D-D43D-DDF8-AEB2-8464084A8BCA}"/>
                </a:ext>
              </a:extLst>
            </p:cNvPr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Starts from a spoken description, not a CV</a:t>
              </a:r>
            </a:p>
          </p:txBody>
        </p:sp>
      </p:grpSp>
      <p:grpSp>
        <p:nvGrpSpPr>
          <p:cNvPr id="111" name="Group 36">
            <a:extLst>
              <a:ext uri="{FF2B5EF4-FFF2-40B4-BE49-F238E27FC236}">
                <a16:creationId xmlns:a16="http://schemas.microsoft.com/office/drawing/2014/main" id="{E2BB6AE3-2B9F-B917-97CB-86B88D5A18C1}"/>
              </a:ext>
            </a:extLst>
          </p:cNvPr>
          <p:cNvGrpSpPr/>
          <p:nvPr/>
        </p:nvGrpSpPr>
        <p:grpSpPr>
          <a:xfrm>
            <a:off x="9998964" y="-5378767"/>
            <a:ext cx="6858000" cy="754380"/>
            <a:chOff x="0" y="0"/>
            <a:chExt cx="9144000" cy="1005840"/>
          </a:xfrm>
        </p:grpSpPr>
        <p:sp>
          <p:nvSpPr>
            <p:cNvPr id="112" name="Freeform 37">
              <a:extLst>
                <a:ext uri="{FF2B5EF4-FFF2-40B4-BE49-F238E27FC236}">
                  <a16:creationId xmlns:a16="http://schemas.microsoft.com/office/drawing/2014/main" id="{3E37C381-8359-0A63-0BBB-1A0E2852C624}"/>
                </a:ext>
              </a:extLst>
            </p:cNvPr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113" name="TextBox 38">
              <a:extLst>
                <a:ext uri="{FF2B5EF4-FFF2-40B4-BE49-F238E27FC236}">
                  <a16:creationId xmlns:a16="http://schemas.microsoft.com/office/drawing/2014/main" id="{A7B8117C-303D-E7CF-CC8B-D33DC1FABE1F}"/>
                </a:ext>
              </a:extLst>
            </p:cNvPr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One path: verify → CV → gaps → learn → hired</a:t>
              </a:r>
            </a:p>
          </p:txBody>
        </p:sp>
      </p:grpSp>
      <p:grpSp>
        <p:nvGrpSpPr>
          <p:cNvPr id="114" name="Group 39">
            <a:extLst>
              <a:ext uri="{FF2B5EF4-FFF2-40B4-BE49-F238E27FC236}">
                <a16:creationId xmlns:a16="http://schemas.microsoft.com/office/drawing/2014/main" id="{82CEA64E-3821-100E-4F31-C1FE29AEC310}"/>
              </a:ext>
            </a:extLst>
          </p:cNvPr>
          <p:cNvGrpSpPr/>
          <p:nvPr/>
        </p:nvGrpSpPr>
        <p:grpSpPr>
          <a:xfrm>
            <a:off x="9998964" y="-4487227"/>
            <a:ext cx="6858000" cy="754380"/>
            <a:chOff x="0" y="0"/>
            <a:chExt cx="9144000" cy="1005840"/>
          </a:xfrm>
        </p:grpSpPr>
        <p:sp>
          <p:nvSpPr>
            <p:cNvPr id="115" name="Freeform 40">
              <a:extLst>
                <a:ext uri="{FF2B5EF4-FFF2-40B4-BE49-F238E27FC236}">
                  <a16:creationId xmlns:a16="http://schemas.microsoft.com/office/drawing/2014/main" id="{C92ABAFD-E254-C73C-C972-C1D63020E1F9}"/>
                </a:ext>
              </a:extLst>
            </p:cNvPr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116" name="TextBox 41">
              <a:extLst>
                <a:ext uri="{FF2B5EF4-FFF2-40B4-BE49-F238E27FC236}">
                  <a16:creationId xmlns:a16="http://schemas.microsoft.com/office/drawing/2014/main" id="{B6D08743-48F4-85FD-64D7-42646B4883FE}"/>
                </a:ext>
              </a:extLst>
            </p:cNvPr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Verifies skills with an AI micro-check</a:t>
              </a:r>
            </a:p>
          </p:txBody>
        </p:sp>
      </p:grpSp>
      <p:grpSp>
        <p:nvGrpSpPr>
          <p:cNvPr id="117" name="Group 42">
            <a:extLst>
              <a:ext uri="{FF2B5EF4-FFF2-40B4-BE49-F238E27FC236}">
                <a16:creationId xmlns:a16="http://schemas.microsoft.com/office/drawing/2014/main" id="{90FAFAA1-1E53-D32D-57F6-AE7621106274}"/>
              </a:ext>
            </a:extLst>
          </p:cNvPr>
          <p:cNvGrpSpPr/>
          <p:nvPr/>
        </p:nvGrpSpPr>
        <p:grpSpPr>
          <a:xfrm>
            <a:off x="9998964" y="-3595687"/>
            <a:ext cx="6858000" cy="754380"/>
            <a:chOff x="0" y="0"/>
            <a:chExt cx="9144000" cy="1005840"/>
          </a:xfrm>
        </p:grpSpPr>
        <p:sp>
          <p:nvSpPr>
            <p:cNvPr id="118" name="Freeform 43">
              <a:extLst>
                <a:ext uri="{FF2B5EF4-FFF2-40B4-BE49-F238E27FC236}">
                  <a16:creationId xmlns:a16="http://schemas.microsoft.com/office/drawing/2014/main" id="{FEEF09E9-F50B-4912-D259-D8F9CD8940D1}"/>
                </a:ext>
              </a:extLst>
            </p:cNvPr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119" name="TextBox 44">
              <a:extLst>
                <a:ext uri="{FF2B5EF4-FFF2-40B4-BE49-F238E27FC236}">
                  <a16:creationId xmlns:a16="http://schemas.microsoft.com/office/drawing/2014/main" id="{AE41EAD2-0907-9888-331E-A476ABE88F25}"/>
                </a:ext>
              </a:extLst>
            </p:cNvPr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Connects peers and mentors on the same route</a:t>
              </a:r>
            </a:p>
          </p:txBody>
        </p:sp>
      </p:grpSp>
      <p:grpSp>
        <p:nvGrpSpPr>
          <p:cNvPr id="120" name="Group 45">
            <a:extLst>
              <a:ext uri="{FF2B5EF4-FFF2-40B4-BE49-F238E27FC236}">
                <a16:creationId xmlns:a16="http://schemas.microsoft.com/office/drawing/2014/main" id="{542AB8A3-5B62-B7A1-1E83-5AE84F0E7690}"/>
              </a:ext>
            </a:extLst>
          </p:cNvPr>
          <p:cNvGrpSpPr/>
          <p:nvPr/>
        </p:nvGrpSpPr>
        <p:grpSpPr>
          <a:xfrm>
            <a:off x="9998964" y="-2704147"/>
            <a:ext cx="6858000" cy="754380"/>
            <a:chOff x="0" y="0"/>
            <a:chExt cx="9144000" cy="1005840"/>
          </a:xfrm>
        </p:grpSpPr>
        <p:sp>
          <p:nvSpPr>
            <p:cNvPr id="121" name="Freeform 46">
              <a:extLst>
                <a:ext uri="{FF2B5EF4-FFF2-40B4-BE49-F238E27FC236}">
                  <a16:creationId xmlns:a16="http://schemas.microsoft.com/office/drawing/2014/main" id="{D7920E8B-A9C7-B987-D292-B520A75AF545}"/>
                </a:ext>
              </a:extLst>
            </p:cNvPr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122" name="TextBox 47">
              <a:extLst>
                <a:ext uri="{FF2B5EF4-FFF2-40B4-BE49-F238E27FC236}">
                  <a16:creationId xmlns:a16="http://schemas.microsoft.com/office/drawing/2014/main" id="{ADA07763-75D8-873E-EDDC-8D52089CCED3}"/>
                </a:ext>
              </a:extLst>
            </p:cNvPr>
            <p:cNvSpPr txBox="1"/>
            <p:nvPr/>
          </p:nvSpPr>
          <p:spPr>
            <a:xfrm>
              <a:off x="0" y="-9525"/>
              <a:ext cx="914400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Aims for stable work, private or government</a:t>
              </a:r>
            </a:p>
          </p:txBody>
        </p:sp>
      </p:grpSp>
      <p:grpSp>
        <p:nvGrpSpPr>
          <p:cNvPr id="123" name="Group 48">
            <a:extLst>
              <a:ext uri="{FF2B5EF4-FFF2-40B4-BE49-F238E27FC236}">
                <a16:creationId xmlns:a16="http://schemas.microsoft.com/office/drawing/2014/main" id="{34C29EDE-C7B9-DC2E-118E-827D1F4C9EF8}"/>
              </a:ext>
            </a:extLst>
          </p:cNvPr>
          <p:cNvGrpSpPr/>
          <p:nvPr/>
        </p:nvGrpSpPr>
        <p:grpSpPr>
          <a:xfrm>
            <a:off x="17268444" y="-1291399"/>
            <a:ext cx="822960" cy="411480"/>
            <a:chOff x="0" y="0"/>
            <a:chExt cx="1097280" cy="548640"/>
          </a:xfrm>
        </p:grpSpPr>
        <p:sp>
          <p:nvSpPr>
            <p:cNvPr id="124" name="Freeform 49">
              <a:extLst>
                <a:ext uri="{FF2B5EF4-FFF2-40B4-BE49-F238E27FC236}">
                  <a16:creationId xmlns:a16="http://schemas.microsoft.com/office/drawing/2014/main" id="{EE105A1E-553C-CAE9-A9CF-6CC7AA0C0B02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25" name="TextBox 50">
              <a:extLst>
                <a:ext uri="{FF2B5EF4-FFF2-40B4-BE49-F238E27FC236}">
                  <a16:creationId xmlns:a16="http://schemas.microsoft.com/office/drawing/2014/main" id="{9F0DFA18-D209-DE93-0049-41DE5D0278C1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05</a:t>
              </a:r>
            </a:p>
          </p:txBody>
        </p:sp>
      </p:grpSp>
      <p:grpSp>
        <p:nvGrpSpPr>
          <p:cNvPr id="181" name="Group 2">
            <a:extLst>
              <a:ext uri="{FF2B5EF4-FFF2-40B4-BE49-F238E27FC236}">
                <a16:creationId xmlns:a16="http://schemas.microsoft.com/office/drawing/2014/main" id="{CF91C617-9CAA-DFC2-F0DA-6A598367898A}"/>
              </a:ext>
            </a:extLst>
          </p:cNvPr>
          <p:cNvGrpSpPr/>
          <p:nvPr/>
        </p:nvGrpSpPr>
        <p:grpSpPr>
          <a:xfrm>
            <a:off x="1211580" y="11280203"/>
            <a:ext cx="12344400" cy="480060"/>
            <a:chOff x="0" y="0"/>
            <a:chExt cx="16459200" cy="640080"/>
          </a:xfrm>
        </p:grpSpPr>
        <p:sp>
          <p:nvSpPr>
            <p:cNvPr id="182" name="Freeform 3">
              <a:extLst>
                <a:ext uri="{FF2B5EF4-FFF2-40B4-BE49-F238E27FC236}">
                  <a16:creationId xmlns:a16="http://schemas.microsoft.com/office/drawing/2014/main" id="{DD06A862-302E-0E37-27E7-EEFA6E54E3E7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183" name="TextBox 4">
              <a:extLst>
                <a:ext uri="{FF2B5EF4-FFF2-40B4-BE49-F238E27FC236}">
                  <a16:creationId xmlns:a16="http://schemas.microsoft.com/office/drawing/2014/main" id="{68CAA924-79FF-59E3-4B95-5D18E7606183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 1 · DEEP DIVE</a:t>
              </a:r>
            </a:p>
          </p:txBody>
        </p:sp>
      </p:grpSp>
      <p:grpSp>
        <p:nvGrpSpPr>
          <p:cNvPr id="184" name="Group 5">
            <a:extLst>
              <a:ext uri="{FF2B5EF4-FFF2-40B4-BE49-F238E27FC236}">
                <a16:creationId xmlns:a16="http://schemas.microsoft.com/office/drawing/2014/main" id="{C33FEB45-25FE-9038-0AB3-06F71ECAB390}"/>
              </a:ext>
            </a:extLst>
          </p:cNvPr>
          <p:cNvGrpSpPr/>
          <p:nvPr/>
        </p:nvGrpSpPr>
        <p:grpSpPr>
          <a:xfrm>
            <a:off x="1016318" y="11721950"/>
            <a:ext cx="16517302" cy="1272753"/>
            <a:chOff x="-260349" y="-51084"/>
            <a:chExt cx="22023069" cy="1697004"/>
          </a:xfrm>
        </p:grpSpPr>
        <p:sp>
          <p:nvSpPr>
            <p:cNvPr id="185" name="Freeform 6">
              <a:extLst>
                <a:ext uri="{FF2B5EF4-FFF2-40B4-BE49-F238E27FC236}">
                  <a16:creationId xmlns:a16="http://schemas.microsoft.com/office/drawing/2014/main" id="{E8DFB054-8EFB-E782-D212-AFC5FCFFCC57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186" name="TextBox 7">
              <a:extLst>
                <a:ext uri="{FF2B5EF4-FFF2-40B4-BE49-F238E27FC236}">
                  <a16:creationId xmlns:a16="http://schemas.microsoft.com/office/drawing/2014/main" id="{413650BD-EA70-1315-A0CE-62AE500BB0EF}"/>
                </a:ext>
              </a:extLst>
            </p:cNvPr>
            <p:cNvSpPr txBox="1"/>
            <p:nvPr/>
          </p:nvSpPr>
          <p:spPr>
            <a:xfrm>
              <a:off x="-260349" y="-51084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 dirty="0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Verify: prove your skills, get a trust score</a:t>
              </a:r>
            </a:p>
          </p:txBody>
        </p:sp>
      </p:grpSp>
      <p:grpSp>
        <p:nvGrpSpPr>
          <p:cNvPr id="187" name="Group 8">
            <a:extLst>
              <a:ext uri="{FF2B5EF4-FFF2-40B4-BE49-F238E27FC236}">
                <a16:creationId xmlns:a16="http://schemas.microsoft.com/office/drawing/2014/main" id="{CBB609C2-05B0-D0FD-3C2A-1BEEB08BB2CC}"/>
              </a:ext>
            </a:extLst>
          </p:cNvPr>
          <p:cNvGrpSpPr/>
          <p:nvPr/>
        </p:nvGrpSpPr>
        <p:grpSpPr>
          <a:xfrm>
            <a:off x="604838" y="13420470"/>
            <a:ext cx="7700010" cy="4772025"/>
            <a:chOff x="0" y="0"/>
            <a:chExt cx="10266680" cy="8072120"/>
          </a:xfrm>
        </p:grpSpPr>
        <p:sp>
          <p:nvSpPr>
            <p:cNvPr id="188" name="Freeform 9">
              <a:extLst>
                <a:ext uri="{FF2B5EF4-FFF2-40B4-BE49-F238E27FC236}">
                  <a16:creationId xmlns:a16="http://schemas.microsoft.com/office/drawing/2014/main" id="{D3F44723-F68D-EB8C-7E2B-8F7AAA39D768}"/>
                </a:ext>
              </a:extLst>
            </p:cNvPr>
            <p:cNvSpPr/>
            <p:nvPr/>
          </p:nvSpPr>
          <p:spPr>
            <a:xfrm>
              <a:off x="0" y="0"/>
              <a:ext cx="10266680" cy="8072120"/>
            </a:xfrm>
            <a:custGeom>
              <a:avLst/>
              <a:gdLst/>
              <a:ahLst/>
              <a:cxnLst/>
              <a:rect l="l" t="t" r="r" b="b"/>
              <a:pathLst>
                <a:path w="10266680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083165" y="0"/>
                  </a:lnTo>
                  <a:cubicBezTo>
                    <a:pt x="10184511" y="0"/>
                    <a:pt x="10266680" y="82169"/>
                    <a:pt x="10266680" y="183515"/>
                  </a:cubicBezTo>
                  <a:lnTo>
                    <a:pt x="10266680" y="7888605"/>
                  </a:lnTo>
                  <a:cubicBezTo>
                    <a:pt x="10266680" y="7989951"/>
                    <a:pt x="10184511" y="8072120"/>
                    <a:pt x="10083165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89" name="Group 10">
            <a:extLst>
              <a:ext uri="{FF2B5EF4-FFF2-40B4-BE49-F238E27FC236}">
                <a16:creationId xmlns:a16="http://schemas.microsoft.com/office/drawing/2014/main" id="{12922564-683D-FD49-654C-A919249BC2B3}"/>
              </a:ext>
            </a:extLst>
          </p:cNvPr>
          <p:cNvGrpSpPr/>
          <p:nvPr/>
        </p:nvGrpSpPr>
        <p:grpSpPr>
          <a:xfrm>
            <a:off x="1025843" y="13772895"/>
            <a:ext cx="6858000" cy="378398"/>
            <a:chOff x="0" y="0"/>
            <a:chExt cx="9144000" cy="640080"/>
          </a:xfrm>
        </p:grpSpPr>
        <p:sp>
          <p:nvSpPr>
            <p:cNvPr id="190" name="Freeform 11">
              <a:extLst>
                <a:ext uri="{FF2B5EF4-FFF2-40B4-BE49-F238E27FC236}">
                  <a16:creationId xmlns:a16="http://schemas.microsoft.com/office/drawing/2014/main" id="{887542EB-BA12-5F31-C749-D3FA328047F2}"/>
                </a:ext>
              </a:extLst>
            </p:cNvPr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91" name="TextBox 12">
              <a:extLst>
                <a:ext uri="{FF2B5EF4-FFF2-40B4-BE49-F238E27FC236}">
                  <a16:creationId xmlns:a16="http://schemas.microsoft.com/office/drawing/2014/main" id="{7F62C7D6-5184-9B37-098F-0A7D4F33D03B}"/>
                </a:ext>
              </a:extLst>
            </p:cNvPr>
            <p:cNvSpPr txBox="1"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How the score is built</a:t>
              </a:r>
            </a:p>
          </p:txBody>
        </p:sp>
      </p:grpSp>
      <p:grpSp>
        <p:nvGrpSpPr>
          <p:cNvPr id="192" name="Group 13">
            <a:extLst>
              <a:ext uri="{FF2B5EF4-FFF2-40B4-BE49-F238E27FC236}">
                <a16:creationId xmlns:a16="http://schemas.microsoft.com/office/drawing/2014/main" id="{FB112318-E696-143B-0189-4BACEA0B9F72}"/>
              </a:ext>
            </a:extLst>
          </p:cNvPr>
          <p:cNvGrpSpPr/>
          <p:nvPr/>
        </p:nvGrpSpPr>
        <p:grpSpPr>
          <a:xfrm>
            <a:off x="1025843" y="14458695"/>
            <a:ext cx="3840480" cy="378398"/>
            <a:chOff x="0" y="0"/>
            <a:chExt cx="5120640" cy="640080"/>
          </a:xfrm>
        </p:grpSpPr>
        <p:sp>
          <p:nvSpPr>
            <p:cNvPr id="193" name="Freeform 14">
              <a:extLst>
                <a:ext uri="{FF2B5EF4-FFF2-40B4-BE49-F238E27FC236}">
                  <a16:creationId xmlns:a16="http://schemas.microsoft.com/office/drawing/2014/main" id="{57377E4E-7D47-78D1-D237-E868CE053184}"/>
                </a:ext>
              </a:extLst>
            </p:cNvPr>
            <p:cNvSpPr/>
            <p:nvPr/>
          </p:nvSpPr>
          <p:spPr>
            <a:xfrm>
              <a:off x="0" y="0"/>
              <a:ext cx="5120640" cy="640080"/>
            </a:xfrm>
            <a:custGeom>
              <a:avLst/>
              <a:gdLst/>
              <a:ahLst/>
              <a:cxnLst/>
              <a:rect l="l" t="t" r="r" b="b"/>
              <a:pathLst>
                <a:path w="5120640" h="640080">
                  <a:moveTo>
                    <a:pt x="0" y="0"/>
                  </a:moveTo>
                  <a:lnTo>
                    <a:pt x="5120640" y="0"/>
                  </a:lnTo>
                  <a:lnTo>
                    <a:pt x="5120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194" name="TextBox 15">
              <a:extLst>
                <a:ext uri="{FF2B5EF4-FFF2-40B4-BE49-F238E27FC236}">
                  <a16:creationId xmlns:a16="http://schemas.microsoft.com/office/drawing/2014/main" id="{DB5911D6-46F4-87C5-57F2-9A6E7A9B9CF2}"/>
                </a:ext>
              </a:extLst>
            </p:cNvPr>
            <p:cNvSpPr txBox="1"/>
            <p:nvPr/>
          </p:nvSpPr>
          <p:spPr>
            <a:xfrm>
              <a:off x="0" y="0"/>
              <a:ext cx="51206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AI verification task</a:t>
              </a:r>
            </a:p>
          </p:txBody>
        </p:sp>
      </p:grpSp>
      <p:grpSp>
        <p:nvGrpSpPr>
          <p:cNvPr id="195" name="Group 16">
            <a:extLst>
              <a:ext uri="{FF2B5EF4-FFF2-40B4-BE49-F238E27FC236}">
                <a16:creationId xmlns:a16="http://schemas.microsoft.com/office/drawing/2014/main" id="{42F9D431-CED4-55F5-DB3C-2659A48978C1}"/>
              </a:ext>
            </a:extLst>
          </p:cNvPr>
          <p:cNvGrpSpPr/>
          <p:nvPr/>
        </p:nvGrpSpPr>
        <p:grpSpPr>
          <a:xfrm>
            <a:off x="5003483" y="14540991"/>
            <a:ext cx="2194560" cy="237850"/>
            <a:chOff x="0" y="0"/>
            <a:chExt cx="2926080" cy="402336"/>
          </a:xfrm>
        </p:grpSpPr>
        <p:sp>
          <p:nvSpPr>
            <p:cNvPr id="196" name="Freeform 17">
              <a:extLst>
                <a:ext uri="{FF2B5EF4-FFF2-40B4-BE49-F238E27FC236}">
                  <a16:creationId xmlns:a16="http://schemas.microsoft.com/office/drawing/2014/main" id="{F766553D-7289-9769-64AB-467CAD36A48D}"/>
                </a:ext>
              </a:extLst>
            </p:cNvPr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97" name="Group 18">
            <a:extLst>
              <a:ext uri="{FF2B5EF4-FFF2-40B4-BE49-F238E27FC236}">
                <a16:creationId xmlns:a16="http://schemas.microsoft.com/office/drawing/2014/main" id="{8F38BB7C-37E6-E79B-D4B9-5B41DE80D570}"/>
              </a:ext>
            </a:extLst>
          </p:cNvPr>
          <p:cNvGrpSpPr/>
          <p:nvPr/>
        </p:nvGrpSpPr>
        <p:grpSpPr>
          <a:xfrm>
            <a:off x="5003483" y="14540991"/>
            <a:ext cx="2194560" cy="237850"/>
            <a:chOff x="0" y="0"/>
            <a:chExt cx="2926080" cy="402336"/>
          </a:xfrm>
        </p:grpSpPr>
        <p:sp>
          <p:nvSpPr>
            <p:cNvPr id="198" name="Freeform 19">
              <a:extLst>
                <a:ext uri="{FF2B5EF4-FFF2-40B4-BE49-F238E27FC236}">
                  <a16:creationId xmlns:a16="http://schemas.microsoft.com/office/drawing/2014/main" id="{F38EEF23-10D6-A7E2-79A1-4C42F795945D}"/>
                </a:ext>
              </a:extLst>
            </p:cNvPr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99" name="Group 20">
            <a:extLst>
              <a:ext uri="{FF2B5EF4-FFF2-40B4-BE49-F238E27FC236}">
                <a16:creationId xmlns:a16="http://schemas.microsoft.com/office/drawing/2014/main" id="{ED39EF9C-81BC-2DBB-8CC6-1CE5F4B14978}"/>
              </a:ext>
            </a:extLst>
          </p:cNvPr>
          <p:cNvGrpSpPr/>
          <p:nvPr/>
        </p:nvGrpSpPr>
        <p:grpSpPr>
          <a:xfrm>
            <a:off x="7335203" y="14458695"/>
            <a:ext cx="685800" cy="378398"/>
            <a:chOff x="0" y="0"/>
            <a:chExt cx="914400" cy="640080"/>
          </a:xfrm>
        </p:grpSpPr>
        <p:sp>
          <p:nvSpPr>
            <p:cNvPr id="200" name="Freeform 21">
              <a:extLst>
                <a:ext uri="{FF2B5EF4-FFF2-40B4-BE49-F238E27FC236}">
                  <a16:creationId xmlns:a16="http://schemas.microsoft.com/office/drawing/2014/main" id="{43DB7C22-597C-829E-F5CF-9743ED84F2A6}"/>
                </a:ext>
              </a:extLst>
            </p:cNvPr>
            <p:cNvSpPr/>
            <p:nvPr/>
          </p:nvSpPr>
          <p:spPr>
            <a:xfrm>
              <a:off x="0" y="0"/>
              <a:ext cx="914400" cy="640080"/>
            </a:xfrm>
            <a:custGeom>
              <a:avLst/>
              <a:gdLst/>
              <a:ahLst/>
              <a:cxnLst/>
              <a:rect l="l" t="t" r="r" b="b"/>
              <a:pathLst>
                <a:path w="914400" h="64008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r="-39812"/>
              </a:stretch>
            </a:blipFill>
          </p:spPr>
        </p:sp>
        <p:sp>
          <p:nvSpPr>
            <p:cNvPr id="201" name="TextBox 22">
              <a:extLst>
                <a:ext uri="{FF2B5EF4-FFF2-40B4-BE49-F238E27FC236}">
                  <a16:creationId xmlns:a16="http://schemas.microsoft.com/office/drawing/2014/main" id="{5F5232A8-7E8B-6582-5590-EB9747676F4F}"/>
                </a:ext>
              </a:extLst>
            </p:cNvPr>
            <p:cNvSpPr txBox="1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40%</a:t>
              </a:r>
            </a:p>
          </p:txBody>
        </p:sp>
      </p:grpSp>
      <p:grpSp>
        <p:nvGrpSpPr>
          <p:cNvPr id="202" name="Group 23">
            <a:extLst>
              <a:ext uri="{FF2B5EF4-FFF2-40B4-BE49-F238E27FC236}">
                <a16:creationId xmlns:a16="http://schemas.microsoft.com/office/drawing/2014/main" id="{8655B7FD-D1F0-9210-492B-D83B758E1CDD}"/>
              </a:ext>
            </a:extLst>
          </p:cNvPr>
          <p:cNvGrpSpPr/>
          <p:nvPr/>
        </p:nvGrpSpPr>
        <p:grpSpPr>
          <a:xfrm>
            <a:off x="1025843" y="15213075"/>
            <a:ext cx="3840480" cy="378398"/>
            <a:chOff x="0" y="0"/>
            <a:chExt cx="5120640" cy="640080"/>
          </a:xfrm>
        </p:grpSpPr>
        <p:sp>
          <p:nvSpPr>
            <p:cNvPr id="203" name="Freeform 24">
              <a:extLst>
                <a:ext uri="{FF2B5EF4-FFF2-40B4-BE49-F238E27FC236}">
                  <a16:creationId xmlns:a16="http://schemas.microsoft.com/office/drawing/2014/main" id="{9BEB5506-DC95-77EC-A6C5-25D3E6675092}"/>
                </a:ext>
              </a:extLst>
            </p:cNvPr>
            <p:cNvSpPr/>
            <p:nvPr/>
          </p:nvSpPr>
          <p:spPr>
            <a:xfrm>
              <a:off x="0" y="0"/>
              <a:ext cx="5120640" cy="640080"/>
            </a:xfrm>
            <a:custGeom>
              <a:avLst/>
              <a:gdLst/>
              <a:ahLst/>
              <a:cxnLst/>
              <a:rect l="l" t="t" r="r" b="b"/>
              <a:pathLst>
                <a:path w="5120640" h="640080">
                  <a:moveTo>
                    <a:pt x="0" y="0"/>
                  </a:moveTo>
                  <a:lnTo>
                    <a:pt x="5120640" y="0"/>
                  </a:lnTo>
                  <a:lnTo>
                    <a:pt x="5120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204" name="TextBox 25">
              <a:extLst>
                <a:ext uri="{FF2B5EF4-FFF2-40B4-BE49-F238E27FC236}">
                  <a16:creationId xmlns:a16="http://schemas.microsoft.com/office/drawing/2014/main" id="{6F1CEB0C-26A7-8507-D133-2860118C1113}"/>
                </a:ext>
              </a:extLst>
            </p:cNvPr>
            <p:cNvSpPr txBox="1"/>
            <p:nvPr/>
          </p:nvSpPr>
          <p:spPr>
            <a:xfrm>
              <a:off x="0" y="0"/>
              <a:ext cx="51206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Completed-job feedback</a:t>
              </a:r>
            </a:p>
          </p:txBody>
        </p:sp>
      </p:grpSp>
      <p:grpSp>
        <p:nvGrpSpPr>
          <p:cNvPr id="205" name="Group 26">
            <a:extLst>
              <a:ext uri="{FF2B5EF4-FFF2-40B4-BE49-F238E27FC236}">
                <a16:creationId xmlns:a16="http://schemas.microsoft.com/office/drawing/2014/main" id="{920D0D91-CC47-53EF-79FA-40990FBA288C}"/>
              </a:ext>
            </a:extLst>
          </p:cNvPr>
          <p:cNvGrpSpPr/>
          <p:nvPr/>
        </p:nvGrpSpPr>
        <p:grpSpPr>
          <a:xfrm>
            <a:off x="5003483" y="15295371"/>
            <a:ext cx="2194560" cy="237850"/>
            <a:chOff x="0" y="0"/>
            <a:chExt cx="2926080" cy="402336"/>
          </a:xfrm>
        </p:grpSpPr>
        <p:sp>
          <p:nvSpPr>
            <p:cNvPr id="206" name="Freeform 27">
              <a:extLst>
                <a:ext uri="{FF2B5EF4-FFF2-40B4-BE49-F238E27FC236}">
                  <a16:creationId xmlns:a16="http://schemas.microsoft.com/office/drawing/2014/main" id="{EA293204-7BF3-4D3E-DA29-607D8E8E57D1}"/>
                </a:ext>
              </a:extLst>
            </p:cNvPr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07" name="Group 28">
            <a:extLst>
              <a:ext uri="{FF2B5EF4-FFF2-40B4-BE49-F238E27FC236}">
                <a16:creationId xmlns:a16="http://schemas.microsoft.com/office/drawing/2014/main" id="{7DC5DD11-5111-84B0-BEB2-97125A785A3E}"/>
              </a:ext>
            </a:extLst>
          </p:cNvPr>
          <p:cNvGrpSpPr/>
          <p:nvPr/>
        </p:nvGrpSpPr>
        <p:grpSpPr>
          <a:xfrm>
            <a:off x="5003483" y="15295371"/>
            <a:ext cx="2194560" cy="237850"/>
            <a:chOff x="0" y="0"/>
            <a:chExt cx="2926080" cy="402336"/>
          </a:xfrm>
        </p:grpSpPr>
        <p:sp>
          <p:nvSpPr>
            <p:cNvPr id="208" name="Freeform 29">
              <a:extLst>
                <a:ext uri="{FF2B5EF4-FFF2-40B4-BE49-F238E27FC236}">
                  <a16:creationId xmlns:a16="http://schemas.microsoft.com/office/drawing/2014/main" id="{547DA718-E610-0AFE-F645-E660584F4D96}"/>
                </a:ext>
              </a:extLst>
            </p:cNvPr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09" name="Group 30">
            <a:extLst>
              <a:ext uri="{FF2B5EF4-FFF2-40B4-BE49-F238E27FC236}">
                <a16:creationId xmlns:a16="http://schemas.microsoft.com/office/drawing/2014/main" id="{2C32169B-CC63-2E39-D5ED-0F840D11C0BD}"/>
              </a:ext>
            </a:extLst>
          </p:cNvPr>
          <p:cNvGrpSpPr/>
          <p:nvPr/>
        </p:nvGrpSpPr>
        <p:grpSpPr>
          <a:xfrm>
            <a:off x="7335203" y="15213075"/>
            <a:ext cx="685800" cy="378398"/>
            <a:chOff x="0" y="0"/>
            <a:chExt cx="914400" cy="640080"/>
          </a:xfrm>
        </p:grpSpPr>
        <p:sp>
          <p:nvSpPr>
            <p:cNvPr id="210" name="Freeform 31">
              <a:extLst>
                <a:ext uri="{FF2B5EF4-FFF2-40B4-BE49-F238E27FC236}">
                  <a16:creationId xmlns:a16="http://schemas.microsoft.com/office/drawing/2014/main" id="{B619C6EE-4187-8CF2-4A3B-D530E6CE7C78}"/>
                </a:ext>
              </a:extLst>
            </p:cNvPr>
            <p:cNvSpPr/>
            <p:nvPr/>
          </p:nvSpPr>
          <p:spPr>
            <a:xfrm>
              <a:off x="0" y="0"/>
              <a:ext cx="914400" cy="640080"/>
            </a:xfrm>
            <a:custGeom>
              <a:avLst/>
              <a:gdLst/>
              <a:ahLst/>
              <a:cxnLst/>
              <a:rect l="l" t="t" r="r" b="b"/>
              <a:pathLst>
                <a:path w="914400" h="64008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r="-39812"/>
              </a:stretch>
            </a:blipFill>
          </p:spPr>
        </p:sp>
        <p:sp>
          <p:nvSpPr>
            <p:cNvPr id="211" name="TextBox 32">
              <a:extLst>
                <a:ext uri="{FF2B5EF4-FFF2-40B4-BE49-F238E27FC236}">
                  <a16:creationId xmlns:a16="http://schemas.microsoft.com/office/drawing/2014/main" id="{E626DD2A-17AD-F7EC-BF5A-8DCD634F3CA8}"/>
                </a:ext>
              </a:extLst>
            </p:cNvPr>
            <p:cNvSpPr txBox="1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40%</a:t>
              </a:r>
            </a:p>
          </p:txBody>
        </p:sp>
      </p:grpSp>
      <p:grpSp>
        <p:nvGrpSpPr>
          <p:cNvPr id="212" name="Group 33">
            <a:extLst>
              <a:ext uri="{FF2B5EF4-FFF2-40B4-BE49-F238E27FC236}">
                <a16:creationId xmlns:a16="http://schemas.microsoft.com/office/drawing/2014/main" id="{2CE16848-F1F6-DDAA-2B01-02EA4609A767}"/>
              </a:ext>
            </a:extLst>
          </p:cNvPr>
          <p:cNvGrpSpPr/>
          <p:nvPr/>
        </p:nvGrpSpPr>
        <p:grpSpPr>
          <a:xfrm>
            <a:off x="1025843" y="15967455"/>
            <a:ext cx="3840480" cy="378398"/>
            <a:chOff x="0" y="0"/>
            <a:chExt cx="5120640" cy="640080"/>
          </a:xfrm>
        </p:grpSpPr>
        <p:sp>
          <p:nvSpPr>
            <p:cNvPr id="213" name="Freeform 34">
              <a:extLst>
                <a:ext uri="{FF2B5EF4-FFF2-40B4-BE49-F238E27FC236}">
                  <a16:creationId xmlns:a16="http://schemas.microsoft.com/office/drawing/2014/main" id="{715C287D-8221-9FE7-D62E-C7C753009995}"/>
                </a:ext>
              </a:extLst>
            </p:cNvPr>
            <p:cNvSpPr/>
            <p:nvPr/>
          </p:nvSpPr>
          <p:spPr>
            <a:xfrm>
              <a:off x="0" y="0"/>
              <a:ext cx="5120640" cy="640080"/>
            </a:xfrm>
            <a:custGeom>
              <a:avLst/>
              <a:gdLst/>
              <a:ahLst/>
              <a:cxnLst/>
              <a:rect l="l" t="t" r="r" b="b"/>
              <a:pathLst>
                <a:path w="5120640" h="640080">
                  <a:moveTo>
                    <a:pt x="0" y="0"/>
                  </a:moveTo>
                  <a:lnTo>
                    <a:pt x="5120640" y="0"/>
                  </a:lnTo>
                  <a:lnTo>
                    <a:pt x="5120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214" name="TextBox 35">
              <a:extLst>
                <a:ext uri="{FF2B5EF4-FFF2-40B4-BE49-F238E27FC236}">
                  <a16:creationId xmlns:a16="http://schemas.microsoft.com/office/drawing/2014/main" id="{6DDE8B75-0BC6-D5A3-ADEB-5BB3E44EC021}"/>
                </a:ext>
              </a:extLst>
            </p:cNvPr>
            <p:cNvSpPr txBox="1"/>
            <p:nvPr/>
          </p:nvSpPr>
          <p:spPr>
            <a:xfrm>
              <a:off x="0" y="0"/>
              <a:ext cx="51206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Recency of activity</a:t>
              </a:r>
            </a:p>
          </p:txBody>
        </p:sp>
      </p:grpSp>
      <p:grpSp>
        <p:nvGrpSpPr>
          <p:cNvPr id="215" name="Group 36">
            <a:extLst>
              <a:ext uri="{FF2B5EF4-FFF2-40B4-BE49-F238E27FC236}">
                <a16:creationId xmlns:a16="http://schemas.microsoft.com/office/drawing/2014/main" id="{541A0C59-B1A0-7C7D-EF43-8031B96BACC5}"/>
              </a:ext>
            </a:extLst>
          </p:cNvPr>
          <p:cNvGrpSpPr/>
          <p:nvPr/>
        </p:nvGrpSpPr>
        <p:grpSpPr>
          <a:xfrm>
            <a:off x="5003483" y="16049751"/>
            <a:ext cx="2194560" cy="237850"/>
            <a:chOff x="0" y="0"/>
            <a:chExt cx="2926080" cy="402336"/>
          </a:xfrm>
        </p:grpSpPr>
        <p:sp>
          <p:nvSpPr>
            <p:cNvPr id="216" name="Freeform 37">
              <a:extLst>
                <a:ext uri="{FF2B5EF4-FFF2-40B4-BE49-F238E27FC236}">
                  <a16:creationId xmlns:a16="http://schemas.microsoft.com/office/drawing/2014/main" id="{B173077A-38B3-918F-25A9-13989691A28B}"/>
                </a:ext>
              </a:extLst>
            </p:cNvPr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17" name="Group 38">
            <a:extLst>
              <a:ext uri="{FF2B5EF4-FFF2-40B4-BE49-F238E27FC236}">
                <a16:creationId xmlns:a16="http://schemas.microsoft.com/office/drawing/2014/main" id="{86465CE3-050E-CD46-7383-8E2D90282410}"/>
              </a:ext>
            </a:extLst>
          </p:cNvPr>
          <p:cNvGrpSpPr/>
          <p:nvPr/>
        </p:nvGrpSpPr>
        <p:grpSpPr>
          <a:xfrm>
            <a:off x="5003483" y="16049751"/>
            <a:ext cx="1097280" cy="237850"/>
            <a:chOff x="0" y="0"/>
            <a:chExt cx="1463040" cy="402336"/>
          </a:xfrm>
        </p:grpSpPr>
        <p:sp>
          <p:nvSpPr>
            <p:cNvPr id="218" name="Freeform 39">
              <a:extLst>
                <a:ext uri="{FF2B5EF4-FFF2-40B4-BE49-F238E27FC236}">
                  <a16:creationId xmlns:a16="http://schemas.microsoft.com/office/drawing/2014/main" id="{47E8D631-F734-5E26-0320-014F9F4E3021}"/>
                </a:ext>
              </a:extLst>
            </p:cNvPr>
            <p:cNvSpPr/>
            <p:nvPr/>
          </p:nvSpPr>
          <p:spPr>
            <a:xfrm>
              <a:off x="0" y="0"/>
              <a:ext cx="1463040" cy="402336"/>
            </a:xfrm>
            <a:custGeom>
              <a:avLst/>
              <a:gdLst/>
              <a:ahLst/>
              <a:cxnLst/>
              <a:rect l="l" t="t" r="r" b="b"/>
              <a:pathLst>
                <a:path w="146304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80160" y="0"/>
                  </a:lnTo>
                  <a:cubicBezTo>
                    <a:pt x="1381125" y="0"/>
                    <a:pt x="1463040" y="81915"/>
                    <a:pt x="1463040" y="182880"/>
                  </a:cubicBezTo>
                  <a:lnTo>
                    <a:pt x="1463040" y="219456"/>
                  </a:lnTo>
                  <a:cubicBezTo>
                    <a:pt x="1463040" y="320421"/>
                    <a:pt x="1381125" y="402336"/>
                    <a:pt x="128016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19" name="Group 40">
            <a:extLst>
              <a:ext uri="{FF2B5EF4-FFF2-40B4-BE49-F238E27FC236}">
                <a16:creationId xmlns:a16="http://schemas.microsoft.com/office/drawing/2014/main" id="{E6347930-4D9A-3470-2CDB-9E177DFACBFA}"/>
              </a:ext>
            </a:extLst>
          </p:cNvPr>
          <p:cNvGrpSpPr/>
          <p:nvPr/>
        </p:nvGrpSpPr>
        <p:grpSpPr>
          <a:xfrm>
            <a:off x="7335203" y="15967455"/>
            <a:ext cx="685800" cy="378398"/>
            <a:chOff x="0" y="0"/>
            <a:chExt cx="914400" cy="640080"/>
          </a:xfrm>
        </p:grpSpPr>
        <p:sp>
          <p:nvSpPr>
            <p:cNvPr id="220" name="Freeform 41">
              <a:extLst>
                <a:ext uri="{FF2B5EF4-FFF2-40B4-BE49-F238E27FC236}">
                  <a16:creationId xmlns:a16="http://schemas.microsoft.com/office/drawing/2014/main" id="{4574FCFB-453E-4AAD-5DC1-F8808F666754}"/>
                </a:ext>
              </a:extLst>
            </p:cNvPr>
            <p:cNvSpPr/>
            <p:nvPr/>
          </p:nvSpPr>
          <p:spPr>
            <a:xfrm>
              <a:off x="0" y="0"/>
              <a:ext cx="914400" cy="640080"/>
            </a:xfrm>
            <a:custGeom>
              <a:avLst/>
              <a:gdLst/>
              <a:ahLst/>
              <a:cxnLst/>
              <a:rect l="l" t="t" r="r" b="b"/>
              <a:pathLst>
                <a:path w="914400" h="64008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r="-39812"/>
              </a:stretch>
            </a:blipFill>
          </p:spPr>
        </p:sp>
        <p:sp>
          <p:nvSpPr>
            <p:cNvPr id="221" name="TextBox 42">
              <a:extLst>
                <a:ext uri="{FF2B5EF4-FFF2-40B4-BE49-F238E27FC236}">
                  <a16:creationId xmlns:a16="http://schemas.microsoft.com/office/drawing/2014/main" id="{7556C5E5-6173-F9E0-ED7E-94DB8223DB97}"/>
                </a:ext>
              </a:extLst>
            </p:cNvPr>
            <p:cNvSpPr txBox="1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20%</a:t>
              </a:r>
            </a:p>
          </p:txBody>
        </p:sp>
      </p:grpSp>
      <p:grpSp>
        <p:nvGrpSpPr>
          <p:cNvPr id="222" name="Group 44">
            <a:extLst>
              <a:ext uri="{FF2B5EF4-FFF2-40B4-BE49-F238E27FC236}">
                <a16:creationId xmlns:a16="http://schemas.microsoft.com/office/drawing/2014/main" id="{AE48BA01-721D-1FE6-A759-BAD6128CC5AD}"/>
              </a:ext>
            </a:extLst>
          </p:cNvPr>
          <p:cNvGrpSpPr/>
          <p:nvPr/>
        </p:nvGrpSpPr>
        <p:grpSpPr>
          <a:xfrm>
            <a:off x="1016318" y="16698023"/>
            <a:ext cx="6877050" cy="1204268"/>
            <a:chOff x="0" y="0"/>
            <a:chExt cx="9169400" cy="2037080"/>
          </a:xfrm>
        </p:grpSpPr>
        <p:sp>
          <p:nvSpPr>
            <p:cNvPr id="223" name="Freeform 45">
              <a:extLst>
                <a:ext uri="{FF2B5EF4-FFF2-40B4-BE49-F238E27FC236}">
                  <a16:creationId xmlns:a16="http://schemas.microsoft.com/office/drawing/2014/main" id="{873F584D-E0D5-E557-94DB-0A4A7B76C8EE}"/>
                </a:ext>
              </a:extLst>
            </p:cNvPr>
            <p:cNvSpPr/>
            <p:nvPr/>
          </p:nvSpPr>
          <p:spPr>
            <a:xfrm>
              <a:off x="0" y="0"/>
              <a:ext cx="9169400" cy="2037080"/>
            </a:xfrm>
            <a:custGeom>
              <a:avLst/>
              <a:gdLst/>
              <a:ahLst/>
              <a:cxnLst/>
              <a:rect l="l" t="t" r="r" b="b"/>
              <a:pathLst>
                <a:path w="9169400" h="2037080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8984234" y="0"/>
                  </a:lnTo>
                  <a:cubicBezTo>
                    <a:pt x="9086469" y="0"/>
                    <a:pt x="9169400" y="82931"/>
                    <a:pt x="9169400" y="185166"/>
                  </a:cubicBezTo>
                  <a:lnTo>
                    <a:pt x="9169400" y="1851914"/>
                  </a:lnTo>
                  <a:cubicBezTo>
                    <a:pt x="9169400" y="1954149"/>
                    <a:pt x="9086469" y="2037080"/>
                    <a:pt x="8984234" y="2037080"/>
                  </a:cubicBezTo>
                  <a:lnTo>
                    <a:pt x="185166" y="2037080"/>
                  </a:lnTo>
                  <a:cubicBezTo>
                    <a:pt x="82931" y="2037080"/>
                    <a:pt x="0" y="1954149"/>
                    <a:pt x="0" y="1851914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24" name="Group 46">
            <a:extLst>
              <a:ext uri="{FF2B5EF4-FFF2-40B4-BE49-F238E27FC236}">
                <a16:creationId xmlns:a16="http://schemas.microsoft.com/office/drawing/2014/main" id="{9277A4E3-903E-1135-DD69-235496D6AF1C}"/>
              </a:ext>
            </a:extLst>
          </p:cNvPr>
          <p:cNvGrpSpPr/>
          <p:nvPr/>
        </p:nvGrpSpPr>
        <p:grpSpPr>
          <a:xfrm>
            <a:off x="1339435" y="16753458"/>
            <a:ext cx="6201508" cy="1110269"/>
            <a:chOff x="-39077" y="-1329436"/>
            <a:chExt cx="8268677" cy="1878076"/>
          </a:xfrm>
        </p:grpSpPr>
        <p:sp>
          <p:nvSpPr>
            <p:cNvPr id="225" name="Freeform 47">
              <a:extLst>
                <a:ext uri="{FF2B5EF4-FFF2-40B4-BE49-F238E27FC236}">
                  <a16:creationId xmlns:a16="http://schemas.microsoft.com/office/drawing/2014/main" id="{E4ACB221-30B0-D909-8340-37ADC01C5E47}"/>
                </a:ext>
              </a:extLst>
            </p:cNvPr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226" name="TextBox 48">
              <a:extLst>
                <a:ext uri="{FF2B5EF4-FFF2-40B4-BE49-F238E27FC236}">
                  <a16:creationId xmlns:a16="http://schemas.microsoft.com/office/drawing/2014/main" id="{F16D3773-39D2-D7E3-A9A8-27F727C9DDED}"/>
                </a:ext>
              </a:extLst>
            </p:cNvPr>
            <p:cNvSpPr txBox="1"/>
            <p:nvPr/>
          </p:nvSpPr>
          <p:spPr>
            <a:xfrm>
              <a:off x="-39077" y="-1329436"/>
              <a:ext cx="8229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dirty="0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Sample verification task</a:t>
              </a:r>
            </a:p>
          </p:txBody>
        </p:sp>
      </p:grpSp>
      <p:sp>
        <p:nvSpPr>
          <p:cNvPr id="227" name="TextBox 49">
            <a:extLst>
              <a:ext uri="{FF2B5EF4-FFF2-40B4-BE49-F238E27FC236}">
                <a16:creationId xmlns:a16="http://schemas.microsoft.com/office/drawing/2014/main" id="{911BF9BF-DDC6-B8AA-94D4-78FC8995A5ED}"/>
              </a:ext>
            </a:extLst>
          </p:cNvPr>
          <p:cNvSpPr txBox="1"/>
          <p:nvPr/>
        </p:nvSpPr>
        <p:spPr>
          <a:xfrm>
            <a:off x="1236161" y="17145663"/>
            <a:ext cx="6172200" cy="83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1" dirty="0">
                <a:solidFill>
                  <a:srgbClr val="CBD5E1"/>
                </a:solidFill>
                <a:latin typeface="Inter Italics"/>
                <a:ea typeface="Inter Italics"/>
                <a:cs typeface="Inter Italics"/>
                <a:sym typeface="Inter Italics"/>
              </a:rPr>
              <a:t>“A scooter cranks but won't start. Walk me through your first three checks.”</a:t>
            </a:r>
          </a:p>
        </p:txBody>
      </p:sp>
      <p:grpSp>
        <p:nvGrpSpPr>
          <p:cNvPr id="228" name="Group 57">
            <a:extLst>
              <a:ext uri="{FF2B5EF4-FFF2-40B4-BE49-F238E27FC236}">
                <a16:creationId xmlns:a16="http://schemas.microsoft.com/office/drawing/2014/main" id="{FE667BFD-B181-617F-1C8F-0BC09D553FF6}"/>
              </a:ext>
            </a:extLst>
          </p:cNvPr>
          <p:cNvGrpSpPr/>
          <p:nvPr/>
        </p:nvGrpSpPr>
        <p:grpSpPr>
          <a:xfrm>
            <a:off x="17465040" y="20401343"/>
            <a:ext cx="822960" cy="411480"/>
            <a:chOff x="0" y="0"/>
            <a:chExt cx="1097280" cy="548640"/>
          </a:xfrm>
        </p:grpSpPr>
        <p:sp>
          <p:nvSpPr>
            <p:cNvPr id="229" name="Freeform 58">
              <a:extLst>
                <a:ext uri="{FF2B5EF4-FFF2-40B4-BE49-F238E27FC236}">
                  <a16:creationId xmlns:a16="http://schemas.microsoft.com/office/drawing/2014/main" id="{EBDFFEB4-09F3-17C0-A9A1-5B092F5CFE8D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30" name="TextBox 59">
              <a:extLst>
                <a:ext uri="{FF2B5EF4-FFF2-40B4-BE49-F238E27FC236}">
                  <a16:creationId xmlns:a16="http://schemas.microsoft.com/office/drawing/2014/main" id="{29D5C5FA-B475-E44F-075B-200455ED4A1E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07</a:t>
              </a:r>
            </a:p>
          </p:txBody>
        </p:sp>
      </p:grpSp>
      <p:sp>
        <p:nvSpPr>
          <p:cNvPr id="231" name="Text 20">
            <a:extLst>
              <a:ext uri="{FF2B5EF4-FFF2-40B4-BE49-F238E27FC236}">
                <a16:creationId xmlns:a16="http://schemas.microsoft.com/office/drawing/2014/main" id="{BE4B6E3D-2C38-477B-6073-49CC3595D644}"/>
              </a:ext>
            </a:extLst>
          </p:cNvPr>
          <p:cNvSpPr txBox="1"/>
          <p:nvPr/>
        </p:nvSpPr>
        <p:spPr>
          <a:xfrm>
            <a:off x="8688982" y="13200442"/>
            <a:ext cx="7305232" cy="826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232" name="Text 21">
            <a:extLst>
              <a:ext uri="{FF2B5EF4-FFF2-40B4-BE49-F238E27FC236}">
                <a16:creationId xmlns:a16="http://schemas.microsoft.com/office/drawing/2014/main" id="{D5C54315-B0C1-898A-4CFF-706D96084982}"/>
              </a:ext>
            </a:extLst>
          </p:cNvPr>
          <p:cNvSpPr txBox="1"/>
          <p:nvPr/>
        </p:nvSpPr>
        <p:spPr>
          <a:xfrm>
            <a:off x="8642801" y="14116316"/>
            <a:ext cx="718347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Starts from a 30–90 second voice note. AI extracts skill tags, each with a confidence score.</a:t>
            </a:r>
            <a:endParaRPr lang="en-US" sz="2000" dirty="0"/>
          </a:p>
        </p:txBody>
      </p:sp>
      <p:sp>
        <p:nvSpPr>
          <p:cNvPr id="233" name="Text 22">
            <a:extLst>
              <a:ext uri="{FF2B5EF4-FFF2-40B4-BE49-F238E27FC236}">
                <a16:creationId xmlns:a16="http://schemas.microsoft.com/office/drawing/2014/main" id="{77856B33-4CAD-B6F1-159E-38CBF4E0FC63}"/>
              </a:ext>
            </a:extLst>
          </p:cNvPr>
          <p:cNvSpPr txBox="1"/>
          <p:nvPr/>
        </p:nvSpPr>
        <p:spPr>
          <a:xfrm>
            <a:off x="8642801" y="15091413"/>
            <a:ext cx="718347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 short AI-generated task per skill checks the claim. It's conversational, so it doesn't recreate the paperwork burden.</a:t>
            </a:r>
            <a:endParaRPr lang="en-US" sz="2000" dirty="0"/>
          </a:p>
        </p:txBody>
      </p:sp>
      <p:sp>
        <p:nvSpPr>
          <p:cNvPr id="234" name="Text 23">
            <a:extLst>
              <a:ext uri="{FF2B5EF4-FFF2-40B4-BE49-F238E27FC236}">
                <a16:creationId xmlns:a16="http://schemas.microsoft.com/office/drawing/2014/main" id="{A8869E4C-F9F9-DE62-FC76-7D49D8CDEEFA}"/>
              </a:ext>
            </a:extLst>
          </p:cNvPr>
          <p:cNvSpPr txBox="1"/>
          <p:nvPr/>
        </p:nvSpPr>
        <p:spPr>
          <a:xfrm>
            <a:off x="8642801" y="16192500"/>
            <a:ext cx="718347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 light identity check keeps peer connections safe. Skill verification is the real differentiator.</a:t>
            </a:r>
            <a:endParaRPr lang="en-US" sz="2000" dirty="0"/>
          </a:p>
        </p:txBody>
      </p:sp>
      <p:sp>
        <p:nvSpPr>
          <p:cNvPr id="235" name="Text 23">
            <a:extLst>
              <a:ext uri="{FF2B5EF4-FFF2-40B4-BE49-F238E27FC236}">
                <a16:creationId xmlns:a16="http://schemas.microsoft.com/office/drawing/2014/main" id="{14320FC0-86F5-A96A-E402-183AD5818FF6}"/>
              </a:ext>
            </a:extLst>
          </p:cNvPr>
          <p:cNvSpPr txBox="1"/>
          <p:nvPr/>
        </p:nvSpPr>
        <p:spPr>
          <a:xfrm>
            <a:off x="8620678" y="17339044"/>
            <a:ext cx="718347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Framed as a confidence signal, never a certificate, and shareable by link or QR code.</a:t>
            </a:r>
            <a:endParaRPr lang="en-US" sz="20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 1 · DEEP DIVE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4858" y="1058967"/>
            <a:ext cx="16517302" cy="1272753"/>
            <a:chOff x="-260349" y="-51084"/>
            <a:chExt cx="22023069" cy="16970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-260349" y="-51084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 dirty="0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Verify: prove your skills, get a trust score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3378" y="2757487"/>
            <a:ext cx="7700010" cy="4772025"/>
            <a:chOff x="0" y="0"/>
            <a:chExt cx="10266680" cy="8072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66680" cy="8072120"/>
            </a:xfrm>
            <a:custGeom>
              <a:avLst/>
              <a:gdLst/>
              <a:ahLst/>
              <a:cxnLst/>
              <a:rect l="l" t="t" r="r" b="b"/>
              <a:pathLst>
                <a:path w="10266680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083165" y="0"/>
                  </a:lnTo>
                  <a:cubicBezTo>
                    <a:pt x="10184511" y="0"/>
                    <a:pt x="10266680" y="82169"/>
                    <a:pt x="10266680" y="183515"/>
                  </a:cubicBezTo>
                  <a:lnTo>
                    <a:pt x="10266680" y="7888605"/>
                  </a:lnTo>
                  <a:cubicBezTo>
                    <a:pt x="10266680" y="7989951"/>
                    <a:pt x="10184511" y="8072120"/>
                    <a:pt x="10083165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74383" y="3109912"/>
            <a:ext cx="6858000" cy="378398"/>
            <a:chOff x="0" y="0"/>
            <a:chExt cx="91440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How the score is built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74383" y="3795712"/>
            <a:ext cx="3840480" cy="378398"/>
            <a:chOff x="0" y="0"/>
            <a:chExt cx="5120640" cy="6400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20640" cy="640080"/>
            </a:xfrm>
            <a:custGeom>
              <a:avLst/>
              <a:gdLst/>
              <a:ahLst/>
              <a:cxnLst/>
              <a:rect l="l" t="t" r="r" b="b"/>
              <a:pathLst>
                <a:path w="5120640" h="640080">
                  <a:moveTo>
                    <a:pt x="0" y="0"/>
                  </a:moveTo>
                  <a:lnTo>
                    <a:pt x="5120640" y="0"/>
                  </a:lnTo>
                  <a:lnTo>
                    <a:pt x="5120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51206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AI verification task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52023" y="3878008"/>
            <a:ext cx="2194560" cy="237850"/>
            <a:chOff x="0" y="0"/>
            <a:chExt cx="2926080" cy="4023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4752023" y="3878008"/>
            <a:ext cx="2194560" cy="237850"/>
            <a:chOff x="0" y="0"/>
            <a:chExt cx="2926080" cy="4023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7083743" y="3795712"/>
            <a:ext cx="685800" cy="378398"/>
            <a:chOff x="0" y="0"/>
            <a:chExt cx="914400" cy="6400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" cy="640080"/>
            </a:xfrm>
            <a:custGeom>
              <a:avLst/>
              <a:gdLst/>
              <a:ahLst/>
              <a:cxnLst/>
              <a:rect l="l" t="t" r="r" b="b"/>
              <a:pathLst>
                <a:path w="914400" h="64008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r="-3981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40%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74383" y="4550092"/>
            <a:ext cx="3840480" cy="378398"/>
            <a:chOff x="0" y="0"/>
            <a:chExt cx="5120640" cy="6400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20640" cy="640080"/>
            </a:xfrm>
            <a:custGeom>
              <a:avLst/>
              <a:gdLst/>
              <a:ahLst/>
              <a:cxnLst/>
              <a:rect l="l" t="t" r="r" b="b"/>
              <a:pathLst>
                <a:path w="5120640" h="640080">
                  <a:moveTo>
                    <a:pt x="0" y="0"/>
                  </a:moveTo>
                  <a:lnTo>
                    <a:pt x="5120640" y="0"/>
                  </a:lnTo>
                  <a:lnTo>
                    <a:pt x="5120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51206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Completed-job feedback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752023" y="4632388"/>
            <a:ext cx="2194560" cy="237850"/>
            <a:chOff x="0" y="0"/>
            <a:chExt cx="2926080" cy="40233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4752023" y="4632388"/>
            <a:ext cx="2194560" cy="237850"/>
            <a:chOff x="0" y="0"/>
            <a:chExt cx="2926080" cy="40233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7083743" y="4550092"/>
            <a:ext cx="685800" cy="378398"/>
            <a:chOff x="0" y="0"/>
            <a:chExt cx="914400" cy="6400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4400" cy="640080"/>
            </a:xfrm>
            <a:custGeom>
              <a:avLst/>
              <a:gdLst/>
              <a:ahLst/>
              <a:cxnLst/>
              <a:rect l="l" t="t" r="r" b="b"/>
              <a:pathLst>
                <a:path w="914400" h="64008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r="-39812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40%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74383" y="5304472"/>
            <a:ext cx="3840480" cy="378398"/>
            <a:chOff x="0" y="0"/>
            <a:chExt cx="5120640" cy="6400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120640" cy="640080"/>
            </a:xfrm>
            <a:custGeom>
              <a:avLst/>
              <a:gdLst/>
              <a:ahLst/>
              <a:cxnLst/>
              <a:rect l="l" t="t" r="r" b="b"/>
              <a:pathLst>
                <a:path w="5120640" h="640080">
                  <a:moveTo>
                    <a:pt x="0" y="0"/>
                  </a:moveTo>
                  <a:lnTo>
                    <a:pt x="5120640" y="0"/>
                  </a:lnTo>
                  <a:lnTo>
                    <a:pt x="5120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51206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Recency of activity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752023" y="5386768"/>
            <a:ext cx="2194560" cy="237850"/>
            <a:chOff x="0" y="0"/>
            <a:chExt cx="2926080" cy="40233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4752023" y="5386768"/>
            <a:ext cx="1097280" cy="237850"/>
            <a:chOff x="0" y="0"/>
            <a:chExt cx="1463040" cy="40233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463040" cy="402336"/>
            </a:xfrm>
            <a:custGeom>
              <a:avLst/>
              <a:gdLst/>
              <a:ahLst/>
              <a:cxnLst/>
              <a:rect l="l" t="t" r="r" b="b"/>
              <a:pathLst>
                <a:path w="146304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80160" y="0"/>
                  </a:lnTo>
                  <a:cubicBezTo>
                    <a:pt x="1381125" y="0"/>
                    <a:pt x="1463040" y="81915"/>
                    <a:pt x="1463040" y="182880"/>
                  </a:cubicBezTo>
                  <a:lnTo>
                    <a:pt x="1463040" y="219456"/>
                  </a:lnTo>
                  <a:cubicBezTo>
                    <a:pt x="1463040" y="320421"/>
                    <a:pt x="1381125" y="402336"/>
                    <a:pt x="128016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7083743" y="5304472"/>
            <a:ext cx="685800" cy="378398"/>
            <a:chOff x="0" y="0"/>
            <a:chExt cx="914400" cy="6400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14400" cy="640080"/>
            </a:xfrm>
            <a:custGeom>
              <a:avLst/>
              <a:gdLst/>
              <a:ahLst/>
              <a:cxnLst/>
              <a:rect l="l" t="t" r="r" b="b"/>
              <a:pathLst>
                <a:path w="914400" h="64008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r="-39812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20%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4858" y="6035040"/>
            <a:ext cx="6877050" cy="1204268"/>
            <a:chOff x="0" y="0"/>
            <a:chExt cx="9169400" cy="20370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169400" cy="2037080"/>
            </a:xfrm>
            <a:custGeom>
              <a:avLst/>
              <a:gdLst/>
              <a:ahLst/>
              <a:cxnLst/>
              <a:rect l="l" t="t" r="r" b="b"/>
              <a:pathLst>
                <a:path w="9169400" h="2037080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8984234" y="0"/>
                  </a:lnTo>
                  <a:cubicBezTo>
                    <a:pt x="9086469" y="0"/>
                    <a:pt x="9169400" y="82931"/>
                    <a:pt x="9169400" y="185166"/>
                  </a:cubicBezTo>
                  <a:lnTo>
                    <a:pt x="9169400" y="1851914"/>
                  </a:lnTo>
                  <a:cubicBezTo>
                    <a:pt x="9169400" y="1954149"/>
                    <a:pt x="9086469" y="2037080"/>
                    <a:pt x="8984234" y="2037080"/>
                  </a:cubicBezTo>
                  <a:lnTo>
                    <a:pt x="185166" y="2037080"/>
                  </a:lnTo>
                  <a:cubicBezTo>
                    <a:pt x="82931" y="2037080"/>
                    <a:pt x="0" y="1954149"/>
                    <a:pt x="0" y="1851914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087975" y="6090475"/>
            <a:ext cx="6201508" cy="1110269"/>
            <a:chOff x="-39077" y="-1329436"/>
            <a:chExt cx="8268677" cy="187807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-39077" y="-1329436"/>
              <a:ext cx="8229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dirty="0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Sample verification task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984701" y="6482680"/>
            <a:ext cx="6172200" cy="83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1" dirty="0">
                <a:solidFill>
                  <a:srgbClr val="CBD5E1"/>
                </a:solidFill>
                <a:latin typeface="Inter Italics"/>
                <a:ea typeface="Inter Italics"/>
                <a:cs typeface="Inter Italics"/>
                <a:sym typeface="Inter Italics"/>
              </a:rPr>
              <a:t>“A scooter cranks but won't start. Walk me through your first three checks.”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07</a:t>
              </a:r>
            </a:p>
          </p:txBody>
        </p:sp>
      </p:grpSp>
      <p:sp>
        <p:nvSpPr>
          <p:cNvPr id="55" name="Text 20">
            <a:extLst>
              <a:ext uri="{FF2B5EF4-FFF2-40B4-BE49-F238E27FC236}">
                <a16:creationId xmlns:a16="http://schemas.microsoft.com/office/drawing/2014/main" id="{3A67B2D1-80C8-FD28-3A85-F552BD0ACA34}"/>
              </a:ext>
            </a:extLst>
          </p:cNvPr>
          <p:cNvSpPr txBox="1"/>
          <p:nvPr/>
        </p:nvSpPr>
        <p:spPr>
          <a:xfrm>
            <a:off x="8437522" y="2537459"/>
            <a:ext cx="7305232" cy="826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510DF22-4646-E1C1-EF80-8A3BCA699E31}"/>
              </a:ext>
            </a:extLst>
          </p:cNvPr>
          <p:cNvSpPr txBox="1"/>
          <p:nvPr/>
        </p:nvSpPr>
        <p:spPr>
          <a:xfrm>
            <a:off x="8391341" y="3453333"/>
            <a:ext cx="718347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Starts from a 30–90 second voice note. AI extracts skill tags, each with a confidence score.</a:t>
            </a:r>
            <a:endParaRPr lang="en-US" sz="2000" dirty="0"/>
          </a:p>
        </p:txBody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A1A33065-C776-933B-FFF2-C71092A4A283}"/>
              </a:ext>
            </a:extLst>
          </p:cNvPr>
          <p:cNvSpPr txBox="1"/>
          <p:nvPr/>
        </p:nvSpPr>
        <p:spPr>
          <a:xfrm>
            <a:off x="8391341" y="4428430"/>
            <a:ext cx="718347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 short AI-generated task per skill checks the claim. It's conversational, so it doesn't recreate the paperwork burden.</a:t>
            </a:r>
            <a:endParaRPr lang="en-US" sz="2000" dirty="0"/>
          </a:p>
        </p:txBody>
      </p:sp>
      <p:sp>
        <p:nvSpPr>
          <p:cNvPr id="65" name="Text 23">
            <a:extLst>
              <a:ext uri="{FF2B5EF4-FFF2-40B4-BE49-F238E27FC236}">
                <a16:creationId xmlns:a16="http://schemas.microsoft.com/office/drawing/2014/main" id="{98EEB848-DE45-FFCB-2013-EDA3D3EBBA8D}"/>
              </a:ext>
            </a:extLst>
          </p:cNvPr>
          <p:cNvSpPr txBox="1"/>
          <p:nvPr/>
        </p:nvSpPr>
        <p:spPr>
          <a:xfrm>
            <a:off x="8391341" y="5529517"/>
            <a:ext cx="718347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 light identity check keeps peer connections safe. Skill verification is the real differentiator.</a:t>
            </a:r>
            <a:endParaRPr lang="en-US" sz="2000" dirty="0"/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149C5AE0-281C-DA79-8369-D78549CB9ED3}"/>
              </a:ext>
            </a:extLst>
          </p:cNvPr>
          <p:cNvSpPr txBox="1"/>
          <p:nvPr/>
        </p:nvSpPr>
        <p:spPr>
          <a:xfrm>
            <a:off x="8369218" y="6676061"/>
            <a:ext cx="718347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Framed as a confidence signal, never a certificate, and shareable by link or QR code.</a:t>
            </a:r>
            <a:endParaRPr lang="en-US" sz="2000" dirty="0"/>
          </a:p>
        </p:txBody>
      </p:sp>
      <p:grpSp>
        <p:nvGrpSpPr>
          <p:cNvPr id="43" name="Group 2">
            <a:extLst>
              <a:ext uri="{FF2B5EF4-FFF2-40B4-BE49-F238E27FC236}">
                <a16:creationId xmlns:a16="http://schemas.microsoft.com/office/drawing/2014/main" id="{B8199B47-9E0F-2166-CC36-9B210CF126F8}"/>
              </a:ext>
            </a:extLst>
          </p:cNvPr>
          <p:cNvGrpSpPr/>
          <p:nvPr/>
        </p:nvGrpSpPr>
        <p:grpSpPr>
          <a:xfrm>
            <a:off x="390335" y="-10127725"/>
            <a:ext cx="12344400" cy="480060"/>
            <a:chOff x="0" y="0"/>
            <a:chExt cx="16459200" cy="640080"/>
          </a:xfrm>
        </p:grpSpPr>
        <p:sp>
          <p:nvSpPr>
            <p:cNvPr id="50" name="Freeform 3">
              <a:extLst>
                <a:ext uri="{FF2B5EF4-FFF2-40B4-BE49-F238E27FC236}">
                  <a16:creationId xmlns:a16="http://schemas.microsoft.com/office/drawing/2014/main" id="{99305210-6BF3-23F0-0B52-600687EEB893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51" name="TextBox 4">
              <a:extLst>
                <a:ext uri="{FF2B5EF4-FFF2-40B4-BE49-F238E27FC236}">
                  <a16:creationId xmlns:a16="http://schemas.microsoft.com/office/drawing/2014/main" id="{37DAF47F-44E7-B440-39F9-64CF76AEC1ED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SOLUTION</a:t>
              </a:r>
            </a:p>
          </p:txBody>
        </p:sp>
      </p:grpSp>
      <p:grpSp>
        <p:nvGrpSpPr>
          <p:cNvPr id="52" name="Group 5">
            <a:extLst>
              <a:ext uri="{FF2B5EF4-FFF2-40B4-BE49-F238E27FC236}">
                <a16:creationId xmlns:a16="http://schemas.microsoft.com/office/drawing/2014/main" id="{B08C6857-C7F6-5D1F-22BB-01982344725C}"/>
              </a:ext>
            </a:extLst>
          </p:cNvPr>
          <p:cNvGrpSpPr/>
          <p:nvPr/>
        </p:nvGrpSpPr>
        <p:grpSpPr>
          <a:xfrm>
            <a:off x="390335" y="-9647665"/>
            <a:ext cx="16322040" cy="1234440"/>
            <a:chOff x="0" y="0"/>
            <a:chExt cx="21762720" cy="1645920"/>
          </a:xfrm>
        </p:grpSpPr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E67E8BD3-FF00-1482-D7E8-108B0BF4207F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54" name="TextBox 7">
              <a:extLst>
                <a:ext uri="{FF2B5EF4-FFF2-40B4-BE49-F238E27FC236}">
                  <a16:creationId xmlns:a16="http://schemas.microsoft.com/office/drawing/2014/main" id="{10B38924-2ED2-AE33-EBDF-BC94E10A16D1}"/>
                </a:ext>
              </a:extLst>
            </p:cNvPr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Six steps, one path to a stable job</a:t>
              </a:r>
            </a:p>
          </p:txBody>
        </p:sp>
      </p:grpSp>
      <p:grpSp>
        <p:nvGrpSpPr>
          <p:cNvPr id="56" name="Group 8">
            <a:extLst>
              <a:ext uri="{FF2B5EF4-FFF2-40B4-BE49-F238E27FC236}">
                <a16:creationId xmlns:a16="http://schemas.microsoft.com/office/drawing/2014/main" id="{5CA523C7-AA91-18E2-9192-98A2F2F9C6BF}"/>
              </a:ext>
            </a:extLst>
          </p:cNvPr>
          <p:cNvGrpSpPr/>
          <p:nvPr/>
        </p:nvGrpSpPr>
        <p:grpSpPr>
          <a:xfrm>
            <a:off x="380810" y="-8079850"/>
            <a:ext cx="5135118" cy="2830830"/>
            <a:chOff x="0" y="0"/>
            <a:chExt cx="6846824" cy="3774440"/>
          </a:xfrm>
        </p:grpSpPr>
        <p:sp>
          <p:nvSpPr>
            <p:cNvPr id="61" name="Freeform 9">
              <a:extLst>
                <a:ext uri="{FF2B5EF4-FFF2-40B4-BE49-F238E27FC236}">
                  <a16:creationId xmlns:a16="http://schemas.microsoft.com/office/drawing/2014/main" id="{DA294CE7-BC4D-BFCD-E16C-EF4E6D13BB69}"/>
                </a:ext>
              </a:extLst>
            </p:cNvPr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63" name="Group 10">
            <a:extLst>
              <a:ext uri="{FF2B5EF4-FFF2-40B4-BE49-F238E27FC236}">
                <a16:creationId xmlns:a16="http://schemas.microsoft.com/office/drawing/2014/main" id="{9641AE8C-E2C5-8021-CE4F-48341F1312E3}"/>
              </a:ext>
            </a:extLst>
          </p:cNvPr>
          <p:cNvGrpSpPr/>
          <p:nvPr/>
        </p:nvGrpSpPr>
        <p:grpSpPr>
          <a:xfrm>
            <a:off x="801815" y="-7686277"/>
            <a:ext cx="685800" cy="685800"/>
            <a:chOff x="0" y="0"/>
            <a:chExt cx="914400" cy="914400"/>
          </a:xfrm>
        </p:grpSpPr>
        <p:sp>
          <p:nvSpPr>
            <p:cNvPr id="64" name="Freeform 11">
              <a:extLst>
                <a:ext uri="{FF2B5EF4-FFF2-40B4-BE49-F238E27FC236}">
                  <a16:creationId xmlns:a16="http://schemas.microsoft.com/office/drawing/2014/main" id="{2C0BF1F5-9776-8C09-CA2A-EC6DC94ADCB1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66" name="Group 12">
            <a:extLst>
              <a:ext uri="{FF2B5EF4-FFF2-40B4-BE49-F238E27FC236}">
                <a16:creationId xmlns:a16="http://schemas.microsoft.com/office/drawing/2014/main" id="{7F15E231-DF4B-9B08-E341-9A7CF46DE534}"/>
              </a:ext>
            </a:extLst>
          </p:cNvPr>
          <p:cNvGrpSpPr/>
          <p:nvPr/>
        </p:nvGrpSpPr>
        <p:grpSpPr>
          <a:xfrm>
            <a:off x="801815" y="-7686277"/>
            <a:ext cx="685800" cy="685800"/>
            <a:chOff x="0" y="0"/>
            <a:chExt cx="914400" cy="914400"/>
          </a:xfrm>
        </p:grpSpPr>
        <p:sp>
          <p:nvSpPr>
            <p:cNvPr id="68" name="Freeform 13">
              <a:extLst>
                <a:ext uri="{FF2B5EF4-FFF2-40B4-BE49-F238E27FC236}">
                  <a16:creationId xmlns:a16="http://schemas.microsoft.com/office/drawing/2014/main" id="{3A88876A-7235-5B02-194E-012BC921BBAB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9" name="TextBox 14">
              <a:extLst>
                <a:ext uri="{FF2B5EF4-FFF2-40B4-BE49-F238E27FC236}">
                  <a16:creationId xmlns:a16="http://schemas.microsoft.com/office/drawing/2014/main" id="{DD62A05C-802C-80DE-5495-9D26EBA7C861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70" name="Group 15">
            <a:extLst>
              <a:ext uri="{FF2B5EF4-FFF2-40B4-BE49-F238E27FC236}">
                <a16:creationId xmlns:a16="http://schemas.microsoft.com/office/drawing/2014/main" id="{1DABF63C-ABB6-B7DB-0A0B-CF78CAFCED0E}"/>
              </a:ext>
            </a:extLst>
          </p:cNvPr>
          <p:cNvGrpSpPr/>
          <p:nvPr/>
        </p:nvGrpSpPr>
        <p:grpSpPr>
          <a:xfrm>
            <a:off x="1761935" y="-7686277"/>
            <a:ext cx="3470148" cy="685800"/>
            <a:chOff x="0" y="0"/>
            <a:chExt cx="4626864" cy="914400"/>
          </a:xfrm>
        </p:grpSpPr>
        <p:sp>
          <p:nvSpPr>
            <p:cNvPr id="71" name="Freeform 16">
              <a:extLst>
                <a:ext uri="{FF2B5EF4-FFF2-40B4-BE49-F238E27FC236}">
                  <a16:creationId xmlns:a16="http://schemas.microsoft.com/office/drawing/2014/main" id="{477C1D81-F894-3910-8707-C0F144C15D07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72" name="TextBox 17">
              <a:extLst>
                <a:ext uri="{FF2B5EF4-FFF2-40B4-BE49-F238E27FC236}">
                  <a16:creationId xmlns:a16="http://schemas.microsoft.com/office/drawing/2014/main" id="{1533D514-99F8-EAAF-67A4-5B0A14BF0023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Verify</a:t>
              </a:r>
            </a:p>
          </p:txBody>
        </p:sp>
      </p:grpSp>
      <p:sp>
        <p:nvSpPr>
          <p:cNvPr id="73" name="TextBox 18">
            <a:extLst>
              <a:ext uri="{FF2B5EF4-FFF2-40B4-BE49-F238E27FC236}">
                <a16:creationId xmlns:a16="http://schemas.microsoft.com/office/drawing/2014/main" id="{56BBED77-1C15-A70E-59C7-8993D3112B49}"/>
              </a:ext>
            </a:extLst>
          </p:cNvPr>
          <p:cNvSpPr txBox="1"/>
          <p:nvPr/>
        </p:nvSpPr>
        <p:spPr>
          <a:xfrm>
            <a:off x="801815" y="-6805405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voice note plus a short AI micro-check confirm real skills. A light identity check keeps the peer network safe.</a:t>
            </a:r>
          </a:p>
        </p:txBody>
      </p:sp>
      <p:grpSp>
        <p:nvGrpSpPr>
          <p:cNvPr id="74" name="Group 19">
            <a:extLst>
              <a:ext uri="{FF2B5EF4-FFF2-40B4-BE49-F238E27FC236}">
                <a16:creationId xmlns:a16="http://schemas.microsoft.com/office/drawing/2014/main" id="{6ABBA3C4-E530-EC0D-E911-B5C381C425A6}"/>
              </a:ext>
            </a:extLst>
          </p:cNvPr>
          <p:cNvGrpSpPr/>
          <p:nvPr/>
        </p:nvGrpSpPr>
        <p:grpSpPr>
          <a:xfrm>
            <a:off x="5976938" y="-8079850"/>
            <a:ext cx="5135118" cy="2830830"/>
            <a:chOff x="0" y="0"/>
            <a:chExt cx="6846824" cy="3774440"/>
          </a:xfrm>
        </p:grpSpPr>
        <p:sp>
          <p:nvSpPr>
            <p:cNvPr id="75" name="Freeform 20">
              <a:extLst>
                <a:ext uri="{FF2B5EF4-FFF2-40B4-BE49-F238E27FC236}">
                  <a16:creationId xmlns:a16="http://schemas.microsoft.com/office/drawing/2014/main" id="{91FC9FE2-35F7-1EB8-CEA5-A6F2B2B2EBF7}"/>
                </a:ext>
              </a:extLst>
            </p:cNvPr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76" name="Group 21">
            <a:extLst>
              <a:ext uri="{FF2B5EF4-FFF2-40B4-BE49-F238E27FC236}">
                <a16:creationId xmlns:a16="http://schemas.microsoft.com/office/drawing/2014/main" id="{F7571796-0F74-D2B3-C80F-808D5BA5AA03}"/>
              </a:ext>
            </a:extLst>
          </p:cNvPr>
          <p:cNvGrpSpPr/>
          <p:nvPr/>
        </p:nvGrpSpPr>
        <p:grpSpPr>
          <a:xfrm>
            <a:off x="6397943" y="-7686277"/>
            <a:ext cx="685800" cy="685800"/>
            <a:chOff x="0" y="0"/>
            <a:chExt cx="914400" cy="914400"/>
          </a:xfrm>
        </p:grpSpPr>
        <p:sp>
          <p:nvSpPr>
            <p:cNvPr id="77" name="Freeform 22">
              <a:extLst>
                <a:ext uri="{FF2B5EF4-FFF2-40B4-BE49-F238E27FC236}">
                  <a16:creationId xmlns:a16="http://schemas.microsoft.com/office/drawing/2014/main" id="{8EE230A2-7E91-C486-4A57-2550A5DB447E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78" name="Group 23">
            <a:extLst>
              <a:ext uri="{FF2B5EF4-FFF2-40B4-BE49-F238E27FC236}">
                <a16:creationId xmlns:a16="http://schemas.microsoft.com/office/drawing/2014/main" id="{2286DB1A-29EA-FDC2-A499-11936BCBAE52}"/>
              </a:ext>
            </a:extLst>
          </p:cNvPr>
          <p:cNvGrpSpPr/>
          <p:nvPr/>
        </p:nvGrpSpPr>
        <p:grpSpPr>
          <a:xfrm>
            <a:off x="6397943" y="-7686277"/>
            <a:ext cx="685800" cy="685800"/>
            <a:chOff x="0" y="0"/>
            <a:chExt cx="914400" cy="914400"/>
          </a:xfrm>
        </p:grpSpPr>
        <p:sp>
          <p:nvSpPr>
            <p:cNvPr id="79" name="Freeform 24">
              <a:extLst>
                <a:ext uri="{FF2B5EF4-FFF2-40B4-BE49-F238E27FC236}">
                  <a16:creationId xmlns:a16="http://schemas.microsoft.com/office/drawing/2014/main" id="{E05378CC-7049-33F3-64CE-69C08A70285F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0" name="TextBox 25">
              <a:extLst>
                <a:ext uri="{FF2B5EF4-FFF2-40B4-BE49-F238E27FC236}">
                  <a16:creationId xmlns:a16="http://schemas.microsoft.com/office/drawing/2014/main" id="{07F26F5F-A876-0A9D-1869-4E332BB61CAD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81" name="Group 26">
            <a:extLst>
              <a:ext uri="{FF2B5EF4-FFF2-40B4-BE49-F238E27FC236}">
                <a16:creationId xmlns:a16="http://schemas.microsoft.com/office/drawing/2014/main" id="{60DC49AF-EB7D-10BE-57BF-D6AE287F6779}"/>
              </a:ext>
            </a:extLst>
          </p:cNvPr>
          <p:cNvGrpSpPr/>
          <p:nvPr/>
        </p:nvGrpSpPr>
        <p:grpSpPr>
          <a:xfrm>
            <a:off x="7358063" y="-7686277"/>
            <a:ext cx="3470148" cy="685800"/>
            <a:chOff x="0" y="0"/>
            <a:chExt cx="4626864" cy="914400"/>
          </a:xfrm>
        </p:grpSpPr>
        <p:sp>
          <p:nvSpPr>
            <p:cNvPr id="82" name="Freeform 27">
              <a:extLst>
                <a:ext uri="{FF2B5EF4-FFF2-40B4-BE49-F238E27FC236}">
                  <a16:creationId xmlns:a16="http://schemas.microsoft.com/office/drawing/2014/main" id="{98C09CB2-AAED-B5FA-38D6-65320419E670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83" name="TextBox 28">
              <a:extLst>
                <a:ext uri="{FF2B5EF4-FFF2-40B4-BE49-F238E27FC236}">
                  <a16:creationId xmlns:a16="http://schemas.microsoft.com/office/drawing/2014/main" id="{19263F3A-3C2A-07C6-E90B-308C8D5123CF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 your CV</a:t>
              </a:r>
            </a:p>
          </p:txBody>
        </p:sp>
      </p:grpSp>
      <p:sp>
        <p:nvSpPr>
          <p:cNvPr id="84" name="TextBox 29">
            <a:extLst>
              <a:ext uri="{FF2B5EF4-FFF2-40B4-BE49-F238E27FC236}">
                <a16:creationId xmlns:a16="http://schemas.microsoft.com/office/drawing/2014/main" id="{AB21016A-907C-E129-96C0-357B9FCE13D7}"/>
              </a:ext>
            </a:extLst>
          </p:cNvPr>
          <p:cNvSpPr txBox="1"/>
          <p:nvPr/>
        </p:nvSpPr>
        <p:spPr>
          <a:xfrm>
            <a:off x="6397943" y="-6805405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turns what you said and proved into a professional CV. No writing, no template hunting.</a:t>
            </a:r>
          </a:p>
        </p:txBody>
      </p:sp>
      <p:grpSp>
        <p:nvGrpSpPr>
          <p:cNvPr id="85" name="Group 30">
            <a:extLst>
              <a:ext uri="{FF2B5EF4-FFF2-40B4-BE49-F238E27FC236}">
                <a16:creationId xmlns:a16="http://schemas.microsoft.com/office/drawing/2014/main" id="{DC87E0FA-B529-D7B3-DE07-522256D2D838}"/>
              </a:ext>
            </a:extLst>
          </p:cNvPr>
          <p:cNvGrpSpPr/>
          <p:nvPr/>
        </p:nvGrpSpPr>
        <p:grpSpPr>
          <a:xfrm>
            <a:off x="11573066" y="-8079850"/>
            <a:ext cx="5135118" cy="2830830"/>
            <a:chOff x="0" y="0"/>
            <a:chExt cx="6846824" cy="3774440"/>
          </a:xfrm>
        </p:grpSpPr>
        <p:sp>
          <p:nvSpPr>
            <p:cNvPr id="86" name="Freeform 31">
              <a:extLst>
                <a:ext uri="{FF2B5EF4-FFF2-40B4-BE49-F238E27FC236}">
                  <a16:creationId xmlns:a16="http://schemas.microsoft.com/office/drawing/2014/main" id="{6EC59B65-193C-79C3-F459-84E38BBE3D5F}"/>
                </a:ext>
              </a:extLst>
            </p:cNvPr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87" name="Group 32">
            <a:extLst>
              <a:ext uri="{FF2B5EF4-FFF2-40B4-BE49-F238E27FC236}">
                <a16:creationId xmlns:a16="http://schemas.microsoft.com/office/drawing/2014/main" id="{9F272FAF-690B-A385-6BD1-2AFB25023045}"/>
              </a:ext>
            </a:extLst>
          </p:cNvPr>
          <p:cNvGrpSpPr/>
          <p:nvPr/>
        </p:nvGrpSpPr>
        <p:grpSpPr>
          <a:xfrm>
            <a:off x="11994071" y="-7686277"/>
            <a:ext cx="685800" cy="685800"/>
            <a:chOff x="0" y="0"/>
            <a:chExt cx="914400" cy="914400"/>
          </a:xfrm>
        </p:grpSpPr>
        <p:sp>
          <p:nvSpPr>
            <p:cNvPr id="88" name="Freeform 33">
              <a:extLst>
                <a:ext uri="{FF2B5EF4-FFF2-40B4-BE49-F238E27FC236}">
                  <a16:creationId xmlns:a16="http://schemas.microsoft.com/office/drawing/2014/main" id="{D649FC65-FED6-7D8F-1FDB-4232265D3398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89" name="Group 34">
            <a:extLst>
              <a:ext uri="{FF2B5EF4-FFF2-40B4-BE49-F238E27FC236}">
                <a16:creationId xmlns:a16="http://schemas.microsoft.com/office/drawing/2014/main" id="{79152EB8-D5EB-665B-4E4D-D988EB8F0F52}"/>
              </a:ext>
            </a:extLst>
          </p:cNvPr>
          <p:cNvGrpSpPr/>
          <p:nvPr/>
        </p:nvGrpSpPr>
        <p:grpSpPr>
          <a:xfrm>
            <a:off x="11994071" y="-7686277"/>
            <a:ext cx="685800" cy="685800"/>
            <a:chOff x="0" y="0"/>
            <a:chExt cx="914400" cy="914400"/>
          </a:xfrm>
        </p:grpSpPr>
        <p:sp>
          <p:nvSpPr>
            <p:cNvPr id="90" name="Freeform 35">
              <a:extLst>
                <a:ext uri="{FF2B5EF4-FFF2-40B4-BE49-F238E27FC236}">
                  <a16:creationId xmlns:a16="http://schemas.microsoft.com/office/drawing/2014/main" id="{E67106F9-0FC5-CF30-8E84-9BD499A41E9A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1" name="TextBox 36">
              <a:extLst>
                <a:ext uri="{FF2B5EF4-FFF2-40B4-BE49-F238E27FC236}">
                  <a16:creationId xmlns:a16="http://schemas.microsoft.com/office/drawing/2014/main" id="{D87C4D2F-D44E-158A-AB05-9FDC2777A5A5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92" name="Group 37">
            <a:extLst>
              <a:ext uri="{FF2B5EF4-FFF2-40B4-BE49-F238E27FC236}">
                <a16:creationId xmlns:a16="http://schemas.microsoft.com/office/drawing/2014/main" id="{7E7936DD-F6D7-F4D3-5D1F-11DD6CDE49FA}"/>
              </a:ext>
            </a:extLst>
          </p:cNvPr>
          <p:cNvGrpSpPr/>
          <p:nvPr/>
        </p:nvGrpSpPr>
        <p:grpSpPr>
          <a:xfrm>
            <a:off x="12954191" y="-7686277"/>
            <a:ext cx="3470148" cy="685800"/>
            <a:chOff x="0" y="0"/>
            <a:chExt cx="4626864" cy="914400"/>
          </a:xfrm>
        </p:grpSpPr>
        <p:sp>
          <p:nvSpPr>
            <p:cNvPr id="93" name="Freeform 38">
              <a:extLst>
                <a:ext uri="{FF2B5EF4-FFF2-40B4-BE49-F238E27FC236}">
                  <a16:creationId xmlns:a16="http://schemas.microsoft.com/office/drawing/2014/main" id="{0AEA61E4-0021-779A-03C5-AFA5B2AB4949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94" name="TextBox 39">
              <a:extLst>
                <a:ext uri="{FF2B5EF4-FFF2-40B4-BE49-F238E27FC236}">
                  <a16:creationId xmlns:a16="http://schemas.microsoft.com/office/drawing/2014/main" id="{7EFAA5F6-93C9-3821-BDB1-72D756378822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Find your gaps</a:t>
              </a:r>
            </a:p>
          </p:txBody>
        </p:sp>
      </p:grpSp>
      <p:sp>
        <p:nvSpPr>
          <p:cNvPr id="95" name="TextBox 40">
            <a:extLst>
              <a:ext uri="{FF2B5EF4-FFF2-40B4-BE49-F238E27FC236}">
                <a16:creationId xmlns:a16="http://schemas.microsoft.com/office/drawing/2014/main" id="{06FEDF7D-5BCB-C8C1-E673-3627E0A3869A}"/>
              </a:ext>
            </a:extLst>
          </p:cNvPr>
          <p:cNvSpPr txBox="1"/>
          <p:nvPr/>
        </p:nvSpPr>
        <p:spPr>
          <a:xfrm>
            <a:off x="11994071" y="-6805405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Your verified skills are compared with the roles you want, and what's missing is ranked by impact.</a:t>
            </a:r>
          </a:p>
        </p:txBody>
      </p:sp>
      <p:grpSp>
        <p:nvGrpSpPr>
          <p:cNvPr id="96" name="Group 41">
            <a:extLst>
              <a:ext uri="{FF2B5EF4-FFF2-40B4-BE49-F238E27FC236}">
                <a16:creationId xmlns:a16="http://schemas.microsoft.com/office/drawing/2014/main" id="{78C6CCD7-C8CF-AB02-A809-8B6CE68C53C4}"/>
              </a:ext>
            </a:extLst>
          </p:cNvPr>
          <p:cNvGrpSpPr/>
          <p:nvPr/>
        </p:nvGrpSpPr>
        <p:grpSpPr>
          <a:xfrm>
            <a:off x="380810" y="-4856590"/>
            <a:ext cx="5135118" cy="2830830"/>
            <a:chOff x="0" y="0"/>
            <a:chExt cx="6846824" cy="3774440"/>
          </a:xfrm>
        </p:grpSpPr>
        <p:sp>
          <p:nvSpPr>
            <p:cNvPr id="97" name="Freeform 42">
              <a:extLst>
                <a:ext uri="{FF2B5EF4-FFF2-40B4-BE49-F238E27FC236}">
                  <a16:creationId xmlns:a16="http://schemas.microsoft.com/office/drawing/2014/main" id="{12E4EA38-94A4-22D7-2AC2-D58F45EF6905}"/>
                </a:ext>
              </a:extLst>
            </p:cNvPr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98" name="Group 43">
            <a:extLst>
              <a:ext uri="{FF2B5EF4-FFF2-40B4-BE49-F238E27FC236}">
                <a16:creationId xmlns:a16="http://schemas.microsoft.com/office/drawing/2014/main" id="{97559CD0-DB00-82B1-B3B6-E3B5C89C6158}"/>
              </a:ext>
            </a:extLst>
          </p:cNvPr>
          <p:cNvGrpSpPr/>
          <p:nvPr/>
        </p:nvGrpSpPr>
        <p:grpSpPr>
          <a:xfrm>
            <a:off x="801815" y="-4463017"/>
            <a:ext cx="685800" cy="685800"/>
            <a:chOff x="0" y="0"/>
            <a:chExt cx="914400" cy="914400"/>
          </a:xfrm>
        </p:grpSpPr>
        <p:sp>
          <p:nvSpPr>
            <p:cNvPr id="99" name="Freeform 44">
              <a:extLst>
                <a:ext uri="{FF2B5EF4-FFF2-40B4-BE49-F238E27FC236}">
                  <a16:creationId xmlns:a16="http://schemas.microsoft.com/office/drawing/2014/main" id="{E53703B3-A97E-4136-FB8A-E70BEDB5211C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00" name="Group 45">
            <a:extLst>
              <a:ext uri="{FF2B5EF4-FFF2-40B4-BE49-F238E27FC236}">
                <a16:creationId xmlns:a16="http://schemas.microsoft.com/office/drawing/2014/main" id="{9209E925-3A4B-7CB7-48C8-09215CCBD52C}"/>
              </a:ext>
            </a:extLst>
          </p:cNvPr>
          <p:cNvGrpSpPr/>
          <p:nvPr/>
        </p:nvGrpSpPr>
        <p:grpSpPr>
          <a:xfrm>
            <a:off x="801815" y="-4463017"/>
            <a:ext cx="685800" cy="685800"/>
            <a:chOff x="0" y="0"/>
            <a:chExt cx="914400" cy="914400"/>
          </a:xfrm>
        </p:grpSpPr>
        <p:sp>
          <p:nvSpPr>
            <p:cNvPr id="101" name="Freeform 46">
              <a:extLst>
                <a:ext uri="{FF2B5EF4-FFF2-40B4-BE49-F238E27FC236}">
                  <a16:creationId xmlns:a16="http://schemas.microsoft.com/office/drawing/2014/main" id="{54FD0FBA-1C17-08E4-23B6-BF4C66030161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2" name="TextBox 47">
              <a:extLst>
                <a:ext uri="{FF2B5EF4-FFF2-40B4-BE49-F238E27FC236}">
                  <a16:creationId xmlns:a16="http://schemas.microsoft.com/office/drawing/2014/main" id="{EE171694-EC3B-682A-B142-DFBE20D8FD15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103" name="Group 48">
            <a:extLst>
              <a:ext uri="{FF2B5EF4-FFF2-40B4-BE49-F238E27FC236}">
                <a16:creationId xmlns:a16="http://schemas.microsoft.com/office/drawing/2014/main" id="{709AB0F1-93DD-21D7-B254-449D3153E5C3}"/>
              </a:ext>
            </a:extLst>
          </p:cNvPr>
          <p:cNvGrpSpPr/>
          <p:nvPr/>
        </p:nvGrpSpPr>
        <p:grpSpPr>
          <a:xfrm>
            <a:off x="1761935" y="-4463017"/>
            <a:ext cx="3470148" cy="685800"/>
            <a:chOff x="0" y="0"/>
            <a:chExt cx="4626864" cy="914400"/>
          </a:xfrm>
        </p:grpSpPr>
        <p:sp>
          <p:nvSpPr>
            <p:cNvPr id="104" name="Freeform 49">
              <a:extLst>
                <a:ext uri="{FF2B5EF4-FFF2-40B4-BE49-F238E27FC236}">
                  <a16:creationId xmlns:a16="http://schemas.microsoft.com/office/drawing/2014/main" id="{B7907A98-8F2E-E47C-2F99-4164805B1031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05" name="TextBox 50">
              <a:extLst>
                <a:ext uri="{FF2B5EF4-FFF2-40B4-BE49-F238E27FC236}">
                  <a16:creationId xmlns:a16="http://schemas.microsoft.com/office/drawing/2014/main" id="{4E0B5CBE-E5E0-318F-3A4C-9371F27670D1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Learn</a:t>
              </a:r>
            </a:p>
          </p:txBody>
        </p:sp>
      </p:grpSp>
      <p:sp>
        <p:nvSpPr>
          <p:cNvPr id="106" name="TextBox 51">
            <a:extLst>
              <a:ext uri="{FF2B5EF4-FFF2-40B4-BE49-F238E27FC236}">
                <a16:creationId xmlns:a16="http://schemas.microsoft.com/office/drawing/2014/main" id="{1F9DC759-3D3A-A047-6969-12ED717EAF1B}"/>
              </a:ext>
            </a:extLst>
          </p:cNvPr>
          <p:cNvSpPr txBox="1"/>
          <p:nvPr/>
        </p:nvSpPr>
        <p:spPr>
          <a:xfrm>
            <a:off x="801815" y="-3582145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Short, free, curated lessons aimed at your specific gaps, sequenced around your time.</a:t>
            </a:r>
          </a:p>
        </p:txBody>
      </p:sp>
      <p:grpSp>
        <p:nvGrpSpPr>
          <p:cNvPr id="107" name="Group 52">
            <a:extLst>
              <a:ext uri="{FF2B5EF4-FFF2-40B4-BE49-F238E27FC236}">
                <a16:creationId xmlns:a16="http://schemas.microsoft.com/office/drawing/2014/main" id="{4835ABA3-5248-63FD-AE50-4FF1D7784CF3}"/>
              </a:ext>
            </a:extLst>
          </p:cNvPr>
          <p:cNvGrpSpPr/>
          <p:nvPr/>
        </p:nvGrpSpPr>
        <p:grpSpPr>
          <a:xfrm>
            <a:off x="5976938" y="-4856590"/>
            <a:ext cx="5135118" cy="2830830"/>
            <a:chOff x="0" y="0"/>
            <a:chExt cx="6846824" cy="3774440"/>
          </a:xfrm>
        </p:grpSpPr>
        <p:sp>
          <p:nvSpPr>
            <p:cNvPr id="108" name="Freeform 53">
              <a:extLst>
                <a:ext uri="{FF2B5EF4-FFF2-40B4-BE49-F238E27FC236}">
                  <a16:creationId xmlns:a16="http://schemas.microsoft.com/office/drawing/2014/main" id="{009FAAD5-4F77-C411-7C37-47B63A41841E}"/>
                </a:ext>
              </a:extLst>
            </p:cNvPr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9" name="Group 54">
            <a:extLst>
              <a:ext uri="{FF2B5EF4-FFF2-40B4-BE49-F238E27FC236}">
                <a16:creationId xmlns:a16="http://schemas.microsoft.com/office/drawing/2014/main" id="{239ED922-C1FD-50FD-6E81-2B1E81D53259}"/>
              </a:ext>
            </a:extLst>
          </p:cNvPr>
          <p:cNvGrpSpPr/>
          <p:nvPr/>
        </p:nvGrpSpPr>
        <p:grpSpPr>
          <a:xfrm>
            <a:off x="6397943" y="-4463017"/>
            <a:ext cx="685800" cy="685800"/>
            <a:chOff x="0" y="0"/>
            <a:chExt cx="914400" cy="914400"/>
          </a:xfrm>
        </p:grpSpPr>
        <p:sp>
          <p:nvSpPr>
            <p:cNvPr id="110" name="Freeform 55">
              <a:extLst>
                <a:ext uri="{FF2B5EF4-FFF2-40B4-BE49-F238E27FC236}">
                  <a16:creationId xmlns:a16="http://schemas.microsoft.com/office/drawing/2014/main" id="{FF8B9E0A-1A19-1A88-9E77-E9DBD2596656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11" name="Group 56">
            <a:extLst>
              <a:ext uri="{FF2B5EF4-FFF2-40B4-BE49-F238E27FC236}">
                <a16:creationId xmlns:a16="http://schemas.microsoft.com/office/drawing/2014/main" id="{5745280B-99A0-E156-A44C-F74F87E02540}"/>
              </a:ext>
            </a:extLst>
          </p:cNvPr>
          <p:cNvGrpSpPr/>
          <p:nvPr/>
        </p:nvGrpSpPr>
        <p:grpSpPr>
          <a:xfrm>
            <a:off x="6397943" y="-4463017"/>
            <a:ext cx="685800" cy="685800"/>
            <a:chOff x="0" y="0"/>
            <a:chExt cx="914400" cy="914400"/>
          </a:xfrm>
        </p:grpSpPr>
        <p:sp>
          <p:nvSpPr>
            <p:cNvPr id="112" name="Freeform 57">
              <a:extLst>
                <a:ext uri="{FF2B5EF4-FFF2-40B4-BE49-F238E27FC236}">
                  <a16:creationId xmlns:a16="http://schemas.microsoft.com/office/drawing/2014/main" id="{AE350657-019A-1E8A-8511-2F6F4991F162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3" name="TextBox 58">
              <a:extLst>
                <a:ext uri="{FF2B5EF4-FFF2-40B4-BE49-F238E27FC236}">
                  <a16:creationId xmlns:a16="http://schemas.microsoft.com/office/drawing/2014/main" id="{853AD166-4284-FCC2-3E94-05253A400A3E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id="114" name="Group 59">
            <a:extLst>
              <a:ext uri="{FF2B5EF4-FFF2-40B4-BE49-F238E27FC236}">
                <a16:creationId xmlns:a16="http://schemas.microsoft.com/office/drawing/2014/main" id="{1626A3A2-FEE2-7F44-59D3-42E299F8D23B}"/>
              </a:ext>
            </a:extLst>
          </p:cNvPr>
          <p:cNvGrpSpPr/>
          <p:nvPr/>
        </p:nvGrpSpPr>
        <p:grpSpPr>
          <a:xfrm>
            <a:off x="7358063" y="-4463017"/>
            <a:ext cx="3470148" cy="685800"/>
            <a:chOff x="0" y="0"/>
            <a:chExt cx="4626864" cy="914400"/>
          </a:xfrm>
        </p:grpSpPr>
        <p:sp>
          <p:nvSpPr>
            <p:cNvPr id="115" name="Freeform 60">
              <a:extLst>
                <a:ext uri="{FF2B5EF4-FFF2-40B4-BE49-F238E27FC236}">
                  <a16:creationId xmlns:a16="http://schemas.microsoft.com/office/drawing/2014/main" id="{9DF80A16-1150-44AE-01CE-3C7C035F48FE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16" name="TextBox 61">
              <a:extLst>
                <a:ext uri="{FF2B5EF4-FFF2-40B4-BE49-F238E27FC236}">
                  <a16:creationId xmlns:a16="http://schemas.microsoft.com/office/drawing/2014/main" id="{CDFC6291-B509-1CB7-5EEE-996B51D5F50F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Connect</a:t>
              </a:r>
            </a:p>
          </p:txBody>
        </p:sp>
      </p:grpSp>
      <p:sp>
        <p:nvSpPr>
          <p:cNvPr id="117" name="TextBox 62">
            <a:extLst>
              <a:ext uri="{FF2B5EF4-FFF2-40B4-BE49-F238E27FC236}">
                <a16:creationId xmlns:a16="http://schemas.microsoft.com/office/drawing/2014/main" id="{6D2D3B75-2B4F-FFFF-6D11-D6EA09CBCF78}"/>
              </a:ext>
            </a:extLst>
          </p:cNvPr>
          <p:cNvSpPr txBox="1"/>
          <p:nvPr/>
        </p:nvSpPr>
        <p:spPr>
          <a:xfrm>
            <a:off x="6397943" y="-3582145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Peer study groups and verified mentors who have walked the same route.</a:t>
            </a:r>
          </a:p>
        </p:txBody>
      </p:sp>
      <p:grpSp>
        <p:nvGrpSpPr>
          <p:cNvPr id="118" name="Group 63">
            <a:extLst>
              <a:ext uri="{FF2B5EF4-FFF2-40B4-BE49-F238E27FC236}">
                <a16:creationId xmlns:a16="http://schemas.microsoft.com/office/drawing/2014/main" id="{33D2093C-E285-C1BD-ED9D-76E3D9CA0233}"/>
              </a:ext>
            </a:extLst>
          </p:cNvPr>
          <p:cNvGrpSpPr/>
          <p:nvPr/>
        </p:nvGrpSpPr>
        <p:grpSpPr>
          <a:xfrm>
            <a:off x="11573066" y="-4856590"/>
            <a:ext cx="5135118" cy="2830830"/>
            <a:chOff x="0" y="0"/>
            <a:chExt cx="6846824" cy="3774440"/>
          </a:xfrm>
        </p:grpSpPr>
        <p:sp>
          <p:nvSpPr>
            <p:cNvPr id="119" name="Freeform 64">
              <a:extLst>
                <a:ext uri="{FF2B5EF4-FFF2-40B4-BE49-F238E27FC236}">
                  <a16:creationId xmlns:a16="http://schemas.microsoft.com/office/drawing/2014/main" id="{073C9A11-5DDF-4560-D275-BC72C46D1183}"/>
                </a:ext>
              </a:extLst>
            </p:cNvPr>
            <p:cNvSpPr/>
            <p:nvPr/>
          </p:nvSpPr>
          <p:spPr>
            <a:xfrm>
              <a:off x="0" y="0"/>
              <a:ext cx="6846824" cy="3774440"/>
            </a:xfrm>
            <a:custGeom>
              <a:avLst/>
              <a:gdLst/>
              <a:ahLst/>
              <a:cxnLst/>
              <a:rect l="l" t="t" r="r" b="b"/>
              <a:pathLst>
                <a:path w="6846824" h="377444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62674" y="0"/>
                  </a:lnTo>
                  <a:cubicBezTo>
                    <a:pt x="6764401" y="0"/>
                    <a:pt x="6846824" y="82423"/>
                    <a:pt x="6846824" y="184150"/>
                  </a:cubicBezTo>
                  <a:lnTo>
                    <a:pt x="6846824" y="3590290"/>
                  </a:lnTo>
                  <a:cubicBezTo>
                    <a:pt x="6846824" y="3692017"/>
                    <a:pt x="6764401" y="3774440"/>
                    <a:pt x="6662674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20" name="Group 65">
            <a:extLst>
              <a:ext uri="{FF2B5EF4-FFF2-40B4-BE49-F238E27FC236}">
                <a16:creationId xmlns:a16="http://schemas.microsoft.com/office/drawing/2014/main" id="{C47196E7-EA74-9EF0-6FB4-0257120051CE}"/>
              </a:ext>
            </a:extLst>
          </p:cNvPr>
          <p:cNvGrpSpPr/>
          <p:nvPr/>
        </p:nvGrpSpPr>
        <p:grpSpPr>
          <a:xfrm>
            <a:off x="11994071" y="-4463017"/>
            <a:ext cx="685800" cy="685800"/>
            <a:chOff x="0" y="0"/>
            <a:chExt cx="914400" cy="914400"/>
          </a:xfrm>
        </p:grpSpPr>
        <p:sp>
          <p:nvSpPr>
            <p:cNvPr id="121" name="Freeform 66">
              <a:extLst>
                <a:ext uri="{FF2B5EF4-FFF2-40B4-BE49-F238E27FC236}">
                  <a16:creationId xmlns:a16="http://schemas.microsoft.com/office/drawing/2014/main" id="{74CD8553-A85C-93DC-5EB7-9A970869CDA1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22" name="Group 67">
            <a:extLst>
              <a:ext uri="{FF2B5EF4-FFF2-40B4-BE49-F238E27FC236}">
                <a16:creationId xmlns:a16="http://schemas.microsoft.com/office/drawing/2014/main" id="{A3EC1B4D-E244-B913-F021-4BF8BB14FC0A}"/>
              </a:ext>
            </a:extLst>
          </p:cNvPr>
          <p:cNvGrpSpPr/>
          <p:nvPr/>
        </p:nvGrpSpPr>
        <p:grpSpPr>
          <a:xfrm>
            <a:off x="11994071" y="-4463017"/>
            <a:ext cx="685800" cy="685800"/>
            <a:chOff x="0" y="0"/>
            <a:chExt cx="914400" cy="914400"/>
          </a:xfrm>
        </p:grpSpPr>
        <p:sp>
          <p:nvSpPr>
            <p:cNvPr id="123" name="Freeform 68">
              <a:extLst>
                <a:ext uri="{FF2B5EF4-FFF2-40B4-BE49-F238E27FC236}">
                  <a16:creationId xmlns:a16="http://schemas.microsoft.com/office/drawing/2014/main" id="{D9374545-0261-5BB6-EAC8-ECD27ADA2A5A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24" name="TextBox 69">
              <a:extLst>
                <a:ext uri="{FF2B5EF4-FFF2-40B4-BE49-F238E27FC236}">
                  <a16:creationId xmlns:a16="http://schemas.microsoft.com/office/drawing/2014/main" id="{399D7AD4-5D68-913D-D0BA-B95A17DE30A2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</a:t>
              </a:r>
            </a:p>
          </p:txBody>
        </p:sp>
      </p:grpSp>
      <p:grpSp>
        <p:nvGrpSpPr>
          <p:cNvPr id="125" name="Group 70">
            <a:extLst>
              <a:ext uri="{FF2B5EF4-FFF2-40B4-BE49-F238E27FC236}">
                <a16:creationId xmlns:a16="http://schemas.microsoft.com/office/drawing/2014/main" id="{AD2DACEC-AC4D-55C4-F92F-361E8478EC74}"/>
              </a:ext>
            </a:extLst>
          </p:cNvPr>
          <p:cNvGrpSpPr/>
          <p:nvPr/>
        </p:nvGrpSpPr>
        <p:grpSpPr>
          <a:xfrm>
            <a:off x="12954191" y="-4463017"/>
            <a:ext cx="3470148" cy="685800"/>
            <a:chOff x="0" y="0"/>
            <a:chExt cx="4626864" cy="914400"/>
          </a:xfrm>
        </p:grpSpPr>
        <p:sp>
          <p:nvSpPr>
            <p:cNvPr id="126" name="Freeform 71">
              <a:extLst>
                <a:ext uri="{FF2B5EF4-FFF2-40B4-BE49-F238E27FC236}">
                  <a16:creationId xmlns:a16="http://schemas.microsoft.com/office/drawing/2014/main" id="{CA708794-8CC5-37E9-F68E-96A20C5BF5C1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27" name="TextBox 72">
              <a:extLst>
                <a:ext uri="{FF2B5EF4-FFF2-40B4-BE49-F238E27FC236}">
                  <a16:creationId xmlns:a16="http://schemas.microsoft.com/office/drawing/2014/main" id="{D9E87C32-30F6-130E-B57D-EA08FD71B580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 a stable job</a:t>
              </a:r>
            </a:p>
          </p:txBody>
        </p:sp>
      </p:grpSp>
      <p:sp>
        <p:nvSpPr>
          <p:cNvPr id="128" name="TextBox 73">
            <a:extLst>
              <a:ext uri="{FF2B5EF4-FFF2-40B4-BE49-F238E27FC236}">
                <a16:creationId xmlns:a16="http://schemas.microsoft.com/office/drawing/2014/main" id="{850ABC46-4AFC-E26C-557B-9668336EBF2E}"/>
              </a:ext>
            </a:extLst>
          </p:cNvPr>
          <p:cNvSpPr txBox="1"/>
          <p:nvPr/>
        </p:nvSpPr>
        <p:spPr>
          <a:xfrm>
            <a:off x="11994071" y="-3582145"/>
            <a:ext cx="4293108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Private roles filtered for stability, plus government exams you're actually eligible for.</a:t>
            </a:r>
          </a:p>
        </p:txBody>
      </p:sp>
      <p:grpSp>
        <p:nvGrpSpPr>
          <p:cNvPr id="129" name="Group 74">
            <a:extLst>
              <a:ext uri="{FF2B5EF4-FFF2-40B4-BE49-F238E27FC236}">
                <a16:creationId xmlns:a16="http://schemas.microsoft.com/office/drawing/2014/main" id="{FD53C78C-69FD-4E00-5316-059EF5AD75CF}"/>
              </a:ext>
            </a:extLst>
          </p:cNvPr>
          <p:cNvGrpSpPr/>
          <p:nvPr/>
        </p:nvGrpSpPr>
        <p:grpSpPr>
          <a:xfrm>
            <a:off x="16643795" y="-1006585"/>
            <a:ext cx="822960" cy="411480"/>
            <a:chOff x="0" y="0"/>
            <a:chExt cx="1097280" cy="548640"/>
          </a:xfrm>
        </p:grpSpPr>
        <p:sp>
          <p:nvSpPr>
            <p:cNvPr id="130" name="Freeform 75">
              <a:extLst>
                <a:ext uri="{FF2B5EF4-FFF2-40B4-BE49-F238E27FC236}">
                  <a16:creationId xmlns:a16="http://schemas.microsoft.com/office/drawing/2014/main" id="{03742FC8-DF8F-A25D-BA28-839405124C60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31" name="TextBox 76">
              <a:extLst>
                <a:ext uri="{FF2B5EF4-FFF2-40B4-BE49-F238E27FC236}">
                  <a16:creationId xmlns:a16="http://schemas.microsoft.com/office/drawing/2014/main" id="{663D8BC8-659B-8212-347C-2A611040B536}"/>
                </a:ext>
              </a:extLst>
            </p:cNvPr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06</a:t>
              </a:r>
            </a:p>
          </p:txBody>
        </p:sp>
      </p:grpSp>
      <p:grpSp>
        <p:nvGrpSpPr>
          <p:cNvPr id="132" name="Group 2">
            <a:extLst>
              <a:ext uri="{FF2B5EF4-FFF2-40B4-BE49-F238E27FC236}">
                <a16:creationId xmlns:a16="http://schemas.microsoft.com/office/drawing/2014/main" id="{B1F124E6-35BF-FEA6-8358-859238956B6C}"/>
              </a:ext>
            </a:extLst>
          </p:cNvPr>
          <p:cNvGrpSpPr/>
          <p:nvPr/>
        </p:nvGrpSpPr>
        <p:grpSpPr>
          <a:xfrm>
            <a:off x="664655" y="11373135"/>
            <a:ext cx="12344400" cy="480060"/>
            <a:chOff x="0" y="0"/>
            <a:chExt cx="16459200" cy="640080"/>
          </a:xfrm>
        </p:grpSpPr>
        <p:sp>
          <p:nvSpPr>
            <p:cNvPr id="133" name="Freeform 3">
              <a:extLst>
                <a:ext uri="{FF2B5EF4-FFF2-40B4-BE49-F238E27FC236}">
                  <a16:creationId xmlns:a16="http://schemas.microsoft.com/office/drawing/2014/main" id="{A727AC7E-0180-9CED-9067-B7534230940F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134" name="TextBox 4">
              <a:extLst>
                <a:ext uri="{FF2B5EF4-FFF2-40B4-BE49-F238E27FC236}">
                  <a16:creationId xmlns:a16="http://schemas.microsoft.com/office/drawing/2014/main" id="{A9923ED2-0E20-1327-2B79-FE401E4FD088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STEPS 2–4 · DEEP DIVE</a:t>
              </a:r>
            </a:p>
          </p:txBody>
        </p:sp>
      </p:grpSp>
      <p:grpSp>
        <p:nvGrpSpPr>
          <p:cNvPr id="135" name="Group 5">
            <a:extLst>
              <a:ext uri="{FF2B5EF4-FFF2-40B4-BE49-F238E27FC236}">
                <a16:creationId xmlns:a16="http://schemas.microsoft.com/office/drawing/2014/main" id="{08B0EB6D-02B6-1E27-113B-9D66C0FD182D}"/>
              </a:ext>
            </a:extLst>
          </p:cNvPr>
          <p:cNvGrpSpPr/>
          <p:nvPr/>
        </p:nvGrpSpPr>
        <p:grpSpPr>
          <a:xfrm>
            <a:off x="664655" y="11853195"/>
            <a:ext cx="16322040" cy="1234440"/>
            <a:chOff x="0" y="0"/>
            <a:chExt cx="21762720" cy="1645920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DA45A513-3488-72C9-F1DD-B45C835DC259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137" name="TextBox 7">
              <a:extLst>
                <a:ext uri="{FF2B5EF4-FFF2-40B4-BE49-F238E27FC236}">
                  <a16:creationId xmlns:a16="http://schemas.microsoft.com/office/drawing/2014/main" id="{1B2327EF-1500-B9AE-57F0-266A6D5B119C}"/>
                </a:ext>
              </a:extLst>
            </p:cNvPr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Build the CV, find the gap, learn the skill</a:t>
              </a:r>
            </a:p>
          </p:txBody>
        </p:sp>
      </p:grpSp>
      <p:grpSp>
        <p:nvGrpSpPr>
          <p:cNvPr id="138" name="Group 8">
            <a:extLst>
              <a:ext uri="{FF2B5EF4-FFF2-40B4-BE49-F238E27FC236}">
                <a16:creationId xmlns:a16="http://schemas.microsoft.com/office/drawing/2014/main" id="{62A2B343-27B2-71F5-8FE1-995BC71BB460}"/>
              </a:ext>
            </a:extLst>
          </p:cNvPr>
          <p:cNvGrpSpPr/>
          <p:nvPr/>
        </p:nvGrpSpPr>
        <p:grpSpPr>
          <a:xfrm>
            <a:off x="655130" y="13489590"/>
            <a:ext cx="5135118" cy="6054090"/>
            <a:chOff x="0" y="0"/>
            <a:chExt cx="6846824" cy="8072120"/>
          </a:xfrm>
        </p:grpSpPr>
        <p:sp>
          <p:nvSpPr>
            <p:cNvPr id="139" name="Freeform 9">
              <a:extLst>
                <a:ext uri="{FF2B5EF4-FFF2-40B4-BE49-F238E27FC236}">
                  <a16:creationId xmlns:a16="http://schemas.microsoft.com/office/drawing/2014/main" id="{7F9A3B4F-C0B9-3C1C-9DC8-17C74C719B38}"/>
                </a:ext>
              </a:extLst>
            </p:cNvPr>
            <p:cNvSpPr/>
            <p:nvPr/>
          </p:nvSpPr>
          <p:spPr>
            <a:xfrm>
              <a:off x="0" y="0"/>
              <a:ext cx="6846824" cy="8072120"/>
            </a:xfrm>
            <a:custGeom>
              <a:avLst/>
              <a:gdLst/>
              <a:ahLst/>
              <a:cxnLst/>
              <a:rect l="l" t="t" r="r" b="b"/>
              <a:pathLst>
                <a:path w="6846824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888605"/>
                  </a:lnTo>
                  <a:cubicBezTo>
                    <a:pt x="6846824" y="7989951"/>
                    <a:pt x="6764655" y="8072120"/>
                    <a:pt x="6663309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40" name="Group 10">
            <a:extLst>
              <a:ext uri="{FF2B5EF4-FFF2-40B4-BE49-F238E27FC236}">
                <a16:creationId xmlns:a16="http://schemas.microsoft.com/office/drawing/2014/main" id="{699D8C93-92A0-48EE-28D2-ABB8027E3EBA}"/>
              </a:ext>
            </a:extLst>
          </p:cNvPr>
          <p:cNvGrpSpPr/>
          <p:nvPr/>
        </p:nvGrpSpPr>
        <p:grpSpPr>
          <a:xfrm>
            <a:off x="1076135" y="13883163"/>
            <a:ext cx="685800" cy="685800"/>
            <a:chOff x="0" y="0"/>
            <a:chExt cx="914400" cy="914400"/>
          </a:xfrm>
        </p:grpSpPr>
        <p:sp>
          <p:nvSpPr>
            <p:cNvPr id="141" name="Freeform 11">
              <a:extLst>
                <a:ext uri="{FF2B5EF4-FFF2-40B4-BE49-F238E27FC236}">
                  <a16:creationId xmlns:a16="http://schemas.microsoft.com/office/drawing/2014/main" id="{C6D45E3B-E382-7078-64B9-32D200C299D4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42" name="Group 12">
            <a:extLst>
              <a:ext uri="{FF2B5EF4-FFF2-40B4-BE49-F238E27FC236}">
                <a16:creationId xmlns:a16="http://schemas.microsoft.com/office/drawing/2014/main" id="{98C8DA78-6C24-0391-C81D-21FDA21CF9C1}"/>
              </a:ext>
            </a:extLst>
          </p:cNvPr>
          <p:cNvGrpSpPr/>
          <p:nvPr/>
        </p:nvGrpSpPr>
        <p:grpSpPr>
          <a:xfrm>
            <a:off x="1076135" y="13883163"/>
            <a:ext cx="685800" cy="685800"/>
            <a:chOff x="0" y="0"/>
            <a:chExt cx="914400" cy="914400"/>
          </a:xfrm>
        </p:grpSpPr>
        <p:sp>
          <p:nvSpPr>
            <p:cNvPr id="143" name="Freeform 13">
              <a:extLst>
                <a:ext uri="{FF2B5EF4-FFF2-40B4-BE49-F238E27FC236}">
                  <a16:creationId xmlns:a16="http://schemas.microsoft.com/office/drawing/2014/main" id="{965B0BD4-7247-B657-473F-B94D522281BE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4" name="TextBox 14">
              <a:extLst>
                <a:ext uri="{FF2B5EF4-FFF2-40B4-BE49-F238E27FC236}">
                  <a16:creationId xmlns:a16="http://schemas.microsoft.com/office/drawing/2014/main" id="{811FF751-288F-346F-1DC6-4B0755FB9302}"/>
                </a:ext>
              </a:extLst>
            </p:cNvPr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id="145" name="Group 15">
            <a:extLst>
              <a:ext uri="{FF2B5EF4-FFF2-40B4-BE49-F238E27FC236}">
                <a16:creationId xmlns:a16="http://schemas.microsoft.com/office/drawing/2014/main" id="{35922E40-F491-DAAE-E3EB-EF5B8A7092FC}"/>
              </a:ext>
            </a:extLst>
          </p:cNvPr>
          <p:cNvGrpSpPr/>
          <p:nvPr/>
        </p:nvGrpSpPr>
        <p:grpSpPr>
          <a:xfrm>
            <a:off x="2036255" y="13883163"/>
            <a:ext cx="3470148" cy="685800"/>
            <a:chOff x="0" y="0"/>
            <a:chExt cx="4626864" cy="914400"/>
          </a:xfrm>
        </p:grpSpPr>
        <p:sp>
          <p:nvSpPr>
            <p:cNvPr id="146" name="Freeform 16">
              <a:extLst>
                <a:ext uri="{FF2B5EF4-FFF2-40B4-BE49-F238E27FC236}">
                  <a16:creationId xmlns:a16="http://schemas.microsoft.com/office/drawing/2014/main" id="{320AF2FC-E553-9B9E-CC1A-5B06D3B4EEE1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47" name="TextBox 17">
              <a:extLst>
                <a:ext uri="{FF2B5EF4-FFF2-40B4-BE49-F238E27FC236}">
                  <a16:creationId xmlns:a16="http://schemas.microsoft.com/office/drawing/2014/main" id="{9469ECA1-223A-507F-B9DD-2BA708CDF2F0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CV builder</a:t>
              </a:r>
            </a:p>
          </p:txBody>
        </p:sp>
      </p:grpSp>
      <p:sp>
        <p:nvSpPr>
          <p:cNvPr id="148" name="TextBox 18">
            <a:extLst>
              <a:ext uri="{FF2B5EF4-FFF2-40B4-BE49-F238E27FC236}">
                <a16:creationId xmlns:a16="http://schemas.microsoft.com/office/drawing/2014/main" id="{C2A2F2BD-71C6-F917-DF97-5DF96153DEA4}"/>
              </a:ext>
            </a:extLst>
          </p:cNvPr>
          <p:cNvSpPr txBox="1"/>
          <p:nvPr/>
        </p:nvSpPr>
        <p:spPr>
          <a:xfrm>
            <a:off x="1076135" y="14813565"/>
            <a:ext cx="4293108" cy="197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Turns the verified profile into a clean, professional CV, formatted for private roles or government applications.</a:t>
            </a:r>
          </a:p>
        </p:txBody>
      </p:sp>
      <p:grpSp>
        <p:nvGrpSpPr>
          <p:cNvPr id="149" name="Group 19">
            <a:extLst>
              <a:ext uri="{FF2B5EF4-FFF2-40B4-BE49-F238E27FC236}">
                <a16:creationId xmlns:a16="http://schemas.microsoft.com/office/drawing/2014/main" id="{F3700260-2BF9-E7A7-2E30-DC0A16217BC7}"/>
              </a:ext>
            </a:extLst>
          </p:cNvPr>
          <p:cNvGrpSpPr/>
          <p:nvPr/>
        </p:nvGrpSpPr>
        <p:grpSpPr>
          <a:xfrm>
            <a:off x="1066610" y="16987170"/>
            <a:ext cx="4312158" cy="2213610"/>
            <a:chOff x="0" y="0"/>
            <a:chExt cx="5749544" cy="2951480"/>
          </a:xfrm>
        </p:grpSpPr>
        <p:sp>
          <p:nvSpPr>
            <p:cNvPr id="150" name="Freeform 20">
              <a:extLst>
                <a:ext uri="{FF2B5EF4-FFF2-40B4-BE49-F238E27FC236}">
                  <a16:creationId xmlns:a16="http://schemas.microsoft.com/office/drawing/2014/main" id="{746ADCDF-037B-0B1F-E139-27ABF575C334}"/>
                </a:ext>
              </a:extLst>
            </p:cNvPr>
            <p:cNvSpPr/>
            <p:nvPr/>
          </p:nvSpPr>
          <p:spPr>
            <a:xfrm>
              <a:off x="0" y="0"/>
              <a:ext cx="5749417" cy="2951480"/>
            </a:xfrm>
            <a:custGeom>
              <a:avLst/>
              <a:gdLst/>
              <a:ahLst/>
              <a:cxnLst/>
              <a:rect l="l" t="t" r="r" b="b"/>
              <a:pathLst>
                <a:path w="5749417" h="295148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565013" y="0"/>
                  </a:lnTo>
                  <a:cubicBezTo>
                    <a:pt x="5666867" y="0"/>
                    <a:pt x="5749417" y="82550"/>
                    <a:pt x="5749417" y="184404"/>
                  </a:cubicBezTo>
                  <a:lnTo>
                    <a:pt x="5749417" y="2767076"/>
                  </a:lnTo>
                  <a:cubicBezTo>
                    <a:pt x="5749417" y="2868930"/>
                    <a:pt x="5666867" y="2951480"/>
                    <a:pt x="5565013" y="2951480"/>
                  </a:cubicBezTo>
                  <a:lnTo>
                    <a:pt x="184404" y="2951480"/>
                  </a:lnTo>
                  <a:cubicBezTo>
                    <a:pt x="82550" y="2951480"/>
                    <a:pt x="0" y="2868930"/>
                    <a:pt x="0" y="276707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51" name="Group 21">
            <a:extLst>
              <a:ext uri="{FF2B5EF4-FFF2-40B4-BE49-F238E27FC236}">
                <a16:creationId xmlns:a16="http://schemas.microsoft.com/office/drawing/2014/main" id="{76FBD4BF-C43E-86FB-9D17-E9CA3B6C4E42}"/>
              </a:ext>
            </a:extLst>
          </p:cNvPr>
          <p:cNvGrpSpPr/>
          <p:nvPr/>
        </p:nvGrpSpPr>
        <p:grpSpPr>
          <a:xfrm>
            <a:off x="1350455" y="17202435"/>
            <a:ext cx="3744468" cy="548640"/>
            <a:chOff x="0" y="0"/>
            <a:chExt cx="4992624" cy="731520"/>
          </a:xfrm>
        </p:grpSpPr>
        <p:sp>
          <p:nvSpPr>
            <p:cNvPr id="152" name="Freeform 22">
              <a:extLst>
                <a:ext uri="{FF2B5EF4-FFF2-40B4-BE49-F238E27FC236}">
                  <a16:creationId xmlns:a16="http://schemas.microsoft.com/office/drawing/2014/main" id="{C88AEA04-DAD6-B07B-F198-B994F81F65B8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153" name="TextBox 23">
              <a:extLst>
                <a:ext uri="{FF2B5EF4-FFF2-40B4-BE49-F238E27FC236}">
                  <a16:creationId xmlns:a16="http://schemas.microsoft.com/office/drawing/2014/main" id="{C81BE58C-95F2-B6D1-6EDA-6300047F3A7F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PRATIK · Two-wheeler technician</a:t>
              </a:r>
            </a:p>
          </p:txBody>
        </p:sp>
      </p:grpSp>
      <p:grpSp>
        <p:nvGrpSpPr>
          <p:cNvPr id="154" name="Group 24">
            <a:extLst>
              <a:ext uri="{FF2B5EF4-FFF2-40B4-BE49-F238E27FC236}">
                <a16:creationId xmlns:a16="http://schemas.microsoft.com/office/drawing/2014/main" id="{411421A1-DD62-0399-0F86-0EE4DE1D3243}"/>
              </a:ext>
            </a:extLst>
          </p:cNvPr>
          <p:cNvGrpSpPr/>
          <p:nvPr/>
        </p:nvGrpSpPr>
        <p:grpSpPr>
          <a:xfrm>
            <a:off x="1350455" y="17833371"/>
            <a:ext cx="3744468" cy="548640"/>
            <a:chOff x="0" y="0"/>
            <a:chExt cx="4992624" cy="731520"/>
          </a:xfrm>
        </p:grpSpPr>
        <p:sp>
          <p:nvSpPr>
            <p:cNvPr id="155" name="Freeform 25">
              <a:extLst>
                <a:ext uri="{FF2B5EF4-FFF2-40B4-BE49-F238E27FC236}">
                  <a16:creationId xmlns:a16="http://schemas.microsoft.com/office/drawing/2014/main" id="{66BB42FC-914C-241F-EA9F-6488C5F7BBD3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156" name="TextBox 26">
              <a:extLst>
                <a:ext uri="{FF2B5EF4-FFF2-40B4-BE49-F238E27FC236}">
                  <a16:creationId xmlns:a16="http://schemas.microsoft.com/office/drawing/2014/main" id="{AC34B633-59A9-E7C6-3B64-5EE3409C206B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8 yrs hands-on · clutch, brake, electricals</a:t>
              </a:r>
            </a:p>
          </p:txBody>
        </p:sp>
      </p:grpSp>
      <p:grpSp>
        <p:nvGrpSpPr>
          <p:cNvPr id="157" name="Group 27">
            <a:extLst>
              <a:ext uri="{FF2B5EF4-FFF2-40B4-BE49-F238E27FC236}">
                <a16:creationId xmlns:a16="http://schemas.microsoft.com/office/drawing/2014/main" id="{F374FEA7-ED06-E36A-A5D5-1ACF88FF1FA1}"/>
              </a:ext>
            </a:extLst>
          </p:cNvPr>
          <p:cNvGrpSpPr/>
          <p:nvPr/>
        </p:nvGrpSpPr>
        <p:grpSpPr>
          <a:xfrm>
            <a:off x="1350455" y="18464307"/>
            <a:ext cx="3744468" cy="548640"/>
            <a:chOff x="0" y="0"/>
            <a:chExt cx="4992624" cy="731520"/>
          </a:xfrm>
        </p:grpSpPr>
        <p:sp>
          <p:nvSpPr>
            <p:cNvPr id="158" name="Freeform 28">
              <a:extLst>
                <a:ext uri="{FF2B5EF4-FFF2-40B4-BE49-F238E27FC236}">
                  <a16:creationId xmlns:a16="http://schemas.microsoft.com/office/drawing/2014/main" id="{5353AD07-6CBF-7EF9-8E1D-535CF8346D45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159" name="TextBox 29">
              <a:extLst>
                <a:ext uri="{FF2B5EF4-FFF2-40B4-BE49-F238E27FC236}">
                  <a16:creationId xmlns:a16="http://schemas.microsoft.com/office/drawing/2014/main" id="{AD8D69FC-E743-870C-B79B-DADAD09EF2EE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Trust score 87 · verified</a:t>
              </a:r>
            </a:p>
          </p:txBody>
        </p:sp>
      </p:grpSp>
      <p:grpSp>
        <p:nvGrpSpPr>
          <p:cNvPr id="160" name="Group 30">
            <a:extLst>
              <a:ext uri="{FF2B5EF4-FFF2-40B4-BE49-F238E27FC236}">
                <a16:creationId xmlns:a16="http://schemas.microsoft.com/office/drawing/2014/main" id="{2CE74A96-1670-6414-D9E4-E591971A2843}"/>
              </a:ext>
            </a:extLst>
          </p:cNvPr>
          <p:cNvGrpSpPr/>
          <p:nvPr/>
        </p:nvGrpSpPr>
        <p:grpSpPr>
          <a:xfrm>
            <a:off x="6251258" y="13489590"/>
            <a:ext cx="5135118" cy="6054090"/>
            <a:chOff x="0" y="0"/>
            <a:chExt cx="6846824" cy="8072120"/>
          </a:xfrm>
        </p:grpSpPr>
        <p:sp>
          <p:nvSpPr>
            <p:cNvPr id="161" name="Freeform 31">
              <a:extLst>
                <a:ext uri="{FF2B5EF4-FFF2-40B4-BE49-F238E27FC236}">
                  <a16:creationId xmlns:a16="http://schemas.microsoft.com/office/drawing/2014/main" id="{3B01636B-A7E0-628A-D73F-8B6180B18C41}"/>
                </a:ext>
              </a:extLst>
            </p:cNvPr>
            <p:cNvSpPr/>
            <p:nvPr/>
          </p:nvSpPr>
          <p:spPr>
            <a:xfrm>
              <a:off x="0" y="0"/>
              <a:ext cx="6846824" cy="8072120"/>
            </a:xfrm>
            <a:custGeom>
              <a:avLst/>
              <a:gdLst/>
              <a:ahLst/>
              <a:cxnLst/>
              <a:rect l="l" t="t" r="r" b="b"/>
              <a:pathLst>
                <a:path w="6846824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888605"/>
                  </a:lnTo>
                  <a:cubicBezTo>
                    <a:pt x="6846824" y="7989951"/>
                    <a:pt x="6764655" y="8072120"/>
                    <a:pt x="6663309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62" name="Group 32">
            <a:extLst>
              <a:ext uri="{FF2B5EF4-FFF2-40B4-BE49-F238E27FC236}">
                <a16:creationId xmlns:a16="http://schemas.microsoft.com/office/drawing/2014/main" id="{4298F134-EAB9-7CED-9CAA-9C8907667C8E}"/>
              </a:ext>
            </a:extLst>
          </p:cNvPr>
          <p:cNvGrpSpPr/>
          <p:nvPr/>
        </p:nvGrpSpPr>
        <p:grpSpPr>
          <a:xfrm>
            <a:off x="6672263" y="13883163"/>
            <a:ext cx="685800" cy="685800"/>
            <a:chOff x="0" y="0"/>
            <a:chExt cx="914400" cy="914400"/>
          </a:xfrm>
        </p:grpSpPr>
        <p:sp>
          <p:nvSpPr>
            <p:cNvPr id="163" name="Freeform 33">
              <a:extLst>
                <a:ext uri="{FF2B5EF4-FFF2-40B4-BE49-F238E27FC236}">
                  <a16:creationId xmlns:a16="http://schemas.microsoft.com/office/drawing/2014/main" id="{C35E730B-2E7B-DC9A-100B-A7FED0019220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64" name="Group 34">
            <a:extLst>
              <a:ext uri="{FF2B5EF4-FFF2-40B4-BE49-F238E27FC236}">
                <a16:creationId xmlns:a16="http://schemas.microsoft.com/office/drawing/2014/main" id="{1695C228-8532-F565-1B01-1241E12D1EF0}"/>
              </a:ext>
            </a:extLst>
          </p:cNvPr>
          <p:cNvGrpSpPr/>
          <p:nvPr/>
        </p:nvGrpSpPr>
        <p:grpSpPr>
          <a:xfrm>
            <a:off x="6672263" y="13883163"/>
            <a:ext cx="685800" cy="685800"/>
            <a:chOff x="0" y="0"/>
            <a:chExt cx="914400" cy="914400"/>
          </a:xfrm>
        </p:grpSpPr>
        <p:sp>
          <p:nvSpPr>
            <p:cNvPr id="165" name="Freeform 35">
              <a:extLst>
                <a:ext uri="{FF2B5EF4-FFF2-40B4-BE49-F238E27FC236}">
                  <a16:creationId xmlns:a16="http://schemas.microsoft.com/office/drawing/2014/main" id="{2E08D0D7-9E59-7C64-FD43-3313ACE4BAF9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66" name="TextBox 36">
              <a:extLst>
                <a:ext uri="{FF2B5EF4-FFF2-40B4-BE49-F238E27FC236}">
                  <a16:creationId xmlns:a16="http://schemas.microsoft.com/office/drawing/2014/main" id="{6DAD8303-1940-B786-AF13-6B518BDFA7DA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167" name="Group 37">
            <a:extLst>
              <a:ext uri="{FF2B5EF4-FFF2-40B4-BE49-F238E27FC236}">
                <a16:creationId xmlns:a16="http://schemas.microsoft.com/office/drawing/2014/main" id="{402B0905-206E-C609-DB47-D5F0EA65DE5B}"/>
              </a:ext>
            </a:extLst>
          </p:cNvPr>
          <p:cNvGrpSpPr/>
          <p:nvPr/>
        </p:nvGrpSpPr>
        <p:grpSpPr>
          <a:xfrm>
            <a:off x="7632383" y="13883163"/>
            <a:ext cx="3470148" cy="685800"/>
            <a:chOff x="0" y="0"/>
            <a:chExt cx="4626864" cy="914400"/>
          </a:xfrm>
        </p:grpSpPr>
        <p:sp>
          <p:nvSpPr>
            <p:cNvPr id="168" name="Freeform 38">
              <a:extLst>
                <a:ext uri="{FF2B5EF4-FFF2-40B4-BE49-F238E27FC236}">
                  <a16:creationId xmlns:a16="http://schemas.microsoft.com/office/drawing/2014/main" id="{F51C0F33-3288-7430-4BE7-C04E56B6D133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69" name="TextBox 39">
              <a:extLst>
                <a:ext uri="{FF2B5EF4-FFF2-40B4-BE49-F238E27FC236}">
                  <a16:creationId xmlns:a16="http://schemas.microsoft.com/office/drawing/2014/main" id="{0BDB6C11-01DA-3F35-5E7C-D70F31D51035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Gap finder</a:t>
              </a:r>
            </a:p>
          </p:txBody>
        </p:sp>
      </p:grpSp>
      <p:sp>
        <p:nvSpPr>
          <p:cNvPr id="170" name="TextBox 40">
            <a:extLst>
              <a:ext uri="{FF2B5EF4-FFF2-40B4-BE49-F238E27FC236}">
                <a16:creationId xmlns:a16="http://schemas.microsoft.com/office/drawing/2014/main" id="{4C0167E8-48B4-41ED-E5FF-C2A62CD7B924}"/>
              </a:ext>
            </a:extLst>
          </p:cNvPr>
          <p:cNvSpPr txBox="1"/>
          <p:nvPr/>
        </p:nvSpPr>
        <p:spPr>
          <a:xfrm>
            <a:off x="6672263" y="14813565"/>
            <a:ext cx="4293108" cy="197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Compares the verified profile with the target role and lists what's missing, ranked by impact.</a:t>
            </a:r>
          </a:p>
        </p:txBody>
      </p:sp>
      <p:grpSp>
        <p:nvGrpSpPr>
          <p:cNvPr id="171" name="Group 41">
            <a:extLst>
              <a:ext uri="{FF2B5EF4-FFF2-40B4-BE49-F238E27FC236}">
                <a16:creationId xmlns:a16="http://schemas.microsoft.com/office/drawing/2014/main" id="{D267ED9F-AB4A-4056-F63A-E855FD9D0AC7}"/>
              </a:ext>
            </a:extLst>
          </p:cNvPr>
          <p:cNvGrpSpPr/>
          <p:nvPr/>
        </p:nvGrpSpPr>
        <p:grpSpPr>
          <a:xfrm>
            <a:off x="6662738" y="16987170"/>
            <a:ext cx="4312158" cy="2213610"/>
            <a:chOff x="0" y="0"/>
            <a:chExt cx="5749544" cy="2951480"/>
          </a:xfrm>
        </p:grpSpPr>
        <p:sp>
          <p:nvSpPr>
            <p:cNvPr id="172" name="Freeform 42">
              <a:extLst>
                <a:ext uri="{FF2B5EF4-FFF2-40B4-BE49-F238E27FC236}">
                  <a16:creationId xmlns:a16="http://schemas.microsoft.com/office/drawing/2014/main" id="{CFAC3B37-4809-12BA-D22F-0014AA56FAC0}"/>
                </a:ext>
              </a:extLst>
            </p:cNvPr>
            <p:cNvSpPr/>
            <p:nvPr/>
          </p:nvSpPr>
          <p:spPr>
            <a:xfrm>
              <a:off x="0" y="0"/>
              <a:ext cx="5749417" cy="2951480"/>
            </a:xfrm>
            <a:custGeom>
              <a:avLst/>
              <a:gdLst/>
              <a:ahLst/>
              <a:cxnLst/>
              <a:rect l="l" t="t" r="r" b="b"/>
              <a:pathLst>
                <a:path w="5749417" h="295148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565013" y="0"/>
                  </a:lnTo>
                  <a:cubicBezTo>
                    <a:pt x="5666867" y="0"/>
                    <a:pt x="5749417" y="82550"/>
                    <a:pt x="5749417" y="184404"/>
                  </a:cubicBezTo>
                  <a:lnTo>
                    <a:pt x="5749417" y="2767076"/>
                  </a:lnTo>
                  <a:cubicBezTo>
                    <a:pt x="5749417" y="2868930"/>
                    <a:pt x="5666867" y="2951480"/>
                    <a:pt x="5565013" y="2951480"/>
                  </a:cubicBezTo>
                  <a:lnTo>
                    <a:pt x="184404" y="2951480"/>
                  </a:lnTo>
                  <a:cubicBezTo>
                    <a:pt x="82550" y="2951480"/>
                    <a:pt x="0" y="2868930"/>
                    <a:pt x="0" y="276707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73" name="Group 43">
            <a:extLst>
              <a:ext uri="{FF2B5EF4-FFF2-40B4-BE49-F238E27FC236}">
                <a16:creationId xmlns:a16="http://schemas.microsoft.com/office/drawing/2014/main" id="{BE95349C-5AB7-A0F2-6D91-FB36B2EB59CA}"/>
              </a:ext>
            </a:extLst>
          </p:cNvPr>
          <p:cNvGrpSpPr/>
          <p:nvPr/>
        </p:nvGrpSpPr>
        <p:grpSpPr>
          <a:xfrm>
            <a:off x="6946583" y="17202435"/>
            <a:ext cx="3744468" cy="548640"/>
            <a:chOff x="0" y="0"/>
            <a:chExt cx="4992624" cy="731520"/>
          </a:xfrm>
        </p:grpSpPr>
        <p:sp>
          <p:nvSpPr>
            <p:cNvPr id="174" name="Freeform 44">
              <a:extLst>
                <a:ext uri="{FF2B5EF4-FFF2-40B4-BE49-F238E27FC236}">
                  <a16:creationId xmlns:a16="http://schemas.microsoft.com/office/drawing/2014/main" id="{247A7F9F-0A10-6902-CB21-6B433C903434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175" name="TextBox 45">
              <a:extLst>
                <a:ext uri="{FF2B5EF4-FFF2-40B4-BE49-F238E27FC236}">
                  <a16:creationId xmlns:a16="http://schemas.microsoft.com/office/drawing/2014/main" id="{81B7FA5E-C752-F9AB-F2B1-C8A332372326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Target role: EV-scooter technician</a:t>
              </a:r>
            </a:p>
          </p:txBody>
        </p:sp>
      </p:grpSp>
      <p:grpSp>
        <p:nvGrpSpPr>
          <p:cNvPr id="176" name="Group 46">
            <a:extLst>
              <a:ext uri="{FF2B5EF4-FFF2-40B4-BE49-F238E27FC236}">
                <a16:creationId xmlns:a16="http://schemas.microsoft.com/office/drawing/2014/main" id="{50035FE9-6BB6-E732-4364-4F65E7DD5F52}"/>
              </a:ext>
            </a:extLst>
          </p:cNvPr>
          <p:cNvGrpSpPr/>
          <p:nvPr/>
        </p:nvGrpSpPr>
        <p:grpSpPr>
          <a:xfrm>
            <a:off x="6946583" y="17833371"/>
            <a:ext cx="3744468" cy="548640"/>
            <a:chOff x="0" y="0"/>
            <a:chExt cx="4992624" cy="731520"/>
          </a:xfrm>
        </p:grpSpPr>
        <p:sp>
          <p:nvSpPr>
            <p:cNvPr id="177" name="Freeform 47">
              <a:extLst>
                <a:ext uri="{FF2B5EF4-FFF2-40B4-BE49-F238E27FC236}">
                  <a16:creationId xmlns:a16="http://schemas.microsoft.com/office/drawing/2014/main" id="{4CAE8D2B-0A4C-99FB-39C0-C43832CB7E29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178" name="TextBox 48">
              <a:extLst>
                <a:ext uri="{FF2B5EF4-FFF2-40B4-BE49-F238E27FC236}">
                  <a16:creationId xmlns:a16="http://schemas.microsoft.com/office/drawing/2014/main" id="{284A46EF-DD44-FFB8-A2B3-99F0A2C92D19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Missing: EV battery basics (high impact)</a:t>
              </a:r>
            </a:p>
          </p:txBody>
        </p:sp>
      </p:grpSp>
      <p:grpSp>
        <p:nvGrpSpPr>
          <p:cNvPr id="179" name="Group 49">
            <a:extLst>
              <a:ext uri="{FF2B5EF4-FFF2-40B4-BE49-F238E27FC236}">
                <a16:creationId xmlns:a16="http://schemas.microsoft.com/office/drawing/2014/main" id="{E23A3477-3CDC-9092-C433-1ADA07812373}"/>
              </a:ext>
            </a:extLst>
          </p:cNvPr>
          <p:cNvGrpSpPr/>
          <p:nvPr/>
        </p:nvGrpSpPr>
        <p:grpSpPr>
          <a:xfrm>
            <a:off x="6946583" y="18464307"/>
            <a:ext cx="3744468" cy="548640"/>
            <a:chOff x="0" y="0"/>
            <a:chExt cx="4992624" cy="731520"/>
          </a:xfrm>
        </p:grpSpPr>
        <p:sp>
          <p:nvSpPr>
            <p:cNvPr id="180" name="Freeform 50">
              <a:extLst>
                <a:ext uri="{FF2B5EF4-FFF2-40B4-BE49-F238E27FC236}">
                  <a16:creationId xmlns:a16="http://schemas.microsoft.com/office/drawing/2014/main" id="{AA4CBED4-EC35-104F-B80A-AC31CE358F17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181" name="TextBox 51">
              <a:extLst>
                <a:ext uri="{FF2B5EF4-FFF2-40B4-BE49-F238E27FC236}">
                  <a16:creationId xmlns:a16="http://schemas.microsoft.com/office/drawing/2014/main" id="{D1E33CAA-BA17-9DD7-770C-3919CDB151B7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Missing: diagnostic tools (medium)</a:t>
              </a:r>
            </a:p>
          </p:txBody>
        </p:sp>
      </p:grpSp>
      <p:grpSp>
        <p:nvGrpSpPr>
          <p:cNvPr id="182" name="Group 52">
            <a:extLst>
              <a:ext uri="{FF2B5EF4-FFF2-40B4-BE49-F238E27FC236}">
                <a16:creationId xmlns:a16="http://schemas.microsoft.com/office/drawing/2014/main" id="{59D2CB18-4A37-926C-5604-12C1D30748FE}"/>
              </a:ext>
            </a:extLst>
          </p:cNvPr>
          <p:cNvGrpSpPr/>
          <p:nvPr/>
        </p:nvGrpSpPr>
        <p:grpSpPr>
          <a:xfrm>
            <a:off x="11847386" y="13489590"/>
            <a:ext cx="5135118" cy="6054090"/>
            <a:chOff x="0" y="0"/>
            <a:chExt cx="6846824" cy="8072120"/>
          </a:xfrm>
        </p:grpSpPr>
        <p:sp>
          <p:nvSpPr>
            <p:cNvPr id="183" name="Freeform 53">
              <a:extLst>
                <a:ext uri="{FF2B5EF4-FFF2-40B4-BE49-F238E27FC236}">
                  <a16:creationId xmlns:a16="http://schemas.microsoft.com/office/drawing/2014/main" id="{EF8A32FB-E5F1-77C1-4E7A-3C3CFE7C2BF9}"/>
                </a:ext>
              </a:extLst>
            </p:cNvPr>
            <p:cNvSpPr/>
            <p:nvPr/>
          </p:nvSpPr>
          <p:spPr>
            <a:xfrm>
              <a:off x="0" y="0"/>
              <a:ext cx="6846824" cy="8072120"/>
            </a:xfrm>
            <a:custGeom>
              <a:avLst/>
              <a:gdLst/>
              <a:ahLst/>
              <a:cxnLst/>
              <a:rect l="l" t="t" r="r" b="b"/>
              <a:pathLst>
                <a:path w="6846824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888605"/>
                  </a:lnTo>
                  <a:cubicBezTo>
                    <a:pt x="6846824" y="7989951"/>
                    <a:pt x="6764655" y="8072120"/>
                    <a:pt x="6663309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84" name="Group 54">
            <a:extLst>
              <a:ext uri="{FF2B5EF4-FFF2-40B4-BE49-F238E27FC236}">
                <a16:creationId xmlns:a16="http://schemas.microsoft.com/office/drawing/2014/main" id="{D04A25D0-51DB-1D17-93EC-75A77FAFCDC0}"/>
              </a:ext>
            </a:extLst>
          </p:cNvPr>
          <p:cNvGrpSpPr/>
          <p:nvPr/>
        </p:nvGrpSpPr>
        <p:grpSpPr>
          <a:xfrm>
            <a:off x="12268391" y="13883163"/>
            <a:ext cx="685800" cy="685800"/>
            <a:chOff x="0" y="0"/>
            <a:chExt cx="914400" cy="914400"/>
          </a:xfrm>
        </p:grpSpPr>
        <p:sp>
          <p:nvSpPr>
            <p:cNvPr id="185" name="Freeform 55">
              <a:extLst>
                <a:ext uri="{FF2B5EF4-FFF2-40B4-BE49-F238E27FC236}">
                  <a16:creationId xmlns:a16="http://schemas.microsoft.com/office/drawing/2014/main" id="{DD850168-33AD-98D7-BB8C-154E6EF54957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86" name="Group 56">
            <a:extLst>
              <a:ext uri="{FF2B5EF4-FFF2-40B4-BE49-F238E27FC236}">
                <a16:creationId xmlns:a16="http://schemas.microsoft.com/office/drawing/2014/main" id="{3E771B6D-3459-3E54-551F-0922B24FAFFF}"/>
              </a:ext>
            </a:extLst>
          </p:cNvPr>
          <p:cNvGrpSpPr/>
          <p:nvPr/>
        </p:nvGrpSpPr>
        <p:grpSpPr>
          <a:xfrm>
            <a:off x="12268391" y="13883163"/>
            <a:ext cx="685800" cy="685800"/>
            <a:chOff x="0" y="0"/>
            <a:chExt cx="914400" cy="914400"/>
          </a:xfrm>
        </p:grpSpPr>
        <p:sp>
          <p:nvSpPr>
            <p:cNvPr id="187" name="Freeform 57">
              <a:extLst>
                <a:ext uri="{FF2B5EF4-FFF2-40B4-BE49-F238E27FC236}">
                  <a16:creationId xmlns:a16="http://schemas.microsoft.com/office/drawing/2014/main" id="{56B3F067-96EE-37A7-3912-0D0B54F3015B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88" name="TextBox 58">
              <a:extLst>
                <a:ext uri="{FF2B5EF4-FFF2-40B4-BE49-F238E27FC236}">
                  <a16:creationId xmlns:a16="http://schemas.microsoft.com/office/drawing/2014/main" id="{5162D85A-0F66-D1E1-9752-E7ABF5B05234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189" name="Group 59">
            <a:extLst>
              <a:ext uri="{FF2B5EF4-FFF2-40B4-BE49-F238E27FC236}">
                <a16:creationId xmlns:a16="http://schemas.microsoft.com/office/drawing/2014/main" id="{5C98FF68-8968-B036-9502-BE8A64455C39}"/>
              </a:ext>
            </a:extLst>
          </p:cNvPr>
          <p:cNvGrpSpPr/>
          <p:nvPr/>
        </p:nvGrpSpPr>
        <p:grpSpPr>
          <a:xfrm>
            <a:off x="13228511" y="13883163"/>
            <a:ext cx="3470148" cy="685800"/>
            <a:chOff x="0" y="0"/>
            <a:chExt cx="4626864" cy="914400"/>
          </a:xfrm>
        </p:grpSpPr>
        <p:sp>
          <p:nvSpPr>
            <p:cNvPr id="190" name="Freeform 60">
              <a:extLst>
                <a:ext uri="{FF2B5EF4-FFF2-40B4-BE49-F238E27FC236}">
                  <a16:creationId xmlns:a16="http://schemas.microsoft.com/office/drawing/2014/main" id="{38BBDFFB-8BE7-D452-C688-F2FC94C407C6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91" name="TextBox 61">
              <a:extLst>
                <a:ext uri="{FF2B5EF4-FFF2-40B4-BE49-F238E27FC236}">
                  <a16:creationId xmlns:a16="http://schemas.microsoft.com/office/drawing/2014/main" id="{4E0EAC9F-84EA-1717-F6E9-BB6CF20AA93A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Learn</a:t>
              </a:r>
            </a:p>
          </p:txBody>
        </p:sp>
      </p:grpSp>
      <p:sp>
        <p:nvSpPr>
          <p:cNvPr id="192" name="TextBox 62">
            <a:extLst>
              <a:ext uri="{FF2B5EF4-FFF2-40B4-BE49-F238E27FC236}">
                <a16:creationId xmlns:a16="http://schemas.microsoft.com/office/drawing/2014/main" id="{8252895D-E7E7-0E42-694F-86D05F2D57B8}"/>
              </a:ext>
            </a:extLst>
          </p:cNvPr>
          <p:cNvSpPr txBox="1"/>
          <p:nvPr/>
        </p:nvSpPr>
        <p:spPr>
          <a:xfrm>
            <a:off x="12268391" y="14813565"/>
            <a:ext cx="4293108" cy="197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Short, curated lessons aimed at exactly those gaps, sequenced around the time you have.</a:t>
            </a:r>
          </a:p>
        </p:txBody>
      </p:sp>
      <p:grpSp>
        <p:nvGrpSpPr>
          <p:cNvPr id="193" name="Group 63">
            <a:extLst>
              <a:ext uri="{FF2B5EF4-FFF2-40B4-BE49-F238E27FC236}">
                <a16:creationId xmlns:a16="http://schemas.microsoft.com/office/drawing/2014/main" id="{C92DE7DB-ECDE-E96D-05A5-B6E56E230AB0}"/>
              </a:ext>
            </a:extLst>
          </p:cNvPr>
          <p:cNvGrpSpPr/>
          <p:nvPr/>
        </p:nvGrpSpPr>
        <p:grpSpPr>
          <a:xfrm>
            <a:off x="12258866" y="16987170"/>
            <a:ext cx="4312158" cy="2213610"/>
            <a:chOff x="0" y="0"/>
            <a:chExt cx="5749544" cy="2951480"/>
          </a:xfrm>
        </p:grpSpPr>
        <p:sp>
          <p:nvSpPr>
            <p:cNvPr id="194" name="Freeform 64">
              <a:extLst>
                <a:ext uri="{FF2B5EF4-FFF2-40B4-BE49-F238E27FC236}">
                  <a16:creationId xmlns:a16="http://schemas.microsoft.com/office/drawing/2014/main" id="{DAC860C3-7A47-4CEC-1A5F-77E997381062}"/>
                </a:ext>
              </a:extLst>
            </p:cNvPr>
            <p:cNvSpPr/>
            <p:nvPr/>
          </p:nvSpPr>
          <p:spPr>
            <a:xfrm>
              <a:off x="0" y="0"/>
              <a:ext cx="5749417" cy="2951480"/>
            </a:xfrm>
            <a:custGeom>
              <a:avLst/>
              <a:gdLst/>
              <a:ahLst/>
              <a:cxnLst/>
              <a:rect l="l" t="t" r="r" b="b"/>
              <a:pathLst>
                <a:path w="5749417" h="295148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565013" y="0"/>
                  </a:lnTo>
                  <a:cubicBezTo>
                    <a:pt x="5666867" y="0"/>
                    <a:pt x="5749417" y="82550"/>
                    <a:pt x="5749417" y="184404"/>
                  </a:cubicBezTo>
                  <a:lnTo>
                    <a:pt x="5749417" y="2767076"/>
                  </a:lnTo>
                  <a:cubicBezTo>
                    <a:pt x="5749417" y="2868930"/>
                    <a:pt x="5666867" y="2951480"/>
                    <a:pt x="5565013" y="2951480"/>
                  </a:cubicBezTo>
                  <a:lnTo>
                    <a:pt x="184404" y="2951480"/>
                  </a:lnTo>
                  <a:cubicBezTo>
                    <a:pt x="82550" y="2951480"/>
                    <a:pt x="0" y="2868930"/>
                    <a:pt x="0" y="276707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95" name="Group 65">
            <a:extLst>
              <a:ext uri="{FF2B5EF4-FFF2-40B4-BE49-F238E27FC236}">
                <a16:creationId xmlns:a16="http://schemas.microsoft.com/office/drawing/2014/main" id="{1D347E16-1E59-9EBE-E9B9-ACE5F2318ECA}"/>
              </a:ext>
            </a:extLst>
          </p:cNvPr>
          <p:cNvGrpSpPr/>
          <p:nvPr/>
        </p:nvGrpSpPr>
        <p:grpSpPr>
          <a:xfrm>
            <a:off x="12542711" y="17202435"/>
            <a:ext cx="3744468" cy="548640"/>
            <a:chOff x="0" y="0"/>
            <a:chExt cx="4992624" cy="731520"/>
          </a:xfrm>
        </p:grpSpPr>
        <p:sp>
          <p:nvSpPr>
            <p:cNvPr id="196" name="Freeform 66">
              <a:extLst>
                <a:ext uri="{FF2B5EF4-FFF2-40B4-BE49-F238E27FC236}">
                  <a16:creationId xmlns:a16="http://schemas.microsoft.com/office/drawing/2014/main" id="{7DB9A4C0-758D-17C8-7262-BA890E60247F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197" name="TextBox 67">
              <a:extLst>
                <a:ext uri="{FF2B5EF4-FFF2-40B4-BE49-F238E27FC236}">
                  <a16:creationId xmlns:a16="http://schemas.microsoft.com/office/drawing/2014/main" id="{80E0E92E-375D-A592-BF89-C8C7F31EDBD7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Next: EV battery basics</a:t>
              </a:r>
            </a:p>
          </p:txBody>
        </p:sp>
      </p:grpSp>
      <p:grpSp>
        <p:nvGrpSpPr>
          <p:cNvPr id="198" name="Group 68">
            <a:extLst>
              <a:ext uri="{FF2B5EF4-FFF2-40B4-BE49-F238E27FC236}">
                <a16:creationId xmlns:a16="http://schemas.microsoft.com/office/drawing/2014/main" id="{49D0E917-E1E9-5DDC-0BD6-3415DC6C02E0}"/>
              </a:ext>
            </a:extLst>
          </p:cNvPr>
          <p:cNvGrpSpPr/>
          <p:nvPr/>
        </p:nvGrpSpPr>
        <p:grpSpPr>
          <a:xfrm>
            <a:off x="12542711" y="17833371"/>
            <a:ext cx="3744468" cy="548640"/>
            <a:chOff x="0" y="0"/>
            <a:chExt cx="4992624" cy="731520"/>
          </a:xfrm>
        </p:grpSpPr>
        <p:sp>
          <p:nvSpPr>
            <p:cNvPr id="199" name="Freeform 69">
              <a:extLst>
                <a:ext uri="{FF2B5EF4-FFF2-40B4-BE49-F238E27FC236}">
                  <a16:creationId xmlns:a16="http://schemas.microsoft.com/office/drawing/2014/main" id="{376C06EC-1497-E987-A8D7-BA578681A2BE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200" name="TextBox 70">
              <a:extLst>
                <a:ext uri="{FF2B5EF4-FFF2-40B4-BE49-F238E27FC236}">
                  <a16:creationId xmlns:a16="http://schemas.microsoft.com/office/drawing/2014/main" id="{070DC49B-A536-C050-17D0-37791CFDB438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Three 20-minute lessons every day</a:t>
              </a:r>
            </a:p>
          </p:txBody>
        </p:sp>
      </p:grpSp>
      <p:grpSp>
        <p:nvGrpSpPr>
          <p:cNvPr id="201" name="Group 71">
            <a:extLst>
              <a:ext uri="{FF2B5EF4-FFF2-40B4-BE49-F238E27FC236}">
                <a16:creationId xmlns:a16="http://schemas.microsoft.com/office/drawing/2014/main" id="{53DFA2C7-E0EB-5BDB-B24A-672E58629EB7}"/>
              </a:ext>
            </a:extLst>
          </p:cNvPr>
          <p:cNvGrpSpPr/>
          <p:nvPr/>
        </p:nvGrpSpPr>
        <p:grpSpPr>
          <a:xfrm>
            <a:off x="12542711" y="18464307"/>
            <a:ext cx="3744468" cy="548640"/>
            <a:chOff x="0" y="0"/>
            <a:chExt cx="4992624" cy="731520"/>
          </a:xfrm>
        </p:grpSpPr>
        <p:sp>
          <p:nvSpPr>
            <p:cNvPr id="202" name="Freeform 72">
              <a:extLst>
                <a:ext uri="{FF2B5EF4-FFF2-40B4-BE49-F238E27FC236}">
                  <a16:creationId xmlns:a16="http://schemas.microsoft.com/office/drawing/2014/main" id="{AC268B23-2479-FA74-D960-F71B079E3C72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203" name="TextBox 73">
              <a:extLst>
                <a:ext uri="{FF2B5EF4-FFF2-40B4-BE49-F238E27FC236}">
                  <a16:creationId xmlns:a16="http://schemas.microsoft.com/office/drawing/2014/main" id="{C2A3221B-49CE-AC1A-AAAF-95F17CC7AE3B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Progress feeds back into your CV</a:t>
              </a:r>
            </a:p>
          </p:txBody>
        </p:sp>
      </p:grpSp>
      <p:grpSp>
        <p:nvGrpSpPr>
          <p:cNvPr id="204" name="Group 74">
            <a:extLst>
              <a:ext uri="{FF2B5EF4-FFF2-40B4-BE49-F238E27FC236}">
                <a16:creationId xmlns:a16="http://schemas.microsoft.com/office/drawing/2014/main" id="{43D646E9-94F3-97E5-596E-A36CDF940544}"/>
              </a:ext>
            </a:extLst>
          </p:cNvPr>
          <p:cNvGrpSpPr/>
          <p:nvPr/>
        </p:nvGrpSpPr>
        <p:grpSpPr>
          <a:xfrm>
            <a:off x="16918115" y="20494275"/>
            <a:ext cx="822960" cy="411480"/>
            <a:chOff x="0" y="0"/>
            <a:chExt cx="1097280" cy="548640"/>
          </a:xfrm>
        </p:grpSpPr>
        <p:sp>
          <p:nvSpPr>
            <p:cNvPr id="205" name="Freeform 75">
              <a:extLst>
                <a:ext uri="{FF2B5EF4-FFF2-40B4-BE49-F238E27FC236}">
                  <a16:creationId xmlns:a16="http://schemas.microsoft.com/office/drawing/2014/main" id="{B6E20419-1D38-1DF6-3B7F-DB8F5E9A8141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06" name="TextBox 76">
              <a:extLst>
                <a:ext uri="{FF2B5EF4-FFF2-40B4-BE49-F238E27FC236}">
                  <a16:creationId xmlns:a16="http://schemas.microsoft.com/office/drawing/2014/main" id="{327F7E68-2D86-1263-2BAC-1B008CDAD148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08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STEPS 2–4 · DEEP DIVE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097280"/>
            <a:ext cx="16322040" cy="1234440"/>
            <a:chOff x="0" y="0"/>
            <a:chExt cx="2176272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Build the CV, find the gap, learn the skill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595" y="2733675"/>
            <a:ext cx="5135118" cy="6054090"/>
            <a:chOff x="0" y="0"/>
            <a:chExt cx="6846824" cy="8072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46824" cy="8072120"/>
            </a:xfrm>
            <a:custGeom>
              <a:avLst/>
              <a:gdLst/>
              <a:ahLst/>
              <a:cxnLst/>
              <a:rect l="l" t="t" r="r" b="b"/>
              <a:pathLst>
                <a:path w="6846824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888605"/>
                  </a:lnTo>
                  <a:cubicBezTo>
                    <a:pt x="6846824" y="7989951"/>
                    <a:pt x="6764655" y="8072120"/>
                    <a:pt x="6663309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371600" y="3127248"/>
            <a:ext cx="685800" cy="685800"/>
            <a:chOff x="0" y="0"/>
            <a:chExt cx="91440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71600" y="3127248"/>
            <a:ext cx="685800" cy="685800"/>
            <a:chOff x="0" y="0"/>
            <a:chExt cx="9144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331720" y="3127248"/>
            <a:ext cx="3470148" cy="685800"/>
            <a:chOff x="0" y="0"/>
            <a:chExt cx="4626864" cy="914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CV builder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71600" y="4057650"/>
            <a:ext cx="4293108" cy="197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Turns the verified profile into a clean, professional CV, formatted for private roles or government applications.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62075" y="6231255"/>
            <a:ext cx="4312158" cy="2213610"/>
            <a:chOff x="0" y="0"/>
            <a:chExt cx="5749544" cy="29514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49417" cy="2951480"/>
            </a:xfrm>
            <a:custGeom>
              <a:avLst/>
              <a:gdLst/>
              <a:ahLst/>
              <a:cxnLst/>
              <a:rect l="l" t="t" r="r" b="b"/>
              <a:pathLst>
                <a:path w="5749417" h="295148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565013" y="0"/>
                  </a:lnTo>
                  <a:cubicBezTo>
                    <a:pt x="5666867" y="0"/>
                    <a:pt x="5749417" y="82550"/>
                    <a:pt x="5749417" y="184404"/>
                  </a:cubicBezTo>
                  <a:lnTo>
                    <a:pt x="5749417" y="2767076"/>
                  </a:lnTo>
                  <a:cubicBezTo>
                    <a:pt x="5749417" y="2868930"/>
                    <a:pt x="5666867" y="2951480"/>
                    <a:pt x="5565013" y="2951480"/>
                  </a:cubicBezTo>
                  <a:lnTo>
                    <a:pt x="184404" y="2951480"/>
                  </a:lnTo>
                  <a:cubicBezTo>
                    <a:pt x="82550" y="2951480"/>
                    <a:pt x="0" y="2868930"/>
                    <a:pt x="0" y="276707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645920" y="6446520"/>
            <a:ext cx="3744468" cy="548640"/>
            <a:chOff x="0" y="0"/>
            <a:chExt cx="4992624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PRATIK · Two-wheeler technician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45920" y="7077456"/>
            <a:ext cx="3744468" cy="548640"/>
            <a:chOff x="0" y="0"/>
            <a:chExt cx="4992624" cy="731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8 yrs hands-on · clutch, brake, electricals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45920" y="7708392"/>
            <a:ext cx="3744468" cy="548640"/>
            <a:chOff x="0" y="0"/>
            <a:chExt cx="4992624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Trust score 87 · verified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546723" y="2733675"/>
            <a:ext cx="5135118" cy="6054090"/>
            <a:chOff x="0" y="0"/>
            <a:chExt cx="6846824" cy="80721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846824" cy="8072120"/>
            </a:xfrm>
            <a:custGeom>
              <a:avLst/>
              <a:gdLst/>
              <a:ahLst/>
              <a:cxnLst/>
              <a:rect l="l" t="t" r="r" b="b"/>
              <a:pathLst>
                <a:path w="6846824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888605"/>
                  </a:lnTo>
                  <a:cubicBezTo>
                    <a:pt x="6846824" y="7989951"/>
                    <a:pt x="6764655" y="8072120"/>
                    <a:pt x="6663309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967728" y="3127248"/>
            <a:ext cx="685800" cy="685800"/>
            <a:chOff x="0" y="0"/>
            <a:chExt cx="91440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6967728" y="3127248"/>
            <a:ext cx="685800" cy="685800"/>
            <a:chOff x="0" y="0"/>
            <a:chExt cx="914400" cy="914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927848" y="3127248"/>
            <a:ext cx="3470148" cy="685800"/>
            <a:chOff x="0" y="0"/>
            <a:chExt cx="4626864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Gap finder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967728" y="4057650"/>
            <a:ext cx="4293108" cy="197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Compares the verified profile with the target role and lists what's missing, ranked by impact.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958203" y="6231255"/>
            <a:ext cx="4312158" cy="2213610"/>
            <a:chOff x="0" y="0"/>
            <a:chExt cx="5749544" cy="29514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749417" cy="2951480"/>
            </a:xfrm>
            <a:custGeom>
              <a:avLst/>
              <a:gdLst/>
              <a:ahLst/>
              <a:cxnLst/>
              <a:rect l="l" t="t" r="r" b="b"/>
              <a:pathLst>
                <a:path w="5749417" h="295148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565013" y="0"/>
                  </a:lnTo>
                  <a:cubicBezTo>
                    <a:pt x="5666867" y="0"/>
                    <a:pt x="5749417" y="82550"/>
                    <a:pt x="5749417" y="184404"/>
                  </a:cubicBezTo>
                  <a:lnTo>
                    <a:pt x="5749417" y="2767076"/>
                  </a:lnTo>
                  <a:cubicBezTo>
                    <a:pt x="5749417" y="2868930"/>
                    <a:pt x="5666867" y="2951480"/>
                    <a:pt x="5565013" y="2951480"/>
                  </a:cubicBezTo>
                  <a:lnTo>
                    <a:pt x="184404" y="2951480"/>
                  </a:lnTo>
                  <a:cubicBezTo>
                    <a:pt x="82550" y="2951480"/>
                    <a:pt x="0" y="2868930"/>
                    <a:pt x="0" y="276707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7242048" y="6446520"/>
            <a:ext cx="3744468" cy="548640"/>
            <a:chOff x="0" y="0"/>
            <a:chExt cx="4992624" cy="7315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Target role: EV-scooter technician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242048" y="7077456"/>
            <a:ext cx="3744468" cy="548640"/>
            <a:chOff x="0" y="0"/>
            <a:chExt cx="4992624" cy="7315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Missing: EV battery basics (high impact)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242048" y="7708392"/>
            <a:ext cx="3744468" cy="548640"/>
            <a:chOff x="0" y="0"/>
            <a:chExt cx="4992624" cy="7315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Missing: diagnostic tools (medium)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142851" y="2733675"/>
            <a:ext cx="5135118" cy="6054090"/>
            <a:chOff x="0" y="0"/>
            <a:chExt cx="6846824" cy="80721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846824" cy="8072120"/>
            </a:xfrm>
            <a:custGeom>
              <a:avLst/>
              <a:gdLst/>
              <a:ahLst/>
              <a:cxnLst/>
              <a:rect l="l" t="t" r="r" b="b"/>
              <a:pathLst>
                <a:path w="6846824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888605"/>
                  </a:lnTo>
                  <a:cubicBezTo>
                    <a:pt x="6846824" y="7989951"/>
                    <a:pt x="6764655" y="8072120"/>
                    <a:pt x="6663309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12563856" y="3127248"/>
            <a:ext cx="685800" cy="685800"/>
            <a:chOff x="0" y="0"/>
            <a:chExt cx="914400" cy="9144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2563856" y="3127248"/>
            <a:ext cx="685800" cy="685800"/>
            <a:chOff x="0" y="0"/>
            <a:chExt cx="914400" cy="914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523976" y="3127248"/>
            <a:ext cx="3470148" cy="685800"/>
            <a:chOff x="0" y="0"/>
            <a:chExt cx="4626864" cy="9144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Learn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2563856" y="4057650"/>
            <a:ext cx="4293108" cy="197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Short, curated lessons aimed at exactly those gaps, sequenced around the time you have.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2554331" y="6231255"/>
            <a:ext cx="4312158" cy="2213610"/>
            <a:chOff x="0" y="0"/>
            <a:chExt cx="5749544" cy="295148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749417" cy="2951480"/>
            </a:xfrm>
            <a:custGeom>
              <a:avLst/>
              <a:gdLst/>
              <a:ahLst/>
              <a:cxnLst/>
              <a:rect l="l" t="t" r="r" b="b"/>
              <a:pathLst>
                <a:path w="5749417" h="295148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565013" y="0"/>
                  </a:lnTo>
                  <a:cubicBezTo>
                    <a:pt x="5666867" y="0"/>
                    <a:pt x="5749417" y="82550"/>
                    <a:pt x="5749417" y="184404"/>
                  </a:cubicBezTo>
                  <a:lnTo>
                    <a:pt x="5749417" y="2767076"/>
                  </a:lnTo>
                  <a:cubicBezTo>
                    <a:pt x="5749417" y="2868930"/>
                    <a:pt x="5666867" y="2951480"/>
                    <a:pt x="5565013" y="2951480"/>
                  </a:cubicBezTo>
                  <a:lnTo>
                    <a:pt x="184404" y="2951480"/>
                  </a:lnTo>
                  <a:cubicBezTo>
                    <a:pt x="82550" y="2951480"/>
                    <a:pt x="0" y="2868930"/>
                    <a:pt x="0" y="276707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12838176" y="6446520"/>
            <a:ext cx="3744468" cy="548640"/>
            <a:chOff x="0" y="0"/>
            <a:chExt cx="4992624" cy="7315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Next: EV battery basics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838176" y="7077456"/>
            <a:ext cx="3744468" cy="548640"/>
            <a:chOff x="0" y="0"/>
            <a:chExt cx="4992624" cy="7315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Three 20-minute lessons every day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838176" y="7708392"/>
            <a:ext cx="3744468" cy="548640"/>
            <a:chOff x="0" y="0"/>
            <a:chExt cx="4992624" cy="7315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Progress feeds back into your CV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08</a:t>
              </a:r>
            </a:p>
          </p:txBody>
        </p:sp>
      </p:grpSp>
      <p:grpSp>
        <p:nvGrpSpPr>
          <p:cNvPr id="77" name="Group 2">
            <a:extLst>
              <a:ext uri="{FF2B5EF4-FFF2-40B4-BE49-F238E27FC236}">
                <a16:creationId xmlns:a16="http://schemas.microsoft.com/office/drawing/2014/main" id="{D9140A71-C462-C1DB-6768-589894D8C055}"/>
              </a:ext>
            </a:extLst>
          </p:cNvPr>
          <p:cNvGrpSpPr/>
          <p:nvPr/>
        </p:nvGrpSpPr>
        <p:grpSpPr>
          <a:xfrm>
            <a:off x="1354836" y="-10059610"/>
            <a:ext cx="12344400" cy="480060"/>
            <a:chOff x="0" y="0"/>
            <a:chExt cx="16459200" cy="640080"/>
          </a:xfrm>
        </p:grpSpPr>
        <p:sp>
          <p:nvSpPr>
            <p:cNvPr id="78" name="Freeform 3">
              <a:extLst>
                <a:ext uri="{FF2B5EF4-FFF2-40B4-BE49-F238E27FC236}">
                  <a16:creationId xmlns:a16="http://schemas.microsoft.com/office/drawing/2014/main" id="{55AEB72B-FD90-3700-9F80-CEEC8D8014F8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79" name="TextBox 4">
              <a:extLst>
                <a:ext uri="{FF2B5EF4-FFF2-40B4-BE49-F238E27FC236}">
                  <a16:creationId xmlns:a16="http://schemas.microsoft.com/office/drawing/2014/main" id="{AB00286F-462D-909B-F48A-F982D1B4A07D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 1 · DEEP DIVE</a:t>
              </a:r>
            </a:p>
          </p:txBody>
        </p:sp>
      </p:grpSp>
      <p:grpSp>
        <p:nvGrpSpPr>
          <p:cNvPr id="80" name="Group 5">
            <a:extLst>
              <a:ext uri="{FF2B5EF4-FFF2-40B4-BE49-F238E27FC236}">
                <a16:creationId xmlns:a16="http://schemas.microsoft.com/office/drawing/2014/main" id="{542C811B-272B-94E8-C752-1ACDC6787650}"/>
              </a:ext>
            </a:extLst>
          </p:cNvPr>
          <p:cNvGrpSpPr/>
          <p:nvPr/>
        </p:nvGrpSpPr>
        <p:grpSpPr>
          <a:xfrm>
            <a:off x="1159574" y="-9617863"/>
            <a:ext cx="16517302" cy="1272753"/>
            <a:chOff x="-260349" y="-51084"/>
            <a:chExt cx="22023069" cy="1697004"/>
          </a:xfrm>
        </p:grpSpPr>
        <p:sp>
          <p:nvSpPr>
            <p:cNvPr id="81" name="Freeform 6">
              <a:extLst>
                <a:ext uri="{FF2B5EF4-FFF2-40B4-BE49-F238E27FC236}">
                  <a16:creationId xmlns:a16="http://schemas.microsoft.com/office/drawing/2014/main" id="{0EC179AF-4678-1846-490D-65ACEB0F417C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82" name="TextBox 7">
              <a:extLst>
                <a:ext uri="{FF2B5EF4-FFF2-40B4-BE49-F238E27FC236}">
                  <a16:creationId xmlns:a16="http://schemas.microsoft.com/office/drawing/2014/main" id="{125DEC76-1F7F-A89B-AF77-961E57DD4A7D}"/>
                </a:ext>
              </a:extLst>
            </p:cNvPr>
            <p:cNvSpPr txBox="1"/>
            <p:nvPr/>
          </p:nvSpPr>
          <p:spPr>
            <a:xfrm>
              <a:off x="-260349" y="-51084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 dirty="0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Verify: prove your skills, get a trust score</a:t>
              </a:r>
            </a:p>
          </p:txBody>
        </p:sp>
      </p:grpSp>
      <p:grpSp>
        <p:nvGrpSpPr>
          <p:cNvPr id="83" name="Group 8">
            <a:extLst>
              <a:ext uri="{FF2B5EF4-FFF2-40B4-BE49-F238E27FC236}">
                <a16:creationId xmlns:a16="http://schemas.microsoft.com/office/drawing/2014/main" id="{F4EFC786-D24C-10CF-191E-0848A9EDBDF6}"/>
              </a:ext>
            </a:extLst>
          </p:cNvPr>
          <p:cNvGrpSpPr/>
          <p:nvPr/>
        </p:nvGrpSpPr>
        <p:grpSpPr>
          <a:xfrm>
            <a:off x="748094" y="-7919343"/>
            <a:ext cx="7700010" cy="4772025"/>
            <a:chOff x="0" y="0"/>
            <a:chExt cx="10266680" cy="8072120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F8364B7D-9A56-C2C8-FF0E-F3CD970A5CF9}"/>
                </a:ext>
              </a:extLst>
            </p:cNvPr>
            <p:cNvSpPr/>
            <p:nvPr/>
          </p:nvSpPr>
          <p:spPr>
            <a:xfrm>
              <a:off x="0" y="0"/>
              <a:ext cx="10266680" cy="8072120"/>
            </a:xfrm>
            <a:custGeom>
              <a:avLst/>
              <a:gdLst/>
              <a:ahLst/>
              <a:cxnLst/>
              <a:rect l="l" t="t" r="r" b="b"/>
              <a:pathLst>
                <a:path w="10266680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083165" y="0"/>
                  </a:lnTo>
                  <a:cubicBezTo>
                    <a:pt x="10184511" y="0"/>
                    <a:pt x="10266680" y="82169"/>
                    <a:pt x="10266680" y="183515"/>
                  </a:cubicBezTo>
                  <a:lnTo>
                    <a:pt x="10266680" y="7888605"/>
                  </a:lnTo>
                  <a:cubicBezTo>
                    <a:pt x="10266680" y="7989951"/>
                    <a:pt x="10184511" y="8072120"/>
                    <a:pt x="10083165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85" name="Group 10">
            <a:extLst>
              <a:ext uri="{FF2B5EF4-FFF2-40B4-BE49-F238E27FC236}">
                <a16:creationId xmlns:a16="http://schemas.microsoft.com/office/drawing/2014/main" id="{D3921D98-5F55-5AF6-A726-07E916F1E84C}"/>
              </a:ext>
            </a:extLst>
          </p:cNvPr>
          <p:cNvGrpSpPr/>
          <p:nvPr/>
        </p:nvGrpSpPr>
        <p:grpSpPr>
          <a:xfrm>
            <a:off x="1169099" y="-7566918"/>
            <a:ext cx="6858000" cy="378398"/>
            <a:chOff x="0" y="0"/>
            <a:chExt cx="9144000" cy="640080"/>
          </a:xfrm>
        </p:grpSpPr>
        <p:sp>
          <p:nvSpPr>
            <p:cNvPr id="86" name="Freeform 11">
              <a:extLst>
                <a:ext uri="{FF2B5EF4-FFF2-40B4-BE49-F238E27FC236}">
                  <a16:creationId xmlns:a16="http://schemas.microsoft.com/office/drawing/2014/main" id="{A8691566-3E15-5844-A2D3-2A86C9BBB152}"/>
                </a:ext>
              </a:extLst>
            </p:cNvPr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87" name="TextBox 12">
              <a:extLst>
                <a:ext uri="{FF2B5EF4-FFF2-40B4-BE49-F238E27FC236}">
                  <a16:creationId xmlns:a16="http://schemas.microsoft.com/office/drawing/2014/main" id="{A48746BB-9EEF-CA92-A84E-EBB76AD6FC52}"/>
                </a:ext>
              </a:extLst>
            </p:cNvPr>
            <p:cNvSpPr txBox="1"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How the score is built</a:t>
              </a:r>
            </a:p>
          </p:txBody>
        </p:sp>
      </p:grpSp>
      <p:grpSp>
        <p:nvGrpSpPr>
          <p:cNvPr id="88" name="Group 13">
            <a:extLst>
              <a:ext uri="{FF2B5EF4-FFF2-40B4-BE49-F238E27FC236}">
                <a16:creationId xmlns:a16="http://schemas.microsoft.com/office/drawing/2014/main" id="{D1E4203C-6696-5282-0491-1507D9DF65FC}"/>
              </a:ext>
            </a:extLst>
          </p:cNvPr>
          <p:cNvGrpSpPr/>
          <p:nvPr/>
        </p:nvGrpSpPr>
        <p:grpSpPr>
          <a:xfrm>
            <a:off x="1169099" y="-6881118"/>
            <a:ext cx="3840480" cy="378398"/>
            <a:chOff x="0" y="0"/>
            <a:chExt cx="5120640" cy="640080"/>
          </a:xfrm>
        </p:grpSpPr>
        <p:sp>
          <p:nvSpPr>
            <p:cNvPr id="89" name="Freeform 14">
              <a:extLst>
                <a:ext uri="{FF2B5EF4-FFF2-40B4-BE49-F238E27FC236}">
                  <a16:creationId xmlns:a16="http://schemas.microsoft.com/office/drawing/2014/main" id="{A4319983-6F7A-296E-74A0-BF8A542CC99E}"/>
                </a:ext>
              </a:extLst>
            </p:cNvPr>
            <p:cNvSpPr/>
            <p:nvPr/>
          </p:nvSpPr>
          <p:spPr>
            <a:xfrm>
              <a:off x="0" y="0"/>
              <a:ext cx="5120640" cy="640080"/>
            </a:xfrm>
            <a:custGeom>
              <a:avLst/>
              <a:gdLst/>
              <a:ahLst/>
              <a:cxnLst/>
              <a:rect l="l" t="t" r="r" b="b"/>
              <a:pathLst>
                <a:path w="5120640" h="640080">
                  <a:moveTo>
                    <a:pt x="0" y="0"/>
                  </a:moveTo>
                  <a:lnTo>
                    <a:pt x="5120640" y="0"/>
                  </a:lnTo>
                  <a:lnTo>
                    <a:pt x="5120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90" name="TextBox 15">
              <a:extLst>
                <a:ext uri="{FF2B5EF4-FFF2-40B4-BE49-F238E27FC236}">
                  <a16:creationId xmlns:a16="http://schemas.microsoft.com/office/drawing/2014/main" id="{BE58D0AB-5DCB-94C6-8C89-AB6529D3BF94}"/>
                </a:ext>
              </a:extLst>
            </p:cNvPr>
            <p:cNvSpPr txBox="1"/>
            <p:nvPr/>
          </p:nvSpPr>
          <p:spPr>
            <a:xfrm>
              <a:off x="0" y="0"/>
              <a:ext cx="51206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AI verification task</a:t>
              </a:r>
            </a:p>
          </p:txBody>
        </p:sp>
      </p:grpSp>
      <p:grpSp>
        <p:nvGrpSpPr>
          <p:cNvPr id="91" name="Group 16">
            <a:extLst>
              <a:ext uri="{FF2B5EF4-FFF2-40B4-BE49-F238E27FC236}">
                <a16:creationId xmlns:a16="http://schemas.microsoft.com/office/drawing/2014/main" id="{256A911A-49AA-B9C4-39FB-2871C502092C}"/>
              </a:ext>
            </a:extLst>
          </p:cNvPr>
          <p:cNvGrpSpPr/>
          <p:nvPr/>
        </p:nvGrpSpPr>
        <p:grpSpPr>
          <a:xfrm>
            <a:off x="5146739" y="-6798822"/>
            <a:ext cx="2194560" cy="237850"/>
            <a:chOff x="0" y="0"/>
            <a:chExt cx="2926080" cy="402336"/>
          </a:xfrm>
        </p:grpSpPr>
        <p:sp>
          <p:nvSpPr>
            <p:cNvPr id="92" name="Freeform 17">
              <a:extLst>
                <a:ext uri="{FF2B5EF4-FFF2-40B4-BE49-F238E27FC236}">
                  <a16:creationId xmlns:a16="http://schemas.microsoft.com/office/drawing/2014/main" id="{30371FA2-722B-8A08-1152-B521F7A80E0D}"/>
                </a:ext>
              </a:extLst>
            </p:cNvPr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93" name="Group 18">
            <a:extLst>
              <a:ext uri="{FF2B5EF4-FFF2-40B4-BE49-F238E27FC236}">
                <a16:creationId xmlns:a16="http://schemas.microsoft.com/office/drawing/2014/main" id="{AFB462AA-0214-79EB-FAFD-E7B36E570E5D}"/>
              </a:ext>
            </a:extLst>
          </p:cNvPr>
          <p:cNvGrpSpPr/>
          <p:nvPr/>
        </p:nvGrpSpPr>
        <p:grpSpPr>
          <a:xfrm>
            <a:off x="5146739" y="-6798822"/>
            <a:ext cx="2194560" cy="237850"/>
            <a:chOff x="0" y="0"/>
            <a:chExt cx="2926080" cy="402336"/>
          </a:xfrm>
        </p:grpSpPr>
        <p:sp>
          <p:nvSpPr>
            <p:cNvPr id="94" name="Freeform 19">
              <a:extLst>
                <a:ext uri="{FF2B5EF4-FFF2-40B4-BE49-F238E27FC236}">
                  <a16:creationId xmlns:a16="http://schemas.microsoft.com/office/drawing/2014/main" id="{1BB4C1D9-F78A-798A-309E-B0E29DA5C717}"/>
                </a:ext>
              </a:extLst>
            </p:cNvPr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95" name="Group 20">
            <a:extLst>
              <a:ext uri="{FF2B5EF4-FFF2-40B4-BE49-F238E27FC236}">
                <a16:creationId xmlns:a16="http://schemas.microsoft.com/office/drawing/2014/main" id="{C209F492-3C6F-0B3C-E691-4E5E5C58F0C4}"/>
              </a:ext>
            </a:extLst>
          </p:cNvPr>
          <p:cNvGrpSpPr/>
          <p:nvPr/>
        </p:nvGrpSpPr>
        <p:grpSpPr>
          <a:xfrm>
            <a:off x="7478459" y="-6881118"/>
            <a:ext cx="685800" cy="378398"/>
            <a:chOff x="0" y="0"/>
            <a:chExt cx="914400" cy="640080"/>
          </a:xfrm>
        </p:grpSpPr>
        <p:sp>
          <p:nvSpPr>
            <p:cNvPr id="96" name="Freeform 21">
              <a:extLst>
                <a:ext uri="{FF2B5EF4-FFF2-40B4-BE49-F238E27FC236}">
                  <a16:creationId xmlns:a16="http://schemas.microsoft.com/office/drawing/2014/main" id="{EA451CFB-7B8B-11CA-FB6B-3CBE4EE66215}"/>
                </a:ext>
              </a:extLst>
            </p:cNvPr>
            <p:cNvSpPr/>
            <p:nvPr/>
          </p:nvSpPr>
          <p:spPr>
            <a:xfrm>
              <a:off x="0" y="0"/>
              <a:ext cx="914400" cy="640080"/>
            </a:xfrm>
            <a:custGeom>
              <a:avLst/>
              <a:gdLst/>
              <a:ahLst/>
              <a:cxnLst/>
              <a:rect l="l" t="t" r="r" b="b"/>
              <a:pathLst>
                <a:path w="914400" h="64008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r="-39812"/>
              </a:stretch>
            </a:blipFill>
          </p:spPr>
        </p:sp>
        <p:sp>
          <p:nvSpPr>
            <p:cNvPr id="97" name="TextBox 22">
              <a:extLst>
                <a:ext uri="{FF2B5EF4-FFF2-40B4-BE49-F238E27FC236}">
                  <a16:creationId xmlns:a16="http://schemas.microsoft.com/office/drawing/2014/main" id="{F531D293-AAA5-313C-A096-5A58C605522B}"/>
                </a:ext>
              </a:extLst>
            </p:cNvPr>
            <p:cNvSpPr txBox="1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40%</a:t>
              </a:r>
            </a:p>
          </p:txBody>
        </p:sp>
      </p:grpSp>
      <p:grpSp>
        <p:nvGrpSpPr>
          <p:cNvPr id="98" name="Group 23">
            <a:extLst>
              <a:ext uri="{FF2B5EF4-FFF2-40B4-BE49-F238E27FC236}">
                <a16:creationId xmlns:a16="http://schemas.microsoft.com/office/drawing/2014/main" id="{76A82A40-D6EA-7B19-6D4F-93449EB2D55E}"/>
              </a:ext>
            </a:extLst>
          </p:cNvPr>
          <p:cNvGrpSpPr/>
          <p:nvPr/>
        </p:nvGrpSpPr>
        <p:grpSpPr>
          <a:xfrm>
            <a:off x="1169099" y="-6126738"/>
            <a:ext cx="3840480" cy="378398"/>
            <a:chOff x="0" y="0"/>
            <a:chExt cx="5120640" cy="640080"/>
          </a:xfrm>
        </p:grpSpPr>
        <p:sp>
          <p:nvSpPr>
            <p:cNvPr id="99" name="Freeform 24">
              <a:extLst>
                <a:ext uri="{FF2B5EF4-FFF2-40B4-BE49-F238E27FC236}">
                  <a16:creationId xmlns:a16="http://schemas.microsoft.com/office/drawing/2014/main" id="{455FA731-0548-52A3-612A-BA8E77A33A53}"/>
                </a:ext>
              </a:extLst>
            </p:cNvPr>
            <p:cNvSpPr/>
            <p:nvPr/>
          </p:nvSpPr>
          <p:spPr>
            <a:xfrm>
              <a:off x="0" y="0"/>
              <a:ext cx="5120640" cy="640080"/>
            </a:xfrm>
            <a:custGeom>
              <a:avLst/>
              <a:gdLst/>
              <a:ahLst/>
              <a:cxnLst/>
              <a:rect l="l" t="t" r="r" b="b"/>
              <a:pathLst>
                <a:path w="5120640" h="640080">
                  <a:moveTo>
                    <a:pt x="0" y="0"/>
                  </a:moveTo>
                  <a:lnTo>
                    <a:pt x="5120640" y="0"/>
                  </a:lnTo>
                  <a:lnTo>
                    <a:pt x="5120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100" name="TextBox 25">
              <a:extLst>
                <a:ext uri="{FF2B5EF4-FFF2-40B4-BE49-F238E27FC236}">
                  <a16:creationId xmlns:a16="http://schemas.microsoft.com/office/drawing/2014/main" id="{FAC70363-1150-C387-AA54-2E055A594D24}"/>
                </a:ext>
              </a:extLst>
            </p:cNvPr>
            <p:cNvSpPr txBox="1"/>
            <p:nvPr/>
          </p:nvSpPr>
          <p:spPr>
            <a:xfrm>
              <a:off x="0" y="0"/>
              <a:ext cx="51206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Completed-job feedback</a:t>
              </a:r>
            </a:p>
          </p:txBody>
        </p:sp>
      </p:grpSp>
      <p:grpSp>
        <p:nvGrpSpPr>
          <p:cNvPr id="101" name="Group 26">
            <a:extLst>
              <a:ext uri="{FF2B5EF4-FFF2-40B4-BE49-F238E27FC236}">
                <a16:creationId xmlns:a16="http://schemas.microsoft.com/office/drawing/2014/main" id="{DCAD2CC0-B9C2-D950-D300-6212CA49F28B}"/>
              </a:ext>
            </a:extLst>
          </p:cNvPr>
          <p:cNvGrpSpPr/>
          <p:nvPr/>
        </p:nvGrpSpPr>
        <p:grpSpPr>
          <a:xfrm>
            <a:off x="5146739" y="-6044442"/>
            <a:ext cx="2194560" cy="237850"/>
            <a:chOff x="0" y="0"/>
            <a:chExt cx="2926080" cy="402336"/>
          </a:xfrm>
        </p:grpSpPr>
        <p:sp>
          <p:nvSpPr>
            <p:cNvPr id="102" name="Freeform 27">
              <a:extLst>
                <a:ext uri="{FF2B5EF4-FFF2-40B4-BE49-F238E27FC236}">
                  <a16:creationId xmlns:a16="http://schemas.microsoft.com/office/drawing/2014/main" id="{43EE7D1E-5890-0290-2EB1-498EFE564785}"/>
                </a:ext>
              </a:extLst>
            </p:cNvPr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03" name="Group 28">
            <a:extLst>
              <a:ext uri="{FF2B5EF4-FFF2-40B4-BE49-F238E27FC236}">
                <a16:creationId xmlns:a16="http://schemas.microsoft.com/office/drawing/2014/main" id="{68AE76E5-20B0-B771-50CF-0C0D1596F7EE}"/>
              </a:ext>
            </a:extLst>
          </p:cNvPr>
          <p:cNvGrpSpPr/>
          <p:nvPr/>
        </p:nvGrpSpPr>
        <p:grpSpPr>
          <a:xfrm>
            <a:off x="5146739" y="-6044442"/>
            <a:ext cx="2194560" cy="237850"/>
            <a:chOff x="0" y="0"/>
            <a:chExt cx="2926080" cy="402336"/>
          </a:xfrm>
        </p:grpSpPr>
        <p:sp>
          <p:nvSpPr>
            <p:cNvPr id="104" name="Freeform 29">
              <a:extLst>
                <a:ext uri="{FF2B5EF4-FFF2-40B4-BE49-F238E27FC236}">
                  <a16:creationId xmlns:a16="http://schemas.microsoft.com/office/drawing/2014/main" id="{58EE0342-7F88-90C5-8445-52F3C3C8799F}"/>
                </a:ext>
              </a:extLst>
            </p:cNvPr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05" name="Group 30">
            <a:extLst>
              <a:ext uri="{FF2B5EF4-FFF2-40B4-BE49-F238E27FC236}">
                <a16:creationId xmlns:a16="http://schemas.microsoft.com/office/drawing/2014/main" id="{222261C8-44C0-70D7-6C65-80E0492BF2BB}"/>
              </a:ext>
            </a:extLst>
          </p:cNvPr>
          <p:cNvGrpSpPr/>
          <p:nvPr/>
        </p:nvGrpSpPr>
        <p:grpSpPr>
          <a:xfrm>
            <a:off x="7478459" y="-6126738"/>
            <a:ext cx="685800" cy="378398"/>
            <a:chOff x="0" y="0"/>
            <a:chExt cx="914400" cy="640080"/>
          </a:xfrm>
        </p:grpSpPr>
        <p:sp>
          <p:nvSpPr>
            <p:cNvPr id="106" name="Freeform 31">
              <a:extLst>
                <a:ext uri="{FF2B5EF4-FFF2-40B4-BE49-F238E27FC236}">
                  <a16:creationId xmlns:a16="http://schemas.microsoft.com/office/drawing/2014/main" id="{275D9740-D910-C664-F5A4-FEEC2AB70520}"/>
                </a:ext>
              </a:extLst>
            </p:cNvPr>
            <p:cNvSpPr/>
            <p:nvPr/>
          </p:nvSpPr>
          <p:spPr>
            <a:xfrm>
              <a:off x="0" y="0"/>
              <a:ext cx="914400" cy="640080"/>
            </a:xfrm>
            <a:custGeom>
              <a:avLst/>
              <a:gdLst/>
              <a:ahLst/>
              <a:cxnLst/>
              <a:rect l="l" t="t" r="r" b="b"/>
              <a:pathLst>
                <a:path w="914400" h="64008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r="-39812"/>
              </a:stretch>
            </a:blipFill>
          </p:spPr>
        </p:sp>
        <p:sp>
          <p:nvSpPr>
            <p:cNvPr id="107" name="TextBox 32">
              <a:extLst>
                <a:ext uri="{FF2B5EF4-FFF2-40B4-BE49-F238E27FC236}">
                  <a16:creationId xmlns:a16="http://schemas.microsoft.com/office/drawing/2014/main" id="{F6948018-FD22-EF24-8220-A686ACDBC635}"/>
                </a:ext>
              </a:extLst>
            </p:cNvPr>
            <p:cNvSpPr txBox="1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40%</a:t>
              </a:r>
            </a:p>
          </p:txBody>
        </p:sp>
      </p:grpSp>
      <p:grpSp>
        <p:nvGrpSpPr>
          <p:cNvPr id="108" name="Group 33">
            <a:extLst>
              <a:ext uri="{FF2B5EF4-FFF2-40B4-BE49-F238E27FC236}">
                <a16:creationId xmlns:a16="http://schemas.microsoft.com/office/drawing/2014/main" id="{A16AFF13-0B51-0A60-6A92-C725B650F3C0}"/>
              </a:ext>
            </a:extLst>
          </p:cNvPr>
          <p:cNvGrpSpPr/>
          <p:nvPr/>
        </p:nvGrpSpPr>
        <p:grpSpPr>
          <a:xfrm>
            <a:off x="1169099" y="-5372358"/>
            <a:ext cx="3840480" cy="378398"/>
            <a:chOff x="0" y="0"/>
            <a:chExt cx="5120640" cy="640080"/>
          </a:xfrm>
        </p:grpSpPr>
        <p:sp>
          <p:nvSpPr>
            <p:cNvPr id="109" name="Freeform 34">
              <a:extLst>
                <a:ext uri="{FF2B5EF4-FFF2-40B4-BE49-F238E27FC236}">
                  <a16:creationId xmlns:a16="http://schemas.microsoft.com/office/drawing/2014/main" id="{E3D17504-17BE-9073-8A82-59BF06598764}"/>
                </a:ext>
              </a:extLst>
            </p:cNvPr>
            <p:cNvSpPr/>
            <p:nvPr/>
          </p:nvSpPr>
          <p:spPr>
            <a:xfrm>
              <a:off x="0" y="0"/>
              <a:ext cx="5120640" cy="640080"/>
            </a:xfrm>
            <a:custGeom>
              <a:avLst/>
              <a:gdLst/>
              <a:ahLst/>
              <a:cxnLst/>
              <a:rect l="l" t="t" r="r" b="b"/>
              <a:pathLst>
                <a:path w="5120640" h="640080">
                  <a:moveTo>
                    <a:pt x="0" y="0"/>
                  </a:moveTo>
                  <a:lnTo>
                    <a:pt x="5120640" y="0"/>
                  </a:lnTo>
                  <a:lnTo>
                    <a:pt x="5120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110" name="TextBox 35">
              <a:extLst>
                <a:ext uri="{FF2B5EF4-FFF2-40B4-BE49-F238E27FC236}">
                  <a16:creationId xmlns:a16="http://schemas.microsoft.com/office/drawing/2014/main" id="{9E167309-F027-E315-CFF8-6DBC1DB08600}"/>
                </a:ext>
              </a:extLst>
            </p:cNvPr>
            <p:cNvSpPr txBox="1"/>
            <p:nvPr/>
          </p:nvSpPr>
          <p:spPr>
            <a:xfrm>
              <a:off x="0" y="0"/>
              <a:ext cx="51206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Recency of activity</a:t>
              </a:r>
            </a:p>
          </p:txBody>
        </p:sp>
      </p:grpSp>
      <p:grpSp>
        <p:nvGrpSpPr>
          <p:cNvPr id="111" name="Group 36">
            <a:extLst>
              <a:ext uri="{FF2B5EF4-FFF2-40B4-BE49-F238E27FC236}">
                <a16:creationId xmlns:a16="http://schemas.microsoft.com/office/drawing/2014/main" id="{B58BCB9F-5556-4FD7-E002-B9FD5636F2BA}"/>
              </a:ext>
            </a:extLst>
          </p:cNvPr>
          <p:cNvGrpSpPr/>
          <p:nvPr/>
        </p:nvGrpSpPr>
        <p:grpSpPr>
          <a:xfrm>
            <a:off x="5146739" y="-5290062"/>
            <a:ext cx="2194560" cy="237850"/>
            <a:chOff x="0" y="0"/>
            <a:chExt cx="2926080" cy="402336"/>
          </a:xfrm>
        </p:grpSpPr>
        <p:sp>
          <p:nvSpPr>
            <p:cNvPr id="112" name="Freeform 37">
              <a:extLst>
                <a:ext uri="{FF2B5EF4-FFF2-40B4-BE49-F238E27FC236}">
                  <a16:creationId xmlns:a16="http://schemas.microsoft.com/office/drawing/2014/main" id="{E5F6E124-AF5E-D674-6CE0-15B28F702A41}"/>
                </a:ext>
              </a:extLst>
            </p:cNvPr>
            <p:cNvSpPr/>
            <p:nvPr/>
          </p:nvSpPr>
          <p:spPr>
            <a:xfrm>
              <a:off x="0" y="0"/>
              <a:ext cx="2926080" cy="402336"/>
            </a:xfrm>
            <a:custGeom>
              <a:avLst/>
              <a:gdLst/>
              <a:ahLst/>
              <a:cxnLst/>
              <a:rect l="l" t="t" r="r" b="b"/>
              <a:pathLst>
                <a:path w="292608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743200" y="0"/>
                  </a:lnTo>
                  <a:cubicBezTo>
                    <a:pt x="2844165" y="0"/>
                    <a:pt x="2926080" y="81915"/>
                    <a:pt x="2926080" y="182880"/>
                  </a:cubicBezTo>
                  <a:lnTo>
                    <a:pt x="2926080" y="219456"/>
                  </a:lnTo>
                  <a:cubicBezTo>
                    <a:pt x="2926080" y="320421"/>
                    <a:pt x="2844165" y="402336"/>
                    <a:pt x="274320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13" name="Group 38">
            <a:extLst>
              <a:ext uri="{FF2B5EF4-FFF2-40B4-BE49-F238E27FC236}">
                <a16:creationId xmlns:a16="http://schemas.microsoft.com/office/drawing/2014/main" id="{D08DA681-B4F0-1A6B-3059-3142C9D26ACA}"/>
              </a:ext>
            </a:extLst>
          </p:cNvPr>
          <p:cNvGrpSpPr/>
          <p:nvPr/>
        </p:nvGrpSpPr>
        <p:grpSpPr>
          <a:xfrm>
            <a:off x="5146739" y="-5290062"/>
            <a:ext cx="1097280" cy="237850"/>
            <a:chOff x="0" y="0"/>
            <a:chExt cx="1463040" cy="402336"/>
          </a:xfrm>
        </p:grpSpPr>
        <p:sp>
          <p:nvSpPr>
            <p:cNvPr id="114" name="Freeform 39">
              <a:extLst>
                <a:ext uri="{FF2B5EF4-FFF2-40B4-BE49-F238E27FC236}">
                  <a16:creationId xmlns:a16="http://schemas.microsoft.com/office/drawing/2014/main" id="{6F29D74E-B71E-4CDA-903C-4420A65FCA57}"/>
                </a:ext>
              </a:extLst>
            </p:cNvPr>
            <p:cNvSpPr/>
            <p:nvPr/>
          </p:nvSpPr>
          <p:spPr>
            <a:xfrm>
              <a:off x="0" y="0"/>
              <a:ext cx="1463040" cy="402336"/>
            </a:xfrm>
            <a:custGeom>
              <a:avLst/>
              <a:gdLst/>
              <a:ahLst/>
              <a:cxnLst/>
              <a:rect l="l" t="t" r="r" b="b"/>
              <a:pathLst>
                <a:path w="1463040" h="4023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80160" y="0"/>
                  </a:lnTo>
                  <a:cubicBezTo>
                    <a:pt x="1381125" y="0"/>
                    <a:pt x="1463040" y="81915"/>
                    <a:pt x="1463040" y="182880"/>
                  </a:cubicBezTo>
                  <a:lnTo>
                    <a:pt x="1463040" y="219456"/>
                  </a:lnTo>
                  <a:cubicBezTo>
                    <a:pt x="1463040" y="320421"/>
                    <a:pt x="1381125" y="402336"/>
                    <a:pt x="1280160" y="402336"/>
                  </a:cubicBezTo>
                  <a:lnTo>
                    <a:pt x="182880" y="402336"/>
                  </a:lnTo>
                  <a:cubicBezTo>
                    <a:pt x="81915" y="402336"/>
                    <a:pt x="0" y="320421"/>
                    <a:pt x="0" y="21945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15" name="Group 40">
            <a:extLst>
              <a:ext uri="{FF2B5EF4-FFF2-40B4-BE49-F238E27FC236}">
                <a16:creationId xmlns:a16="http://schemas.microsoft.com/office/drawing/2014/main" id="{FA975E91-FA9A-181E-BAD7-A139DC8B1BC1}"/>
              </a:ext>
            </a:extLst>
          </p:cNvPr>
          <p:cNvGrpSpPr/>
          <p:nvPr/>
        </p:nvGrpSpPr>
        <p:grpSpPr>
          <a:xfrm>
            <a:off x="7478459" y="-5372358"/>
            <a:ext cx="685800" cy="378398"/>
            <a:chOff x="0" y="0"/>
            <a:chExt cx="914400" cy="640080"/>
          </a:xfrm>
        </p:grpSpPr>
        <p:sp>
          <p:nvSpPr>
            <p:cNvPr id="116" name="Freeform 41">
              <a:extLst>
                <a:ext uri="{FF2B5EF4-FFF2-40B4-BE49-F238E27FC236}">
                  <a16:creationId xmlns:a16="http://schemas.microsoft.com/office/drawing/2014/main" id="{6DDF2E3D-1B73-B3A1-BDFB-D18A31878D87}"/>
                </a:ext>
              </a:extLst>
            </p:cNvPr>
            <p:cNvSpPr/>
            <p:nvPr/>
          </p:nvSpPr>
          <p:spPr>
            <a:xfrm>
              <a:off x="0" y="0"/>
              <a:ext cx="914400" cy="640080"/>
            </a:xfrm>
            <a:custGeom>
              <a:avLst/>
              <a:gdLst/>
              <a:ahLst/>
              <a:cxnLst/>
              <a:rect l="l" t="t" r="r" b="b"/>
              <a:pathLst>
                <a:path w="914400" h="64008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r="-39812"/>
              </a:stretch>
            </a:blipFill>
          </p:spPr>
        </p:sp>
        <p:sp>
          <p:nvSpPr>
            <p:cNvPr id="117" name="TextBox 42">
              <a:extLst>
                <a:ext uri="{FF2B5EF4-FFF2-40B4-BE49-F238E27FC236}">
                  <a16:creationId xmlns:a16="http://schemas.microsoft.com/office/drawing/2014/main" id="{C84EC2EA-0545-5F72-ABCA-48E57335E0FC}"/>
                </a:ext>
              </a:extLst>
            </p:cNvPr>
            <p:cNvSpPr txBox="1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20%</a:t>
              </a:r>
            </a:p>
          </p:txBody>
        </p:sp>
      </p:grpSp>
      <p:grpSp>
        <p:nvGrpSpPr>
          <p:cNvPr id="118" name="Group 44">
            <a:extLst>
              <a:ext uri="{FF2B5EF4-FFF2-40B4-BE49-F238E27FC236}">
                <a16:creationId xmlns:a16="http://schemas.microsoft.com/office/drawing/2014/main" id="{A5A127AD-21DF-2F26-D44A-EBBCC7D933CA}"/>
              </a:ext>
            </a:extLst>
          </p:cNvPr>
          <p:cNvGrpSpPr/>
          <p:nvPr/>
        </p:nvGrpSpPr>
        <p:grpSpPr>
          <a:xfrm>
            <a:off x="1159574" y="-4641790"/>
            <a:ext cx="6877050" cy="1204268"/>
            <a:chOff x="0" y="0"/>
            <a:chExt cx="9169400" cy="2037080"/>
          </a:xfrm>
        </p:grpSpPr>
        <p:sp>
          <p:nvSpPr>
            <p:cNvPr id="119" name="Freeform 45">
              <a:extLst>
                <a:ext uri="{FF2B5EF4-FFF2-40B4-BE49-F238E27FC236}">
                  <a16:creationId xmlns:a16="http://schemas.microsoft.com/office/drawing/2014/main" id="{0A613212-CA6B-FD4C-9071-7643831CBBEC}"/>
                </a:ext>
              </a:extLst>
            </p:cNvPr>
            <p:cNvSpPr/>
            <p:nvPr/>
          </p:nvSpPr>
          <p:spPr>
            <a:xfrm>
              <a:off x="0" y="0"/>
              <a:ext cx="9169400" cy="2037080"/>
            </a:xfrm>
            <a:custGeom>
              <a:avLst/>
              <a:gdLst/>
              <a:ahLst/>
              <a:cxnLst/>
              <a:rect l="l" t="t" r="r" b="b"/>
              <a:pathLst>
                <a:path w="9169400" h="2037080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8984234" y="0"/>
                  </a:lnTo>
                  <a:cubicBezTo>
                    <a:pt x="9086469" y="0"/>
                    <a:pt x="9169400" y="82931"/>
                    <a:pt x="9169400" y="185166"/>
                  </a:cubicBezTo>
                  <a:lnTo>
                    <a:pt x="9169400" y="1851914"/>
                  </a:lnTo>
                  <a:cubicBezTo>
                    <a:pt x="9169400" y="1954149"/>
                    <a:pt x="9086469" y="2037080"/>
                    <a:pt x="8984234" y="2037080"/>
                  </a:cubicBezTo>
                  <a:lnTo>
                    <a:pt x="185166" y="2037080"/>
                  </a:lnTo>
                  <a:cubicBezTo>
                    <a:pt x="82931" y="2037080"/>
                    <a:pt x="0" y="1954149"/>
                    <a:pt x="0" y="1851914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20" name="Group 46">
            <a:extLst>
              <a:ext uri="{FF2B5EF4-FFF2-40B4-BE49-F238E27FC236}">
                <a16:creationId xmlns:a16="http://schemas.microsoft.com/office/drawing/2014/main" id="{8F0157A9-BC7A-2863-F6D8-46756898E52B}"/>
              </a:ext>
            </a:extLst>
          </p:cNvPr>
          <p:cNvGrpSpPr/>
          <p:nvPr/>
        </p:nvGrpSpPr>
        <p:grpSpPr>
          <a:xfrm>
            <a:off x="1482691" y="-4586355"/>
            <a:ext cx="6201508" cy="1110269"/>
            <a:chOff x="-39077" y="-1329436"/>
            <a:chExt cx="8268677" cy="1878076"/>
          </a:xfrm>
        </p:grpSpPr>
        <p:sp>
          <p:nvSpPr>
            <p:cNvPr id="121" name="Freeform 47">
              <a:extLst>
                <a:ext uri="{FF2B5EF4-FFF2-40B4-BE49-F238E27FC236}">
                  <a16:creationId xmlns:a16="http://schemas.microsoft.com/office/drawing/2014/main" id="{A31E71BC-A45A-8136-0EF3-BB2C476B6029}"/>
                </a:ext>
              </a:extLst>
            </p:cNvPr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22" name="TextBox 48">
              <a:extLst>
                <a:ext uri="{FF2B5EF4-FFF2-40B4-BE49-F238E27FC236}">
                  <a16:creationId xmlns:a16="http://schemas.microsoft.com/office/drawing/2014/main" id="{79DDB809-C6F2-7C6F-90BD-7CB617F32B71}"/>
                </a:ext>
              </a:extLst>
            </p:cNvPr>
            <p:cNvSpPr txBox="1"/>
            <p:nvPr/>
          </p:nvSpPr>
          <p:spPr>
            <a:xfrm>
              <a:off x="-39077" y="-1329436"/>
              <a:ext cx="8229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dirty="0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Sample verification task</a:t>
              </a:r>
            </a:p>
          </p:txBody>
        </p:sp>
      </p:grpSp>
      <p:sp>
        <p:nvSpPr>
          <p:cNvPr id="123" name="TextBox 49">
            <a:extLst>
              <a:ext uri="{FF2B5EF4-FFF2-40B4-BE49-F238E27FC236}">
                <a16:creationId xmlns:a16="http://schemas.microsoft.com/office/drawing/2014/main" id="{972A1CC7-D874-7A84-B2DA-03738037E3C8}"/>
              </a:ext>
            </a:extLst>
          </p:cNvPr>
          <p:cNvSpPr txBox="1"/>
          <p:nvPr/>
        </p:nvSpPr>
        <p:spPr>
          <a:xfrm>
            <a:off x="1379417" y="-4194150"/>
            <a:ext cx="6172200" cy="83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1" dirty="0">
                <a:solidFill>
                  <a:srgbClr val="CBD5E1"/>
                </a:solidFill>
                <a:latin typeface="Inter Italics"/>
                <a:ea typeface="Inter Italics"/>
                <a:cs typeface="Inter Italics"/>
                <a:sym typeface="Inter Italics"/>
              </a:rPr>
              <a:t>“A scooter cranks but won't start. Walk me through your first three checks.”</a:t>
            </a:r>
          </a:p>
        </p:txBody>
      </p:sp>
      <p:grpSp>
        <p:nvGrpSpPr>
          <p:cNvPr id="124" name="Group 57">
            <a:extLst>
              <a:ext uri="{FF2B5EF4-FFF2-40B4-BE49-F238E27FC236}">
                <a16:creationId xmlns:a16="http://schemas.microsoft.com/office/drawing/2014/main" id="{ABD2F0A9-0A66-3C69-A6DC-2A18C262CEB3}"/>
              </a:ext>
            </a:extLst>
          </p:cNvPr>
          <p:cNvGrpSpPr/>
          <p:nvPr/>
        </p:nvGrpSpPr>
        <p:grpSpPr>
          <a:xfrm>
            <a:off x="17608296" y="-938470"/>
            <a:ext cx="822960" cy="411480"/>
            <a:chOff x="0" y="0"/>
            <a:chExt cx="1097280" cy="548640"/>
          </a:xfrm>
        </p:grpSpPr>
        <p:sp>
          <p:nvSpPr>
            <p:cNvPr id="125" name="Freeform 58">
              <a:extLst>
                <a:ext uri="{FF2B5EF4-FFF2-40B4-BE49-F238E27FC236}">
                  <a16:creationId xmlns:a16="http://schemas.microsoft.com/office/drawing/2014/main" id="{81310128-1317-C048-1314-F3A8C3DF2BCE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26" name="TextBox 59">
              <a:extLst>
                <a:ext uri="{FF2B5EF4-FFF2-40B4-BE49-F238E27FC236}">
                  <a16:creationId xmlns:a16="http://schemas.microsoft.com/office/drawing/2014/main" id="{687C61CF-F0BA-BFC5-BCC1-80B9EEE9DC4E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07</a:t>
              </a:r>
            </a:p>
          </p:txBody>
        </p:sp>
      </p:grpSp>
      <p:sp>
        <p:nvSpPr>
          <p:cNvPr id="127" name="Text 20">
            <a:extLst>
              <a:ext uri="{FF2B5EF4-FFF2-40B4-BE49-F238E27FC236}">
                <a16:creationId xmlns:a16="http://schemas.microsoft.com/office/drawing/2014/main" id="{FC1644A4-FF0B-51F0-7CB9-12B1097497C3}"/>
              </a:ext>
            </a:extLst>
          </p:cNvPr>
          <p:cNvSpPr txBox="1"/>
          <p:nvPr/>
        </p:nvSpPr>
        <p:spPr>
          <a:xfrm>
            <a:off x="8832238" y="-8139371"/>
            <a:ext cx="7305232" cy="826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128" name="Text 21">
            <a:extLst>
              <a:ext uri="{FF2B5EF4-FFF2-40B4-BE49-F238E27FC236}">
                <a16:creationId xmlns:a16="http://schemas.microsoft.com/office/drawing/2014/main" id="{29D21902-2DF0-8A9A-B86D-C58C41D418BC}"/>
              </a:ext>
            </a:extLst>
          </p:cNvPr>
          <p:cNvSpPr txBox="1"/>
          <p:nvPr/>
        </p:nvSpPr>
        <p:spPr>
          <a:xfrm>
            <a:off x="8786057" y="-7223497"/>
            <a:ext cx="718347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Starts from a 30–90 second voice note. AI extracts skill tags, each with a confidence score.</a:t>
            </a:r>
            <a:endParaRPr lang="en-US" sz="2000" dirty="0"/>
          </a:p>
        </p:txBody>
      </p:sp>
      <p:sp>
        <p:nvSpPr>
          <p:cNvPr id="129" name="Text 22">
            <a:extLst>
              <a:ext uri="{FF2B5EF4-FFF2-40B4-BE49-F238E27FC236}">
                <a16:creationId xmlns:a16="http://schemas.microsoft.com/office/drawing/2014/main" id="{C2C4BFC9-8343-880E-64E9-40EE95368769}"/>
              </a:ext>
            </a:extLst>
          </p:cNvPr>
          <p:cNvSpPr txBox="1"/>
          <p:nvPr/>
        </p:nvSpPr>
        <p:spPr>
          <a:xfrm>
            <a:off x="8786057" y="-6248400"/>
            <a:ext cx="718347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 short AI-generated task per skill checks the claim. It's conversational, so it doesn't recreate the paperwork burden.</a:t>
            </a:r>
            <a:endParaRPr lang="en-US" sz="2000" dirty="0"/>
          </a:p>
        </p:txBody>
      </p:sp>
      <p:sp>
        <p:nvSpPr>
          <p:cNvPr id="130" name="Text 23">
            <a:extLst>
              <a:ext uri="{FF2B5EF4-FFF2-40B4-BE49-F238E27FC236}">
                <a16:creationId xmlns:a16="http://schemas.microsoft.com/office/drawing/2014/main" id="{D04F8AFB-4879-37B0-F9A1-A0A40A91B28A}"/>
              </a:ext>
            </a:extLst>
          </p:cNvPr>
          <p:cNvSpPr txBox="1"/>
          <p:nvPr/>
        </p:nvSpPr>
        <p:spPr>
          <a:xfrm>
            <a:off x="8786057" y="-5147313"/>
            <a:ext cx="718347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 light identity check keeps peer connections safe. Skill verification is the real differentiator.</a:t>
            </a:r>
            <a:endParaRPr lang="en-US" sz="2000" dirty="0"/>
          </a:p>
        </p:txBody>
      </p:sp>
      <p:sp>
        <p:nvSpPr>
          <p:cNvPr id="131" name="Text 23">
            <a:extLst>
              <a:ext uri="{FF2B5EF4-FFF2-40B4-BE49-F238E27FC236}">
                <a16:creationId xmlns:a16="http://schemas.microsoft.com/office/drawing/2014/main" id="{3FEA2B6A-193B-C0B0-EAE1-B7528808804F}"/>
              </a:ext>
            </a:extLst>
          </p:cNvPr>
          <p:cNvSpPr txBox="1"/>
          <p:nvPr/>
        </p:nvSpPr>
        <p:spPr>
          <a:xfrm>
            <a:off x="8763934" y="-4000769"/>
            <a:ext cx="7183478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Framed as a confidence signal, never a certificate, and shareable by link or QR code.</a:t>
            </a:r>
            <a:endParaRPr lang="en-US" sz="2000" dirty="0"/>
          </a:p>
        </p:txBody>
      </p:sp>
      <p:grpSp>
        <p:nvGrpSpPr>
          <p:cNvPr id="132" name="Group 2">
            <a:extLst>
              <a:ext uri="{FF2B5EF4-FFF2-40B4-BE49-F238E27FC236}">
                <a16:creationId xmlns:a16="http://schemas.microsoft.com/office/drawing/2014/main" id="{36A48EC3-1134-3EA4-0091-BC0D4E9CE86C}"/>
              </a:ext>
            </a:extLst>
          </p:cNvPr>
          <p:cNvGrpSpPr/>
          <p:nvPr/>
        </p:nvGrpSpPr>
        <p:grpSpPr>
          <a:xfrm>
            <a:off x="914400" y="11452860"/>
            <a:ext cx="12344400" cy="480060"/>
            <a:chOff x="0" y="0"/>
            <a:chExt cx="16459200" cy="640080"/>
          </a:xfrm>
        </p:grpSpPr>
        <p:sp>
          <p:nvSpPr>
            <p:cNvPr id="133" name="Freeform 3">
              <a:extLst>
                <a:ext uri="{FF2B5EF4-FFF2-40B4-BE49-F238E27FC236}">
                  <a16:creationId xmlns:a16="http://schemas.microsoft.com/office/drawing/2014/main" id="{967DA405-0DA1-BEF5-1559-3629748E14F6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134" name="TextBox 4">
              <a:extLst>
                <a:ext uri="{FF2B5EF4-FFF2-40B4-BE49-F238E27FC236}">
                  <a16:creationId xmlns:a16="http://schemas.microsoft.com/office/drawing/2014/main" id="{545817C1-C1E5-443C-33C8-3C543EDD9AE1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 5 · DEEP DIVE</a:t>
              </a:r>
            </a:p>
          </p:txBody>
        </p:sp>
      </p:grpSp>
      <p:grpSp>
        <p:nvGrpSpPr>
          <p:cNvPr id="135" name="Group 5">
            <a:extLst>
              <a:ext uri="{FF2B5EF4-FFF2-40B4-BE49-F238E27FC236}">
                <a16:creationId xmlns:a16="http://schemas.microsoft.com/office/drawing/2014/main" id="{DCED0917-6C98-EFBD-02C4-44345806A54A}"/>
              </a:ext>
            </a:extLst>
          </p:cNvPr>
          <p:cNvGrpSpPr/>
          <p:nvPr/>
        </p:nvGrpSpPr>
        <p:grpSpPr>
          <a:xfrm>
            <a:off x="914400" y="11932920"/>
            <a:ext cx="16322040" cy="1234440"/>
            <a:chOff x="0" y="0"/>
            <a:chExt cx="21762720" cy="1645920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18155D9F-F843-36F6-63CF-AD8DCEFDE242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137" name="TextBox 7">
              <a:extLst>
                <a:ext uri="{FF2B5EF4-FFF2-40B4-BE49-F238E27FC236}">
                  <a16:creationId xmlns:a16="http://schemas.microsoft.com/office/drawing/2014/main" id="{B56818EE-43C0-85DA-33E3-C4E3F0AC8E04}"/>
                </a:ext>
              </a:extLst>
            </p:cNvPr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Peer network: nobody walks the path alone</a:t>
              </a:r>
            </a:p>
          </p:txBody>
        </p:sp>
      </p:grpSp>
      <p:grpSp>
        <p:nvGrpSpPr>
          <p:cNvPr id="138" name="Group 8">
            <a:extLst>
              <a:ext uri="{FF2B5EF4-FFF2-40B4-BE49-F238E27FC236}">
                <a16:creationId xmlns:a16="http://schemas.microsoft.com/office/drawing/2014/main" id="{6BAA4A47-5070-0BE0-2C81-F65FED18B217}"/>
              </a:ext>
            </a:extLst>
          </p:cNvPr>
          <p:cNvGrpSpPr/>
          <p:nvPr/>
        </p:nvGrpSpPr>
        <p:grpSpPr>
          <a:xfrm>
            <a:off x="904875" y="13569315"/>
            <a:ext cx="7700010" cy="6054090"/>
            <a:chOff x="0" y="0"/>
            <a:chExt cx="10266680" cy="8072120"/>
          </a:xfrm>
        </p:grpSpPr>
        <p:sp>
          <p:nvSpPr>
            <p:cNvPr id="139" name="Freeform 9">
              <a:extLst>
                <a:ext uri="{FF2B5EF4-FFF2-40B4-BE49-F238E27FC236}">
                  <a16:creationId xmlns:a16="http://schemas.microsoft.com/office/drawing/2014/main" id="{097B639B-55CD-BF7E-E3AC-A2E7778EEC89}"/>
                </a:ext>
              </a:extLst>
            </p:cNvPr>
            <p:cNvSpPr/>
            <p:nvPr/>
          </p:nvSpPr>
          <p:spPr>
            <a:xfrm>
              <a:off x="0" y="0"/>
              <a:ext cx="10266680" cy="8072120"/>
            </a:xfrm>
            <a:custGeom>
              <a:avLst/>
              <a:gdLst/>
              <a:ahLst/>
              <a:cxnLst/>
              <a:rect l="l" t="t" r="r" b="b"/>
              <a:pathLst>
                <a:path w="10266680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083165" y="0"/>
                  </a:lnTo>
                  <a:cubicBezTo>
                    <a:pt x="10184511" y="0"/>
                    <a:pt x="10266680" y="82169"/>
                    <a:pt x="10266680" y="183515"/>
                  </a:cubicBezTo>
                  <a:lnTo>
                    <a:pt x="10266680" y="7888605"/>
                  </a:lnTo>
                  <a:cubicBezTo>
                    <a:pt x="10266680" y="7989951"/>
                    <a:pt x="10184511" y="8072120"/>
                    <a:pt x="10083165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40" name="Group 10">
            <a:extLst>
              <a:ext uri="{FF2B5EF4-FFF2-40B4-BE49-F238E27FC236}">
                <a16:creationId xmlns:a16="http://schemas.microsoft.com/office/drawing/2014/main" id="{9F117336-FB5B-45A6-AC62-BA3A57F5A69D}"/>
              </a:ext>
            </a:extLst>
          </p:cNvPr>
          <p:cNvGrpSpPr/>
          <p:nvPr/>
        </p:nvGrpSpPr>
        <p:grpSpPr>
          <a:xfrm>
            <a:off x="1325880" y="13921740"/>
            <a:ext cx="6858000" cy="480060"/>
            <a:chOff x="0" y="0"/>
            <a:chExt cx="9144000" cy="640080"/>
          </a:xfrm>
        </p:grpSpPr>
        <p:sp>
          <p:nvSpPr>
            <p:cNvPr id="141" name="Freeform 11">
              <a:extLst>
                <a:ext uri="{FF2B5EF4-FFF2-40B4-BE49-F238E27FC236}">
                  <a16:creationId xmlns:a16="http://schemas.microsoft.com/office/drawing/2014/main" id="{4F8BBC90-9512-7507-0111-8C58FB09FA94}"/>
                </a:ext>
              </a:extLst>
            </p:cNvPr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42" name="TextBox 12">
              <a:extLst>
                <a:ext uri="{FF2B5EF4-FFF2-40B4-BE49-F238E27FC236}">
                  <a16:creationId xmlns:a16="http://schemas.microsoft.com/office/drawing/2014/main" id="{2F869DC9-0627-E7F3-DB25-69B46D85B4B3}"/>
                </a:ext>
              </a:extLst>
            </p:cNvPr>
            <p:cNvSpPr txBox="1"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What a member sees</a:t>
              </a:r>
            </a:p>
          </p:txBody>
        </p:sp>
      </p:grpSp>
      <p:grpSp>
        <p:nvGrpSpPr>
          <p:cNvPr id="143" name="Group 13">
            <a:extLst>
              <a:ext uri="{FF2B5EF4-FFF2-40B4-BE49-F238E27FC236}">
                <a16:creationId xmlns:a16="http://schemas.microsoft.com/office/drawing/2014/main" id="{984A867F-2703-DC9F-3BD1-69196234377C}"/>
              </a:ext>
            </a:extLst>
          </p:cNvPr>
          <p:cNvGrpSpPr/>
          <p:nvPr/>
        </p:nvGrpSpPr>
        <p:grpSpPr>
          <a:xfrm>
            <a:off x="1316355" y="14598015"/>
            <a:ext cx="6877050" cy="1253490"/>
            <a:chOff x="0" y="0"/>
            <a:chExt cx="9169400" cy="1671320"/>
          </a:xfrm>
        </p:grpSpPr>
        <p:sp>
          <p:nvSpPr>
            <p:cNvPr id="144" name="Freeform 14">
              <a:extLst>
                <a:ext uri="{FF2B5EF4-FFF2-40B4-BE49-F238E27FC236}">
                  <a16:creationId xmlns:a16="http://schemas.microsoft.com/office/drawing/2014/main" id="{452BB362-9C00-F627-0264-7064CA39F37D}"/>
                </a:ext>
              </a:extLst>
            </p:cNvPr>
            <p:cNvSpPr/>
            <p:nvPr/>
          </p:nvSpPr>
          <p:spPr>
            <a:xfrm>
              <a:off x="0" y="0"/>
              <a:ext cx="9169400" cy="1671320"/>
            </a:xfrm>
            <a:custGeom>
              <a:avLst/>
              <a:gdLst/>
              <a:ahLst/>
              <a:cxnLst/>
              <a:rect l="l" t="t" r="r" b="b"/>
              <a:pathLst>
                <a:path w="9169400" h="1671320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8983726" y="0"/>
                  </a:lnTo>
                  <a:cubicBezTo>
                    <a:pt x="9086215" y="0"/>
                    <a:pt x="9169400" y="83185"/>
                    <a:pt x="9169400" y="185674"/>
                  </a:cubicBezTo>
                  <a:lnTo>
                    <a:pt x="9169400" y="1485646"/>
                  </a:lnTo>
                  <a:cubicBezTo>
                    <a:pt x="9169400" y="1588262"/>
                    <a:pt x="9086215" y="1671320"/>
                    <a:pt x="8983726" y="1671320"/>
                  </a:cubicBezTo>
                  <a:lnTo>
                    <a:pt x="185674" y="1671320"/>
                  </a:lnTo>
                  <a:cubicBezTo>
                    <a:pt x="83185" y="1671320"/>
                    <a:pt x="0" y="1588135"/>
                    <a:pt x="0" y="148564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45" name="Group 15">
            <a:extLst>
              <a:ext uri="{FF2B5EF4-FFF2-40B4-BE49-F238E27FC236}">
                <a16:creationId xmlns:a16="http://schemas.microsoft.com/office/drawing/2014/main" id="{580A4897-B9AF-9CB5-F11D-791FC612716B}"/>
              </a:ext>
            </a:extLst>
          </p:cNvPr>
          <p:cNvGrpSpPr/>
          <p:nvPr/>
        </p:nvGrpSpPr>
        <p:grpSpPr>
          <a:xfrm>
            <a:off x="1668780" y="14744700"/>
            <a:ext cx="6172200" cy="411480"/>
            <a:chOff x="0" y="0"/>
            <a:chExt cx="8229600" cy="548640"/>
          </a:xfrm>
        </p:grpSpPr>
        <p:sp>
          <p:nvSpPr>
            <p:cNvPr id="146" name="Freeform 16">
              <a:extLst>
                <a:ext uri="{FF2B5EF4-FFF2-40B4-BE49-F238E27FC236}">
                  <a16:creationId xmlns:a16="http://schemas.microsoft.com/office/drawing/2014/main" id="{04E0D4E2-EE17-C538-FDFA-FE75FA66343C}"/>
                </a:ext>
              </a:extLst>
            </p:cNvPr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47" name="TextBox 17">
              <a:extLst>
                <a:ext uri="{FF2B5EF4-FFF2-40B4-BE49-F238E27FC236}">
                  <a16:creationId xmlns:a16="http://schemas.microsoft.com/office/drawing/2014/main" id="{19505B44-D8C2-6415-2E6F-9F6B09AA7D73}"/>
                </a:ext>
              </a:extLst>
            </p:cNvPr>
            <p:cNvSpPr txBox="1"/>
            <p:nvPr/>
          </p:nvSpPr>
          <p:spPr>
            <a:xfrm>
              <a:off x="0" y="-9525"/>
              <a:ext cx="8229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Peer study group</a:t>
              </a:r>
            </a:p>
          </p:txBody>
        </p:sp>
      </p:grpSp>
      <p:sp>
        <p:nvSpPr>
          <p:cNvPr id="148" name="TextBox 18">
            <a:extLst>
              <a:ext uri="{FF2B5EF4-FFF2-40B4-BE49-F238E27FC236}">
                <a16:creationId xmlns:a16="http://schemas.microsoft.com/office/drawing/2014/main" id="{BFEB4400-42C0-424B-37C2-07EEDE021377}"/>
              </a:ext>
            </a:extLst>
          </p:cNvPr>
          <p:cNvSpPr txBox="1"/>
          <p:nvPr/>
        </p:nvSpPr>
        <p:spPr>
          <a:xfrm>
            <a:off x="1668780" y="15183612"/>
            <a:ext cx="61722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 verified members preparing for the same exam</a:t>
            </a:r>
          </a:p>
        </p:txBody>
      </p:sp>
      <p:grpSp>
        <p:nvGrpSpPr>
          <p:cNvPr id="149" name="Group 19">
            <a:extLst>
              <a:ext uri="{FF2B5EF4-FFF2-40B4-BE49-F238E27FC236}">
                <a16:creationId xmlns:a16="http://schemas.microsoft.com/office/drawing/2014/main" id="{B0CE5398-6E0B-562D-F9B6-D036AE834180}"/>
              </a:ext>
            </a:extLst>
          </p:cNvPr>
          <p:cNvGrpSpPr/>
          <p:nvPr/>
        </p:nvGrpSpPr>
        <p:grpSpPr>
          <a:xfrm>
            <a:off x="1316355" y="16038195"/>
            <a:ext cx="6877050" cy="1253490"/>
            <a:chOff x="0" y="0"/>
            <a:chExt cx="9169400" cy="1671320"/>
          </a:xfrm>
        </p:grpSpPr>
        <p:sp>
          <p:nvSpPr>
            <p:cNvPr id="150" name="Freeform 20">
              <a:extLst>
                <a:ext uri="{FF2B5EF4-FFF2-40B4-BE49-F238E27FC236}">
                  <a16:creationId xmlns:a16="http://schemas.microsoft.com/office/drawing/2014/main" id="{9FFA1211-8F79-173B-152C-F21653ACA6BD}"/>
                </a:ext>
              </a:extLst>
            </p:cNvPr>
            <p:cNvSpPr/>
            <p:nvPr/>
          </p:nvSpPr>
          <p:spPr>
            <a:xfrm>
              <a:off x="0" y="0"/>
              <a:ext cx="9169400" cy="1671320"/>
            </a:xfrm>
            <a:custGeom>
              <a:avLst/>
              <a:gdLst/>
              <a:ahLst/>
              <a:cxnLst/>
              <a:rect l="l" t="t" r="r" b="b"/>
              <a:pathLst>
                <a:path w="9169400" h="1671320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8983726" y="0"/>
                  </a:lnTo>
                  <a:cubicBezTo>
                    <a:pt x="9086215" y="0"/>
                    <a:pt x="9169400" y="83185"/>
                    <a:pt x="9169400" y="185674"/>
                  </a:cubicBezTo>
                  <a:lnTo>
                    <a:pt x="9169400" y="1485646"/>
                  </a:lnTo>
                  <a:cubicBezTo>
                    <a:pt x="9169400" y="1588262"/>
                    <a:pt x="9086215" y="1671320"/>
                    <a:pt x="8983726" y="1671320"/>
                  </a:cubicBezTo>
                  <a:lnTo>
                    <a:pt x="185674" y="1671320"/>
                  </a:lnTo>
                  <a:cubicBezTo>
                    <a:pt x="83185" y="1671320"/>
                    <a:pt x="0" y="1588135"/>
                    <a:pt x="0" y="148564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51" name="Group 21">
            <a:extLst>
              <a:ext uri="{FF2B5EF4-FFF2-40B4-BE49-F238E27FC236}">
                <a16:creationId xmlns:a16="http://schemas.microsoft.com/office/drawing/2014/main" id="{03F16E1C-F0B2-6651-461E-0F62827B5B71}"/>
              </a:ext>
            </a:extLst>
          </p:cNvPr>
          <p:cNvGrpSpPr/>
          <p:nvPr/>
        </p:nvGrpSpPr>
        <p:grpSpPr>
          <a:xfrm>
            <a:off x="1668780" y="16184880"/>
            <a:ext cx="6172200" cy="411480"/>
            <a:chOff x="0" y="0"/>
            <a:chExt cx="8229600" cy="548640"/>
          </a:xfrm>
        </p:grpSpPr>
        <p:sp>
          <p:nvSpPr>
            <p:cNvPr id="152" name="Freeform 22">
              <a:extLst>
                <a:ext uri="{FF2B5EF4-FFF2-40B4-BE49-F238E27FC236}">
                  <a16:creationId xmlns:a16="http://schemas.microsoft.com/office/drawing/2014/main" id="{B9682819-522C-F9AE-0EC7-80D840B7B648}"/>
                </a:ext>
              </a:extLst>
            </p:cNvPr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53" name="TextBox 23">
              <a:extLst>
                <a:ext uri="{FF2B5EF4-FFF2-40B4-BE49-F238E27FC236}">
                  <a16:creationId xmlns:a16="http://schemas.microsoft.com/office/drawing/2014/main" id="{B7018901-7ACD-DC4E-55EA-025C092FC5DF}"/>
                </a:ext>
              </a:extLst>
            </p:cNvPr>
            <p:cNvSpPr txBox="1"/>
            <p:nvPr/>
          </p:nvSpPr>
          <p:spPr>
            <a:xfrm>
              <a:off x="0" y="-9525"/>
              <a:ext cx="8229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Mentor match</a:t>
              </a:r>
            </a:p>
          </p:txBody>
        </p:sp>
      </p:grpSp>
      <p:sp>
        <p:nvSpPr>
          <p:cNvPr id="154" name="TextBox 24">
            <a:extLst>
              <a:ext uri="{FF2B5EF4-FFF2-40B4-BE49-F238E27FC236}">
                <a16:creationId xmlns:a16="http://schemas.microsoft.com/office/drawing/2014/main" id="{1EAB20B6-2013-1028-7D0E-6A27D9994ED8}"/>
              </a:ext>
            </a:extLst>
          </p:cNvPr>
          <p:cNvSpPr txBox="1"/>
          <p:nvPr/>
        </p:nvSpPr>
        <p:spPr>
          <a:xfrm>
            <a:off x="1668780" y="16623792"/>
            <a:ext cx="61722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Someone who cleared it two years ago, verified</a:t>
            </a:r>
          </a:p>
        </p:txBody>
      </p:sp>
      <p:grpSp>
        <p:nvGrpSpPr>
          <p:cNvPr id="155" name="Group 25">
            <a:extLst>
              <a:ext uri="{FF2B5EF4-FFF2-40B4-BE49-F238E27FC236}">
                <a16:creationId xmlns:a16="http://schemas.microsoft.com/office/drawing/2014/main" id="{EE94DE9C-D9CB-1616-38D2-F6E057EF4E65}"/>
              </a:ext>
            </a:extLst>
          </p:cNvPr>
          <p:cNvGrpSpPr/>
          <p:nvPr/>
        </p:nvGrpSpPr>
        <p:grpSpPr>
          <a:xfrm>
            <a:off x="1316355" y="17478375"/>
            <a:ext cx="6877050" cy="1253490"/>
            <a:chOff x="0" y="0"/>
            <a:chExt cx="9169400" cy="1671320"/>
          </a:xfrm>
        </p:grpSpPr>
        <p:sp>
          <p:nvSpPr>
            <p:cNvPr id="156" name="Freeform 26">
              <a:extLst>
                <a:ext uri="{FF2B5EF4-FFF2-40B4-BE49-F238E27FC236}">
                  <a16:creationId xmlns:a16="http://schemas.microsoft.com/office/drawing/2014/main" id="{8A638BB0-5520-0937-9506-2048D0DBB9E7}"/>
                </a:ext>
              </a:extLst>
            </p:cNvPr>
            <p:cNvSpPr/>
            <p:nvPr/>
          </p:nvSpPr>
          <p:spPr>
            <a:xfrm>
              <a:off x="0" y="0"/>
              <a:ext cx="9169400" cy="1671320"/>
            </a:xfrm>
            <a:custGeom>
              <a:avLst/>
              <a:gdLst/>
              <a:ahLst/>
              <a:cxnLst/>
              <a:rect l="l" t="t" r="r" b="b"/>
              <a:pathLst>
                <a:path w="9169400" h="1671320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8983726" y="0"/>
                  </a:lnTo>
                  <a:cubicBezTo>
                    <a:pt x="9086215" y="0"/>
                    <a:pt x="9169400" y="83185"/>
                    <a:pt x="9169400" y="185674"/>
                  </a:cubicBezTo>
                  <a:lnTo>
                    <a:pt x="9169400" y="1485646"/>
                  </a:lnTo>
                  <a:cubicBezTo>
                    <a:pt x="9169400" y="1588262"/>
                    <a:pt x="9086215" y="1671320"/>
                    <a:pt x="8983726" y="1671320"/>
                  </a:cubicBezTo>
                  <a:lnTo>
                    <a:pt x="185674" y="1671320"/>
                  </a:lnTo>
                  <a:cubicBezTo>
                    <a:pt x="83185" y="1671320"/>
                    <a:pt x="0" y="1588135"/>
                    <a:pt x="0" y="148564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57" name="Group 27">
            <a:extLst>
              <a:ext uri="{FF2B5EF4-FFF2-40B4-BE49-F238E27FC236}">
                <a16:creationId xmlns:a16="http://schemas.microsoft.com/office/drawing/2014/main" id="{51696CD9-64E0-0A31-AAB1-557CD365D90B}"/>
              </a:ext>
            </a:extLst>
          </p:cNvPr>
          <p:cNvGrpSpPr/>
          <p:nvPr/>
        </p:nvGrpSpPr>
        <p:grpSpPr>
          <a:xfrm>
            <a:off x="1668780" y="17625060"/>
            <a:ext cx="6172200" cy="411480"/>
            <a:chOff x="0" y="0"/>
            <a:chExt cx="8229600" cy="548640"/>
          </a:xfrm>
        </p:grpSpPr>
        <p:sp>
          <p:nvSpPr>
            <p:cNvPr id="158" name="Freeform 28">
              <a:extLst>
                <a:ext uri="{FF2B5EF4-FFF2-40B4-BE49-F238E27FC236}">
                  <a16:creationId xmlns:a16="http://schemas.microsoft.com/office/drawing/2014/main" id="{823BB76F-F07A-C707-BB8E-FB3D01076035}"/>
                </a:ext>
              </a:extLst>
            </p:cNvPr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59" name="TextBox 29">
              <a:extLst>
                <a:ext uri="{FF2B5EF4-FFF2-40B4-BE49-F238E27FC236}">
                  <a16:creationId xmlns:a16="http://schemas.microsoft.com/office/drawing/2014/main" id="{D521AC0E-79E2-3976-83EF-B98A7924AE37}"/>
                </a:ext>
              </a:extLst>
            </p:cNvPr>
            <p:cNvSpPr txBox="1"/>
            <p:nvPr/>
          </p:nvSpPr>
          <p:spPr>
            <a:xfrm>
              <a:off x="0" y="-9525"/>
              <a:ext cx="8229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Referral</a:t>
              </a:r>
            </a:p>
          </p:txBody>
        </p:sp>
      </p:grpSp>
      <p:sp>
        <p:nvSpPr>
          <p:cNvPr id="160" name="TextBox 30">
            <a:extLst>
              <a:ext uri="{FF2B5EF4-FFF2-40B4-BE49-F238E27FC236}">
                <a16:creationId xmlns:a16="http://schemas.microsoft.com/office/drawing/2014/main" id="{08163E4D-7AEC-5AFF-D0D9-73A730F39095}"/>
              </a:ext>
            </a:extLst>
          </p:cNvPr>
          <p:cNvSpPr txBox="1"/>
          <p:nvPr/>
        </p:nvSpPr>
        <p:spPr>
          <a:xfrm>
            <a:off x="1668780" y="18063972"/>
            <a:ext cx="61722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mentor vouches for you to a local employer</a:t>
            </a:r>
          </a:p>
        </p:txBody>
      </p:sp>
      <p:grpSp>
        <p:nvGrpSpPr>
          <p:cNvPr id="161" name="Group 31">
            <a:extLst>
              <a:ext uri="{FF2B5EF4-FFF2-40B4-BE49-F238E27FC236}">
                <a16:creationId xmlns:a16="http://schemas.microsoft.com/office/drawing/2014/main" id="{6D74D1C6-3D06-43B9-2BE8-0D56AFCDC3B6}"/>
              </a:ext>
            </a:extLst>
          </p:cNvPr>
          <p:cNvGrpSpPr/>
          <p:nvPr/>
        </p:nvGrpSpPr>
        <p:grpSpPr>
          <a:xfrm>
            <a:off x="1325880" y="18996660"/>
            <a:ext cx="6858000" cy="411480"/>
            <a:chOff x="0" y="0"/>
            <a:chExt cx="9144000" cy="548640"/>
          </a:xfrm>
        </p:grpSpPr>
        <p:sp>
          <p:nvSpPr>
            <p:cNvPr id="162" name="Freeform 32">
              <a:extLst>
                <a:ext uri="{FF2B5EF4-FFF2-40B4-BE49-F238E27FC236}">
                  <a16:creationId xmlns:a16="http://schemas.microsoft.com/office/drawing/2014/main" id="{1697253A-12AA-C0CD-2AA3-A6A340B7AECE}"/>
                </a:ext>
              </a:extLst>
            </p:cNvPr>
            <p:cNvSpPr/>
            <p:nvPr/>
          </p:nvSpPr>
          <p:spPr>
            <a:xfrm>
              <a:off x="0" y="0"/>
              <a:ext cx="9144000" cy="548640"/>
            </a:xfrm>
            <a:custGeom>
              <a:avLst/>
              <a:gdLst/>
              <a:ahLst/>
              <a:cxnLst/>
              <a:rect l="l" t="t" r="r" b="b"/>
              <a:pathLst>
                <a:path w="9144000" h="54864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163" name="TextBox 33">
              <a:extLst>
                <a:ext uri="{FF2B5EF4-FFF2-40B4-BE49-F238E27FC236}">
                  <a16:creationId xmlns:a16="http://schemas.microsoft.com/office/drawing/2014/main" id="{99302BD2-0A04-CE0A-8D2A-205282EC8971}"/>
                </a:ext>
              </a:extLst>
            </p:cNvPr>
            <p:cNvSpPr txBox="1"/>
            <p:nvPr/>
          </p:nvSpPr>
          <p:spPr>
            <a:xfrm>
              <a:off x="0" y="-9525"/>
              <a:ext cx="91440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94A3B8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Illustrative examples</a:t>
              </a:r>
            </a:p>
          </p:txBody>
        </p:sp>
      </p:grpSp>
      <p:grpSp>
        <p:nvGrpSpPr>
          <p:cNvPr id="164" name="Group 34">
            <a:extLst>
              <a:ext uri="{FF2B5EF4-FFF2-40B4-BE49-F238E27FC236}">
                <a16:creationId xmlns:a16="http://schemas.microsoft.com/office/drawing/2014/main" id="{97F54415-D23B-A044-D785-A1CEBD2C7B69}"/>
              </a:ext>
            </a:extLst>
          </p:cNvPr>
          <p:cNvGrpSpPr/>
          <p:nvPr/>
        </p:nvGrpSpPr>
        <p:grpSpPr>
          <a:xfrm>
            <a:off x="9144000" y="13578840"/>
            <a:ext cx="8229600" cy="548640"/>
            <a:chOff x="0" y="0"/>
            <a:chExt cx="10972800" cy="731520"/>
          </a:xfrm>
        </p:grpSpPr>
        <p:sp>
          <p:nvSpPr>
            <p:cNvPr id="165" name="Freeform 35">
              <a:extLst>
                <a:ext uri="{FF2B5EF4-FFF2-40B4-BE49-F238E27FC236}">
                  <a16:creationId xmlns:a16="http://schemas.microsoft.com/office/drawing/2014/main" id="{D2B4B735-3087-7FD0-FC8E-1602FB05D629}"/>
                </a:ext>
              </a:extLst>
            </p:cNvPr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66" name="TextBox 36">
              <a:extLst>
                <a:ext uri="{FF2B5EF4-FFF2-40B4-BE49-F238E27FC236}">
                  <a16:creationId xmlns:a16="http://schemas.microsoft.com/office/drawing/2014/main" id="{3BA7C14A-6CAA-93EA-593C-2678D17D5A17}"/>
                </a:ext>
              </a:extLst>
            </p:cNvPr>
            <p:cNvSpPr txBox="1"/>
            <p:nvPr/>
          </p:nvSpPr>
          <p:spPr>
            <a:xfrm>
              <a:off x="0" y="0"/>
              <a:ext cx="10972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Why peer connection</a:t>
              </a:r>
            </a:p>
          </p:txBody>
        </p:sp>
      </p:grpSp>
      <p:sp>
        <p:nvSpPr>
          <p:cNvPr id="167" name="TextBox 37">
            <a:extLst>
              <a:ext uri="{FF2B5EF4-FFF2-40B4-BE49-F238E27FC236}">
                <a16:creationId xmlns:a16="http://schemas.microsoft.com/office/drawing/2014/main" id="{23B6FA9D-0C64-0AB7-99D5-B856C41FE399}"/>
              </a:ext>
            </a:extLst>
          </p:cNvPr>
          <p:cNvSpPr txBox="1"/>
          <p:nvPr/>
        </p:nvSpPr>
        <p:spPr>
          <a:xfrm>
            <a:off x="9144000" y="14188440"/>
            <a:ext cx="8092440" cy="131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Groups form around a shared goal, such as the same exam or the same skill gap.</a:t>
            </a:r>
          </a:p>
        </p:txBody>
      </p:sp>
      <p:sp>
        <p:nvSpPr>
          <p:cNvPr id="168" name="TextBox 38">
            <a:extLst>
              <a:ext uri="{FF2B5EF4-FFF2-40B4-BE49-F238E27FC236}">
                <a16:creationId xmlns:a16="http://schemas.microsoft.com/office/drawing/2014/main" id="{7BAC5F69-3020-9399-5858-942E7F30F123}"/>
              </a:ext>
            </a:extLst>
          </p:cNvPr>
          <p:cNvSpPr txBox="1"/>
          <p:nvPr/>
        </p:nvSpPr>
        <p:spPr>
          <a:xfrm>
            <a:off x="9144000" y="15491460"/>
            <a:ext cx="8092440" cy="131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Verified mentors who made the same journey give practical advice and referrals.</a:t>
            </a:r>
          </a:p>
        </p:txBody>
      </p:sp>
      <p:sp>
        <p:nvSpPr>
          <p:cNvPr id="169" name="TextBox 39">
            <a:extLst>
              <a:ext uri="{FF2B5EF4-FFF2-40B4-BE49-F238E27FC236}">
                <a16:creationId xmlns:a16="http://schemas.microsoft.com/office/drawing/2014/main" id="{3DE27762-034C-1EF3-E558-913B4C62F0D5}"/>
              </a:ext>
            </a:extLst>
          </p:cNvPr>
          <p:cNvSpPr txBox="1"/>
          <p:nvPr/>
        </p:nvSpPr>
        <p:spPr>
          <a:xfrm>
            <a:off x="9144000" y="16794480"/>
            <a:ext cx="8092440" cy="131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Verification keeps it safe: only verified members can message, with reporting built in and no contact details shared by default.</a:t>
            </a:r>
          </a:p>
        </p:txBody>
      </p:sp>
      <p:sp>
        <p:nvSpPr>
          <p:cNvPr id="170" name="TextBox 40">
            <a:extLst>
              <a:ext uri="{FF2B5EF4-FFF2-40B4-BE49-F238E27FC236}">
                <a16:creationId xmlns:a16="http://schemas.microsoft.com/office/drawing/2014/main" id="{BC656DA2-F543-39A6-5B89-4A9FAF754009}"/>
              </a:ext>
            </a:extLst>
          </p:cNvPr>
          <p:cNvSpPr txBox="1"/>
          <p:nvPr/>
        </p:nvSpPr>
        <p:spPr>
          <a:xfrm>
            <a:off x="9144000" y="18097500"/>
            <a:ext cx="8092440" cy="131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Referrals and guidance decide who gets hired. This gives people without a network one.</a:t>
            </a:r>
          </a:p>
        </p:txBody>
      </p:sp>
      <p:grpSp>
        <p:nvGrpSpPr>
          <p:cNvPr id="171" name="Group 41">
            <a:extLst>
              <a:ext uri="{FF2B5EF4-FFF2-40B4-BE49-F238E27FC236}">
                <a16:creationId xmlns:a16="http://schemas.microsoft.com/office/drawing/2014/main" id="{10B5A67E-9194-1ABF-9303-29EDD3B2717B}"/>
              </a:ext>
            </a:extLst>
          </p:cNvPr>
          <p:cNvGrpSpPr/>
          <p:nvPr/>
        </p:nvGrpSpPr>
        <p:grpSpPr>
          <a:xfrm>
            <a:off x="17167860" y="20574000"/>
            <a:ext cx="822960" cy="411480"/>
            <a:chOff x="0" y="0"/>
            <a:chExt cx="1097280" cy="548640"/>
          </a:xfrm>
        </p:grpSpPr>
        <p:sp>
          <p:nvSpPr>
            <p:cNvPr id="172" name="Freeform 42">
              <a:extLst>
                <a:ext uri="{FF2B5EF4-FFF2-40B4-BE49-F238E27FC236}">
                  <a16:creationId xmlns:a16="http://schemas.microsoft.com/office/drawing/2014/main" id="{129DD53F-0D3D-B7F1-2B78-7F149FB73613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73" name="TextBox 43">
              <a:extLst>
                <a:ext uri="{FF2B5EF4-FFF2-40B4-BE49-F238E27FC236}">
                  <a16:creationId xmlns:a16="http://schemas.microsoft.com/office/drawing/2014/main" id="{B0D9D2DF-1A7F-F813-AE4D-954CE0D62FD4}"/>
                </a:ext>
              </a:extLst>
            </p:cNvPr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09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 5 · DEEP DIVE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097280"/>
            <a:ext cx="16322040" cy="1234440"/>
            <a:chOff x="0" y="0"/>
            <a:chExt cx="2176272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Peer network: nobody walks the path alone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595" y="2733675"/>
            <a:ext cx="7700010" cy="6054090"/>
            <a:chOff x="0" y="0"/>
            <a:chExt cx="10266680" cy="8072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66680" cy="8072120"/>
            </a:xfrm>
            <a:custGeom>
              <a:avLst/>
              <a:gdLst/>
              <a:ahLst/>
              <a:cxnLst/>
              <a:rect l="l" t="t" r="r" b="b"/>
              <a:pathLst>
                <a:path w="10266680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083165" y="0"/>
                  </a:lnTo>
                  <a:cubicBezTo>
                    <a:pt x="10184511" y="0"/>
                    <a:pt x="10266680" y="82169"/>
                    <a:pt x="10266680" y="183515"/>
                  </a:cubicBezTo>
                  <a:lnTo>
                    <a:pt x="10266680" y="7888605"/>
                  </a:lnTo>
                  <a:cubicBezTo>
                    <a:pt x="10266680" y="7989951"/>
                    <a:pt x="10184511" y="8072120"/>
                    <a:pt x="10083165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371600" y="3086100"/>
            <a:ext cx="6858000" cy="480060"/>
            <a:chOff x="0" y="0"/>
            <a:chExt cx="91440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What a member sees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62075" y="3762375"/>
            <a:ext cx="6877050" cy="1253490"/>
            <a:chOff x="0" y="0"/>
            <a:chExt cx="9169400" cy="16713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69400" cy="1671320"/>
            </a:xfrm>
            <a:custGeom>
              <a:avLst/>
              <a:gdLst/>
              <a:ahLst/>
              <a:cxnLst/>
              <a:rect l="l" t="t" r="r" b="b"/>
              <a:pathLst>
                <a:path w="9169400" h="1671320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8983726" y="0"/>
                  </a:lnTo>
                  <a:cubicBezTo>
                    <a:pt x="9086215" y="0"/>
                    <a:pt x="9169400" y="83185"/>
                    <a:pt x="9169400" y="185674"/>
                  </a:cubicBezTo>
                  <a:lnTo>
                    <a:pt x="9169400" y="1485646"/>
                  </a:lnTo>
                  <a:cubicBezTo>
                    <a:pt x="9169400" y="1588262"/>
                    <a:pt x="9086215" y="1671320"/>
                    <a:pt x="8983726" y="1671320"/>
                  </a:cubicBezTo>
                  <a:lnTo>
                    <a:pt x="185674" y="1671320"/>
                  </a:lnTo>
                  <a:cubicBezTo>
                    <a:pt x="83185" y="1671320"/>
                    <a:pt x="0" y="1588135"/>
                    <a:pt x="0" y="148564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714500" y="3909060"/>
            <a:ext cx="6172200" cy="411480"/>
            <a:chOff x="0" y="0"/>
            <a:chExt cx="8229600" cy="5486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8229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Peer study group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14500" y="4347972"/>
            <a:ext cx="61722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 verified members preparing for the same exam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62075" y="5202555"/>
            <a:ext cx="6877050" cy="1253490"/>
            <a:chOff x="0" y="0"/>
            <a:chExt cx="9169400" cy="16713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69400" cy="1671320"/>
            </a:xfrm>
            <a:custGeom>
              <a:avLst/>
              <a:gdLst/>
              <a:ahLst/>
              <a:cxnLst/>
              <a:rect l="l" t="t" r="r" b="b"/>
              <a:pathLst>
                <a:path w="9169400" h="1671320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8983726" y="0"/>
                  </a:lnTo>
                  <a:cubicBezTo>
                    <a:pt x="9086215" y="0"/>
                    <a:pt x="9169400" y="83185"/>
                    <a:pt x="9169400" y="185674"/>
                  </a:cubicBezTo>
                  <a:lnTo>
                    <a:pt x="9169400" y="1485646"/>
                  </a:lnTo>
                  <a:cubicBezTo>
                    <a:pt x="9169400" y="1588262"/>
                    <a:pt x="9086215" y="1671320"/>
                    <a:pt x="8983726" y="1671320"/>
                  </a:cubicBezTo>
                  <a:lnTo>
                    <a:pt x="185674" y="1671320"/>
                  </a:lnTo>
                  <a:cubicBezTo>
                    <a:pt x="83185" y="1671320"/>
                    <a:pt x="0" y="1588135"/>
                    <a:pt x="0" y="148564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714500" y="5349240"/>
            <a:ext cx="6172200" cy="411480"/>
            <a:chOff x="0" y="0"/>
            <a:chExt cx="8229600" cy="5486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8229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Mentor match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714500" y="5788152"/>
            <a:ext cx="61722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Someone who cleared it two years ago, verified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362075" y="6642735"/>
            <a:ext cx="6877050" cy="1253490"/>
            <a:chOff x="0" y="0"/>
            <a:chExt cx="9169400" cy="16713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69400" cy="1671320"/>
            </a:xfrm>
            <a:custGeom>
              <a:avLst/>
              <a:gdLst/>
              <a:ahLst/>
              <a:cxnLst/>
              <a:rect l="l" t="t" r="r" b="b"/>
              <a:pathLst>
                <a:path w="9169400" h="1671320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8983726" y="0"/>
                  </a:lnTo>
                  <a:cubicBezTo>
                    <a:pt x="9086215" y="0"/>
                    <a:pt x="9169400" y="83185"/>
                    <a:pt x="9169400" y="185674"/>
                  </a:cubicBezTo>
                  <a:lnTo>
                    <a:pt x="9169400" y="1485646"/>
                  </a:lnTo>
                  <a:cubicBezTo>
                    <a:pt x="9169400" y="1588262"/>
                    <a:pt x="9086215" y="1671320"/>
                    <a:pt x="8983726" y="1671320"/>
                  </a:cubicBezTo>
                  <a:lnTo>
                    <a:pt x="185674" y="1671320"/>
                  </a:lnTo>
                  <a:cubicBezTo>
                    <a:pt x="83185" y="1671320"/>
                    <a:pt x="0" y="1588135"/>
                    <a:pt x="0" y="148564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714500" y="6789420"/>
            <a:ext cx="6172200" cy="411480"/>
            <a:chOff x="0" y="0"/>
            <a:chExt cx="8229600" cy="5486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8229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Referral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714500" y="7228332"/>
            <a:ext cx="61722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mentor vouches for you to a local employer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371600" y="8161020"/>
            <a:ext cx="6858000" cy="411480"/>
            <a:chOff x="0" y="0"/>
            <a:chExt cx="9144000" cy="548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144000" cy="548640"/>
            </a:xfrm>
            <a:custGeom>
              <a:avLst/>
              <a:gdLst/>
              <a:ahLst/>
              <a:cxnLst/>
              <a:rect l="l" t="t" r="r" b="b"/>
              <a:pathLst>
                <a:path w="9144000" h="54864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91440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94A3B8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Illustrative examples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189720" y="2743200"/>
            <a:ext cx="8229600" cy="548640"/>
            <a:chOff x="0" y="0"/>
            <a:chExt cx="10972800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0972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Why peer connection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189720" y="3352800"/>
            <a:ext cx="8092440" cy="131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Groups form around a shared goal, such as the same exam or the same skill gap.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89720" y="4655820"/>
            <a:ext cx="8092440" cy="131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Verified mentors who made the same journey give practical advice and referrals.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89720" y="5958840"/>
            <a:ext cx="8092440" cy="131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Verification keeps it safe: only verified members can message, with reporting built in and no contact details shared by default.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189720" y="7261860"/>
            <a:ext cx="8092440" cy="131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Referrals and guidance decide who gets hired. This gives people without a network one.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09</a:t>
              </a:r>
            </a:p>
          </p:txBody>
        </p:sp>
      </p:grpSp>
      <p:grpSp>
        <p:nvGrpSpPr>
          <p:cNvPr id="44" name="Group 2">
            <a:extLst>
              <a:ext uri="{FF2B5EF4-FFF2-40B4-BE49-F238E27FC236}">
                <a16:creationId xmlns:a16="http://schemas.microsoft.com/office/drawing/2014/main" id="{285B620C-AAD2-814D-E05C-25EC17581071}"/>
              </a:ext>
            </a:extLst>
          </p:cNvPr>
          <p:cNvGrpSpPr/>
          <p:nvPr/>
        </p:nvGrpSpPr>
        <p:grpSpPr>
          <a:xfrm>
            <a:off x="1035558" y="-9895189"/>
            <a:ext cx="12344400" cy="480060"/>
            <a:chOff x="0" y="0"/>
            <a:chExt cx="16459200" cy="640080"/>
          </a:xfrm>
        </p:grpSpPr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BF04E467-86E0-D191-3D26-78963776BC59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0956DCB1-0F51-1F3F-34B0-1145D73AF066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STEPS 2–4 · DEEP DIVE</a:t>
              </a:r>
            </a:p>
          </p:txBody>
        </p:sp>
      </p:grpSp>
      <p:grpSp>
        <p:nvGrpSpPr>
          <p:cNvPr id="47" name="Group 5">
            <a:extLst>
              <a:ext uri="{FF2B5EF4-FFF2-40B4-BE49-F238E27FC236}">
                <a16:creationId xmlns:a16="http://schemas.microsoft.com/office/drawing/2014/main" id="{AA5B9996-2659-382E-9934-7EA4481B9DEE}"/>
              </a:ext>
            </a:extLst>
          </p:cNvPr>
          <p:cNvGrpSpPr/>
          <p:nvPr/>
        </p:nvGrpSpPr>
        <p:grpSpPr>
          <a:xfrm>
            <a:off x="1035558" y="-9415129"/>
            <a:ext cx="16322040" cy="1234440"/>
            <a:chOff x="0" y="0"/>
            <a:chExt cx="21762720" cy="1645920"/>
          </a:xfrm>
        </p:grpSpPr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D4BC4442-86BA-F699-4FE8-F23D1BDE5916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49" name="TextBox 7">
              <a:extLst>
                <a:ext uri="{FF2B5EF4-FFF2-40B4-BE49-F238E27FC236}">
                  <a16:creationId xmlns:a16="http://schemas.microsoft.com/office/drawing/2014/main" id="{F580766E-2183-2C8D-CDE0-A51E8FEFF138}"/>
                </a:ext>
              </a:extLst>
            </p:cNvPr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Build the CV, find the gap, learn the skill</a:t>
              </a:r>
            </a:p>
          </p:txBody>
        </p:sp>
      </p:grpSp>
      <p:grpSp>
        <p:nvGrpSpPr>
          <p:cNvPr id="50" name="Group 8">
            <a:extLst>
              <a:ext uri="{FF2B5EF4-FFF2-40B4-BE49-F238E27FC236}">
                <a16:creationId xmlns:a16="http://schemas.microsoft.com/office/drawing/2014/main" id="{7BD65691-99AD-5595-1C9D-DCABC7349823}"/>
              </a:ext>
            </a:extLst>
          </p:cNvPr>
          <p:cNvGrpSpPr/>
          <p:nvPr/>
        </p:nvGrpSpPr>
        <p:grpSpPr>
          <a:xfrm>
            <a:off x="1026033" y="-7778734"/>
            <a:ext cx="5135118" cy="6054090"/>
            <a:chOff x="0" y="0"/>
            <a:chExt cx="6846824" cy="8072120"/>
          </a:xfrm>
        </p:grpSpPr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5A897FBC-A242-D6B3-AAEF-C832C0CCD3DD}"/>
                </a:ext>
              </a:extLst>
            </p:cNvPr>
            <p:cNvSpPr/>
            <p:nvPr/>
          </p:nvSpPr>
          <p:spPr>
            <a:xfrm>
              <a:off x="0" y="0"/>
              <a:ext cx="6846824" cy="8072120"/>
            </a:xfrm>
            <a:custGeom>
              <a:avLst/>
              <a:gdLst/>
              <a:ahLst/>
              <a:cxnLst/>
              <a:rect l="l" t="t" r="r" b="b"/>
              <a:pathLst>
                <a:path w="6846824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888605"/>
                  </a:lnTo>
                  <a:cubicBezTo>
                    <a:pt x="6846824" y="7989951"/>
                    <a:pt x="6764655" y="8072120"/>
                    <a:pt x="6663309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52" name="Group 10">
            <a:extLst>
              <a:ext uri="{FF2B5EF4-FFF2-40B4-BE49-F238E27FC236}">
                <a16:creationId xmlns:a16="http://schemas.microsoft.com/office/drawing/2014/main" id="{4B659E76-8988-F945-EF4F-2A2224BCC906}"/>
              </a:ext>
            </a:extLst>
          </p:cNvPr>
          <p:cNvGrpSpPr/>
          <p:nvPr/>
        </p:nvGrpSpPr>
        <p:grpSpPr>
          <a:xfrm>
            <a:off x="1447038" y="-7385161"/>
            <a:ext cx="685800" cy="685800"/>
            <a:chOff x="0" y="0"/>
            <a:chExt cx="914400" cy="914400"/>
          </a:xfrm>
        </p:grpSpPr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8A381F44-BEF9-F240-A96B-637E47F28800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54" name="Group 12">
            <a:extLst>
              <a:ext uri="{FF2B5EF4-FFF2-40B4-BE49-F238E27FC236}">
                <a16:creationId xmlns:a16="http://schemas.microsoft.com/office/drawing/2014/main" id="{3D7BBD73-D765-44A0-46E0-C919079E59F6}"/>
              </a:ext>
            </a:extLst>
          </p:cNvPr>
          <p:cNvGrpSpPr/>
          <p:nvPr/>
        </p:nvGrpSpPr>
        <p:grpSpPr>
          <a:xfrm>
            <a:off x="1447038" y="-7385161"/>
            <a:ext cx="685800" cy="685800"/>
            <a:chOff x="0" y="0"/>
            <a:chExt cx="914400" cy="914400"/>
          </a:xfrm>
        </p:grpSpPr>
        <p:sp>
          <p:nvSpPr>
            <p:cNvPr id="55" name="Freeform 13">
              <a:extLst>
                <a:ext uri="{FF2B5EF4-FFF2-40B4-BE49-F238E27FC236}">
                  <a16:creationId xmlns:a16="http://schemas.microsoft.com/office/drawing/2014/main" id="{E03CC2CF-D81E-FB65-ECFC-994DC5DDD7D4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6" name="TextBox 14">
              <a:extLst>
                <a:ext uri="{FF2B5EF4-FFF2-40B4-BE49-F238E27FC236}">
                  <a16:creationId xmlns:a16="http://schemas.microsoft.com/office/drawing/2014/main" id="{CFF40A11-CAAC-EB76-1DF4-B16AB192E277}"/>
                </a:ext>
              </a:extLst>
            </p:cNvPr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id="57" name="Group 15">
            <a:extLst>
              <a:ext uri="{FF2B5EF4-FFF2-40B4-BE49-F238E27FC236}">
                <a16:creationId xmlns:a16="http://schemas.microsoft.com/office/drawing/2014/main" id="{556FA08D-FBB0-2EC0-EBBD-51F385FF2B81}"/>
              </a:ext>
            </a:extLst>
          </p:cNvPr>
          <p:cNvGrpSpPr/>
          <p:nvPr/>
        </p:nvGrpSpPr>
        <p:grpSpPr>
          <a:xfrm>
            <a:off x="2407158" y="-7385161"/>
            <a:ext cx="3470148" cy="685800"/>
            <a:chOff x="0" y="0"/>
            <a:chExt cx="4626864" cy="914400"/>
          </a:xfrm>
        </p:grpSpPr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F947DD29-1CD2-0EEF-9653-B198BAFFC196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59" name="TextBox 17">
              <a:extLst>
                <a:ext uri="{FF2B5EF4-FFF2-40B4-BE49-F238E27FC236}">
                  <a16:creationId xmlns:a16="http://schemas.microsoft.com/office/drawing/2014/main" id="{BE648CA8-B47A-4EB0-7671-81A4CE93C6CC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CV builder</a:t>
              </a:r>
            </a:p>
          </p:txBody>
        </p:sp>
      </p:grpSp>
      <p:sp>
        <p:nvSpPr>
          <p:cNvPr id="60" name="TextBox 18">
            <a:extLst>
              <a:ext uri="{FF2B5EF4-FFF2-40B4-BE49-F238E27FC236}">
                <a16:creationId xmlns:a16="http://schemas.microsoft.com/office/drawing/2014/main" id="{1758C6DD-10FC-C1B9-A946-D28411C191C5}"/>
              </a:ext>
            </a:extLst>
          </p:cNvPr>
          <p:cNvSpPr txBox="1"/>
          <p:nvPr/>
        </p:nvSpPr>
        <p:spPr>
          <a:xfrm>
            <a:off x="1447038" y="-6454759"/>
            <a:ext cx="4293108" cy="197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Turns the verified profile into a clean, professional CV, formatted for private roles or government applications.</a:t>
            </a:r>
          </a:p>
        </p:txBody>
      </p:sp>
      <p:grpSp>
        <p:nvGrpSpPr>
          <p:cNvPr id="61" name="Group 19">
            <a:extLst>
              <a:ext uri="{FF2B5EF4-FFF2-40B4-BE49-F238E27FC236}">
                <a16:creationId xmlns:a16="http://schemas.microsoft.com/office/drawing/2014/main" id="{FDD3F0C2-0ECF-0D62-15B8-9B6372ED2BF3}"/>
              </a:ext>
            </a:extLst>
          </p:cNvPr>
          <p:cNvGrpSpPr/>
          <p:nvPr/>
        </p:nvGrpSpPr>
        <p:grpSpPr>
          <a:xfrm>
            <a:off x="1437513" y="-4281154"/>
            <a:ext cx="4312158" cy="2213610"/>
            <a:chOff x="0" y="0"/>
            <a:chExt cx="5749544" cy="2951480"/>
          </a:xfrm>
        </p:grpSpPr>
        <p:sp>
          <p:nvSpPr>
            <p:cNvPr id="62" name="Freeform 20">
              <a:extLst>
                <a:ext uri="{FF2B5EF4-FFF2-40B4-BE49-F238E27FC236}">
                  <a16:creationId xmlns:a16="http://schemas.microsoft.com/office/drawing/2014/main" id="{A3FD5DA6-C5F2-078E-120C-6C21552FB3A2}"/>
                </a:ext>
              </a:extLst>
            </p:cNvPr>
            <p:cNvSpPr/>
            <p:nvPr/>
          </p:nvSpPr>
          <p:spPr>
            <a:xfrm>
              <a:off x="0" y="0"/>
              <a:ext cx="5749417" cy="2951480"/>
            </a:xfrm>
            <a:custGeom>
              <a:avLst/>
              <a:gdLst/>
              <a:ahLst/>
              <a:cxnLst/>
              <a:rect l="l" t="t" r="r" b="b"/>
              <a:pathLst>
                <a:path w="5749417" h="295148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565013" y="0"/>
                  </a:lnTo>
                  <a:cubicBezTo>
                    <a:pt x="5666867" y="0"/>
                    <a:pt x="5749417" y="82550"/>
                    <a:pt x="5749417" y="184404"/>
                  </a:cubicBezTo>
                  <a:lnTo>
                    <a:pt x="5749417" y="2767076"/>
                  </a:lnTo>
                  <a:cubicBezTo>
                    <a:pt x="5749417" y="2868930"/>
                    <a:pt x="5666867" y="2951480"/>
                    <a:pt x="5565013" y="2951480"/>
                  </a:cubicBezTo>
                  <a:lnTo>
                    <a:pt x="184404" y="2951480"/>
                  </a:lnTo>
                  <a:cubicBezTo>
                    <a:pt x="82550" y="2951480"/>
                    <a:pt x="0" y="2868930"/>
                    <a:pt x="0" y="276707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63" name="Group 21">
            <a:extLst>
              <a:ext uri="{FF2B5EF4-FFF2-40B4-BE49-F238E27FC236}">
                <a16:creationId xmlns:a16="http://schemas.microsoft.com/office/drawing/2014/main" id="{7A7FAB29-BFC7-44D7-382F-00050F756E3C}"/>
              </a:ext>
            </a:extLst>
          </p:cNvPr>
          <p:cNvGrpSpPr/>
          <p:nvPr/>
        </p:nvGrpSpPr>
        <p:grpSpPr>
          <a:xfrm>
            <a:off x="1721358" y="-4065889"/>
            <a:ext cx="3744468" cy="548640"/>
            <a:chOff x="0" y="0"/>
            <a:chExt cx="4992624" cy="731520"/>
          </a:xfrm>
        </p:grpSpPr>
        <p:sp>
          <p:nvSpPr>
            <p:cNvPr id="64" name="Freeform 22">
              <a:extLst>
                <a:ext uri="{FF2B5EF4-FFF2-40B4-BE49-F238E27FC236}">
                  <a16:creationId xmlns:a16="http://schemas.microsoft.com/office/drawing/2014/main" id="{13948CA4-111E-2D88-3E31-2541DA418F16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65" name="TextBox 23">
              <a:extLst>
                <a:ext uri="{FF2B5EF4-FFF2-40B4-BE49-F238E27FC236}">
                  <a16:creationId xmlns:a16="http://schemas.microsoft.com/office/drawing/2014/main" id="{9BB9DEC4-EBB2-A3F1-FAAD-86F69A7A6A2B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PRATIK · Two-wheeler technician</a:t>
              </a:r>
            </a:p>
          </p:txBody>
        </p:sp>
      </p:grpSp>
      <p:grpSp>
        <p:nvGrpSpPr>
          <p:cNvPr id="66" name="Group 24">
            <a:extLst>
              <a:ext uri="{FF2B5EF4-FFF2-40B4-BE49-F238E27FC236}">
                <a16:creationId xmlns:a16="http://schemas.microsoft.com/office/drawing/2014/main" id="{62CA90C4-0B03-CF1A-AFD4-B380265071D3}"/>
              </a:ext>
            </a:extLst>
          </p:cNvPr>
          <p:cNvGrpSpPr/>
          <p:nvPr/>
        </p:nvGrpSpPr>
        <p:grpSpPr>
          <a:xfrm>
            <a:off x="1721358" y="-3434953"/>
            <a:ext cx="3744468" cy="548640"/>
            <a:chOff x="0" y="0"/>
            <a:chExt cx="4992624" cy="731520"/>
          </a:xfrm>
        </p:grpSpPr>
        <p:sp>
          <p:nvSpPr>
            <p:cNvPr id="67" name="Freeform 25">
              <a:extLst>
                <a:ext uri="{FF2B5EF4-FFF2-40B4-BE49-F238E27FC236}">
                  <a16:creationId xmlns:a16="http://schemas.microsoft.com/office/drawing/2014/main" id="{C9AECC83-4019-30F8-9D1B-473DFB6302F9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68" name="TextBox 26">
              <a:extLst>
                <a:ext uri="{FF2B5EF4-FFF2-40B4-BE49-F238E27FC236}">
                  <a16:creationId xmlns:a16="http://schemas.microsoft.com/office/drawing/2014/main" id="{8C1DA8E8-5F9F-BBED-C56E-1D967AEA9EF9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8 yrs hands-on · clutch, brake, electricals</a:t>
              </a:r>
            </a:p>
          </p:txBody>
        </p:sp>
      </p:grpSp>
      <p:grpSp>
        <p:nvGrpSpPr>
          <p:cNvPr id="69" name="Group 27">
            <a:extLst>
              <a:ext uri="{FF2B5EF4-FFF2-40B4-BE49-F238E27FC236}">
                <a16:creationId xmlns:a16="http://schemas.microsoft.com/office/drawing/2014/main" id="{DC784CFA-35F7-00AF-316E-082BB26BC5D8}"/>
              </a:ext>
            </a:extLst>
          </p:cNvPr>
          <p:cNvGrpSpPr/>
          <p:nvPr/>
        </p:nvGrpSpPr>
        <p:grpSpPr>
          <a:xfrm>
            <a:off x="1721358" y="-2804017"/>
            <a:ext cx="3744468" cy="548640"/>
            <a:chOff x="0" y="0"/>
            <a:chExt cx="4992624" cy="731520"/>
          </a:xfrm>
        </p:grpSpPr>
        <p:sp>
          <p:nvSpPr>
            <p:cNvPr id="70" name="Freeform 28">
              <a:extLst>
                <a:ext uri="{FF2B5EF4-FFF2-40B4-BE49-F238E27FC236}">
                  <a16:creationId xmlns:a16="http://schemas.microsoft.com/office/drawing/2014/main" id="{518DF459-DB3C-43B8-6E48-CA70C28ADC30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71" name="TextBox 29">
              <a:extLst>
                <a:ext uri="{FF2B5EF4-FFF2-40B4-BE49-F238E27FC236}">
                  <a16:creationId xmlns:a16="http://schemas.microsoft.com/office/drawing/2014/main" id="{FFA6B2D8-6F59-F732-E6CF-CA7290770A41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Trust score 87 · verified</a:t>
              </a:r>
            </a:p>
          </p:txBody>
        </p:sp>
      </p:grpSp>
      <p:grpSp>
        <p:nvGrpSpPr>
          <p:cNvPr id="72" name="Group 30">
            <a:extLst>
              <a:ext uri="{FF2B5EF4-FFF2-40B4-BE49-F238E27FC236}">
                <a16:creationId xmlns:a16="http://schemas.microsoft.com/office/drawing/2014/main" id="{0FE9A12A-CEE8-9AC7-8970-051155CB48B2}"/>
              </a:ext>
            </a:extLst>
          </p:cNvPr>
          <p:cNvGrpSpPr/>
          <p:nvPr/>
        </p:nvGrpSpPr>
        <p:grpSpPr>
          <a:xfrm>
            <a:off x="6622161" y="-7778734"/>
            <a:ext cx="5135118" cy="6054090"/>
            <a:chOff x="0" y="0"/>
            <a:chExt cx="6846824" cy="8072120"/>
          </a:xfrm>
        </p:grpSpPr>
        <p:sp>
          <p:nvSpPr>
            <p:cNvPr id="73" name="Freeform 31">
              <a:extLst>
                <a:ext uri="{FF2B5EF4-FFF2-40B4-BE49-F238E27FC236}">
                  <a16:creationId xmlns:a16="http://schemas.microsoft.com/office/drawing/2014/main" id="{9E363A01-9DC2-664A-11C2-F31E11C11686}"/>
                </a:ext>
              </a:extLst>
            </p:cNvPr>
            <p:cNvSpPr/>
            <p:nvPr/>
          </p:nvSpPr>
          <p:spPr>
            <a:xfrm>
              <a:off x="0" y="0"/>
              <a:ext cx="6846824" cy="8072120"/>
            </a:xfrm>
            <a:custGeom>
              <a:avLst/>
              <a:gdLst/>
              <a:ahLst/>
              <a:cxnLst/>
              <a:rect l="l" t="t" r="r" b="b"/>
              <a:pathLst>
                <a:path w="6846824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888605"/>
                  </a:lnTo>
                  <a:cubicBezTo>
                    <a:pt x="6846824" y="7989951"/>
                    <a:pt x="6764655" y="8072120"/>
                    <a:pt x="6663309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74" name="Group 32">
            <a:extLst>
              <a:ext uri="{FF2B5EF4-FFF2-40B4-BE49-F238E27FC236}">
                <a16:creationId xmlns:a16="http://schemas.microsoft.com/office/drawing/2014/main" id="{B6964C3E-5C64-13FE-6805-67385265D43B}"/>
              </a:ext>
            </a:extLst>
          </p:cNvPr>
          <p:cNvGrpSpPr/>
          <p:nvPr/>
        </p:nvGrpSpPr>
        <p:grpSpPr>
          <a:xfrm>
            <a:off x="7043166" y="-7385161"/>
            <a:ext cx="685800" cy="685800"/>
            <a:chOff x="0" y="0"/>
            <a:chExt cx="914400" cy="914400"/>
          </a:xfrm>
        </p:grpSpPr>
        <p:sp>
          <p:nvSpPr>
            <p:cNvPr id="75" name="Freeform 33">
              <a:extLst>
                <a:ext uri="{FF2B5EF4-FFF2-40B4-BE49-F238E27FC236}">
                  <a16:creationId xmlns:a16="http://schemas.microsoft.com/office/drawing/2014/main" id="{67237E23-0A61-A620-3284-C0EFB5FC2826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76" name="Group 34">
            <a:extLst>
              <a:ext uri="{FF2B5EF4-FFF2-40B4-BE49-F238E27FC236}">
                <a16:creationId xmlns:a16="http://schemas.microsoft.com/office/drawing/2014/main" id="{B4C8F667-CF5F-C2AE-A6AB-69CE5B164D40}"/>
              </a:ext>
            </a:extLst>
          </p:cNvPr>
          <p:cNvGrpSpPr/>
          <p:nvPr/>
        </p:nvGrpSpPr>
        <p:grpSpPr>
          <a:xfrm>
            <a:off x="7043166" y="-7385161"/>
            <a:ext cx="685800" cy="685800"/>
            <a:chOff x="0" y="0"/>
            <a:chExt cx="914400" cy="914400"/>
          </a:xfrm>
        </p:grpSpPr>
        <p:sp>
          <p:nvSpPr>
            <p:cNvPr id="77" name="Freeform 35">
              <a:extLst>
                <a:ext uri="{FF2B5EF4-FFF2-40B4-BE49-F238E27FC236}">
                  <a16:creationId xmlns:a16="http://schemas.microsoft.com/office/drawing/2014/main" id="{8B50A69D-4006-3EC3-1C8D-9B2286431D8A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8" name="TextBox 36">
              <a:extLst>
                <a:ext uri="{FF2B5EF4-FFF2-40B4-BE49-F238E27FC236}">
                  <a16:creationId xmlns:a16="http://schemas.microsoft.com/office/drawing/2014/main" id="{E9B58D92-6347-33EC-DF1C-7E8A3A1009E9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79" name="Group 37">
            <a:extLst>
              <a:ext uri="{FF2B5EF4-FFF2-40B4-BE49-F238E27FC236}">
                <a16:creationId xmlns:a16="http://schemas.microsoft.com/office/drawing/2014/main" id="{F5B223B2-F684-30C2-A495-4EBC0E7CD476}"/>
              </a:ext>
            </a:extLst>
          </p:cNvPr>
          <p:cNvGrpSpPr/>
          <p:nvPr/>
        </p:nvGrpSpPr>
        <p:grpSpPr>
          <a:xfrm>
            <a:off x="8003286" y="-7385161"/>
            <a:ext cx="3470148" cy="685800"/>
            <a:chOff x="0" y="0"/>
            <a:chExt cx="4626864" cy="914400"/>
          </a:xfrm>
        </p:grpSpPr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5DC57757-BDDD-6D1D-595C-CEED072054C6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81" name="TextBox 39">
              <a:extLst>
                <a:ext uri="{FF2B5EF4-FFF2-40B4-BE49-F238E27FC236}">
                  <a16:creationId xmlns:a16="http://schemas.microsoft.com/office/drawing/2014/main" id="{D215683A-F3B4-BACC-7D9E-41292ED8F018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Gap finder</a:t>
              </a:r>
            </a:p>
          </p:txBody>
        </p:sp>
      </p:grpSp>
      <p:sp>
        <p:nvSpPr>
          <p:cNvPr id="82" name="TextBox 40">
            <a:extLst>
              <a:ext uri="{FF2B5EF4-FFF2-40B4-BE49-F238E27FC236}">
                <a16:creationId xmlns:a16="http://schemas.microsoft.com/office/drawing/2014/main" id="{7F970C44-79AB-164F-193A-BC2190F1C5C2}"/>
              </a:ext>
            </a:extLst>
          </p:cNvPr>
          <p:cNvSpPr txBox="1"/>
          <p:nvPr/>
        </p:nvSpPr>
        <p:spPr>
          <a:xfrm>
            <a:off x="7043166" y="-6454759"/>
            <a:ext cx="4293108" cy="197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Compares the verified profile with the target role and lists what's missing, ranked by impact.</a:t>
            </a:r>
          </a:p>
        </p:txBody>
      </p:sp>
      <p:grpSp>
        <p:nvGrpSpPr>
          <p:cNvPr id="83" name="Group 41">
            <a:extLst>
              <a:ext uri="{FF2B5EF4-FFF2-40B4-BE49-F238E27FC236}">
                <a16:creationId xmlns:a16="http://schemas.microsoft.com/office/drawing/2014/main" id="{52F0CFBF-BA1F-79CF-64A0-27FC6D123875}"/>
              </a:ext>
            </a:extLst>
          </p:cNvPr>
          <p:cNvGrpSpPr/>
          <p:nvPr/>
        </p:nvGrpSpPr>
        <p:grpSpPr>
          <a:xfrm>
            <a:off x="7033641" y="-4281154"/>
            <a:ext cx="4312158" cy="2213610"/>
            <a:chOff x="0" y="0"/>
            <a:chExt cx="5749544" cy="2951480"/>
          </a:xfrm>
        </p:grpSpPr>
        <p:sp>
          <p:nvSpPr>
            <p:cNvPr id="84" name="Freeform 42">
              <a:extLst>
                <a:ext uri="{FF2B5EF4-FFF2-40B4-BE49-F238E27FC236}">
                  <a16:creationId xmlns:a16="http://schemas.microsoft.com/office/drawing/2014/main" id="{13E97981-EA26-CD34-A310-5E8CA8CC1C94}"/>
                </a:ext>
              </a:extLst>
            </p:cNvPr>
            <p:cNvSpPr/>
            <p:nvPr/>
          </p:nvSpPr>
          <p:spPr>
            <a:xfrm>
              <a:off x="0" y="0"/>
              <a:ext cx="5749417" cy="2951480"/>
            </a:xfrm>
            <a:custGeom>
              <a:avLst/>
              <a:gdLst/>
              <a:ahLst/>
              <a:cxnLst/>
              <a:rect l="l" t="t" r="r" b="b"/>
              <a:pathLst>
                <a:path w="5749417" h="295148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565013" y="0"/>
                  </a:lnTo>
                  <a:cubicBezTo>
                    <a:pt x="5666867" y="0"/>
                    <a:pt x="5749417" y="82550"/>
                    <a:pt x="5749417" y="184404"/>
                  </a:cubicBezTo>
                  <a:lnTo>
                    <a:pt x="5749417" y="2767076"/>
                  </a:lnTo>
                  <a:cubicBezTo>
                    <a:pt x="5749417" y="2868930"/>
                    <a:pt x="5666867" y="2951480"/>
                    <a:pt x="5565013" y="2951480"/>
                  </a:cubicBezTo>
                  <a:lnTo>
                    <a:pt x="184404" y="2951480"/>
                  </a:lnTo>
                  <a:cubicBezTo>
                    <a:pt x="82550" y="2951480"/>
                    <a:pt x="0" y="2868930"/>
                    <a:pt x="0" y="276707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85" name="Group 43">
            <a:extLst>
              <a:ext uri="{FF2B5EF4-FFF2-40B4-BE49-F238E27FC236}">
                <a16:creationId xmlns:a16="http://schemas.microsoft.com/office/drawing/2014/main" id="{38E17B02-69EF-6201-AE06-A5284931BDD7}"/>
              </a:ext>
            </a:extLst>
          </p:cNvPr>
          <p:cNvGrpSpPr/>
          <p:nvPr/>
        </p:nvGrpSpPr>
        <p:grpSpPr>
          <a:xfrm>
            <a:off x="7317486" y="-4065889"/>
            <a:ext cx="3744468" cy="548640"/>
            <a:chOff x="0" y="0"/>
            <a:chExt cx="4992624" cy="731520"/>
          </a:xfrm>
        </p:grpSpPr>
        <p:sp>
          <p:nvSpPr>
            <p:cNvPr id="86" name="Freeform 44">
              <a:extLst>
                <a:ext uri="{FF2B5EF4-FFF2-40B4-BE49-F238E27FC236}">
                  <a16:creationId xmlns:a16="http://schemas.microsoft.com/office/drawing/2014/main" id="{FB269B80-42A2-59B9-6009-DFF01F6321E2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87" name="TextBox 45">
              <a:extLst>
                <a:ext uri="{FF2B5EF4-FFF2-40B4-BE49-F238E27FC236}">
                  <a16:creationId xmlns:a16="http://schemas.microsoft.com/office/drawing/2014/main" id="{B8E8B3DC-AABD-3FA5-A488-6E04DF0EC7ED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Target role: EV-scooter technician</a:t>
              </a:r>
            </a:p>
          </p:txBody>
        </p:sp>
      </p:grpSp>
      <p:grpSp>
        <p:nvGrpSpPr>
          <p:cNvPr id="88" name="Group 46">
            <a:extLst>
              <a:ext uri="{FF2B5EF4-FFF2-40B4-BE49-F238E27FC236}">
                <a16:creationId xmlns:a16="http://schemas.microsoft.com/office/drawing/2014/main" id="{004C5B80-C061-B41F-8DAF-3184A08E553A}"/>
              </a:ext>
            </a:extLst>
          </p:cNvPr>
          <p:cNvGrpSpPr/>
          <p:nvPr/>
        </p:nvGrpSpPr>
        <p:grpSpPr>
          <a:xfrm>
            <a:off x="7317486" y="-3434953"/>
            <a:ext cx="3744468" cy="548640"/>
            <a:chOff x="0" y="0"/>
            <a:chExt cx="4992624" cy="731520"/>
          </a:xfrm>
        </p:grpSpPr>
        <p:sp>
          <p:nvSpPr>
            <p:cNvPr id="89" name="Freeform 47">
              <a:extLst>
                <a:ext uri="{FF2B5EF4-FFF2-40B4-BE49-F238E27FC236}">
                  <a16:creationId xmlns:a16="http://schemas.microsoft.com/office/drawing/2014/main" id="{394538BE-648D-F938-D7EB-92CB3E133CD7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90" name="TextBox 48">
              <a:extLst>
                <a:ext uri="{FF2B5EF4-FFF2-40B4-BE49-F238E27FC236}">
                  <a16:creationId xmlns:a16="http://schemas.microsoft.com/office/drawing/2014/main" id="{CDD797CB-8F0C-0D6E-E040-A13DF84152FE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Missing: EV battery basics (high impact)</a:t>
              </a:r>
            </a:p>
          </p:txBody>
        </p:sp>
      </p:grpSp>
      <p:grpSp>
        <p:nvGrpSpPr>
          <p:cNvPr id="91" name="Group 49">
            <a:extLst>
              <a:ext uri="{FF2B5EF4-FFF2-40B4-BE49-F238E27FC236}">
                <a16:creationId xmlns:a16="http://schemas.microsoft.com/office/drawing/2014/main" id="{8D46938D-9F4E-9DA2-0EB8-8D054E06153F}"/>
              </a:ext>
            </a:extLst>
          </p:cNvPr>
          <p:cNvGrpSpPr/>
          <p:nvPr/>
        </p:nvGrpSpPr>
        <p:grpSpPr>
          <a:xfrm>
            <a:off x="7317486" y="-2804017"/>
            <a:ext cx="3744468" cy="548640"/>
            <a:chOff x="0" y="0"/>
            <a:chExt cx="4992624" cy="731520"/>
          </a:xfrm>
        </p:grpSpPr>
        <p:sp>
          <p:nvSpPr>
            <p:cNvPr id="92" name="Freeform 50">
              <a:extLst>
                <a:ext uri="{FF2B5EF4-FFF2-40B4-BE49-F238E27FC236}">
                  <a16:creationId xmlns:a16="http://schemas.microsoft.com/office/drawing/2014/main" id="{15F97F92-D70D-A0AD-52CE-A0F9E6943506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93" name="TextBox 51">
              <a:extLst>
                <a:ext uri="{FF2B5EF4-FFF2-40B4-BE49-F238E27FC236}">
                  <a16:creationId xmlns:a16="http://schemas.microsoft.com/office/drawing/2014/main" id="{D3808E94-E134-34B3-0C39-CE9C82856B6C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Missing: diagnostic tools (medium)</a:t>
              </a:r>
            </a:p>
          </p:txBody>
        </p:sp>
      </p:grpSp>
      <p:grpSp>
        <p:nvGrpSpPr>
          <p:cNvPr id="94" name="Group 52">
            <a:extLst>
              <a:ext uri="{FF2B5EF4-FFF2-40B4-BE49-F238E27FC236}">
                <a16:creationId xmlns:a16="http://schemas.microsoft.com/office/drawing/2014/main" id="{65664F6F-A892-02A1-BB87-04AD53D81351}"/>
              </a:ext>
            </a:extLst>
          </p:cNvPr>
          <p:cNvGrpSpPr/>
          <p:nvPr/>
        </p:nvGrpSpPr>
        <p:grpSpPr>
          <a:xfrm>
            <a:off x="12218289" y="-7778734"/>
            <a:ext cx="5135118" cy="6054090"/>
            <a:chOff x="0" y="0"/>
            <a:chExt cx="6846824" cy="8072120"/>
          </a:xfrm>
        </p:grpSpPr>
        <p:sp>
          <p:nvSpPr>
            <p:cNvPr id="95" name="Freeform 53">
              <a:extLst>
                <a:ext uri="{FF2B5EF4-FFF2-40B4-BE49-F238E27FC236}">
                  <a16:creationId xmlns:a16="http://schemas.microsoft.com/office/drawing/2014/main" id="{45D69229-4E2A-8F16-D5D7-D20FB1A79945}"/>
                </a:ext>
              </a:extLst>
            </p:cNvPr>
            <p:cNvSpPr/>
            <p:nvPr/>
          </p:nvSpPr>
          <p:spPr>
            <a:xfrm>
              <a:off x="0" y="0"/>
              <a:ext cx="6846824" cy="8072120"/>
            </a:xfrm>
            <a:custGeom>
              <a:avLst/>
              <a:gdLst/>
              <a:ahLst/>
              <a:cxnLst/>
              <a:rect l="l" t="t" r="r" b="b"/>
              <a:pathLst>
                <a:path w="6846824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888605"/>
                  </a:lnTo>
                  <a:cubicBezTo>
                    <a:pt x="6846824" y="7989951"/>
                    <a:pt x="6764655" y="8072120"/>
                    <a:pt x="6663309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96" name="Group 54">
            <a:extLst>
              <a:ext uri="{FF2B5EF4-FFF2-40B4-BE49-F238E27FC236}">
                <a16:creationId xmlns:a16="http://schemas.microsoft.com/office/drawing/2014/main" id="{4AF6DA70-9FB8-C202-8FDC-78F8CA70562C}"/>
              </a:ext>
            </a:extLst>
          </p:cNvPr>
          <p:cNvGrpSpPr/>
          <p:nvPr/>
        </p:nvGrpSpPr>
        <p:grpSpPr>
          <a:xfrm>
            <a:off x="12639294" y="-7385161"/>
            <a:ext cx="685800" cy="685800"/>
            <a:chOff x="0" y="0"/>
            <a:chExt cx="914400" cy="914400"/>
          </a:xfrm>
        </p:grpSpPr>
        <p:sp>
          <p:nvSpPr>
            <p:cNvPr id="97" name="Freeform 55">
              <a:extLst>
                <a:ext uri="{FF2B5EF4-FFF2-40B4-BE49-F238E27FC236}">
                  <a16:creationId xmlns:a16="http://schemas.microsoft.com/office/drawing/2014/main" id="{1096C418-20BA-49CF-3B01-C981566EC384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98" name="Group 56">
            <a:extLst>
              <a:ext uri="{FF2B5EF4-FFF2-40B4-BE49-F238E27FC236}">
                <a16:creationId xmlns:a16="http://schemas.microsoft.com/office/drawing/2014/main" id="{07E87995-65C4-5B48-AD05-20CAB6DF97D1}"/>
              </a:ext>
            </a:extLst>
          </p:cNvPr>
          <p:cNvGrpSpPr/>
          <p:nvPr/>
        </p:nvGrpSpPr>
        <p:grpSpPr>
          <a:xfrm>
            <a:off x="12639294" y="-7385161"/>
            <a:ext cx="685800" cy="685800"/>
            <a:chOff x="0" y="0"/>
            <a:chExt cx="914400" cy="914400"/>
          </a:xfrm>
        </p:grpSpPr>
        <p:sp>
          <p:nvSpPr>
            <p:cNvPr id="99" name="Freeform 57">
              <a:extLst>
                <a:ext uri="{FF2B5EF4-FFF2-40B4-BE49-F238E27FC236}">
                  <a16:creationId xmlns:a16="http://schemas.microsoft.com/office/drawing/2014/main" id="{C5788D40-582A-BB13-B544-B4CF9BA4C272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0" name="TextBox 58">
              <a:extLst>
                <a:ext uri="{FF2B5EF4-FFF2-40B4-BE49-F238E27FC236}">
                  <a16:creationId xmlns:a16="http://schemas.microsoft.com/office/drawing/2014/main" id="{E37E9D0E-3838-3E4C-E2E5-D0BC9B0A0248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101" name="Group 59">
            <a:extLst>
              <a:ext uri="{FF2B5EF4-FFF2-40B4-BE49-F238E27FC236}">
                <a16:creationId xmlns:a16="http://schemas.microsoft.com/office/drawing/2014/main" id="{1E340D73-3348-03BE-BD82-BCB59D5CBBB8}"/>
              </a:ext>
            </a:extLst>
          </p:cNvPr>
          <p:cNvGrpSpPr/>
          <p:nvPr/>
        </p:nvGrpSpPr>
        <p:grpSpPr>
          <a:xfrm>
            <a:off x="13599414" y="-7385161"/>
            <a:ext cx="3470148" cy="685800"/>
            <a:chOff x="0" y="0"/>
            <a:chExt cx="4626864" cy="914400"/>
          </a:xfrm>
        </p:grpSpPr>
        <p:sp>
          <p:nvSpPr>
            <p:cNvPr id="102" name="Freeform 60">
              <a:extLst>
                <a:ext uri="{FF2B5EF4-FFF2-40B4-BE49-F238E27FC236}">
                  <a16:creationId xmlns:a16="http://schemas.microsoft.com/office/drawing/2014/main" id="{D325D459-C6BA-69B8-2BAA-3311CEF3828A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03" name="TextBox 61">
              <a:extLst>
                <a:ext uri="{FF2B5EF4-FFF2-40B4-BE49-F238E27FC236}">
                  <a16:creationId xmlns:a16="http://schemas.microsoft.com/office/drawing/2014/main" id="{FCFEB7D3-1ABB-9935-29BD-290B24A666F9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Learn</a:t>
              </a:r>
            </a:p>
          </p:txBody>
        </p:sp>
      </p:grpSp>
      <p:sp>
        <p:nvSpPr>
          <p:cNvPr id="104" name="TextBox 62">
            <a:extLst>
              <a:ext uri="{FF2B5EF4-FFF2-40B4-BE49-F238E27FC236}">
                <a16:creationId xmlns:a16="http://schemas.microsoft.com/office/drawing/2014/main" id="{15028C5C-28D9-B6E8-D272-35A6016AADED}"/>
              </a:ext>
            </a:extLst>
          </p:cNvPr>
          <p:cNvSpPr txBox="1"/>
          <p:nvPr/>
        </p:nvSpPr>
        <p:spPr>
          <a:xfrm>
            <a:off x="12639294" y="-6454759"/>
            <a:ext cx="4293108" cy="197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Short, curated lessons aimed at exactly those gaps, sequenced around the time you have.</a:t>
            </a:r>
          </a:p>
        </p:txBody>
      </p:sp>
      <p:grpSp>
        <p:nvGrpSpPr>
          <p:cNvPr id="105" name="Group 63">
            <a:extLst>
              <a:ext uri="{FF2B5EF4-FFF2-40B4-BE49-F238E27FC236}">
                <a16:creationId xmlns:a16="http://schemas.microsoft.com/office/drawing/2014/main" id="{1E5DA2D0-00A4-1D8F-F7B8-05C0D4C52D08}"/>
              </a:ext>
            </a:extLst>
          </p:cNvPr>
          <p:cNvGrpSpPr/>
          <p:nvPr/>
        </p:nvGrpSpPr>
        <p:grpSpPr>
          <a:xfrm>
            <a:off x="12629769" y="-4281154"/>
            <a:ext cx="4312158" cy="2213610"/>
            <a:chOff x="0" y="0"/>
            <a:chExt cx="5749544" cy="2951480"/>
          </a:xfrm>
        </p:grpSpPr>
        <p:sp>
          <p:nvSpPr>
            <p:cNvPr id="106" name="Freeform 64">
              <a:extLst>
                <a:ext uri="{FF2B5EF4-FFF2-40B4-BE49-F238E27FC236}">
                  <a16:creationId xmlns:a16="http://schemas.microsoft.com/office/drawing/2014/main" id="{6B17ED36-6864-B351-DABA-591DA11F75C1}"/>
                </a:ext>
              </a:extLst>
            </p:cNvPr>
            <p:cNvSpPr/>
            <p:nvPr/>
          </p:nvSpPr>
          <p:spPr>
            <a:xfrm>
              <a:off x="0" y="0"/>
              <a:ext cx="5749417" cy="2951480"/>
            </a:xfrm>
            <a:custGeom>
              <a:avLst/>
              <a:gdLst/>
              <a:ahLst/>
              <a:cxnLst/>
              <a:rect l="l" t="t" r="r" b="b"/>
              <a:pathLst>
                <a:path w="5749417" h="295148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565013" y="0"/>
                  </a:lnTo>
                  <a:cubicBezTo>
                    <a:pt x="5666867" y="0"/>
                    <a:pt x="5749417" y="82550"/>
                    <a:pt x="5749417" y="184404"/>
                  </a:cubicBezTo>
                  <a:lnTo>
                    <a:pt x="5749417" y="2767076"/>
                  </a:lnTo>
                  <a:cubicBezTo>
                    <a:pt x="5749417" y="2868930"/>
                    <a:pt x="5666867" y="2951480"/>
                    <a:pt x="5565013" y="2951480"/>
                  </a:cubicBezTo>
                  <a:lnTo>
                    <a:pt x="184404" y="2951480"/>
                  </a:lnTo>
                  <a:cubicBezTo>
                    <a:pt x="82550" y="2951480"/>
                    <a:pt x="0" y="2868930"/>
                    <a:pt x="0" y="276707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7" name="Group 65">
            <a:extLst>
              <a:ext uri="{FF2B5EF4-FFF2-40B4-BE49-F238E27FC236}">
                <a16:creationId xmlns:a16="http://schemas.microsoft.com/office/drawing/2014/main" id="{6E05BEA6-4125-49F2-CDD6-A1ADB9F81C03}"/>
              </a:ext>
            </a:extLst>
          </p:cNvPr>
          <p:cNvGrpSpPr/>
          <p:nvPr/>
        </p:nvGrpSpPr>
        <p:grpSpPr>
          <a:xfrm>
            <a:off x="12913614" y="-4065889"/>
            <a:ext cx="3744468" cy="548640"/>
            <a:chOff x="0" y="0"/>
            <a:chExt cx="4992624" cy="731520"/>
          </a:xfrm>
        </p:grpSpPr>
        <p:sp>
          <p:nvSpPr>
            <p:cNvPr id="108" name="Freeform 66">
              <a:extLst>
                <a:ext uri="{FF2B5EF4-FFF2-40B4-BE49-F238E27FC236}">
                  <a16:creationId xmlns:a16="http://schemas.microsoft.com/office/drawing/2014/main" id="{7461627F-9BC6-F72F-F04B-F246CC31D7EE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109" name="TextBox 67">
              <a:extLst>
                <a:ext uri="{FF2B5EF4-FFF2-40B4-BE49-F238E27FC236}">
                  <a16:creationId xmlns:a16="http://schemas.microsoft.com/office/drawing/2014/main" id="{DD21DF9E-2D09-831A-1C11-122C62A7CB1D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Next: EV battery basics</a:t>
              </a:r>
            </a:p>
          </p:txBody>
        </p:sp>
      </p:grpSp>
      <p:grpSp>
        <p:nvGrpSpPr>
          <p:cNvPr id="110" name="Group 68">
            <a:extLst>
              <a:ext uri="{FF2B5EF4-FFF2-40B4-BE49-F238E27FC236}">
                <a16:creationId xmlns:a16="http://schemas.microsoft.com/office/drawing/2014/main" id="{A58BE14B-DD98-E9F2-2F0D-122DEE5429B9}"/>
              </a:ext>
            </a:extLst>
          </p:cNvPr>
          <p:cNvGrpSpPr/>
          <p:nvPr/>
        </p:nvGrpSpPr>
        <p:grpSpPr>
          <a:xfrm>
            <a:off x="12913614" y="-3434953"/>
            <a:ext cx="3744468" cy="548640"/>
            <a:chOff x="0" y="0"/>
            <a:chExt cx="4992624" cy="731520"/>
          </a:xfrm>
        </p:grpSpPr>
        <p:sp>
          <p:nvSpPr>
            <p:cNvPr id="111" name="Freeform 69">
              <a:extLst>
                <a:ext uri="{FF2B5EF4-FFF2-40B4-BE49-F238E27FC236}">
                  <a16:creationId xmlns:a16="http://schemas.microsoft.com/office/drawing/2014/main" id="{FC760E92-1DD7-598F-2F82-B0F3D9D6786A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112" name="TextBox 70">
              <a:extLst>
                <a:ext uri="{FF2B5EF4-FFF2-40B4-BE49-F238E27FC236}">
                  <a16:creationId xmlns:a16="http://schemas.microsoft.com/office/drawing/2014/main" id="{526E1324-B610-CFD4-C501-6931BADFFC6C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Three 20-minute lessons every day</a:t>
              </a:r>
            </a:p>
          </p:txBody>
        </p:sp>
      </p:grpSp>
      <p:grpSp>
        <p:nvGrpSpPr>
          <p:cNvPr id="113" name="Group 71">
            <a:extLst>
              <a:ext uri="{FF2B5EF4-FFF2-40B4-BE49-F238E27FC236}">
                <a16:creationId xmlns:a16="http://schemas.microsoft.com/office/drawing/2014/main" id="{56DAFD3B-D7EC-C0BF-3077-962D16D11094}"/>
              </a:ext>
            </a:extLst>
          </p:cNvPr>
          <p:cNvGrpSpPr/>
          <p:nvPr/>
        </p:nvGrpSpPr>
        <p:grpSpPr>
          <a:xfrm>
            <a:off x="12913614" y="-2804017"/>
            <a:ext cx="3744468" cy="548640"/>
            <a:chOff x="0" y="0"/>
            <a:chExt cx="4992624" cy="731520"/>
          </a:xfrm>
        </p:grpSpPr>
        <p:sp>
          <p:nvSpPr>
            <p:cNvPr id="114" name="Freeform 72">
              <a:extLst>
                <a:ext uri="{FF2B5EF4-FFF2-40B4-BE49-F238E27FC236}">
                  <a16:creationId xmlns:a16="http://schemas.microsoft.com/office/drawing/2014/main" id="{D3BFA6CE-7605-A468-DC9E-B2E852966DA7}"/>
                </a:ext>
              </a:extLst>
            </p:cNvPr>
            <p:cNvSpPr/>
            <p:nvPr/>
          </p:nvSpPr>
          <p:spPr>
            <a:xfrm>
              <a:off x="0" y="0"/>
              <a:ext cx="4992624" cy="731520"/>
            </a:xfrm>
            <a:custGeom>
              <a:avLst/>
              <a:gdLst/>
              <a:ahLst/>
              <a:cxnLst/>
              <a:rect l="l" t="t" r="r" b="b"/>
              <a:pathLst>
                <a:path w="4992624" h="731520">
                  <a:moveTo>
                    <a:pt x="0" y="0"/>
                  </a:moveTo>
                  <a:lnTo>
                    <a:pt x="4992624" y="0"/>
                  </a:lnTo>
                  <a:lnTo>
                    <a:pt x="49926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85" b="-82985"/>
              </a:stretch>
            </a:blipFill>
          </p:spPr>
        </p:sp>
        <p:sp>
          <p:nvSpPr>
            <p:cNvPr id="115" name="TextBox 73">
              <a:extLst>
                <a:ext uri="{FF2B5EF4-FFF2-40B4-BE49-F238E27FC236}">
                  <a16:creationId xmlns:a16="http://schemas.microsoft.com/office/drawing/2014/main" id="{538692E3-0F60-DB1E-B1ED-BA056008BFC6}"/>
                </a:ext>
              </a:extLst>
            </p:cNvPr>
            <p:cNvSpPr txBox="1"/>
            <p:nvPr/>
          </p:nvSpPr>
          <p:spPr>
            <a:xfrm>
              <a:off x="0" y="0"/>
              <a:ext cx="499262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Progress feeds back into your CV</a:t>
              </a:r>
            </a:p>
          </p:txBody>
        </p:sp>
      </p:grpSp>
      <p:grpSp>
        <p:nvGrpSpPr>
          <p:cNvPr id="116" name="Group 74">
            <a:extLst>
              <a:ext uri="{FF2B5EF4-FFF2-40B4-BE49-F238E27FC236}">
                <a16:creationId xmlns:a16="http://schemas.microsoft.com/office/drawing/2014/main" id="{7FF21BDA-3C41-C059-1B67-EDE177F8A60D}"/>
              </a:ext>
            </a:extLst>
          </p:cNvPr>
          <p:cNvGrpSpPr/>
          <p:nvPr/>
        </p:nvGrpSpPr>
        <p:grpSpPr>
          <a:xfrm>
            <a:off x="17289018" y="-774049"/>
            <a:ext cx="822960" cy="411480"/>
            <a:chOff x="0" y="0"/>
            <a:chExt cx="1097280" cy="548640"/>
          </a:xfrm>
        </p:grpSpPr>
        <p:sp>
          <p:nvSpPr>
            <p:cNvPr id="117" name="Freeform 75">
              <a:extLst>
                <a:ext uri="{FF2B5EF4-FFF2-40B4-BE49-F238E27FC236}">
                  <a16:creationId xmlns:a16="http://schemas.microsoft.com/office/drawing/2014/main" id="{BB953F29-E1B4-2C1A-C08F-579D3F847699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18" name="TextBox 76">
              <a:extLst>
                <a:ext uri="{FF2B5EF4-FFF2-40B4-BE49-F238E27FC236}">
                  <a16:creationId xmlns:a16="http://schemas.microsoft.com/office/drawing/2014/main" id="{CC16AF51-2DC0-6E40-D8EC-E03FF63D7D98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08</a:t>
              </a:r>
            </a:p>
          </p:txBody>
        </p:sp>
      </p:grpSp>
      <p:grpSp>
        <p:nvGrpSpPr>
          <p:cNvPr id="163" name="Group 2">
            <a:extLst>
              <a:ext uri="{FF2B5EF4-FFF2-40B4-BE49-F238E27FC236}">
                <a16:creationId xmlns:a16="http://schemas.microsoft.com/office/drawing/2014/main" id="{94BFA1C1-62EE-7C8A-5935-2A7990E966F2}"/>
              </a:ext>
            </a:extLst>
          </p:cNvPr>
          <p:cNvGrpSpPr/>
          <p:nvPr/>
        </p:nvGrpSpPr>
        <p:grpSpPr>
          <a:xfrm>
            <a:off x="1323594" y="11118056"/>
            <a:ext cx="12344400" cy="480060"/>
            <a:chOff x="0" y="0"/>
            <a:chExt cx="16459200" cy="640080"/>
          </a:xfrm>
        </p:grpSpPr>
        <p:sp>
          <p:nvSpPr>
            <p:cNvPr id="164" name="Freeform 3">
              <a:extLst>
                <a:ext uri="{FF2B5EF4-FFF2-40B4-BE49-F238E27FC236}">
                  <a16:creationId xmlns:a16="http://schemas.microsoft.com/office/drawing/2014/main" id="{D10190AA-4E1B-92F1-4EB6-3083E14C5A55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165" name="TextBox 4">
              <a:extLst>
                <a:ext uri="{FF2B5EF4-FFF2-40B4-BE49-F238E27FC236}">
                  <a16:creationId xmlns:a16="http://schemas.microsoft.com/office/drawing/2014/main" id="{2CBD77C4-5E66-7E97-84D1-6797EB465002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 6 · DEEP DIVE</a:t>
              </a:r>
            </a:p>
          </p:txBody>
        </p:sp>
      </p:grpSp>
      <p:grpSp>
        <p:nvGrpSpPr>
          <p:cNvPr id="166" name="Group 5">
            <a:extLst>
              <a:ext uri="{FF2B5EF4-FFF2-40B4-BE49-F238E27FC236}">
                <a16:creationId xmlns:a16="http://schemas.microsoft.com/office/drawing/2014/main" id="{9261BA93-D16C-0885-31EF-9E9A0195B8C1}"/>
              </a:ext>
            </a:extLst>
          </p:cNvPr>
          <p:cNvGrpSpPr/>
          <p:nvPr/>
        </p:nvGrpSpPr>
        <p:grpSpPr>
          <a:xfrm>
            <a:off x="1323594" y="11598116"/>
            <a:ext cx="16322040" cy="1234440"/>
            <a:chOff x="0" y="0"/>
            <a:chExt cx="21762720" cy="1645920"/>
          </a:xfrm>
        </p:grpSpPr>
        <p:sp>
          <p:nvSpPr>
            <p:cNvPr id="167" name="Freeform 6">
              <a:extLst>
                <a:ext uri="{FF2B5EF4-FFF2-40B4-BE49-F238E27FC236}">
                  <a16:creationId xmlns:a16="http://schemas.microsoft.com/office/drawing/2014/main" id="{BB7E6E06-27D5-EFB6-A7DD-3B7D3B764D73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168" name="TextBox 7">
              <a:extLst>
                <a:ext uri="{FF2B5EF4-FFF2-40B4-BE49-F238E27FC236}">
                  <a16:creationId xmlns:a16="http://schemas.microsoft.com/office/drawing/2014/main" id="{E5501693-5DA0-5602-218F-A37F07957D81}"/>
                </a:ext>
              </a:extLst>
            </p:cNvPr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Stable jobs: matched for stability, not just fit</a:t>
              </a:r>
            </a:p>
          </p:txBody>
        </p:sp>
      </p:grpSp>
      <p:grpSp>
        <p:nvGrpSpPr>
          <p:cNvPr id="169" name="Group 8">
            <a:extLst>
              <a:ext uri="{FF2B5EF4-FFF2-40B4-BE49-F238E27FC236}">
                <a16:creationId xmlns:a16="http://schemas.microsoft.com/office/drawing/2014/main" id="{156F08CC-36A2-B345-E994-EFD96414694C}"/>
              </a:ext>
            </a:extLst>
          </p:cNvPr>
          <p:cNvGrpSpPr/>
          <p:nvPr/>
        </p:nvGrpSpPr>
        <p:grpSpPr>
          <a:xfrm>
            <a:off x="1314069" y="13234511"/>
            <a:ext cx="7700010" cy="6054090"/>
            <a:chOff x="0" y="0"/>
            <a:chExt cx="10266680" cy="8072120"/>
          </a:xfrm>
        </p:grpSpPr>
        <p:sp>
          <p:nvSpPr>
            <p:cNvPr id="170" name="Freeform 9">
              <a:extLst>
                <a:ext uri="{FF2B5EF4-FFF2-40B4-BE49-F238E27FC236}">
                  <a16:creationId xmlns:a16="http://schemas.microsoft.com/office/drawing/2014/main" id="{633409B7-5A94-2E96-A7E4-71918BB139D6}"/>
                </a:ext>
              </a:extLst>
            </p:cNvPr>
            <p:cNvSpPr/>
            <p:nvPr/>
          </p:nvSpPr>
          <p:spPr>
            <a:xfrm>
              <a:off x="0" y="0"/>
              <a:ext cx="10266680" cy="8072120"/>
            </a:xfrm>
            <a:custGeom>
              <a:avLst/>
              <a:gdLst/>
              <a:ahLst/>
              <a:cxnLst/>
              <a:rect l="l" t="t" r="r" b="b"/>
              <a:pathLst>
                <a:path w="10266680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083165" y="0"/>
                  </a:lnTo>
                  <a:cubicBezTo>
                    <a:pt x="10184511" y="0"/>
                    <a:pt x="10266680" y="82169"/>
                    <a:pt x="10266680" y="183515"/>
                  </a:cubicBezTo>
                  <a:lnTo>
                    <a:pt x="10266680" y="7888605"/>
                  </a:lnTo>
                  <a:cubicBezTo>
                    <a:pt x="10266680" y="7989951"/>
                    <a:pt x="10184511" y="8072120"/>
                    <a:pt x="10083165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71" name="Group 10">
            <a:extLst>
              <a:ext uri="{FF2B5EF4-FFF2-40B4-BE49-F238E27FC236}">
                <a16:creationId xmlns:a16="http://schemas.microsoft.com/office/drawing/2014/main" id="{1F20A668-F1D1-BF3C-0E07-B0885D2AB604}"/>
              </a:ext>
            </a:extLst>
          </p:cNvPr>
          <p:cNvGrpSpPr/>
          <p:nvPr/>
        </p:nvGrpSpPr>
        <p:grpSpPr>
          <a:xfrm>
            <a:off x="1735074" y="13586936"/>
            <a:ext cx="6858000" cy="480060"/>
            <a:chOff x="0" y="0"/>
            <a:chExt cx="9144000" cy="640080"/>
          </a:xfrm>
        </p:grpSpPr>
        <p:sp>
          <p:nvSpPr>
            <p:cNvPr id="172" name="Freeform 11">
              <a:extLst>
                <a:ext uri="{FF2B5EF4-FFF2-40B4-BE49-F238E27FC236}">
                  <a16:creationId xmlns:a16="http://schemas.microsoft.com/office/drawing/2014/main" id="{B868F492-7D3F-2C34-A5A6-D12BF78473FF}"/>
                </a:ext>
              </a:extLst>
            </p:cNvPr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73" name="TextBox 12">
              <a:extLst>
                <a:ext uri="{FF2B5EF4-FFF2-40B4-BE49-F238E27FC236}">
                  <a16:creationId xmlns:a16="http://schemas.microsoft.com/office/drawing/2014/main" id="{A7145B69-4016-3CF5-9CE2-A602B9D65171}"/>
                </a:ext>
              </a:extLst>
            </p:cNvPr>
            <p:cNvSpPr txBox="1"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Our working definition of “stable”</a:t>
              </a:r>
            </a:p>
          </p:txBody>
        </p:sp>
      </p:grpSp>
      <p:grpSp>
        <p:nvGrpSpPr>
          <p:cNvPr id="174" name="Group 13">
            <a:extLst>
              <a:ext uri="{FF2B5EF4-FFF2-40B4-BE49-F238E27FC236}">
                <a16:creationId xmlns:a16="http://schemas.microsoft.com/office/drawing/2014/main" id="{F4F2A44C-322C-67E8-0BC6-D169A7D38039}"/>
              </a:ext>
            </a:extLst>
          </p:cNvPr>
          <p:cNvGrpSpPr/>
          <p:nvPr/>
        </p:nvGrpSpPr>
        <p:grpSpPr>
          <a:xfrm>
            <a:off x="1735074" y="14272736"/>
            <a:ext cx="6858000" cy="548640"/>
            <a:chOff x="0" y="0"/>
            <a:chExt cx="9144000" cy="731520"/>
          </a:xfrm>
        </p:grpSpPr>
        <p:sp>
          <p:nvSpPr>
            <p:cNvPr id="175" name="Freeform 14">
              <a:extLst>
                <a:ext uri="{FF2B5EF4-FFF2-40B4-BE49-F238E27FC236}">
                  <a16:creationId xmlns:a16="http://schemas.microsoft.com/office/drawing/2014/main" id="{DEF93A10-15E6-5FBD-983F-2BB202368EB3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176" name="TextBox 15">
              <a:extLst>
                <a:ext uri="{FF2B5EF4-FFF2-40B4-BE49-F238E27FC236}">
                  <a16:creationId xmlns:a16="http://schemas.microsoft.com/office/drawing/2014/main" id="{4D73D557-9BCC-CF58-E6C5-529ACEFABBD3}"/>
                </a:ext>
              </a:extLst>
            </p:cNvPr>
            <p:cNvSpPr txBox="1"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Fixed-term or permanent contract</a:t>
              </a:r>
            </a:p>
          </p:txBody>
        </p:sp>
      </p:grpSp>
      <p:grpSp>
        <p:nvGrpSpPr>
          <p:cNvPr id="177" name="Group 16">
            <a:extLst>
              <a:ext uri="{FF2B5EF4-FFF2-40B4-BE49-F238E27FC236}">
                <a16:creationId xmlns:a16="http://schemas.microsoft.com/office/drawing/2014/main" id="{F972E90F-B866-C9E5-5E57-E56B2A62F109}"/>
              </a:ext>
            </a:extLst>
          </p:cNvPr>
          <p:cNvGrpSpPr/>
          <p:nvPr/>
        </p:nvGrpSpPr>
        <p:grpSpPr>
          <a:xfrm>
            <a:off x="1735074" y="14889956"/>
            <a:ext cx="6858000" cy="548640"/>
            <a:chOff x="0" y="0"/>
            <a:chExt cx="9144000" cy="731520"/>
          </a:xfrm>
        </p:grpSpPr>
        <p:sp>
          <p:nvSpPr>
            <p:cNvPr id="178" name="Freeform 17">
              <a:extLst>
                <a:ext uri="{FF2B5EF4-FFF2-40B4-BE49-F238E27FC236}">
                  <a16:creationId xmlns:a16="http://schemas.microsoft.com/office/drawing/2014/main" id="{052BB496-9D97-A70F-635B-681E017ABAAD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179" name="TextBox 18">
              <a:extLst>
                <a:ext uri="{FF2B5EF4-FFF2-40B4-BE49-F238E27FC236}">
                  <a16:creationId xmlns:a16="http://schemas.microsoft.com/office/drawing/2014/main" id="{5AA1C8C9-87F9-8DE0-F6BC-A909E10E9E98}"/>
                </a:ext>
              </a:extLst>
            </p:cNvPr>
            <p:cNvSpPr txBox="1"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Employer verified by SkillAscend</a:t>
              </a:r>
            </a:p>
          </p:txBody>
        </p:sp>
      </p:grpSp>
      <p:grpSp>
        <p:nvGrpSpPr>
          <p:cNvPr id="180" name="Group 19">
            <a:extLst>
              <a:ext uri="{FF2B5EF4-FFF2-40B4-BE49-F238E27FC236}">
                <a16:creationId xmlns:a16="http://schemas.microsoft.com/office/drawing/2014/main" id="{D88615F9-BE46-B7FA-E2E1-1373D6165655}"/>
              </a:ext>
            </a:extLst>
          </p:cNvPr>
          <p:cNvGrpSpPr/>
          <p:nvPr/>
        </p:nvGrpSpPr>
        <p:grpSpPr>
          <a:xfrm>
            <a:off x="1735074" y="15507176"/>
            <a:ext cx="6858000" cy="548640"/>
            <a:chOff x="0" y="0"/>
            <a:chExt cx="9144000" cy="731520"/>
          </a:xfrm>
        </p:grpSpPr>
        <p:sp>
          <p:nvSpPr>
            <p:cNvPr id="181" name="Freeform 20">
              <a:extLst>
                <a:ext uri="{FF2B5EF4-FFF2-40B4-BE49-F238E27FC236}">
                  <a16:creationId xmlns:a16="http://schemas.microsoft.com/office/drawing/2014/main" id="{84F26DC7-5028-3F12-280F-1CA934E16F40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182" name="TextBox 21">
              <a:extLst>
                <a:ext uri="{FF2B5EF4-FFF2-40B4-BE49-F238E27FC236}">
                  <a16:creationId xmlns:a16="http://schemas.microsoft.com/office/drawing/2014/main" id="{B1C70988-7A3A-41F7-1352-A31E28925A5F}"/>
                </a:ext>
              </a:extLst>
            </p:cNvPr>
            <p:cNvSpPr txBox="1"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Retained six months or more</a:t>
              </a:r>
            </a:p>
          </p:txBody>
        </p:sp>
      </p:grpSp>
      <p:grpSp>
        <p:nvGrpSpPr>
          <p:cNvPr id="183" name="Group 22">
            <a:extLst>
              <a:ext uri="{FF2B5EF4-FFF2-40B4-BE49-F238E27FC236}">
                <a16:creationId xmlns:a16="http://schemas.microsoft.com/office/drawing/2014/main" id="{8B499CD2-951F-76C4-3898-AD34068E469E}"/>
              </a:ext>
            </a:extLst>
          </p:cNvPr>
          <p:cNvGrpSpPr/>
          <p:nvPr/>
        </p:nvGrpSpPr>
        <p:grpSpPr>
          <a:xfrm>
            <a:off x="1735074" y="16124396"/>
            <a:ext cx="6858000" cy="548640"/>
            <a:chOff x="0" y="0"/>
            <a:chExt cx="9144000" cy="731520"/>
          </a:xfrm>
        </p:grpSpPr>
        <p:sp>
          <p:nvSpPr>
            <p:cNvPr id="184" name="Freeform 23">
              <a:extLst>
                <a:ext uri="{FF2B5EF4-FFF2-40B4-BE49-F238E27FC236}">
                  <a16:creationId xmlns:a16="http://schemas.microsoft.com/office/drawing/2014/main" id="{ADB01D9A-D6D2-A9C8-7763-F7B926F95065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185" name="TextBox 24">
              <a:extLst>
                <a:ext uri="{FF2B5EF4-FFF2-40B4-BE49-F238E27FC236}">
                  <a16:creationId xmlns:a16="http://schemas.microsoft.com/office/drawing/2014/main" id="{4AA2E72D-9110-84E7-5E71-2CFD5F8B91F7}"/>
                </a:ext>
              </a:extLst>
            </p:cNvPr>
            <p:cNvSpPr txBox="1"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Government post</a:t>
              </a:r>
            </a:p>
          </p:txBody>
        </p:sp>
      </p:grpSp>
      <p:grpSp>
        <p:nvGrpSpPr>
          <p:cNvPr id="186" name="Group 25">
            <a:extLst>
              <a:ext uri="{FF2B5EF4-FFF2-40B4-BE49-F238E27FC236}">
                <a16:creationId xmlns:a16="http://schemas.microsoft.com/office/drawing/2014/main" id="{2AAB745D-9C73-51CD-51BD-592210974E7F}"/>
              </a:ext>
            </a:extLst>
          </p:cNvPr>
          <p:cNvGrpSpPr/>
          <p:nvPr/>
        </p:nvGrpSpPr>
        <p:grpSpPr>
          <a:xfrm>
            <a:off x="1735074" y="16947356"/>
            <a:ext cx="5486400" cy="411480"/>
            <a:chOff x="0" y="0"/>
            <a:chExt cx="7315200" cy="548640"/>
          </a:xfrm>
        </p:grpSpPr>
        <p:sp>
          <p:nvSpPr>
            <p:cNvPr id="187" name="Freeform 26">
              <a:extLst>
                <a:ext uri="{FF2B5EF4-FFF2-40B4-BE49-F238E27FC236}">
                  <a16:creationId xmlns:a16="http://schemas.microsoft.com/office/drawing/2014/main" id="{1F9B498F-F336-17BF-1B5D-2E1521683051}"/>
                </a:ext>
              </a:extLst>
            </p:cNvPr>
            <p:cNvSpPr/>
            <p:nvPr/>
          </p:nvSpPr>
          <p:spPr>
            <a:xfrm>
              <a:off x="0" y="0"/>
              <a:ext cx="7315200" cy="548640"/>
            </a:xfrm>
            <a:custGeom>
              <a:avLst/>
              <a:gdLst/>
              <a:ahLst/>
              <a:cxnLst/>
              <a:rect l="l" t="t" r="r" b="b"/>
              <a:pathLst>
                <a:path w="7315200" h="54864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188" name="TextBox 27">
              <a:extLst>
                <a:ext uri="{FF2B5EF4-FFF2-40B4-BE49-F238E27FC236}">
                  <a16:creationId xmlns:a16="http://schemas.microsoft.com/office/drawing/2014/main" id="{81FC1851-E3ED-F3C2-E7E4-792C041D0F0B}"/>
                </a:ext>
              </a:extLst>
            </p:cNvPr>
            <p:cNvSpPr txBox="1"/>
            <p:nvPr/>
          </p:nvSpPr>
          <p:spPr>
            <a:xfrm>
              <a:off x="0" y="-9525"/>
              <a:ext cx="73152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Sample match</a:t>
              </a:r>
            </a:p>
          </p:txBody>
        </p:sp>
      </p:grpSp>
      <p:grpSp>
        <p:nvGrpSpPr>
          <p:cNvPr id="189" name="Group 28">
            <a:extLst>
              <a:ext uri="{FF2B5EF4-FFF2-40B4-BE49-F238E27FC236}">
                <a16:creationId xmlns:a16="http://schemas.microsoft.com/office/drawing/2014/main" id="{B36453C9-A604-A24D-7C20-6BDFE9497BA3}"/>
              </a:ext>
            </a:extLst>
          </p:cNvPr>
          <p:cNvGrpSpPr/>
          <p:nvPr/>
        </p:nvGrpSpPr>
        <p:grpSpPr>
          <a:xfrm>
            <a:off x="1725549" y="17417891"/>
            <a:ext cx="6877050" cy="1596390"/>
            <a:chOff x="0" y="0"/>
            <a:chExt cx="9169400" cy="2128520"/>
          </a:xfrm>
        </p:grpSpPr>
        <p:sp>
          <p:nvSpPr>
            <p:cNvPr id="190" name="Freeform 29">
              <a:extLst>
                <a:ext uri="{FF2B5EF4-FFF2-40B4-BE49-F238E27FC236}">
                  <a16:creationId xmlns:a16="http://schemas.microsoft.com/office/drawing/2014/main" id="{A65008DD-9EB9-4A67-6FFB-95B65F064F0E}"/>
                </a:ext>
              </a:extLst>
            </p:cNvPr>
            <p:cNvSpPr/>
            <p:nvPr/>
          </p:nvSpPr>
          <p:spPr>
            <a:xfrm>
              <a:off x="0" y="0"/>
              <a:ext cx="9169400" cy="2128520"/>
            </a:xfrm>
            <a:custGeom>
              <a:avLst/>
              <a:gdLst/>
              <a:ahLst/>
              <a:cxnLst/>
              <a:rect l="l" t="t" r="r" b="b"/>
              <a:pathLst>
                <a:path w="9169400" h="2128520">
                  <a:moveTo>
                    <a:pt x="0" y="185039"/>
                  </a:moveTo>
                  <a:cubicBezTo>
                    <a:pt x="0" y="82931"/>
                    <a:pt x="82931" y="0"/>
                    <a:pt x="185039" y="0"/>
                  </a:cubicBezTo>
                  <a:lnTo>
                    <a:pt x="8984361" y="0"/>
                  </a:lnTo>
                  <a:cubicBezTo>
                    <a:pt x="9086469" y="0"/>
                    <a:pt x="9169400" y="82931"/>
                    <a:pt x="9169400" y="185039"/>
                  </a:cubicBezTo>
                  <a:lnTo>
                    <a:pt x="9169400" y="1943481"/>
                  </a:lnTo>
                  <a:cubicBezTo>
                    <a:pt x="9169400" y="2045716"/>
                    <a:pt x="9086469" y="2128520"/>
                    <a:pt x="8984361" y="2128520"/>
                  </a:cubicBezTo>
                  <a:lnTo>
                    <a:pt x="185039" y="2128520"/>
                  </a:lnTo>
                  <a:cubicBezTo>
                    <a:pt x="82931" y="2128520"/>
                    <a:pt x="0" y="2045589"/>
                    <a:pt x="0" y="1943481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91" name="Group 30">
            <a:extLst>
              <a:ext uri="{FF2B5EF4-FFF2-40B4-BE49-F238E27FC236}">
                <a16:creationId xmlns:a16="http://schemas.microsoft.com/office/drawing/2014/main" id="{E7BADFE5-FC85-4EF7-D6A5-35ED66B6755B}"/>
              </a:ext>
            </a:extLst>
          </p:cNvPr>
          <p:cNvGrpSpPr/>
          <p:nvPr/>
        </p:nvGrpSpPr>
        <p:grpSpPr>
          <a:xfrm>
            <a:off x="2077974" y="17564576"/>
            <a:ext cx="6172200" cy="480060"/>
            <a:chOff x="0" y="0"/>
            <a:chExt cx="8229600" cy="640080"/>
          </a:xfrm>
        </p:grpSpPr>
        <p:sp>
          <p:nvSpPr>
            <p:cNvPr id="192" name="Freeform 31">
              <a:extLst>
                <a:ext uri="{FF2B5EF4-FFF2-40B4-BE49-F238E27FC236}">
                  <a16:creationId xmlns:a16="http://schemas.microsoft.com/office/drawing/2014/main" id="{DB3B6D31-F615-9BC9-9F23-848F5A7A4653}"/>
                </a:ext>
              </a:extLst>
            </p:cNvPr>
            <p:cNvSpPr/>
            <p:nvPr/>
          </p:nvSpPr>
          <p:spPr>
            <a:xfrm>
              <a:off x="0" y="0"/>
              <a:ext cx="8229600" cy="640080"/>
            </a:xfrm>
            <a:custGeom>
              <a:avLst/>
              <a:gdLst/>
              <a:ahLst/>
              <a:cxnLst/>
              <a:rect l="l" t="t" r="r" b="b"/>
              <a:pathLst>
                <a:path w="8229600" h="64008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193" name="TextBox 32">
              <a:extLst>
                <a:ext uri="{FF2B5EF4-FFF2-40B4-BE49-F238E27FC236}">
                  <a16:creationId xmlns:a16="http://schemas.microsoft.com/office/drawing/2014/main" id="{6B415E1B-015F-1A3A-4DB5-4969D755BA7C}"/>
                </a:ext>
              </a:extLst>
            </p:cNvPr>
            <p:cNvSpPr txBox="1"/>
            <p:nvPr/>
          </p:nvSpPr>
          <p:spPr>
            <a:xfrm>
              <a:off x="0" y="-9525"/>
              <a:ext cx="82296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EV-scooter technician · fixed contract</a:t>
              </a:r>
            </a:p>
          </p:txBody>
        </p:sp>
      </p:grpSp>
      <p:sp>
        <p:nvSpPr>
          <p:cNvPr id="194" name="TextBox 33">
            <a:extLst>
              <a:ext uri="{FF2B5EF4-FFF2-40B4-BE49-F238E27FC236}">
                <a16:creationId xmlns:a16="http://schemas.microsoft.com/office/drawing/2014/main" id="{49D8F489-2AA3-191B-9E02-A3572E4FE75B}"/>
              </a:ext>
            </a:extLst>
          </p:cNvPr>
          <p:cNvSpPr txBox="1"/>
          <p:nvPr/>
        </p:nvSpPr>
        <p:spPr>
          <a:xfrm>
            <a:off x="2077974" y="18103691"/>
            <a:ext cx="6172200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Employer verified · 4.2 km away · matches 3 of Pratik's verified skills</a:t>
            </a:r>
          </a:p>
        </p:txBody>
      </p:sp>
      <p:grpSp>
        <p:nvGrpSpPr>
          <p:cNvPr id="195" name="Group 34">
            <a:extLst>
              <a:ext uri="{FF2B5EF4-FFF2-40B4-BE49-F238E27FC236}">
                <a16:creationId xmlns:a16="http://schemas.microsoft.com/office/drawing/2014/main" id="{E49D8068-041E-C00D-E1A1-0B577DB5105B}"/>
              </a:ext>
            </a:extLst>
          </p:cNvPr>
          <p:cNvGrpSpPr/>
          <p:nvPr/>
        </p:nvGrpSpPr>
        <p:grpSpPr>
          <a:xfrm>
            <a:off x="9553194" y="13244036"/>
            <a:ext cx="8229600" cy="548640"/>
            <a:chOff x="0" y="0"/>
            <a:chExt cx="10972800" cy="731520"/>
          </a:xfrm>
        </p:grpSpPr>
        <p:sp>
          <p:nvSpPr>
            <p:cNvPr id="196" name="Freeform 35">
              <a:extLst>
                <a:ext uri="{FF2B5EF4-FFF2-40B4-BE49-F238E27FC236}">
                  <a16:creationId xmlns:a16="http://schemas.microsoft.com/office/drawing/2014/main" id="{FE5A69C0-309A-DAD2-2DF0-367141038201}"/>
                </a:ext>
              </a:extLst>
            </p:cNvPr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97" name="TextBox 36">
              <a:extLst>
                <a:ext uri="{FF2B5EF4-FFF2-40B4-BE49-F238E27FC236}">
                  <a16:creationId xmlns:a16="http://schemas.microsoft.com/office/drawing/2014/main" id="{57FE8F5B-35A6-CDFF-BE48-A781808584D0}"/>
                </a:ext>
              </a:extLst>
            </p:cNvPr>
            <p:cNvSpPr txBox="1"/>
            <p:nvPr/>
          </p:nvSpPr>
          <p:spPr>
            <a:xfrm>
              <a:off x="0" y="0"/>
              <a:ext cx="10972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How matching works</a:t>
              </a:r>
            </a:p>
          </p:txBody>
        </p:sp>
      </p:grpSp>
      <p:sp>
        <p:nvSpPr>
          <p:cNvPr id="198" name="TextBox 37">
            <a:extLst>
              <a:ext uri="{FF2B5EF4-FFF2-40B4-BE49-F238E27FC236}">
                <a16:creationId xmlns:a16="http://schemas.microsoft.com/office/drawing/2014/main" id="{16F691F0-FAE3-C3CA-3275-44FE3C0FCAF6}"/>
              </a:ext>
            </a:extLst>
          </p:cNvPr>
          <p:cNvSpPr txBox="1"/>
          <p:nvPr/>
        </p:nvSpPr>
        <p:spPr>
          <a:xfrm>
            <a:off x="9553194" y="13844111"/>
            <a:ext cx="809244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Private roles are ranked by skill match, distance, trust score and a stability filter.</a:t>
            </a:r>
          </a:p>
        </p:txBody>
      </p:sp>
      <p:sp>
        <p:nvSpPr>
          <p:cNvPr id="199" name="TextBox 38">
            <a:extLst>
              <a:ext uri="{FF2B5EF4-FFF2-40B4-BE49-F238E27FC236}">
                <a16:creationId xmlns:a16="http://schemas.microsoft.com/office/drawing/2014/main" id="{A3D5ABB9-CC3F-04EF-F135-37EFDDD1015E}"/>
              </a:ext>
            </a:extLst>
          </p:cNvPr>
          <p:cNvSpPr txBox="1"/>
          <p:nvPr/>
        </p:nvSpPr>
        <p:spPr>
          <a:xfrm>
            <a:off x="9553194" y="15147131"/>
            <a:ext cx="809244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Local demand can post a need in plain language and be matched to nearby verified workers (reverse matching).</a:t>
            </a:r>
          </a:p>
        </p:txBody>
      </p:sp>
      <p:sp>
        <p:nvSpPr>
          <p:cNvPr id="200" name="TextBox 39">
            <a:extLst>
              <a:ext uri="{FF2B5EF4-FFF2-40B4-BE49-F238E27FC236}">
                <a16:creationId xmlns:a16="http://schemas.microsoft.com/office/drawing/2014/main" id="{3520A598-67AA-E276-F2E0-81789E6DA968}"/>
              </a:ext>
            </a:extLst>
          </p:cNvPr>
          <p:cNvSpPr txBox="1"/>
          <p:nvPr/>
        </p:nvSpPr>
        <p:spPr>
          <a:xfrm>
            <a:off x="9553194" y="16450151"/>
            <a:ext cx="809244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Government routes appear alongside, based on eligibility. That's the next section.</a:t>
            </a:r>
          </a:p>
        </p:txBody>
      </p:sp>
      <p:sp>
        <p:nvSpPr>
          <p:cNvPr id="201" name="TextBox 40">
            <a:extLst>
              <a:ext uri="{FF2B5EF4-FFF2-40B4-BE49-F238E27FC236}">
                <a16:creationId xmlns:a16="http://schemas.microsoft.com/office/drawing/2014/main" id="{CEB28F68-2922-2037-1EA5-CE4C9E174214}"/>
              </a:ext>
            </a:extLst>
          </p:cNvPr>
          <p:cNvSpPr txBox="1"/>
          <p:nvPr/>
        </p:nvSpPr>
        <p:spPr>
          <a:xfrm>
            <a:off x="9553194" y="17753171"/>
            <a:ext cx="809244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Success is measured by stable placements, not sign-ups.</a:t>
            </a:r>
          </a:p>
        </p:txBody>
      </p:sp>
      <p:grpSp>
        <p:nvGrpSpPr>
          <p:cNvPr id="202" name="Group 41">
            <a:extLst>
              <a:ext uri="{FF2B5EF4-FFF2-40B4-BE49-F238E27FC236}">
                <a16:creationId xmlns:a16="http://schemas.microsoft.com/office/drawing/2014/main" id="{35E15D88-8099-9762-FDD9-035E68EA99C8}"/>
              </a:ext>
            </a:extLst>
          </p:cNvPr>
          <p:cNvGrpSpPr/>
          <p:nvPr/>
        </p:nvGrpSpPr>
        <p:grpSpPr>
          <a:xfrm>
            <a:off x="17577054" y="20239196"/>
            <a:ext cx="822960" cy="411480"/>
            <a:chOff x="0" y="0"/>
            <a:chExt cx="1097280" cy="548640"/>
          </a:xfrm>
        </p:grpSpPr>
        <p:sp>
          <p:nvSpPr>
            <p:cNvPr id="203" name="Freeform 42">
              <a:extLst>
                <a:ext uri="{FF2B5EF4-FFF2-40B4-BE49-F238E27FC236}">
                  <a16:creationId xmlns:a16="http://schemas.microsoft.com/office/drawing/2014/main" id="{7AF45615-D530-FF8F-5472-8B0BE49BE6AE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04" name="TextBox 43">
              <a:extLst>
                <a:ext uri="{FF2B5EF4-FFF2-40B4-BE49-F238E27FC236}">
                  <a16:creationId xmlns:a16="http://schemas.microsoft.com/office/drawing/2014/main" id="{DE8A03BF-3695-E05D-93ED-21606070F39F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10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 6 · DEEP DIVE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097280"/>
            <a:ext cx="16322040" cy="1234440"/>
            <a:chOff x="0" y="0"/>
            <a:chExt cx="2176272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Stable jobs: matched for stability, not just fit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595" y="2733675"/>
            <a:ext cx="7700010" cy="6054090"/>
            <a:chOff x="0" y="0"/>
            <a:chExt cx="10266680" cy="8072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66680" cy="8072120"/>
            </a:xfrm>
            <a:custGeom>
              <a:avLst/>
              <a:gdLst/>
              <a:ahLst/>
              <a:cxnLst/>
              <a:rect l="l" t="t" r="r" b="b"/>
              <a:pathLst>
                <a:path w="10266680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083165" y="0"/>
                  </a:lnTo>
                  <a:cubicBezTo>
                    <a:pt x="10184511" y="0"/>
                    <a:pt x="10266680" y="82169"/>
                    <a:pt x="10266680" y="183515"/>
                  </a:cubicBezTo>
                  <a:lnTo>
                    <a:pt x="10266680" y="7888605"/>
                  </a:lnTo>
                  <a:cubicBezTo>
                    <a:pt x="10266680" y="7989951"/>
                    <a:pt x="10184511" y="8072120"/>
                    <a:pt x="10083165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371600" y="3086100"/>
            <a:ext cx="6858000" cy="480060"/>
            <a:chOff x="0" y="0"/>
            <a:chExt cx="914400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Our working definition of “stable”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1600" y="3771900"/>
            <a:ext cx="6858000" cy="548640"/>
            <a:chOff x="0" y="0"/>
            <a:chExt cx="914400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Fixed-term or permanent contract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71600" y="4389120"/>
            <a:ext cx="6858000" cy="548640"/>
            <a:chOff x="0" y="0"/>
            <a:chExt cx="91440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Employer verified by SkillAscend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71600" y="5006340"/>
            <a:ext cx="6858000" cy="548640"/>
            <a:chOff x="0" y="0"/>
            <a:chExt cx="914400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Retained six months or more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71600" y="5623560"/>
            <a:ext cx="6858000" cy="548640"/>
            <a:chOff x="0" y="0"/>
            <a:chExt cx="914400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Government post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71600" y="6446520"/>
            <a:ext cx="5486400" cy="411480"/>
            <a:chOff x="0" y="0"/>
            <a:chExt cx="7315200" cy="548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15200" cy="548640"/>
            </a:xfrm>
            <a:custGeom>
              <a:avLst/>
              <a:gdLst/>
              <a:ahLst/>
              <a:cxnLst/>
              <a:rect l="l" t="t" r="r" b="b"/>
              <a:pathLst>
                <a:path w="7315200" h="54864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73152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Sample match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62075" y="6917055"/>
            <a:ext cx="6877050" cy="1596390"/>
            <a:chOff x="0" y="0"/>
            <a:chExt cx="9169400" cy="2128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69400" cy="2128520"/>
            </a:xfrm>
            <a:custGeom>
              <a:avLst/>
              <a:gdLst/>
              <a:ahLst/>
              <a:cxnLst/>
              <a:rect l="l" t="t" r="r" b="b"/>
              <a:pathLst>
                <a:path w="9169400" h="2128520">
                  <a:moveTo>
                    <a:pt x="0" y="185039"/>
                  </a:moveTo>
                  <a:cubicBezTo>
                    <a:pt x="0" y="82931"/>
                    <a:pt x="82931" y="0"/>
                    <a:pt x="185039" y="0"/>
                  </a:cubicBezTo>
                  <a:lnTo>
                    <a:pt x="8984361" y="0"/>
                  </a:lnTo>
                  <a:cubicBezTo>
                    <a:pt x="9086469" y="0"/>
                    <a:pt x="9169400" y="82931"/>
                    <a:pt x="9169400" y="185039"/>
                  </a:cubicBezTo>
                  <a:lnTo>
                    <a:pt x="9169400" y="1943481"/>
                  </a:lnTo>
                  <a:cubicBezTo>
                    <a:pt x="9169400" y="2045716"/>
                    <a:pt x="9086469" y="2128520"/>
                    <a:pt x="8984361" y="2128520"/>
                  </a:cubicBezTo>
                  <a:lnTo>
                    <a:pt x="185039" y="2128520"/>
                  </a:lnTo>
                  <a:cubicBezTo>
                    <a:pt x="82931" y="2128520"/>
                    <a:pt x="0" y="2045589"/>
                    <a:pt x="0" y="1943481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714500" y="7063740"/>
            <a:ext cx="6172200" cy="480060"/>
            <a:chOff x="0" y="0"/>
            <a:chExt cx="8229600" cy="6400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229600" cy="640080"/>
            </a:xfrm>
            <a:custGeom>
              <a:avLst/>
              <a:gdLst/>
              <a:ahLst/>
              <a:cxnLst/>
              <a:rect l="l" t="t" r="r" b="b"/>
              <a:pathLst>
                <a:path w="8229600" h="64008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82296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EV-scooter technician · fixed contract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714500" y="7602855"/>
            <a:ext cx="6172200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Employer verified · 4.2 km away · matches 3 of Pratik's verified skills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189720" y="2743200"/>
            <a:ext cx="8229600" cy="548640"/>
            <a:chOff x="0" y="0"/>
            <a:chExt cx="10972800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0972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How matching works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189720" y="3343275"/>
            <a:ext cx="809244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Private roles are ranked by skill match, distance, trust score and a stability filter.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89720" y="4646295"/>
            <a:ext cx="809244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Local demand can post a need in plain language and be matched to nearby verified workers (reverse matching).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89720" y="5949315"/>
            <a:ext cx="809244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Government routes appear alongside, based on eligibility. That's the next section.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189720" y="7252335"/>
            <a:ext cx="809244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Success is measured by stable placements, not sign-ups.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10</a:t>
              </a:r>
            </a:p>
          </p:txBody>
        </p:sp>
      </p:grpSp>
      <p:grpSp>
        <p:nvGrpSpPr>
          <p:cNvPr id="44" name="Group 2">
            <a:extLst>
              <a:ext uri="{FF2B5EF4-FFF2-40B4-BE49-F238E27FC236}">
                <a16:creationId xmlns:a16="http://schemas.microsoft.com/office/drawing/2014/main" id="{F22FCF6A-8354-A881-66FB-5C95E5AD863E}"/>
              </a:ext>
            </a:extLst>
          </p:cNvPr>
          <p:cNvGrpSpPr/>
          <p:nvPr/>
        </p:nvGrpSpPr>
        <p:grpSpPr>
          <a:xfrm>
            <a:off x="960120" y="-10201275"/>
            <a:ext cx="12344400" cy="480060"/>
            <a:chOff x="0" y="0"/>
            <a:chExt cx="16459200" cy="640080"/>
          </a:xfrm>
        </p:grpSpPr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E058703B-A3A8-B7CB-D30E-74C3AA3032B3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1EFD1FD8-8E0E-B8C1-97D8-92D191DF0503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 5 · DEEP DIVE</a:t>
              </a:r>
            </a:p>
          </p:txBody>
        </p:sp>
      </p:grpSp>
      <p:grpSp>
        <p:nvGrpSpPr>
          <p:cNvPr id="47" name="Group 5">
            <a:extLst>
              <a:ext uri="{FF2B5EF4-FFF2-40B4-BE49-F238E27FC236}">
                <a16:creationId xmlns:a16="http://schemas.microsoft.com/office/drawing/2014/main" id="{B067B8D3-38BF-21C5-5FFC-6F5CD4116D6C}"/>
              </a:ext>
            </a:extLst>
          </p:cNvPr>
          <p:cNvGrpSpPr/>
          <p:nvPr/>
        </p:nvGrpSpPr>
        <p:grpSpPr>
          <a:xfrm>
            <a:off x="960120" y="-9721215"/>
            <a:ext cx="16322040" cy="1234440"/>
            <a:chOff x="0" y="0"/>
            <a:chExt cx="21762720" cy="1645920"/>
          </a:xfrm>
        </p:grpSpPr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E1FFEBC1-405F-433E-B077-2D9246F064D3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49" name="TextBox 7">
              <a:extLst>
                <a:ext uri="{FF2B5EF4-FFF2-40B4-BE49-F238E27FC236}">
                  <a16:creationId xmlns:a16="http://schemas.microsoft.com/office/drawing/2014/main" id="{D3BF7C7D-9812-4923-617B-B6C5C79384B8}"/>
                </a:ext>
              </a:extLst>
            </p:cNvPr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Peer network: nobody walks the path alone</a:t>
              </a:r>
            </a:p>
          </p:txBody>
        </p:sp>
      </p:grpSp>
      <p:grpSp>
        <p:nvGrpSpPr>
          <p:cNvPr id="50" name="Group 8">
            <a:extLst>
              <a:ext uri="{FF2B5EF4-FFF2-40B4-BE49-F238E27FC236}">
                <a16:creationId xmlns:a16="http://schemas.microsoft.com/office/drawing/2014/main" id="{00262606-DB8E-4712-EDCB-CADABF1C78F3}"/>
              </a:ext>
            </a:extLst>
          </p:cNvPr>
          <p:cNvGrpSpPr/>
          <p:nvPr/>
        </p:nvGrpSpPr>
        <p:grpSpPr>
          <a:xfrm>
            <a:off x="950595" y="-8084820"/>
            <a:ext cx="7700010" cy="6054090"/>
            <a:chOff x="0" y="0"/>
            <a:chExt cx="10266680" cy="8072120"/>
          </a:xfrm>
        </p:grpSpPr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312D1140-9A4C-4F7E-3C8A-7ED9403CA945}"/>
                </a:ext>
              </a:extLst>
            </p:cNvPr>
            <p:cNvSpPr/>
            <p:nvPr/>
          </p:nvSpPr>
          <p:spPr>
            <a:xfrm>
              <a:off x="0" y="0"/>
              <a:ext cx="10266680" cy="8072120"/>
            </a:xfrm>
            <a:custGeom>
              <a:avLst/>
              <a:gdLst/>
              <a:ahLst/>
              <a:cxnLst/>
              <a:rect l="l" t="t" r="r" b="b"/>
              <a:pathLst>
                <a:path w="10266680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083165" y="0"/>
                  </a:lnTo>
                  <a:cubicBezTo>
                    <a:pt x="10184511" y="0"/>
                    <a:pt x="10266680" y="82169"/>
                    <a:pt x="10266680" y="183515"/>
                  </a:cubicBezTo>
                  <a:lnTo>
                    <a:pt x="10266680" y="7888605"/>
                  </a:lnTo>
                  <a:cubicBezTo>
                    <a:pt x="10266680" y="7989951"/>
                    <a:pt x="10184511" y="8072120"/>
                    <a:pt x="10083165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52" name="Group 10">
            <a:extLst>
              <a:ext uri="{FF2B5EF4-FFF2-40B4-BE49-F238E27FC236}">
                <a16:creationId xmlns:a16="http://schemas.microsoft.com/office/drawing/2014/main" id="{47FF2843-8358-BF20-8DFD-EDFCD685BEE3}"/>
              </a:ext>
            </a:extLst>
          </p:cNvPr>
          <p:cNvGrpSpPr/>
          <p:nvPr/>
        </p:nvGrpSpPr>
        <p:grpSpPr>
          <a:xfrm>
            <a:off x="1371600" y="-7732395"/>
            <a:ext cx="6858000" cy="480060"/>
            <a:chOff x="0" y="0"/>
            <a:chExt cx="9144000" cy="640080"/>
          </a:xfrm>
        </p:grpSpPr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712DD812-7ABD-A4A1-3EED-F50D6D5FCB91}"/>
                </a:ext>
              </a:extLst>
            </p:cNvPr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54" name="TextBox 12">
              <a:extLst>
                <a:ext uri="{FF2B5EF4-FFF2-40B4-BE49-F238E27FC236}">
                  <a16:creationId xmlns:a16="http://schemas.microsoft.com/office/drawing/2014/main" id="{A166A694-3F3C-37C3-A73E-353164E0DD2A}"/>
                </a:ext>
              </a:extLst>
            </p:cNvPr>
            <p:cNvSpPr txBox="1"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What a member sees</a:t>
              </a:r>
            </a:p>
          </p:txBody>
        </p:sp>
      </p:grpSp>
      <p:grpSp>
        <p:nvGrpSpPr>
          <p:cNvPr id="55" name="Group 13">
            <a:extLst>
              <a:ext uri="{FF2B5EF4-FFF2-40B4-BE49-F238E27FC236}">
                <a16:creationId xmlns:a16="http://schemas.microsoft.com/office/drawing/2014/main" id="{B50E4C4E-3726-5372-CDF7-4876C98B5103}"/>
              </a:ext>
            </a:extLst>
          </p:cNvPr>
          <p:cNvGrpSpPr/>
          <p:nvPr/>
        </p:nvGrpSpPr>
        <p:grpSpPr>
          <a:xfrm>
            <a:off x="1362075" y="-7056120"/>
            <a:ext cx="6877050" cy="1253490"/>
            <a:chOff x="0" y="0"/>
            <a:chExt cx="9169400" cy="1671320"/>
          </a:xfrm>
        </p:grpSpPr>
        <p:sp>
          <p:nvSpPr>
            <p:cNvPr id="56" name="Freeform 14">
              <a:extLst>
                <a:ext uri="{FF2B5EF4-FFF2-40B4-BE49-F238E27FC236}">
                  <a16:creationId xmlns:a16="http://schemas.microsoft.com/office/drawing/2014/main" id="{AE3CDB36-0F72-F681-B7A6-9AA1756F2C35}"/>
                </a:ext>
              </a:extLst>
            </p:cNvPr>
            <p:cNvSpPr/>
            <p:nvPr/>
          </p:nvSpPr>
          <p:spPr>
            <a:xfrm>
              <a:off x="0" y="0"/>
              <a:ext cx="9169400" cy="1671320"/>
            </a:xfrm>
            <a:custGeom>
              <a:avLst/>
              <a:gdLst/>
              <a:ahLst/>
              <a:cxnLst/>
              <a:rect l="l" t="t" r="r" b="b"/>
              <a:pathLst>
                <a:path w="9169400" h="1671320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8983726" y="0"/>
                  </a:lnTo>
                  <a:cubicBezTo>
                    <a:pt x="9086215" y="0"/>
                    <a:pt x="9169400" y="83185"/>
                    <a:pt x="9169400" y="185674"/>
                  </a:cubicBezTo>
                  <a:lnTo>
                    <a:pt x="9169400" y="1485646"/>
                  </a:lnTo>
                  <a:cubicBezTo>
                    <a:pt x="9169400" y="1588262"/>
                    <a:pt x="9086215" y="1671320"/>
                    <a:pt x="8983726" y="1671320"/>
                  </a:cubicBezTo>
                  <a:lnTo>
                    <a:pt x="185674" y="1671320"/>
                  </a:lnTo>
                  <a:cubicBezTo>
                    <a:pt x="83185" y="1671320"/>
                    <a:pt x="0" y="1588135"/>
                    <a:pt x="0" y="148564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57" name="Group 15">
            <a:extLst>
              <a:ext uri="{FF2B5EF4-FFF2-40B4-BE49-F238E27FC236}">
                <a16:creationId xmlns:a16="http://schemas.microsoft.com/office/drawing/2014/main" id="{DDC2E618-74BC-074F-E18C-54ABE8E37BB1}"/>
              </a:ext>
            </a:extLst>
          </p:cNvPr>
          <p:cNvGrpSpPr/>
          <p:nvPr/>
        </p:nvGrpSpPr>
        <p:grpSpPr>
          <a:xfrm>
            <a:off x="1714500" y="-6909435"/>
            <a:ext cx="6172200" cy="411480"/>
            <a:chOff x="0" y="0"/>
            <a:chExt cx="8229600" cy="548640"/>
          </a:xfrm>
        </p:grpSpPr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795BD976-684E-8E1F-D826-A0AFED2BD718}"/>
                </a:ext>
              </a:extLst>
            </p:cNvPr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59" name="TextBox 17">
              <a:extLst>
                <a:ext uri="{FF2B5EF4-FFF2-40B4-BE49-F238E27FC236}">
                  <a16:creationId xmlns:a16="http://schemas.microsoft.com/office/drawing/2014/main" id="{3B79F846-72C7-32D4-893A-98CAD17F2A16}"/>
                </a:ext>
              </a:extLst>
            </p:cNvPr>
            <p:cNvSpPr txBox="1"/>
            <p:nvPr/>
          </p:nvSpPr>
          <p:spPr>
            <a:xfrm>
              <a:off x="0" y="-9525"/>
              <a:ext cx="8229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Peer study group</a:t>
              </a:r>
            </a:p>
          </p:txBody>
        </p:sp>
      </p:grpSp>
      <p:sp>
        <p:nvSpPr>
          <p:cNvPr id="60" name="TextBox 18">
            <a:extLst>
              <a:ext uri="{FF2B5EF4-FFF2-40B4-BE49-F238E27FC236}">
                <a16:creationId xmlns:a16="http://schemas.microsoft.com/office/drawing/2014/main" id="{F629A6D9-0CB7-6204-DE4F-B5A14BEED24F}"/>
              </a:ext>
            </a:extLst>
          </p:cNvPr>
          <p:cNvSpPr txBox="1"/>
          <p:nvPr/>
        </p:nvSpPr>
        <p:spPr>
          <a:xfrm>
            <a:off x="1714500" y="-6470523"/>
            <a:ext cx="61722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 verified members preparing for the same exam</a:t>
            </a:r>
          </a:p>
        </p:txBody>
      </p:sp>
      <p:grpSp>
        <p:nvGrpSpPr>
          <p:cNvPr id="61" name="Group 19">
            <a:extLst>
              <a:ext uri="{FF2B5EF4-FFF2-40B4-BE49-F238E27FC236}">
                <a16:creationId xmlns:a16="http://schemas.microsoft.com/office/drawing/2014/main" id="{90970109-7B6B-3F09-55BC-CACDF667A352}"/>
              </a:ext>
            </a:extLst>
          </p:cNvPr>
          <p:cNvGrpSpPr/>
          <p:nvPr/>
        </p:nvGrpSpPr>
        <p:grpSpPr>
          <a:xfrm>
            <a:off x="1362075" y="-5615940"/>
            <a:ext cx="6877050" cy="1253490"/>
            <a:chOff x="0" y="0"/>
            <a:chExt cx="9169400" cy="1671320"/>
          </a:xfrm>
        </p:grpSpPr>
        <p:sp>
          <p:nvSpPr>
            <p:cNvPr id="62" name="Freeform 20">
              <a:extLst>
                <a:ext uri="{FF2B5EF4-FFF2-40B4-BE49-F238E27FC236}">
                  <a16:creationId xmlns:a16="http://schemas.microsoft.com/office/drawing/2014/main" id="{A714F852-F1BD-6DE9-C290-3F0D2B26B7EE}"/>
                </a:ext>
              </a:extLst>
            </p:cNvPr>
            <p:cNvSpPr/>
            <p:nvPr/>
          </p:nvSpPr>
          <p:spPr>
            <a:xfrm>
              <a:off x="0" y="0"/>
              <a:ext cx="9169400" cy="1671320"/>
            </a:xfrm>
            <a:custGeom>
              <a:avLst/>
              <a:gdLst/>
              <a:ahLst/>
              <a:cxnLst/>
              <a:rect l="l" t="t" r="r" b="b"/>
              <a:pathLst>
                <a:path w="9169400" h="1671320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8983726" y="0"/>
                  </a:lnTo>
                  <a:cubicBezTo>
                    <a:pt x="9086215" y="0"/>
                    <a:pt x="9169400" y="83185"/>
                    <a:pt x="9169400" y="185674"/>
                  </a:cubicBezTo>
                  <a:lnTo>
                    <a:pt x="9169400" y="1485646"/>
                  </a:lnTo>
                  <a:cubicBezTo>
                    <a:pt x="9169400" y="1588262"/>
                    <a:pt x="9086215" y="1671320"/>
                    <a:pt x="8983726" y="1671320"/>
                  </a:cubicBezTo>
                  <a:lnTo>
                    <a:pt x="185674" y="1671320"/>
                  </a:lnTo>
                  <a:cubicBezTo>
                    <a:pt x="83185" y="1671320"/>
                    <a:pt x="0" y="1588135"/>
                    <a:pt x="0" y="148564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63" name="Group 21">
            <a:extLst>
              <a:ext uri="{FF2B5EF4-FFF2-40B4-BE49-F238E27FC236}">
                <a16:creationId xmlns:a16="http://schemas.microsoft.com/office/drawing/2014/main" id="{3846F91B-4B56-3130-5394-72DA01F0BF37}"/>
              </a:ext>
            </a:extLst>
          </p:cNvPr>
          <p:cNvGrpSpPr/>
          <p:nvPr/>
        </p:nvGrpSpPr>
        <p:grpSpPr>
          <a:xfrm>
            <a:off x="1714500" y="-5469255"/>
            <a:ext cx="6172200" cy="411480"/>
            <a:chOff x="0" y="0"/>
            <a:chExt cx="8229600" cy="548640"/>
          </a:xfrm>
        </p:grpSpPr>
        <p:sp>
          <p:nvSpPr>
            <p:cNvPr id="64" name="Freeform 22">
              <a:extLst>
                <a:ext uri="{FF2B5EF4-FFF2-40B4-BE49-F238E27FC236}">
                  <a16:creationId xmlns:a16="http://schemas.microsoft.com/office/drawing/2014/main" id="{9EABE04D-BC4B-18B7-A818-8BC01BC5C2C2}"/>
                </a:ext>
              </a:extLst>
            </p:cNvPr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5" name="TextBox 23">
              <a:extLst>
                <a:ext uri="{FF2B5EF4-FFF2-40B4-BE49-F238E27FC236}">
                  <a16:creationId xmlns:a16="http://schemas.microsoft.com/office/drawing/2014/main" id="{43070314-B490-2AE6-E773-9432C1CC9CEE}"/>
                </a:ext>
              </a:extLst>
            </p:cNvPr>
            <p:cNvSpPr txBox="1"/>
            <p:nvPr/>
          </p:nvSpPr>
          <p:spPr>
            <a:xfrm>
              <a:off x="0" y="-9525"/>
              <a:ext cx="8229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Mentor match</a:t>
              </a:r>
            </a:p>
          </p:txBody>
        </p:sp>
      </p:grpSp>
      <p:sp>
        <p:nvSpPr>
          <p:cNvPr id="66" name="TextBox 24">
            <a:extLst>
              <a:ext uri="{FF2B5EF4-FFF2-40B4-BE49-F238E27FC236}">
                <a16:creationId xmlns:a16="http://schemas.microsoft.com/office/drawing/2014/main" id="{B3814D5F-2384-2681-4014-E26F56D33443}"/>
              </a:ext>
            </a:extLst>
          </p:cNvPr>
          <p:cNvSpPr txBox="1"/>
          <p:nvPr/>
        </p:nvSpPr>
        <p:spPr>
          <a:xfrm>
            <a:off x="1714500" y="-5030343"/>
            <a:ext cx="61722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Someone who cleared it two years ago, verified</a:t>
            </a:r>
          </a:p>
        </p:txBody>
      </p:sp>
      <p:grpSp>
        <p:nvGrpSpPr>
          <p:cNvPr id="67" name="Group 25">
            <a:extLst>
              <a:ext uri="{FF2B5EF4-FFF2-40B4-BE49-F238E27FC236}">
                <a16:creationId xmlns:a16="http://schemas.microsoft.com/office/drawing/2014/main" id="{C0A18AD1-FB88-2535-CEDB-A81E5DF96053}"/>
              </a:ext>
            </a:extLst>
          </p:cNvPr>
          <p:cNvGrpSpPr/>
          <p:nvPr/>
        </p:nvGrpSpPr>
        <p:grpSpPr>
          <a:xfrm>
            <a:off x="1362075" y="-4175760"/>
            <a:ext cx="6877050" cy="1253490"/>
            <a:chOff x="0" y="0"/>
            <a:chExt cx="9169400" cy="1671320"/>
          </a:xfrm>
        </p:grpSpPr>
        <p:sp>
          <p:nvSpPr>
            <p:cNvPr id="68" name="Freeform 26">
              <a:extLst>
                <a:ext uri="{FF2B5EF4-FFF2-40B4-BE49-F238E27FC236}">
                  <a16:creationId xmlns:a16="http://schemas.microsoft.com/office/drawing/2014/main" id="{349A0764-C559-D564-B76C-BFEC4C4EDAD9}"/>
                </a:ext>
              </a:extLst>
            </p:cNvPr>
            <p:cNvSpPr/>
            <p:nvPr/>
          </p:nvSpPr>
          <p:spPr>
            <a:xfrm>
              <a:off x="0" y="0"/>
              <a:ext cx="9169400" cy="1671320"/>
            </a:xfrm>
            <a:custGeom>
              <a:avLst/>
              <a:gdLst/>
              <a:ahLst/>
              <a:cxnLst/>
              <a:rect l="l" t="t" r="r" b="b"/>
              <a:pathLst>
                <a:path w="9169400" h="1671320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8983726" y="0"/>
                  </a:lnTo>
                  <a:cubicBezTo>
                    <a:pt x="9086215" y="0"/>
                    <a:pt x="9169400" y="83185"/>
                    <a:pt x="9169400" y="185674"/>
                  </a:cubicBezTo>
                  <a:lnTo>
                    <a:pt x="9169400" y="1485646"/>
                  </a:lnTo>
                  <a:cubicBezTo>
                    <a:pt x="9169400" y="1588262"/>
                    <a:pt x="9086215" y="1671320"/>
                    <a:pt x="8983726" y="1671320"/>
                  </a:cubicBezTo>
                  <a:lnTo>
                    <a:pt x="185674" y="1671320"/>
                  </a:lnTo>
                  <a:cubicBezTo>
                    <a:pt x="83185" y="1671320"/>
                    <a:pt x="0" y="1588135"/>
                    <a:pt x="0" y="1485646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69" name="Group 27">
            <a:extLst>
              <a:ext uri="{FF2B5EF4-FFF2-40B4-BE49-F238E27FC236}">
                <a16:creationId xmlns:a16="http://schemas.microsoft.com/office/drawing/2014/main" id="{9CFB7244-1BAF-2929-0B30-95B209632784}"/>
              </a:ext>
            </a:extLst>
          </p:cNvPr>
          <p:cNvGrpSpPr/>
          <p:nvPr/>
        </p:nvGrpSpPr>
        <p:grpSpPr>
          <a:xfrm>
            <a:off x="1714500" y="-4029075"/>
            <a:ext cx="6172200" cy="411480"/>
            <a:chOff x="0" y="0"/>
            <a:chExt cx="8229600" cy="548640"/>
          </a:xfrm>
        </p:grpSpPr>
        <p:sp>
          <p:nvSpPr>
            <p:cNvPr id="70" name="Freeform 28">
              <a:extLst>
                <a:ext uri="{FF2B5EF4-FFF2-40B4-BE49-F238E27FC236}">
                  <a16:creationId xmlns:a16="http://schemas.microsoft.com/office/drawing/2014/main" id="{CF7A7E6C-A5BD-9A0B-3C7F-7232987D9E64}"/>
                </a:ext>
              </a:extLst>
            </p:cNvPr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1" name="TextBox 29">
              <a:extLst>
                <a:ext uri="{FF2B5EF4-FFF2-40B4-BE49-F238E27FC236}">
                  <a16:creationId xmlns:a16="http://schemas.microsoft.com/office/drawing/2014/main" id="{90EDEB1F-554E-85CE-A296-6F505F445B29}"/>
                </a:ext>
              </a:extLst>
            </p:cNvPr>
            <p:cNvSpPr txBox="1"/>
            <p:nvPr/>
          </p:nvSpPr>
          <p:spPr>
            <a:xfrm>
              <a:off x="0" y="-9525"/>
              <a:ext cx="8229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Referral</a:t>
              </a:r>
            </a:p>
          </p:txBody>
        </p:sp>
      </p:grpSp>
      <p:sp>
        <p:nvSpPr>
          <p:cNvPr id="72" name="TextBox 30">
            <a:extLst>
              <a:ext uri="{FF2B5EF4-FFF2-40B4-BE49-F238E27FC236}">
                <a16:creationId xmlns:a16="http://schemas.microsoft.com/office/drawing/2014/main" id="{899FF3E8-8883-4594-8992-2A3FC23B0C56}"/>
              </a:ext>
            </a:extLst>
          </p:cNvPr>
          <p:cNvSpPr txBox="1"/>
          <p:nvPr/>
        </p:nvSpPr>
        <p:spPr>
          <a:xfrm>
            <a:off x="1714500" y="-3590163"/>
            <a:ext cx="61722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mentor vouches for you to a local employer</a:t>
            </a:r>
          </a:p>
        </p:txBody>
      </p:sp>
      <p:grpSp>
        <p:nvGrpSpPr>
          <p:cNvPr id="73" name="Group 31">
            <a:extLst>
              <a:ext uri="{FF2B5EF4-FFF2-40B4-BE49-F238E27FC236}">
                <a16:creationId xmlns:a16="http://schemas.microsoft.com/office/drawing/2014/main" id="{26661E28-41C7-3BE5-A678-7AA68385B259}"/>
              </a:ext>
            </a:extLst>
          </p:cNvPr>
          <p:cNvGrpSpPr/>
          <p:nvPr/>
        </p:nvGrpSpPr>
        <p:grpSpPr>
          <a:xfrm>
            <a:off x="1371600" y="-2657475"/>
            <a:ext cx="6858000" cy="411480"/>
            <a:chOff x="0" y="0"/>
            <a:chExt cx="9144000" cy="548640"/>
          </a:xfrm>
        </p:grpSpPr>
        <p:sp>
          <p:nvSpPr>
            <p:cNvPr id="74" name="Freeform 32">
              <a:extLst>
                <a:ext uri="{FF2B5EF4-FFF2-40B4-BE49-F238E27FC236}">
                  <a16:creationId xmlns:a16="http://schemas.microsoft.com/office/drawing/2014/main" id="{DF8224A3-3F4C-3AA1-874C-DE5280C61110}"/>
                </a:ext>
              </a:extLst>
            </p:cNvPr>
            <p:cNvSpPr/>
            <p:nvPr/>
          </p:nvSpPr>
          <p:spPr>
            <a:xfrm>
              <a:off x="0" y="0"/>
              <a:ext cx="9144000" cy="548640"/>
            </a:xfrm>
            <a:custGeom>
              <a:avLst/>
              <a:gdLst/>
              <a:ahLst/>
              <a:cxnLst/>
              <a:rect l="l" t="t" r="r" b="b"/>
              <a:pathLst>
                <a:path w="9144000" h="54864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75" name="TextBox 33">
              <a:extLst>
                <a:ext uri="{FF2B5EF4-FFF2-40B4-BE49-F238E27FC236}">
                  <a16:creationId xmlns:a16="http://schemas.microsoft.com/office/drawing/2014/main" id="{79DD6DD3-8A6C-78D9-4B72-833E5940A50D}"/>
                </a:ext>
              </a:extLst>
            </p:cNvPr>
            <p:cNvSpPr txBox="1"/>
            <p:nvPr/>
          </p:nvSpPr>
          <p:spPr>
            <a:xfrm>
              <a:off x="0" y="-9525"/>
              <a:ext cx="91440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94A3B8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Illustrative examples</a:t>
              </a:r>
            </a:p>
          </p:txBody>
        </p:sp>
      </p:grpSp>
      <p:grpSp>
        <p:nvGrpSpPr>
          <p:cNvPr id="76" name="Group 34">
            <a:extLst>
              <a:ext uri="{FF2B5EF4-FFF2-40B4-BE49-F238E27FC236}">
                <a16:creationId xmlns:a16="http://schemas.microsoft.com/office/drawing/2014/main" id="{5DA61369-2252-5EA8-BDBB-1E0039C03C5F}"/>
              </a:ext>
            </a:extLst>
          </p:cNvPr>
          <p:cNvGrpSpPr/>
          <p:nvPr/>
        </p:nvGrpSpPr>
        <p:grpSpPr>
          <a:xfrm>
            <a:off x="9189720" y="-8075295"/>
            <a:ext cx="8229600" cy="548640"/>
            <a:chOff x="0" y="0"/>
            <a:chExt cx="10972800" cy="731520"/>
          </a:xfrm>
        </p:grpSpPr>
        <p:sp>
          <p:nvSpPr>
            <p:cNvPr id="77" name="Freeform 35">
              <a:extLst>
                <a:ext uri="{FF2B5EF4-FFF2-40B4-BE49-F238E27FC236}">
                  <a16:creationId xmlns:a16="http://schemas.microsoft.com/office/drawing/2014/main" id="{A9569370-ADF3-AA15-DF80-F0633C0B1E76}"/>
                </a:ext>
              </a:extLst>
            </p:cNvPr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8" name="TextBox 36">
              <a:extLst>
                <a:ext uri="{FF2B5EF4-FFF2-40B4-BE49-F238E27FC236}">
                  <a16:creationId xmlns:a16="http://schemas.microsoft.com/office/drawing/2014/main" id="{4A76615E-1752-34BB-1DC9-A519E65D043E}"/>
                </a:ext>
              </a:extLst>
            </p:cNvPr>
            <p:cNvSpPr txBox="1"/>
            <p:nvPr/>
          </p:nvSpPr>
          <p:spPr>
            <a:xfrm>
              <a:off x="0" y="0"/>
              <a:ext cx="10972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Why peer connection</a:t>
              </a:r>
            </a:p>
          </p:txBody>
        </p:sp>
      </p:grpSp>
      <p:sp>
        <p:nvSpPr>
          <p:cNvPr id="79" name="TextBox 37">
            <a:extLst>
              <a:ext uri="{FF2B5EF4-FFF2-40B4-BE49-F238E27FC236}">
                <a16:creationId xmlns:a16="http://schemas.microsoft.com/office/drawing/2014/main" id="{33CEA526-368A-5913-D1E7-89F5318CD5AD}"/>
              </a:ext>
            </a:extLst>
          </p:cNvPr>
          <p:cNvSpPr txBox="1"/>
          <p:nvPr/>
        </p:nvSpPr>
        <p:spPr>
          <a:xfrm>
            <a:off x="9189720" y="-7465695"/>
            <a:ext cx="8092440" cy="131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Groups form around a shared goal, such as the same exam or the same skill gap.</a:t>
            </a:r>
          </a:p>
        </p:txBody>
      </p:sp>
      <p:sp>
        <p:nvSpPr>
          <p:cNvPr id="80" name="TextBox 38">
            <a:extLst>
              <a:ext uri="{FF2B5EF4-FFF2-40B4-BE49-F238E27FC236}">
                <a16:creationId xmlns:a16="http://schemas.microsoft.com/office/drawing/2014/main" id="{AA0DAB3D-7696-D36B-0420-AFF47296BE31}"/>
              </a:ext>
            </a:extLst>
          </p:cNvPr>
          <p:cNvSpPr txBox="1"/>
          <p:nvPr/>
        </p:nvSpPr>
        <p:spPr>
          <a:xfrm>
            <a:off x="9189720" y="-6162675"/>
            <a:ext cx="8092440" cy="131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Verified mentors who made the same journey give practical advice and referrals.</a:t>
            </a:r>
          </a:p>
        </p:txBody>
      </p:sp>
      <p:sp>
        <p:nvSpPr>
          <p:cNvPr id="81" name="TextBox 39">
            <a:extLst>
              <a:ext uri="{FF2B5EF4-FFF2-40B4-BE49-F238E27FC236}">
                <a16:creationId xmlns:a16="http://schemas.microsoft.com/office/drawing/2014/main" id="{047A7C84-4DFE-CDE7-8692-145E92B36065}"/>
              </a:ext>
            </a:extLst>
          </p:cNvPr>
          <p:cNvSpPr txBox="1"/>
          <p:nvPr/>
        </p:nvSpPr>
        <p:spPr>
          <a:xfrm>
            <a:off x="9189720" y="-4859655"/>
            <a:ext cx="8092440" cy="131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Verification keeps it safe: only verified members can message, with reporting built in and no contact details shared by default.</a:t>
            </a:r>
          </a:p>
        </p:txBody>
      </p:sp>
      <p:sp>
        <p:nvSpPr>
          <p:cNvPr id="82" name="TextBox 40">
            <a:extLst>
              <a:ext uri="{FF2B5EF4-FFF2-40B4-BE49-F238E27FC236}">
                <a16:creationId xmlns:a16="http://schemas.microsoft.com/office/drawing/2014/main" id="{EA895A9D-1756-2C90-6A8A-85877463149F}"/>
              </a:ext>
            </a:extLst>
          </p:cNvPr>
          <p:cNvSpPr txBox="1"/>
          <p:nvPr/>
        </p:nvSpPr>
        <p:spPr>
          <a:xfrm>
            <a:off x="9189720" y="-3556635"/>
            <a:ext cx="8092440" cy="131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Referrals and guidance decide who gets hired. This gives people without a network one.</a:t>
            </a:r>
          </a:p>
        </p:txBody>
      </p:sp>
      <p:grpSp>
        <p:nvGrpSpPr>
          <p:cNvPr id="83" name="Group 41">
            <a:extLst>
              <a:ext uri="{FF2B5EF4-FFF2-40B4-BE49-F238E27FC236}">
                <a16:creationId xmlns:a16="http://schemas.microsoft.com/office/drawing/2014/main" id="{7C4FE231-17B0-9590-3E50-E4B36ED3BBA3}"/>
              </a:ext>
            </a:extLst>
          </p:cNvPr>
          <p:cNvGrpSpPr/>
          <p:nvPr/>
        </p:nvGrpSpPr>
        <p:grpSpPr>
          <a:xfrm>
            <a:off x="17213580" y="-1080135"/>
            <a:ext cx="822960" cy="411480"/>
            <a:chOff x="0" y="0"/>
            <a:chExt cx="1097280" cy="548640"/>
          </a:xfrm>
        </p:grpSpPr>
        <p:sp>
          <p:nvSpPr>
            <p:cNvPr id="84" name="Freeform 42">
              <a:extLst>
                <a:ext uri="{FF2B5EF4-FFF2-40B4-BE49-F238E27FC236}">
                  <a16:creationId xmlns:a16="http://schemas.microsoft.com/office/drawing/2014/main" id="{48DF7390-70F8-1BC8-F553-50775B8806DD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85" name="TextBox 43">
              <a:extLst>
                <a:ext uri="{FF2B5EF4-FFF2-40B4-BE49-F238E27FC236}">
                  <a16:creationId xmlns:a16="http://schemas.microsoft.com/office/drawing/2014/main" id="{9768EF77-DA30-96B0-C05C-D5AD0DE0C87F}"/>
                </a:ext>
              </a:extLst>
            </p:cNvPr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09</a:t>
              </a:r>
            </a:p>
          </p:txBody>
        </p:sp>
      </p:grpSp>
      <p:grpSp>
        <p:nvGrpSpPr>
          <p:cNvPr id="86" name="Group 2">
            <a:extLst>
              <a:ext uri="{FF2B5EF4-FFF2-40B4-BE49-F238E27FC236}">
                <a16:creationId xmlns:a16="http://schemas.microsoft.com/office/drawing/2014/main" id="{3FCDFEDE-007A-21A0-32C2-CCBB0BE1FC29}"/>
              </a:ext>
            </a:extLst>
          </p:cNvPr>
          <p:cNvGrpSpPr/>
          <p:nvPr/>
        </p:nvGrpSpPr>
        <p:grpSpPr>
          <a:xfrm>
            <a:off x="882015" y="11292840"/>
            <a:ext cx="12344400" cy="480060"/>
            <a:chOff x="0" y="0"/>
            <a:chExt cx="16459200" cy="640080"/>
          </a:xfrm>
        </p:grpSpPr>
        <p:sp>
          <p:nvSpPr>
            <p:cNvPr id="87" name="Freeform 3">
              <a:extLst>
                <a:ext uri="{FF2B5EF4-FFF2-40B4-BE49-F238E27FC236}">
                  <a16:creationId xmlns:a16="http://schemas.microsoft.com/office/drawing/2014/main" id="{B5304FC2-155A-FAC8-C07F-EDD3468E839C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88" name="TextBox 4">
              <a:extLst>
                <a:ext uri="{FF2B5EF4-FFF2-40B4-BE49-F238E27FC236}">
                  <a16:creationId xmlns:a16="http://schemas.microsoft.com/office/drawing/2014/main" id="{429533AE-9B97-505A-39A6-ECDB7617BA73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GOVERNMENT JOB MODULE</a:t>
              </a:r>
            </a:p>
          </p:txBody>
        </p:sp>
      </p:grpSp>
      <p:grpSp>
        <p:nvGrpSpPr>
          <p:cNvPr id="89" name="Group 5">
            <a:extLst>
              <a:ext uri="{FF2B5EF4-FFF2-40B4-BE49-F238E27FC236}">
                <a16:creationId xmlns:a16="http://schemas.microsoft.com/office/drawing/2014/main" id="{92739C41-3C38-7005-D8A4-ACDBB8D778C9}"/>
              </a:ext>
            </a:extLst>
          </p:cNvPr>
          <p:cNvGrpSpPr/>
          <p:nvPr/>
        </p:nvGrpSpPr>
        <p:grpSpPr>
          <a:xfrm>
            <a:off x="882015" y="11772900"/>
            <a:ext cx="16322040" cy="1234440"/>
            <a:chOff x="0" y="0"/>
            <a:chExt cx="21762720" cy="1645920"/>
          </a:xfrm>
        </p:grpSpPr>
        <p:sp>
          <p:nvSpPr>
            <p:cNvPr id="90" name="Freeform 6">
              <a:extLst>
                <a:ext uri="{FF2B5EF4-FFF2-40B4-BE49-F238E27FC236}">
                  <a16:creationId xmlns:a16="http://schemas.microsoft.com/office/drawing/2014/main" id="{CA78F4C9-2412-D19F-12DC-3552A3BDE0D7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91" name="TextBox 7">
              <a:extLst>
                <a:ext uri="{FF2B5EF4-FFF2-40B4-BE49-F238E27FC236}">
                  <a16:creationId xmlns:a16="http://schemas.microsoft.com/office/drawing/2014/main" id="{2105DBBE-6931-301F-6E3B-BDCF9D546FD1}"/>
                </a:ext>
              </a:extLst>
            </p:cNvPr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Government exams: eligibility, study plan, apply</a:t>
              </a:r>
            </a:p>
          </p:txBody>
        </p:sp>
      </p:grpSp>
      <p:grpSp>
        <p:nvGrpSpPr>
          <p:cNvPr id="92" name="Group 8">
            <a:extLst>
              <a:ext uri="{FF2B5EF4-FFF2-40B4-BE49-F238E27FC236}">
                <a16:creationId xmlns:a16="http://schemas.microsoft.com/office/drawing/2014/main" id="{47E1A6FB-31DC-ADB5-78F4-F8C5EA54B34D}"/>
              </a:ext>
            </a:extLst>
          </p:cNvPr>
          <p:cNvGrpSpPr/>
          <p:nvPr/>
        </p:nvGrpSpPr>
        <p:grpSpPr>
          <a:xfrm>
            <a:off x="872490" y="13409295"/>
            <a:ext cx="5135118" cy="4545330"/>
            <a:chOff x="0" y="0"/>
            <a:chExt cx="6846824" cy="6060440"/>
          </a:xfrm>
        </p:grpSpPr>
        <p:sp>
          <p:nvSpPr>
            <p:cNvPr id="93" name="Freeform 9">
              <a:extLst>
                <a:ext uri="{FF2B5EF4-FFF2-40B4-BE49-F238E27FC236}">
                  <a16:creationId xmlns:a16="http://schemas.microsoft.com/office/drawing/2014/main" id="{425150BC-5D82-04B5-1081-B7C810C4ADB6}"/>
                </a:ext>
              </a:extLst>
            </p:cNvPr>
            <p:cNvSpPr/>
            <p:nvPr/>
          </p:nvSpPr>
          <p:spPr>
            <a:xfrm>
              <a:off x="0" y="0"/>
              <a:ext cx="6846824" cy="6060440"/>
            </a:xfrm>
            <a:custGeom>
              <a:avLst/>
              <a:gdLst/>
              <a:ahLst/>
              <a:cxnLst/>
              <a:rect l="l" t="t" r="r" b="b"/>
              <a:pathLst>
                <a:path w="6846824" h="606044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63182" y="0"/>
                  </a:lnTo>
                  <a:cubicBezTo>
                    <a:pt x="6764655" y="0"/>
                    <a:pt x="6846824" y="82169"/>
                    <a:pt x="6846824" y="183642"/>
                  </a:cubicBezTo>
                  <a:lnTo>
                    <a:pt x="6846824" y="5876798"/>
                  </a:lnTo>
                  <a:cubicBezTo>
                    <a:pt x="6846824" y="5978271"/>
                    <a:pt x="6764655" y="6060440"/>
                    <a:pt x="6663182" y="6060440"/>
                  </a:cubicBezTo>
                  <a:lnTo>
                    <a:pt x="183642" y="6060440"/>
                  </a:lnTo>
                  <a:cubicBezTo>
                    <a:pt x="82169" y="6060440"/>
                    <a:pt x="0" y="5978271"/>
                    <a:pt x="0" y="5876798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94" name="Group 10">
            <a:extLst>
              <a:ext uri="{FF2B5EF4-FFF2-40B4-BE49-F238E27FC236}">
                <a16:creationId xmlns:a16="http://schemas.microsoft.com/office/drawing/2014/main" id="{A70C2E3B-C2BD-7454-44A7-1893199923B8}"/>
              </a:ext>
            </a:extLst>
          </p:cNvPr>
          <p:cNvGrpSpPr/>
          <p:nvPr/>
        </p:nvGrpSpPr>
        <p:grpSpPr>
          <a:xfrm>
            <a:off x="1293495" y="13802868"/>
            <a:ext cx="685800" cy="685800"/>
            <a:chOff x="0" y="0"/>
            <a:chExt cx="914400" cy="914400"/>
          </a:xfrm>
        </p:grpSpPr>
        <p:sp>
          <p:nvSpPr>
            <p:cNvPr id="95" name="Freeform 11">
              <a:extLst>
                <a:ext uri="{FF2B5EF4-FFF2-40B4-BE49-F238E27FC236}">
                  <a16:creationId xmlns:a16="http://schemas.microsoft.com/office/drawing/2014/main" id="{D6C46367-793B-7452-BAA7-CE205297D19C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96" name="Group 12">
            <a:extLst>
              <a:ext uri="{FF2B5EF4-FFF2-40B4-BE49-F238E27FC236}">
                <a16:creationId xmlns:a16="http://schemas.microsoft.com/office/drawing/2014/main" id="{51238D7C-87B5-DFB7-0D4C-9461DC47F417}"/>
              </a:ext>
            </a:extLst>
          </p:cNvPr>
          <p:cNvGrpSpPr/>
          <p:nvPr/>
        </p:nvGrpSpPr>
        <p:grpSpPr>
          <a:xfrm>
            <a:off x="1293495" y="13802868"/>
            <a:ext cx="685800" cy="685800"/>
            <a:chOff x="0" y="0"/>
            <a:chExt cx="914400" cy="914400"/>
          </a:xfrm>
        </p:grpSpPr>
        <p:sp>
          <p:nvSpPr>
            <p:cNvPr id="97" name="Freeform 13">
              <a:extLst>
                <a:ext uri="{FF2B5EF4-FFF2-40B4-BE49-F238E27FC236}">
                  <a16:creationId xmlns:a16="http://schemas.microsoft.com/office/drawing/2014/main" id="{A5DE19C8-1A3D-300F-5325-7963D907E015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8" name="TextBox 14">
              <a:extLst>
                <a:ext uri="{FF2B5EF4-FFF2-40B4-BE49-F238E27FC236}">
                  <a16:creationId xmlns:a16="http://schemas.microsoft.com/office/drawing/2014/main" id="{DFCBCBD3-3CFA-BAAF-94E2-B62E13F86852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99" name="Group 15">
            <a:extLst>
              <a:ext uri="{FF2B5EF4-FFF2-40B4-BE49-F238E27FC236}">
                <a16:creationId xmlns:a16="http://schemas.microsoft.com/office/drawing/2014/main" id="{65C11406-B839-B195-7E40-21ED8C54D14F}"/>
              </a:ext>
            </a:extLst>
          </p:cNvPr>
          <p:cNvGrpSpPr/>
          <p:nvPr/>
        </p:nvGrpSpPr>
        <p:grpSpPr>
          <a:xfrm>
            <a:off x="2253615" y="13802868"/>
            <a:ext cx="3470148" cy="685800"/>
            <a:chOff x="0" y="0"/>
            <a:chExt cx="4626864" cy="914400"/>
          </a:xfrm>
        </p:grpSpPr>
        <p:sp>
          <p:nvSpPr>
            <p:cNvPr id="100" name="Freeform 16">
              <a:extLst>
                <a:ext uri="{FF2B5EF4-FFF2-40B4-BE49-F238E27FC236}">
                  <a16:creationId xmlns:a16="http://schemas.microsoft.com/office/drawing/2014/main" id="{7C0EC084-7E95-2F76-B52A-DED1A74EC775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01" name="TextBox 17">
              <a:extLst>
                <a:ext uri="{FF2B5EF4-FFF2-40B4-BE49-F238E27FC236}">
                  <a16:creationId xmlns:a16="http://schemas.microsoft.com/office/drawing/2014/main" id="{A2D398F2-F30B-AEBE-5816-DB75A88B5BEA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Check eligibility</a:t>
              </a:r>
            </a:p>
          </p:txBody>
        </p:sp>
      </p:grpSp>
      <p:sp>
        <p:nvSpPr>
          <p:cNvPr id="102" name="TextBox 18">
            <a:extLst>
              <a:ext uri="{FF2B5EF4-FFF2-40B4-BE49-F238E27FC236}">
                <a16:creationId xmlns:a16="http://schemas.microsoft.com/office/drawing/2014/main" id="{55EEDD2B-902A-2774-0755-C4297B3D50B1}"/>
              </a:ext>
            </a:extLst>
          </p:cNvPr>
          <p:cNvSpPr txBox="1"/>
          <p:nvPr/>
        </p:nvSpPr>
        <p:spPr>
          <a:xfrm>
            <a:off x="1293495" y="14723745"/>
            <a:ext cx="4293108" cy="294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Enter qualification, age and category once. SkillAscend shows only the exams you can actually sit, including age limits, attempts and relaxations.</a:t>
            </a:r>
          </a:p>
        </p:txBody>
      </p:sp>
      <p:grpSp>
        <p:nvGrpSpPr>
          <p:cNvPr id="103" name="Group 19">
            <a:extLst>
              <a:ext uri="{FF2B5EF4-FFF2-40B4-BE49-F238E27FC236}">
                <a16:creationId xmlns:a16="http://schemas.microsoft.com/office/drawing/2014/main" id="{4AC28855-05A8-2BBC-3212-36BCB547FB5E}"/>
              </a:ext>
            </a:extLst>
          </p:cNvPr>
          <p:cNvGrpSpPr/>
          <p:nvPr/>
        </p:nvGrpSpPr>
        <p:grpSpPr>
          <a:xfrm>
            <a:off x="6468618" y="13409295"/>
            <a:ext cx="5135118" cy="4545330"/>
            <a:chOff x="0" y="0"/>
            <a:chExt cx="6846824" cy="6060440"/>
          </a:xfrm>
        </p:grpSpPr>
        <p:sp>
          <p:nvSpPr>
            <p:cNvPr id="104" name="Freeform 20">
              <a:extLst>
                <a:ext uri="{FF2B5EF4-FFF2-40B4-BE49-F238E27FC236}">
                  <a16:creationId xmlns:a16="http://schemas.microsoft.com/office/drawing/2014/main" id="{A864C94E-2F32-4754-020E-04DD1265B189}"/>
                </a:ext>
              </a:extLst>
            </p:cNvPr>
            <p:cNvSpPr/>
            <p:nvPr/>
          </p:nvSpPr>
          <p:spPr>
            <a:xfrm>
              <a:off x="0" y="0"/>
              <a:ext cx="6846824" cy="6060440"/>
            </a:xfrm>
            <a:custGeom>
              <a:avLst/>
              <a:gdLst/>
              <a:ahLst/>
              <a:cxnLst/>
              <a:rect l="l" t="t" r="r" b="b"/>
              <a:pathLst>
                <a:path w="6846824" h="606044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63182" y="0"/>
                  </a:lnTo>
                  <a:cubicBezTo>
                    <a:pt x="6764655" y="0"/>
                    <a:pt x="6846824" y="82169"/>
                    <a:pt x="6846824" y="183642"/>
                  </a:cubicBezTo>
                  <a:lnTo>
                    <a:pt x="6846824" y="5876798"/>
                  </a:lnTo>
                  <a:cubicBezTo>
                    <a:pt x="6846824" y="5978271"/>
                    <a:pt x="6764655" y="6060440"/>
                    <a:pt x="6663182" y="6060440"/>
                  </a:cubicBezTo>
                  <a:lnTo>
                    <a:pt x="183642" y="6060440"/>
                  </a:lnTo>
                  <a:cubicBezTo>
                    <a:pt x="82169" y="6060440"/>
                    <a:pt x="0" y="5978271"/>
                    <a:pt x="0" y="5876798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5" name="Group 21">
            <a:extLst>
              <a:ext uri="{FF2B5EF4-FFF2-40B4-BE49-F238E27FC236}">
                <a16:creationId xmlns:a16="http://schemas.microsoft.com/office/drawing/2014/main" id="{B3F8D0B3-D729-8ACF-E958-9B8948D6A896}"/>
              </a:ext>
            </a:extLst>
          </p:cNvPr>
          <p:cNvGrpSpPr/>
          <p:nvPr/>
        </p:nvGrpSpPr>
        <p:grpSpPr>
          <a:xfrm>
            <a:off x="6889623" y="13802868"/>
            <a:ext cx="685800" cy="685800"/>
            <a:chOff x="0" y="0"/>
            <a:chExt cx="914400" cy="914400"/>
          </a:xfrm>
        </p:grpSpPr>
        <p:sp>
          <p:nvSpPr>
            <p:cNvPr id="106" name="Freeform 22">
              <a:extLst>
                <a:ext uri="{FF2B5EF4-FFF2-40B4-BE49-F238E27FC236}">
                  <a16:creationId xmlns:a16="http://schemas.microsoft.com/office/drawing/2014/main" id="{19A39E46-793B-6D6E-EA06-3C608FAFDF57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07" name="Group 23">
            <a:extLst>
              <a:ext uri="{FF2B5EF4-FFF2-40B4-BE49-F238E27FC236}">
                <a16:creationId xmlns:a16="http://schemas.microsoft.com/office/drawing/2014/main" id="{73F328A8-95F2-4BF7-4D6A-55B6D3680540}"/>
              </a:ext>
            </a:extLst>
          </p:cNvPr>
          <p:cNvGrpSpPr/>
          <p:nvPr/>
        </p:nvGrpSpPr>
        <p:grpSpPr>
          <a:xfrm>
            <a:off x="6889623" y="13802868"/>
            <a:ext cx="685800" cy="685800"/>
            <a:chOff x="0" y="0"/>
            <a:chExt cx="914400" cy="914400"/>
          </a:xfrm>
        </p:grpSpPr>
        <p:sp>
          <p:nvSpPr>
            <p:cNvPr id="108" name="Freeform 24">
              <a:extLst>
                <a:ext uri="{FF2B5EF4-FFF2-40B4-BE49-F238E27FC236}">
                  <a16:creationId xmlns:a16="http://schemas.microsoft.com/office/drawing/2014/main" id="{82A7D354-8148-C9F2-2785-BB37A04DC1A4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9" name="TextBox 25">
              <a:extLst>
                <a:ext uri="{FF2B5EF4-FFF2-40B4-BE49-F238E27FC236}">
                  <a16:creationId xmlns:a16="http://schemas.microsoft.com/office/drawing/2014/main" id="{DED44250-9E23-2FD6-B3A2-9B610EA9B7A7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110" name="Group 26">
            <a:extLst>
              <a:ext uri="{FF2B5EF4-FFF2-40B4-BE49-F238E27FC236}">
                <a16:creationId xmlns:a16="http://schemas.microsoft.com/office/drawing/2014/main" id="{19B42464-F8EA-A0A5-B492-43DA30B0DE53}"/>
              </a:ext>
            </a:extLst>
          </p:cNvPr>
          <p:cNvGrpSpPr/>
          <p:nvPr/>
        </p:nvGrpSpPr>
        <p:grpSpPr>
          <a:xfrm>
            <a:off x="7849743" y="13802868"/>
            <a:ext cx="3470148" cy="685800"/>
            <a:chOff x="0" y="0"/>
            <a:chExt cx="4626864" cy="914400"/>
          </a:xfrm>
        </p:grpSpPr>
        <p:sp>
          <p:nvSpPr>
            <p:cNvPr id="111" name="Freeform 27">
              <a:extLst>
                <a:ext uri="{FF2B5EF4-FFF2-40B4-BE49-F238E27FC236}">
                  <a16:creationId xmlns:a16="http://schemas.microsoft.com/office/drawing/2014/main" id="{425763CC-E7F0-BFC2-8B29-E574D8731101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12" name="TextBox 28">
              <a:extLst>
                <a:ext uri="{FF2B5EF4-FFF2-40B4-BE49-F238E27FC236}">
                  <a16:creationId xmlns:a16="http://schemas.microsoft.com/office/drawing/2014/main" id="{79ED6C57-8A03-4B81-D713-CADC0DF9704C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Study smart</a:t>
              </a:r>
            </a:p>
          </p:txBody>
        </p:sp>
      </p:grpSp>
      <p:sp>
        <p:nvSpPr>
          <p:cNvPr id="113" name="TextBox 29">
            <a:extLst>
              <a:ext uri="{FF2B5EF4-FFF2-40B4-BE49-F238E27FC236}">
                <a16:creationId xmlns:a16="http://schemas.microsoft.com/office/drawing/2014/main" id="{4825618A-CCD2-D1F1-D18A-1A667CEE141B}"/>
              </a:ext>
            </a:extLst>
          </p:cNvPr>
          <p:cNvSpPr txBox="1"/>
          <p:nvPr/>
        </p:nvSpPr>
        <p:spPr>
          <a:xfrm>
            <a:off x="6889623" y="14723745"/>
            <a:ext cx="4293108" cy="294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personalised plan: official syllabus, weak topics from your gap finder, free resources, and a timeline to the exam date.</a:t>
            </a:r>
          </a:p>
        </p:txBody>
      </p:sp>
      <p:grpSp>
        <p:nvGrpSpPr>
          <p:cNvPr id="114" name="Group 30">
            <a:extLst>
              <a:ext uri="{FF2B5EF4-FFF2-40B4-BE49-F238E27FC236}">
                <a16:creationId xmlns:a16="http://schemas.microsoft.com/office/drawing/2014/main" id="{56567D8C-F8DE-FB07-2F71-B691FB902D73}"/>
              </a:ext>
            </a:extLst>
          </p:cNvPr>
          <p:cNvGrpSpPr/>
          <p:nvPr/>
        </p:nvGrpSpPr>
        <p:grpSpPr>
          <a:xfrm>
            <a:off x="12064746" y="13409295"/>
            <a:ext cx="5135118" cy="4545330"/>
            <a:chOff x="0" y="0"/>
            <a:chExt cx="6846824" cy="6060440"/>
          </a:xfrm>
        </p:grpSpPr>
        <p:sp>
          <p:nvSpPr>
            <p:cNvPr id="115" name="Freeform 31">
              <a:extLst>
                <a:ext uri="{FF2B5EF4-FFF2-40B4-BE49-F238E27FC236}">
                  <a16:creationId xmlns:a16="http://schemas.microsoft.com/office/drawing/2014/main" id="{DC16C41B-2C3D-0B51-13F6-1BB5BABB4DB1}"/>
                </a:ext>
              </a:extLst>
            </p:cNvPr>
            <p:cNvSpPr/>
            <p:nvPr/>
          </p:nvSpPr>
          <p:spPr>
            <a:xfrm>
              <a:off x="0" y="0"/>
              <a:ext cx="6846824" cy="6060440"/>
            </a:xfrm>
            <a:custGeom>
              <a:avLst/>
              <a:gdLst/>
              <a:ahLst/>
              <a:cxnLst/>
              <a:rect l="l" t="t" r="r" b="b"/>
              <a:pathLst>
                <a:path w="6846824" h="606044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63182" y="0"/>
                  </a:lnTo>
                  <a:cubicBezTo>
                    <a:pt x="6764655" y="0"/>
                    <a:pt x="6846824" y="82169"/>
                    <a:pt x="6846824" y="183642"/>
                  </a:cubicBezTo>
                  <a:lnTo>
                    <a:pt x="6846824" y="5876798"/>
                  </a:lnTo>
                  <a:cubicBezTo>
                    <a:pt x="6846824" y="5978271"/>
                    <a:pt x="6764655" y="6060440"/>
                    <a:pt x="6663182" y="6060440"/>
                  </a:cubicBezTo>
                  <a:lnTo>
                    <a:pt x="183642" y="6060440"/>
                  </a:lnTo>
                  <a:cubicBezTo>
                    <a:pt x="82169" y="6060440"/>
                    <a:pt x="0" y="5978271"/>
                    <a:pt x="0" y="5876798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16" name="Group 32">
            <a:extLst>
              <a:ext uri="{FF2B5EF4-FFF2-40B4-BE49-F238E27FC236}">
                <a16:creationId xmlns:a16="http://schemas.microsoft.com/office/drawing/2014/main" id="{2EEBDAB0-12AA-A35A-672F-8D390F6D2643}"/>
              </a:ext>
            </a:extLst>
          </p:cNvPr>
          <p:cNvGrpSpPr/>
          <p:nvPr/>
        </p:nvGrpSpPr>
        <p:grpSpPr>
          <a:xfrm>
            <a:off x="12485751" y="13802868"/>
            <a:ext cx="685800" cy="685800"/>
            <a:chOff x="0" y="0"/>
            <a:chExt cx="914400" cy="914400"/>
          </a:xfrm>
        </p:grpSpPr>
        <p:sp>
          <p:nvSpPr>
            <p:cNvPr id="117" name="Freeform 33">
              <a:extLst>
                <a:ext uri="{FF2B5EF4-FFF2-40B4-BE49-F238E27FC236}">
                  <a16:creationId xmlns:a16="http://schemas.microsoft.com/office/drawing/2014/main" id="{797CFA2E-7D76-25AF-6E59-8326F12568B0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18" name="Group 34">
            <a:extLst>
              <a:ext uri="{FF2B5EF4-FFF2-40B4-BE49-F238E27FC236}">
                <a16:creationId xmlns:a16="http://schemas.microsoft.com/office/drawing/2014/main" id="{A46A105F-9EAE-8142-685D-9F6822847EDB}"/>
              </a:ext>
            </a:extLst>
          </p:cNvPr>
          <p:cNvGrpSpPr/>
          <p:nvPr/>
        </p:nvGrpSpPr>
        <p:grpSpPr>
          <a:xfrm>
            <a:off x="12485751" y="13802868"/>
            <a:ext cx="685800" cy="685800"/>
            <a:chOff x="0" y="0"/>
            <a:chExt cx="914400" cy="914400"/>
          </a:xfrm>
        </p:grpSpPr>
        <p:sp>
          <p:nvSpPr>
            <p:cNvPr id="119" name="Freeform 35">
              <a:extLst>
                <a:ext uri="{FF2B5EF4-FFF2-40B4-BE49-F238E27FC236}">
                  <a16:creationId xmlns:a16="http://schemas.microsoft.com/office/drawing/2014/main" id="{A4365EBE-31BA-4D64-F905-3B7CC06DC180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20" name="TextBox 36">
              <a:extLst>
                <a:ext uri="{FF2B5EF4-FFF2-40B4-BE49-F238E27FC236}">
                  <a16:creationId xmlns:a16="http://schemas.microsoft.com/office/drawing/2014/main" id="{3765D6D4-B34E-0B37-C6AE-F94F25F8F626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121" name="Group 37">
            <a:extLst>
              <a:ext uri="{FF2B5EF4-FFF2-40B4-BE49-F238E27FC236}">
                <a16:creationId xmlns:a16="http://schemas.microsoft.com/office/drawing/2014/main" id="{1A788C33-9C65-8B95-9807-AD3D2CB81611}"/>
              </a:ext>
            </a:extLst>
          </p:cNvPr>
          <p:cNvGrpSpPr/>
          <p:nvPr/>
        </p:nvGrpSpPr>
        <p:grpSpPr>
          <a:xfrm>
            <a:off x="13445871" y="13802868"/>
            <a:ext cx="3470148" cy="685800"/>
            <a:chOff x="0" y="0"/>
            <a:chExt cx="4626864" cy="914400"/>
          </a:xfrm>
        </p:grpSpPr>
        <p:sp>
          <p:nvSpPr>
            <p:cNvPr id="122" name="Freeform 38">
              <a:extLst>
                <a:ext uri="{FF2B5EF4-FFF2-40B4-BE49-F238E27FC236}">
                  <a16:creationId xmlns:a16="http://schemas.microsoft.com/office/drawing/2014/main" id="{2203E3D6-ABF5-E5A8-581C-F392015A3359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23" name="TextBox 39">
              <a:extLst>
                <a:ext uri="{FF2B5EF4-FFF2-40B4-BE49-F238E27FC236}">
                  <a16:creationId xmlns:a16="http://schemas.microsoft.com/office/drawing/2014/main" id="{76D3E143-E794-27CE-DC2E-A16DEC5B1749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Apply with confidence</a:t>
              </a:r>
            </a:p>
          </p:txBody>
        </p:sp>
      </p:grpSp>
      <p:sp>
        <p:nvSpPr>
          <p:cNvPr id="124" name="TextBox 40">
            <a:extLst>
              <a:ext uri="{FF2B5EF4-FFF2-40B4-BE49-F238E27FC236}">
                <a16:creationId xmlns:a16="http://schemas.microsoft.com/office/drawing/2014/main" id="{A00D9CCD-9BEE-FCD9-7CCA-440E509C8255}"/>
              </a:ext>
            </a:extLst>
          </p:cNvPr>
          <p:cNvSpPr txBox="1"/>
          <p:nvPr/>
        </p:nvSpPr>
        <p:spPr>
          <a:xfrm>
            <a:off x="12485751" y="14723745"/>
            <a:ext cx="4293108" cy="294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step-by-step application guide, document checklist and deadline reminders, with a link to the official notification.</a:t>
            </a:r>
          </a:p>
        </p:txBody>
      </p:sp>
      <p:grpSp>
        <p:nvGrpSpPr>
          <p:cNvPr id="125" name="Group 41">
            <a:extLst>
              <a:ext uri="{FF2B5EF4-FFF2-40B4-BE49-F238E27FC236}">
                <a16:creationId xmlns:a16="http://schemas.microsoft.com/office/drawing/2014/main" id="{495E0A4C-D42D-8FB8-C17C-7F982CBF013B}"/>
              </a:ext>
            </a:extLst>
          </p:cNvPr>
          <p:cNvGrpSpPr/>
          <p:nvPr/>
        </p:nvGrpSpPr>
        <p:grpSpPr>
          <a:xfrm>
            <a:off x="872490" y="18278475"/>
            <a:ext cx="16341090" cy="1664970"/>
            <a:chOff x="0" y="0"/>
            <a:chExt cx="21788120" cy="2219960"/>
          </a:xfrm>
        </p:grpSpPr>
        <p:sp>
          <p:nvSpPr>
            <p:cNvPr id="126" name="Freeform 42">
              <a:extLst>
                <a:ext uri="{FF2B5EF4-FFF2-40B4-BE49-F238E27FC236}">
                  <a16:creationId xmlns:a16="http://schemas.microsoft.com/office/drawing/2014/main" id="{08D00DB5-81E8-424E-7971-B8ED1989A5F8}"/>
                </a:ext>
              </a:extLst>
            </p:cNvPr>
            <p:cNvSpPr/>
            <p:nvPr/>
          </p:nvSpPr>
          <p:spPr>
            <a:xfrm>
              <a:off x="0" y="0"/>
              <a:ext cx="21788120" cy="2219960"/>
            </a:xfrm>
            <a:custGeom>
              <a:avLst/>
              <a:gdLst/>
              <a:ahLst/>
              <a:cxnLst/>
              <a:rect l="l" t="t" r="r" b="b"/>
              <a:pathLst>
                <a:path w="21788120" h="2219960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21603081" y="0"/>
                  </a:lnTo>
                  <a:cubicBezTo>
                    <a:pt x="21705190" y="0"/>
                    <a:pt x="21788120" y="82804"/>
                    <a:pt x="21788120" y="185039"/>
                  </a:cubicBezTo>
                  <a:lnTo>
                    <a:pt x="21788120" y="2034921"/>
                  </a:lnTo>
                  <a:cubicBezTo>
                    <a:pt x="21788120" y="2137029"/>
                    <a:pt x="21705317" y="2219960"/>
                    <a:pt x="21603081" y="2219960"/>
                  </a:cubicBezTo>
                  <a:lnTo>
                    <a:pt x="185039" y="2219960"/>
                  </a:lnTo>
                  <a:cubicBezTo>
                    <a:pt x="82804" y="2219960"/>
                    <a:pt x="0" y="2137156"/>
                    <a:pt x="0" y="2034921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27" name="Group 43">
            <a:extLst>
              <a:ext uri="{FF2B5EF4-FFF2-40B4-BE49-F238E27FC236}">
                <a16:creationId xmlns:a16="http://schemas.microsoft.com/office/drawing/2014/main" id="{58C2769C-ABC9-7A71-AD86-44532EB93692}"/>
              </a:ext>
            </a:extLst>
          </p:cNvPr>
          <p:cNvGrpSpPr/>
          <p:nvPr/>
        </p:nvGrpSpPr>
        <p:grpSpPr>
          <a:xfrm>
            <a:off x="1293495" y="18466308"/>
            <a:ext cx="5486400" cy="480060"/>
            <a:chOff x="0" y="0"/>
            <a:chExt cx="7315200" cy="640080"/>
          </a:xfrm>
        </p:grpSpPr>
        <p:sp>
          <p:nvSpPr>
            <p:cNvPr id="128" name="Freeform 44">
              <a:extLst>
                <a:ext uri="{FF2B5EF4-FFF2-40B4-BE49-F238E27FC236}">
                  <a16:creationId xmlns:a16="http://schemas.microsoft.com/office/drawing/2014/main" id="{45AADFA2-A0BD-23FC-D6C8-B035A8834159}"/>
                </a:ext>
              </a:extLst>
            </p:cNvPr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129" name="TextBox 45">
              <a:extLst>
                <a:ext uri="{FF2B5EF4-FFF2-40B4-BE49-F238E27FC236}">
                  <a16:creationId xmlns:a16="http://schemas.microsoft.com/office/drawing/2014/main" id="{F2C72BC3-E42E-1283-74DC-B0E5D476DCAA}"/>
                </a:ext>
              </a:extLst>
            </p:cNvPr>
            <p:cNvSpPr txBox="1"/>
            <p:nvPr/>
          </p:nvSpPr>
          <p:spPr>
            <a:xfrm>
              <a:off x="0" y="0"/>
              <a:ext cx="7315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Accuracy first</a:t>
              </a:r>
            </a:p>
          </p:txBody>
        </p:sp>
      </p:grpSp>
      <p:sp>
        <p:nvSpPr>
          <p:cNvPr id="130" name="TextBox 46">
            <a:extLst>
              <a:ext uri="{FF2B5EF4-FFF2-40B4-BE49-F238E27FC236}">
                <a16:creationId xmlns:a16="http://schemas.microsoft.com/office/drawing/2014/main" id="{4DDD9D60-16A4-B3C7-85E9-EED15425775C}"/>
              </a:ext>
            </a:extLst>
          </p:cNvPr>
          <p:cNvSpPr txBox="1"/>
          <p:nvPr/>
        </p:nvSpPr>
        <p:spPr>
          <a:xfrm>
            <a:off x="1293495" y="18916650"/>
            <a:ext cx="1549908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Every exam shows its official source and a “last updated” date, and users are told to confirm on the official site before applying. A first release would cover a curated set of 5–8 real exams.</a:t>
            </a:r>
          </a:p>
        </p:txBody>
      </p:sp>
      <p:grpSp>
        <p:nvGrpSpPr>
          <p:cNvPr id="131" name="Group 47">
            <a:extLst>
              <a:ext uri="{FF2B5EF4-FFF2-40B4-BE49-F238E27FC236}">
                <a16:creationId xmlns:a16="http://schemas.microsoft.com/office/drawing/2014/main" id="{980775BE-2F84-8C87-A331-A8FDD77AA5EE}"/>
              </a:ext>
            </a:extLst>
          </p:cNvPr>
          <p:cNvGrpSpPr/>
          <p:nvPr/>
        </p:nvGrpSpPr>
        <p:grpSpPr>
          <a:xfrm>
            <a:off x="17135475" y="20413980"/>
            <a:ext cx="822960" cy="411480"/>
            <a:chOff x="0" y="0"/>
            <a:chExt cx="1097280" cy="548640"/>
          </a:xfrm>
        </p:grpSpPr>
        <p:sp>
          <p:nvSpPr>
            <p:cNvPr id="132" name="Freeform 48">
              <a:extLst>
                <a:ext uri="{FF2B5EF4-FFF2-40B4-BE49-F238E27FC236}">
                  <a16:creationId xmlns:a16="http://schemas.microsoft.com/office/drawing/2014/main" id="{491CB080-88AB-8899-C74A-0A14139652D1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33" name="TextBox 49">
              <a:extLst>
                <a:ext uri="{FF2B5EF4-FFF2-40B4-BE49-F238E27FC236}">
                  <a16:creationId xmlns:a16="http://schemas.microsoft.com/office/drawing/2014/main" id="{1F2E5C86-B12B-056A-0DB9-8A507543B11C}"/>
                </a:ext>
              </a:extLst>
            </p:cNvPr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11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GOVERNMENT JOB MODULE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097280"/>
            <a:ext cx="16322040" cy="1234440"/>
            <a:chOff x="0" y="0"/>
            <a:chExt cx="2176272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Government exams: eligibility, study plan, apply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595" y="2733675"/>
            <a:ext cx="5135118" cy="4545330"/>
            <a:chOff x="0" y="0"/>
            <a:chExt cx="6846824" cy="6060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46824" cy="6060440"/>
            </a:xfrm>
            <a:custGeom>
              <a:avLst/>
              <a:gdLst/>
              <a:ahLst/>
              <a:cxnLst/>
              <a:rect l="l" t="t" r="r" b="b"/>
              <a:pathLst>
                <a:path w="6846824" h="606044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63182" y="0"/>
                  </a:lnTo>
                  <a:cubicBezTo>
                    <a:pt x="6764655" y="0"/>
                    <a:pt x="6846824" y="82169"/>
                    <a:pt x="6846824" y="183642"/>
                  </a:cubicBezTo>
                  <a:lnTo>
                    <a:pt x="6846824" y="5876798"/>
                  </a:lnTo>
                  <a:cubicBezTo>
                    <a:pt x="6846824" y="5978271"/>
                    <a:pt x="6764655" y="6060440"/>
                    <a:pt x="6663182" y="6060440"/>
                  </a:cubicBezTo>
                  <a:lnTo>
                    <a:pt x="183642" y="6060440"/>
                  </a:lnTo>
                  <a:cubicBezTo>
                    <a:pt x="82169" y="6060440"/>
                    <a:pt x="0" y="5978271"/>
                    <a:pt x="0" y="5876798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371600" y="3127248"/>
            <a:ext cx="685800" cy="685800"/>
            <a:chOff x="0" y="0"/>
            <a:chExt cx="91440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71600" y="3127248"/>
            <a:ext cx="685800" cy="685800"/>
            <a:chOff x="0" y="0"/>
            <a:chExt cx="9144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331720" y="3127248"/>
            <a:ext cx="3470148" cy="685800"/>
            <a:chOff x="0" y="0"/>
            <a:chExt cx="4626864" cy="914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Check eligibility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71600" y="4048125"/>
            <a:ext cx="4293108" cy="294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Enter qualification, age and category once. SkillAscend shows only the exams you can actually sit, including age limits, attempts and relaxations.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546723" y="2733675"/>
            <a:ext cx="5135118" cy="4545330"/>
            <a:chOff x="0" y="0"/>
            <a:chExt cx="6846824" cy="6060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46824" cy="6060440"/>
            </a:xfrm>
            <a:custGeom>
              <a:avLst/>
              <a:gdLst/>
              <a:ahLst/>
              <a:cxnLst/>
              <a:rect l="l" t="t" r="r" b="b"/>
              <a:pathLst>
                <a:path w="6846824" h="606044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63182" y="0"/>
                  </a:lnTo>
                  <a:cubicBezTo>
                    <a:pt x="6764655" y="0"/>
                    <a:pt x="6846824" y="82169"/>
                    <a:pt x="6846824" y="183642"/>
                  </a:cubicBezTo>
                  <a:lnTo>
                    <a:pt x="6846824" y="5876798"/>
                  </a:lnTo>
                  <a:cubicBezTo>
                    <a:pt x="6846824" y="5978271"/>
                    <a:pt x="6764655" y="6060440"/>
                    <a:pt x="6663182" y="6060440"/>
                  </a:cubicBezTo>
                  <a:lnTo>
                    <a:pt x="183642" y="6060440"/>
                  </a:lnTo>
                  <a:cubicBezTo>
                    <a:pt x="82169" y="6060440"/>
                    <a:pt x="0" y="5978271"/>
                    <a:pt x="0" y="5876798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967728" y="3127248"/>
            <a:ext cx="685800" cy="685800"/>
            <a:chOff x="0" y="0"/>
            <a:chExt cx="91440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967728" y="3127248"/>
            <a:ext cx="685800" cy="685800"/>
            <a:chOff x="0" y="0"/>
            <a:chExt cx="914400" cy="91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927848" y="3127248"/>
            <a:ext cx="3470148" cy="685800"/>
            <a:chOff x="0" y="0"/>
            <a:chExt cx="4626864" cy="914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Study smart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967728" y="4048125"/>
            <a:ext cx="4293108" cy="294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personalised plan: official syllabus, weak topics from your gap finder, free resources, and a timeline to the exam date.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142851" y="2733675"/>
            <a:ext cx="5135118" cy="4545330"/>
            <a:chOff x="0" y="0"/>
            <a:chExt cx="6846824" cy="60604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846824" cy="6060440"/>
            </a:xfrm>
            <a:custGeom>
              <a:avLst/>
              <a:gdLst/>
              <a:ahLst/>
              <a:cxnLst/>
              <a:rect l="l" t="t" r="r" b="b"/>
              <a:pathLst>
                <a:path w="6846824" h="606044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63182" y="0"/>
                  </a:lnTo>
                  <a:cubicBezTo>
                    <a:pt x="6764655" y="0"/>
                    <a:pt x="6846824" y="82169"/>
                    <a:pt x="6846824" y="183642"/>
                  </a:cubicBezTo>
                  <a:lnTo>
                    <a:pt x="6846824" y="5876798"/>
                  </a:lnTo>
                  <a:cubicBezTo>
                    <a:pt x="6846824" y="5978271"/>
                    <a:pt x="6764655" y="6060440"/>
                    <a:pt x="6663182" y="6060440"/>
                  </a:cubicBezTo>
                  <a:lnTo>
                    <a:pt x="183642" y="6060440"/>
                  </a:lnTo>
                  <a:cubicBezTo>
                    <a:pt x="82169" y="6060440"/>
                    <a:pt x="0" y="5978271"/>
                    <a:pt x="0" y="5876798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2563856" y="3127248"/>
            <a:ext cx="685800" cy="685800"/>
            <a:chOff x="0" y="0"/>
            <a:chExt cx="91440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2563856" y="3127248"/>
            <a:ext cx="685800" cy="685800"/>
            <a:chOff x="0" y="0"/>
            <a:chExt cx="914400" cy="914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523976" y="3127248"/>
            <a:ext cx="3470148" cy="685800"/>
            <a:chOff x="0" y="0"/>
            <a:chExt cx="4626864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Apply with confidence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563856" y="4048125"/>
            <a:ext cx="4293108" cy="294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step-by-step application guide, document checklist and deadline reminders, with a link to the official notification.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50595" y="7602855"/>
            <a:ext cx="16341090" cy="1664970"/>
            <a:chOff x="0" y="0"/>
            <a:chExt cx="21788120" cy="22199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788120" cy="2219960"/>
            </a:xfrm>
            <a:custGeom>
              <a:avLst/>
              <a:gdLst/>
              <a:ahLst/>
              <a:cxnLst/>
              <a:rect l="l" t="t" r="r" b="b"/>
              <a:pathLst>
                <a:path w="21788120" h="2219960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21603081" y="0"/>
                  </a:lnTo>
                  <a:cubicBezTo>
                    <a:pt x="21705190" y="0"/>
                    <a:pt x="21788120" y="82804"/>
                    <a:pt x="21788120" y="185039"/>
                  </a:cubicBezTo>
                  <a:lnTo>
                    <a:pt x="21788120" y="2034921"/>
                  </a:lnTo>
                  <a:cubicBezTo>
                    <a:pt x="21788120" y="2137029"/>
                    <a:pt x="21705317" y="2219960"/>
                    <a:pt x="21603081" y="2219960"/>
                  </a:cubicBezTo>
                  <a:lnTo>
                    <a:pt x="185039" y="2219960"/>
                  </a:lnTo>
                  <a:cubicBezTo>
                    <a:pt x="82804" y="2219960"/>
                    <a:pt x="0" y="2137156"/>
                    <a:pt x="0" y="2034921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371600" y="7790688"/>
            <a:ext cx="5486400" cy="480060"/>
            <a:chOff x="0" y="0"/>
            <a:chExt cx="7315200" cy="64008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7315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Accuracy first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371600" y="8241030"/>
            <a:ext cx="1549908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Every exam shows its official source and a “last updated” date, and users are told to confirm on the official site before applying. A first release would cover a curated set of 5–8 real exams.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11</a:t>
              </a:r>
            </a:p>
          </p:txBody>
        </p:sp>
      </p:grpSp>
      <p:grpSp>
        <p:nvGrpSpPr>
          <p:cNvPr id="50" name="Group 2">
            <a:extLst>
              <a:ext uri="{FF2B5EF4-FFF2-40B4-BE49-F238E27FC236}">
                <a16:creationId xmlns:a16="http://schemas.microsoft.com/office/drawing/2014/main" id="{73519E69-0D09-459D-33B5-3C36A2213A1A}"/>
              </a:ext>
            </a:extLst>
          </p:cNvPr>
          <p:cNvGrpSpPr/>
          <p:nvPr/>
        </p:nvGrpSpPr>
        <p:grpSpPr>
          <a:xfrm>
            <a:off x="891540" y="-10120312"/>
            <a:ext cx="12344400" cy="480060"/>
            <a:chOff x="0" y="0"/>
            <a:chExt cx="16459200" cy="640080"/>
          </a:xfrm>
        </p:grpSpPr>
        <p:sp>
          <p:nvSpPr>
            <p:cNvPr id="51" name="Freeform 3">
              <a:extLst>
                <a:ext uri="{FF2B5EF4-FFF2-40B4-BE49-F238E27FC236}">
                  <a16:creationId xmlns:a16="http://schemas.microsoft.com/office/drawing/2014/main" id="{90824116-87FB-7A88-1829-FAF8D7C96737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9D4DCEDF-53D3-0A4D-17C9-5AC94421077D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 6 · DEEP DIVE</a:t>
              </a:r>
            </a:p>
          </p:txBody>
        </p:sp>
      </p:grpSp>
      <p:grpSp>
        <p:nvGrpSpPr>
          <p:cNvPr id="53" name="Group 5">
            <a:extLst>
              <a:ext uri="{FF2B5EF4-FFF2-40B4-BE49-F238E27FC236}">
                <a16:creationId xmlns:a16="http://schemas.microsoft.com/office/drawing/2014/main" id="{7003D04B-8CBE-9C7C-87ED-D47F42EB0A6B}"/>
              </a:ext>
            </a:extLst>
          </p:cNvPr>
          <p:cNvGrpSpPr/>
          <p:nvPr/>
        </p:nvGrpSpPr>
        <p:grpSpPr>
          <a:xfrm>
            <a:off x="891540" y="-9640252"/>
            <a:ext cx="16322040" cy="1234440"/>
            <a:chOff x="0" y="0"/>
            <a:chExt cx="21762720" cy="1645920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2F702B68-DDBF-1A23-8B1F-3DF90C132D54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55" name="TextBox 7">
              <a:extLst>
                <a:ext uri="{FF2B5EF4-FFF2-40B4-BE49-F238E27FC236}">
                  <a16:creationId xmlns:a16="http://schemas.microsoft.com/office/drawing/2014/main" id="{F54AD2CA-0652-61D0-6AAD-DB6A39DABE8E}"/>
                </a:ext>
              </a:extLst>
            </p:cNvPr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Stable jobs: matched for stability, not just fit</a:t>
              </a:r>
            </a:p>
          </p:txBody>
        </p:sp>
      </p:grpSp>
      <p:grpSp>
        <p:nvGrpSpPr>
          <p:cNvPr id="56" name="Group 8">
            <a:extLst>
              <a:ext uri="{FF2B5EF4-FFF2-40B4-BE49-F238E27FC236}">
                <a16:creationId xmlns:a16="http://schemas.microsoft.com/office/drawing/2014/main" id="{2B8A1515-AB1F-3DDC-B308-D101C54FFE07}"/>
              </a:ext>
            </a:extLst>
          </p:cNvPr>
          <p:cNvGrpSpPr/>
          <p:nvPr/>
        </p:nvGrpSpPr>
        <p:grpSpPr>
          <a:xfrm>
            <a:off x="882015" y="-8003857"/>
            <a:ext cx="7700010" cy="6054090"/>
            <a:chOff x="0" y="0"/>
            <a:chExt cx="10266680" cy="8072120"/>
          </a:xfrm>
        </p:grpSpPr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A5EA240A-B74A-C3FA-A9EB-64008796AEC6}"/>
                </a:ext>
              </a:extLst>
            </p:cNvPr>
            <p:cNvSpPr/>
            <p:nvPr/>
          </p:nvSpPr>
          <p:spPr>
            <a:xfrm>
              <a:off x="0" y="0"/>
              <a:ext cx="10266680" cy="8072120"/>
            </a:xfrm>
            <a:custGeom>
              <a:avLst/>
              <a:gdLst/>
              <a:ahLst/>
              <a:cxnLst/>
              <a:rect l="l" t="t" r="r" b="b"/>
              <a:pathLst>
                <a:path w="10266680" h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083165" y="0"/>
                  </a:lnTo>
                  <a:cubicBezTo>
                    <a:pt x="10184511" y="0"/>
                    <a:pt x="10266680" y="82169"/>
                    <a:pt x="10266680" y="183515"/>
                  </a:cubicBezTo>
                  <a:lnTo>
                    <a:pt x="10266680" y="7888605"/>
                  </a:lnTo>
                  <a:cubicBezTo>
                    <a:pt x="10266680" y="7989951"/>
                    <a:pt x="10184511" y="8072120"/>
                    <a:pt x="10083165" y="8072120"/>
                  </a:cubicBezTo>
                  <a:lnTo>
                    <a:pt x="183515" y="8072120"/>
                  </a:lnTo>
                  <a:cubicBezTo>
                    <a:pt x="82169" y="8072120"/>
                    <a:pt x="0" y="7989951"/>
                    <a:pt x="0" y="788860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58" name="Group 10">
            <a:extLst>
              <a:ext uri="{FF2B5EF4-FFF2-40B4-BE49-F238E27FC236}">
                <a16:creationId xmlns:a16="http://schemas.microsoft.com/office/drawing/2014/main" id="{801CD821-C4AA-1384-DB40-881B3455F429}"/>
              </a:ext>
            </a:extLst>
          </p:cNvPr>
          <p:cNvGrpSpPr/>
          <p:nvPr/>
        </p:nvGrpSpPr>
        <p:grpSpPr>
          <a:xfrm>
            <a:off x="1303020" y="-7651432"/>
            <a:ext cx="6858000" cy="480060"/>
            <a:chOff x="0" y="0"/>
            <a:chExt cx="9144000" cy="640080"/>
          </a:xfrm>
        </p:grpSpPr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0E65A574-991E-400F-D38A-7DB470154493}"/>
                </a:ext>
              </a:extLst>
            </p:cNvPr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60" name="TextBox 12">
              <a:extLst>
                <a:ext uri="{FF2B5EF4-FFF2-40B4-BE49-F238E27FC236}">
                  <a16:creationId xmlns:a16="http://schemas.microsoft.com/office/drawing/2014/main" id="{DE039E7D-BE5C-2A94-6923-F8CC8BB8DCB1}"/>
                </a:ext>
              </a:extLst>
            </p:cNvPr>
            <p:cNvSpPr txBox="1"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Our working definition of “stable”</a:t>
              </a:r>
            </a:p>
          </p:txBody>
        </p:sp>
      </p:grpSp>
      <p:grpSp>
        <p:nvGrpSpPr>
          <p:cNvPr id="61" name="Group 13">
            <a:extLst>
              <a:ext uri="{FF2B5EF4-FFF2-40B4-BE49-F238E27FC236}">
                <a16:creationId xmlns:a16="http://schemas.microsoft.com/office/drawing/2014/main" id="{7378DE7B-4686-AC15-44DB-AB592CB19A17}"/>
              </a:ext>
            </a:extLst>
          </p:cNvPr>
          <p:cNvGrpSpPr/>
          <p:nvPr/>
        </p:nvGrpSpPr>
        <p:grpSpPr>
          <a:xfrm>
            <a:off x="1303020" y="-6965632"/>
            <a:ext cx="6858000" cy="548640"/>
            <a:chOff x="0" y="0"/>
            <a:chExt cx="9144000" cy="731520"/>
          </a:xfrm>
        </p:grpSpPr>
        <p:sp>
          <p:nvSpPr>
            <p:cNvPr id="62" name="Freeform 14">
              <a:extLst>
                <a:ext uri="{FF2B5EF4-FFF2-40B4-BE49-F238E27FC236}">
                  <a16:creationId xmlns:a16="http://schemas.microsoft.com/office/drawing/2014/main" id="{F1008D82-8A6D-151D-BF9E-8A60EB20BC95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63" name="TextBox 15">
              <a:extLst>
                <a:ext uri="{FF2B5EF4-FFF2-40B4-BE49-F238E27FC236}">
                  <a16:creationId xmlns:a16="http://schemas.microsoft.com/office/drawing/2014/main" id="{3045F6DA-4FB5-B122-16A9-4684CEC51265}"/>
                </a:ext>
              </a:extLst>
            </p:cNvPr>
            <p:cNvSpPr txBox="1"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Fixed-term or permanent contract</a:t>
              </a:r>
            </a:p>
          </p:txBody>
        </p:sp>
      </p:grpSp>
      <p:grpSp>
        <p:nvGrpSpPr>
          <p:cNvPr id="64" name="Group 16">
            <a:extLst>
              <a:ext uri="{FF2B5EF4-FFF2-40B4-BE49-F238E27FC236}">
                <a16:creationId xmlns:a16="http://schemas.microsoft.com/office/drawing/2014/main" id="{ACC72511-8E08-55AB-F048-7175053EA0C7}"/>
              </a:ext>
            </a:extLst>
          </p:cNvPr>
          <p:cNvGrpSpPr/>
          <p:nvPr/>
        </p:nvGrpSpPr>
        <p:grpSpPr>
          <a:xfrm>
            <a:off x="1303020" y="-6348412"/>
            <a:ext cx="6858000" cy="548640"/>
            <a:chOff x="0" y="0"/>
            <a:chExt cx="9144000" cy="731520"/>
          </a:xfrm>
        </p:grpSpPr>
        <p:sp>
          <p:nvSpPr>
            <p:cNvPr id="65" name="Freeform 17">
              <a:extLst>
                <a:ext uri="{FF2B5EF4-FFF2-40B4-BE49-F238E27FC236}">
                  <a16:creationId xmlns:a16="http://schemas.microsoft.com/office/drawing/2014/main" id="{E6503309-77D4-660E-C3E2-FD9753AB0AFA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66" name="TextBox 18">
              <a:extLst>
                <a:ext uri="{FF2B5EF4-FFF2-40B4-BE49-F238E27FC236}">
                  <a16:creationId xmlns:a16="http://schemas.microsoft.com/office/drawing/2014/main" id="{2D95E486-ACBE-2B1E-5239-AE2414FF4966}"/>
                </a:ext>
              </a:extLst>
            </p:cNvPr>
            <p:cNvSpPr txBox="1"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Employer verified by SkillAscend</a:t>
              </a:r>
            </a:p>
          </p:txBody>
        </p:sp>
      </p:grpSp>
      <p:grpSp>
        <p:nvGrpSpPr>
          <p:cNvPr id="67" name="Group 19">
            <a:extLst>
              <a:ext uri="{FF2B5EF4-FFF2-40B4-BE49-F238E27FC236}">
                <a16:creationId xmlns:a16="http://schemas.microsoft.com/office/drawing/2014/main" id="{7DEAAE27-4B00-8310-04BE-9087EF9FDD50}"/>
              </a:ext>
            </a:extLst>
          </p:cNvPr>
          <p:cNvGrpSpPr/>
          <p:nvPr/>
        </p:nvGrpSpPr>
        <p:grpSpPr>
          <a:xfrm>
            <a:off x="1303020" y="-5731192"/>
            <a:ext cx="6858000" cy="548640"/>
            <a:chOff x="0" y="0"/>
            <a:chExt cx="9144000" cy="731520"/>
          </a:xfrm>
        </p:grpSpPr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542E8CB1-2C29-B884-FA73-8B15ABA7EE0E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69" name="TextBox 21">
              <a:extLst>
                <a:ext uri="{FF2B5EF4-FFF2-40B4-BE49-F238E27FC236}">
                  <a16:creationId xmlns:a16="http://schemas.microsoft.com/office/drawing/2014/main" id="{EA3B9386-7215-124C-B6C8-D17CED25B0F1}"/>
                </a:ext>
              </a:extLst>
            </p:cNvPr>
            <p:cNvSpPr txBox="1"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Retained six months or more</a:t>
              </a:r>
            </a:p>
          </p:txBody>
        </p:sp>
      </p:grpSp>
      <p:grpSp>
        <p:nvGrpSpPr>
          <p:cNvPr id="70" name="Group 22">
            <a:extLst>
              <a:ext uri="{FF2B5EF4-FFF2-40B4-BE49-F238E27FC236}">
                <a16:creationId xmlns:a16="http://schemas.microsoft.com/office/drawing/2014/main" id="{F88FAFF8-A989-2BCA-674F-388783D1C12F}"/>
              </a:ext>
            </a:extLst>
          </p:cNvPr>
          <p:cNvGrpSpPr/>
          <p:nvPr/>
        </p:nvGrpSpPr>
        <p:grpSpPr>
          <a:xfrm>
            <a:off x="1303020" y="-5113972"/>
            <a:ext cx="6858000" cy="548640"/>
            <a:chOff x="0" y="0"/>
            <a:chExt cx="9144000" cy="731520"/>
          </a:xfrm>
        </p:grpSpPr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0B8C5DDD-BCFB-D192-6A72-3A46782B19CD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72" name="TextBox 24">
              <a:extLst>
                <a:ext uri="{FF2B5EF4-FFF2-40B4-BE49-F238E27FC236}">
                  <a16:creationId xmlns:a16="http://schemas.microsoft.com/office/drawing/2014/main" id="{C9DB0F7B-0298-2E33-CFC9-397416562891}"/>
                </a:ext>
              </a:extLst>
            </p:cNvPr>
            <p:cNvSpPr txBox="1"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✓  Government post</a:t>
              </a:r>
            </a:p>
          </p:txBody>
        </p:sp>
      </p:grpSp>
      <p:grpSp>
        <p:nvGrpSpPr>
          <p:cNvPr id="73" name="Group 25">
            <a:extLst>
              <a:ext uri="{FF2B5EF4-FFF2-40B4-BE49-F238E27FC236}">
                <a16:creationId xmlns:a16="http://schemas.microsoft.com/office/drawing/2014/main" id="{AE0EBED5-4EE5-245F-B037-59CD92F21E71}"/>
              </a:ext>
            </a:extLst>
          </p:cNvPr>
          <p:cNvGrpSpPr/>
          <p:nvPr/>
        </p:nvGrpSpPr>
        <p:grpSpPr>
          <a:xfrm>
            <a:off x="1303020" y="-4291012"/>
            <a:ext cx="5486400" cy="411480"/>
            <a:chOff x="0" y="0"/>
            <a:chExt cx="7315200" cy="548640"/>
          </a:xfrm>
        </p:grpSpPr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A61AC2F7-7875-ABD2-9C6F-FE4B1BE54EBC}"/>
                </a:ext>
              </a:extLst>
            </p:cNvPr>
            <p:cNvSpPr/>
            <p:nvPr/>
          </p:nvSpPr>
          <p:spPr>
            <a:xfrm>
              <a:off x="0" y="0"/>
              <a:ext cx="7315200" cy="548640"/>
            </a:xfrm>
            <a:custGeom>
              <a:avLst/>
              <a:gdLst/>
              <a:ahLst/>
              <a:cxnLst/>
              <a:rect l="l" t="t" r="r" b="b"/>
              <a:pathLst>
                <a:path w="7315200" h="54864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75" name="TextBox 27">
              <a:extLst>
                <a:ext uri="{FF2B5EF4-FFF2-40B4-BE49-F238E27FC236}">
                  <a16:creationId xmlns:a16="http://schemas.microsoft.com/office/drawing/2014/main" id="{2E1F53C2-260D-6DD5-D4DB-F291C894FB44}"/>
                </a:ext>
              </a:extLst>
            </p:cNvPr>
            <p:cNvSpPr txBox="1"/>
            <p:nvPr/>
          </p:nvSpPr>
          <p:spPr>
            <a:xfrm>
              <a:off x="0" y="-9525"/>
              <a:ext cx="73152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Sample match</a:t>
              </a:r>
            </a:p>
          </p:txBody>
        </p:sp>
      </p:grpSp>
      <p:grpSp>
        <p:nvGrpSpPr>
          <p:cNvPr id="76" name="Group 28">
            <a:extLst>
              <a:ext uri="{FF2B5EF4-FFF2-40B4-BE49-F238E27FC236}">
                <a16:creationId xmlns:a16="http://schemas.microsoft.com/office/drawing/2014/main" id="{CB3AC713-AF2B-740F-EEF3-1CF74455B94E}"/>
              </a:ext>
            </a:extLst>
          </p:cNvPr>
          <p:cNvGrpSpPr/>
          <p:nvPr/>
        </p:nvGrpSpPr>
        <p:grpSpPr>
          <a:xfrm>
            <a:off x="1293495" y="-3820477"/>
            <a:ext cx="6877050" cy="1596390"/>
            <a:chOff x="0" y="0"/>
            <a:chExt cx="9169400" cy="2128520"/>
          </a:xfrm>
        </p:grpSpPr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17CDF844-B28D-98EA-1B55-EAC4915F2E26}"/>
                </a:ext>
              </a:extLst>
            </p:cNvPr>
            <p:cNvSpPr/>
            <p:nvPr/>
          </p:nvSpPr>
          <p:spPr>
            <a:xfrm>
              <a:off x="0" y="0"/>
              <a:ext cx="9169400" cy="2128520"/>
            </a:xfrm>
            <a:custGeom>
              <a:avLst/>
              <a:gdLst/>
              <a:ahLst/>
              <a:cxnLst/>
              <a:rect l="l" t="t" r="r" b="b"/>
              <a:pathLst>
                <a:path w="9169400" h="2128520">
                  <a:moveTo>
                    <a:pt x="0" y="185039"/>
                  </a:moveTo>
                  <a:cubicBezTo>
                    <a:pt x="0" y="82931"/>
                    <a:pt x="82931" y="0"/>
                    <a:pt x="185039" y="0"/>
                  </a:cubicBezTo>
                  <a:lnTo>
                    <a:pt x="8984361" y="0"/>
                  </a:lnTo>
                  <a:cubicBezTo>
                    <a:pt x="9086469" y="0"/>
                    <a:pt x="9169400" y="82931"/>
                    <a:pt x="9169400" y="185039"/>
                  </a:cubicBezTo>
                  <a:lnTo>
                    <a:pt x="9169400" y="1943481"/>
                  </a:lnTo>
                  <a:cubicBezTo>
                    <a:pt x="9169400" y="2045716"/>
                    <a:pt x="9086469" y="2128520"/>
                    <a:pt x="8984361" y="2128520"/>
                  </a:cubicBezTo>
                  <a:lnTo>
                    <a:pt x="185039" y="2128520"/>
                  </a:lnTo>
                  <a:cubicBezTo>
                    <a:pt x="82931" y="2128520"/>
                    <a:pt x="0" y="2045589"/>
                    <a:pt x="0" y="1943481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78" name="Group 30">
            <a:extLst>
              <a:ext uri="{FF2B5EF4-FFF2-40B4-BE49-F238E27FC236}">
                <a16:creationId xmlns:a16="http://schemas.microsoft.com/office/drawing/2014/main" id="{D5AA3FF5-E51E-B76D-4312-E139A0977218}"/>
              </a:ext>
            </a:extLst>
          </p:cNvPr>
          <p:cNvGrpSpPr/>
          <p:nvPr/>
        </p:nvGrpSpPr>
        <p:grpSpPr>
          <a:xfrm>
            <a:off x="1645920" y="-3673792"/>
            <a:ext cx="6172200" cy="480060"/>
            <a:chOff x="0" y="0"/>
            <a:chExt cx="8229600" cy="640080"/>
          </a:xfrm>
        </p:grpSpPr>
        <p:sp>
          <p:nvSpPr>
            <p:cNvPr id="79" name="Freeform 31">
              <a:extLst>
                <a:ext uri="{FF2B5EF4-FFF2-40B4-BE49-F238E27FC236}">
                  <a16:creationId xmlns:a16="http://schemas.microsoft.com/office/drawing/2014/main" id="{0AAA2906-862F-D64F-E1BA-68E01676E513}"/>
                </a:ext>
              </a:extLst>
            </p:cNvPr>
            <p:cNvSpPr/>
            <p:nvPr/>
          </p:nvSpPr>
          <p:spPr>
            <a:xfrm>
              <a:off x="0" y="0"/>
              <a:ext cx="8229600" cy="640080"/>
            </a:xfrm>
            <a:custGeom>
              <a:avLst/>
              <a:gdLst/>
              <a:ahLst/>
              <a:cxnLst/>
              <a:rect l="l" t="t" r="r" b="b"/>
              <a:pathLst>
                <a:path w="8229600" h="64008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80" name="TextBox 32">
              <a:extLst>
                <a:ext uri="{FF2B5EF4-FFF2-40B4-BE49-F238E27FC236}">
                  <a16:creationId xmlns:a16="http://schemas.microsoft.com/office/drawing/2014/main" id="{F5658A65-4FD3-C16E-D21C-B3DDF0845649}"/>
                </a:ext>
              </a:extLst>
            </p:cNvPr>
            <p:cNvSpPr txBox="1"/>
            <p:nvPr/>
          </p:nvSpPr>
          <p:spPr>
            <a:xfrm>
              <a:off x="0" y="-9525"/>
              <a:ext cx="82296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EV-scooter technician · fixed contract</a:t>
              </a:r>
            </a:p>
          </p:txBody>
        </p:sp>
      </p:grpSp>
      <p:sp>
        <p:nvSpPr>
          <p:cNvPr id="81" name="TextBox 33">
            <a:extLst>
              <a:ext uri="{FF2B5EF4-FFF2-40B4-BE49-F238E27FC236}">
                <a16:creationId xmlns:a16="http://schemas.microsoft.com/office/drawing/2014/main" id="{7D93F20F-18CA-8313-E42D-9A033661626E}"/>
              </a:ext>
            </a:extLst>
          </p:cNvPr>
          <p:cNvSpPr txBox="1"/>
          <p:nvPr/>
        </p:nvSpPr>
        <p:spPr>
          <a:xfrm>
            <a:off x="1645920" y="-3134677"/>
            <a:ext cx="6172200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Employer verified · 4.2 km away · matches 3 of Pratik's verified skills</a:t>
            </a:r>
          </a:p>
        </p:txBody>
      </p:sp>
      <p:grpSp>
        <p:nvGrpSpPr>
          <p:cNvPr id="82" name="Group 34">
            <a:extLst>
              <a:ext uri="{FF2B5EF4-FFF2-40B4-BE49-F238E27FC236}">
                <a16:creationId xmlns:a16="http://schemas.microsoft.com/office/drawing/2014/main" id="{7EC72A23-5064-8F87-33CE-021B8D3430F4}"/>
              </a:ext>
            </a:extLst>
          </p:cNvPr>
          <p:cNvGrpSpPr/>
          <p:nvPr/>
        </p:nvGrpSpPr>
        <p:grpSpPr>
          <a:xfrm>
            <a:off x="9121140" y="-7994332"/>
            <a:ext cx="8229600" cy="548640"/>
            <a:chOff x="0" y="0"/>
            <a:chExt cx="10972800" cy="731520"/>
          </a:xfrm>
        </p:grpSpPr>
        <p:sp>
          <p:nvSpPr>
            <p:cNvPr id="83" name="Freeform 35">
              <a:extLst>
                <a:ext uri="{FF2B5EF4-FFF2-40B4-BE49-F238E27FC236}">
                  <a16:creationId xmlns:a16="http://schemas.microsoft.com/office/drawing/2014/main" id="{CBFB3CF3-A222-AD17-EABE-DA6EC85D4234}"/>
                </a:ext>
              </a:extLst>
            </p:cNvPr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84" name="TextBox 36">
              <a:extLst>
                <a:ext uri="{FF2B5EF4-FFF2-40B4-BE49-F238E27FC236}">
                  <a16:creationId xmlns:a16="http://schemas.microsoft.com/office/drawing/2014/main" id="{0FE43657-4FA7-DBBD-0C44-6F4C8B4F3BCC}"/>
                </a:ext>
              </a:extLst>
            </p:cNvPr>
            <p:cNvSpPr txBox="1"/>
            <p:nvPr/>
          </p:nvSpPr>
          <p:spPr>
            <a:xfrm>
              <a:off x="0" y="0"/>
              <a:ext cx="10972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How matching works</a:t>
              </a:r>
            </a:p>
          </p:txBody>
        </p:sp>
      </p:grpSp>
      <p:sp>
        <p:nvSpPr>
          <p:cNvPr id="85" name="TextBox 37">
            <a:extLst>
              <a:ext uri="{FF2B5EF4-FFF2-40B4-BE49-F238E27FC236}">
                <a16:creationId xmlns:a16="http://schemas.microsoft.com/office/drawing/2014/main" id="{C8B1B028-8C0A-EA79-6923-2E670700D8C5}"/>
              </a:ext>
            </a:extLst>
          </p:cNvPr>
          <p:cNvSpPr txBox="1"/>
          <p:nvPr/>
        </p:nvSpPr>
        <p:spPr>
          <a:xfrm>
            <a:off x="9121140" y="-7394257"/>
            <a:ext cx="809244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Private roles are ranked by skill match, distance, trust score and a stability filter.</a:t>
            </a:r>
          </a:p>
        </p:txBody>
      </p:sp>
      <p:sp>
        <p:nvSpPr>
          <p:cNvPr id="86" name="TextBox 38">
            <a:extLst>
              <a:ext uri="{FF2B5EF4-FFF2-40B4-BE49-F238E27FC236}">
                <a16:creationId xmlns:a16="http://schemas.microsoft.com/office/drawing/2014/main" id="{9FF6FB97-E9D9-7065-0620-1B8109918F41}"/>
              </a:ext>
            </a:extLst>
          </p:cNvPr>
          <p:cNvSpPr txBox="1"/>
          <p:nvPr/>
        </p:nvSpPr>
        <p:spPr>
          <a:xfrm>
            <a:off x="9121140" y="-6091237"/>
            <a:ext cx="809244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Local demand can post a need in plain language and be matched to nearby verified workers (reverse matching).</a:t>
            </a:r>
          </a:p>
        </p:txBody>
      </p:sp>
      <p:sp>
        <p:nvSpPr>
          <p:cNvPr id="87" name="TextBox 39">
            <a:extLst>
              <a:ext uri="{FF2B5EF4-FFF2-40B4-BE49-F238E27FC236}">
                <a16:creationId xmlns:a16="http://schemas.microsoft.com/office/drawing/2014/main" id="{AA6D1E33-6A25-FA62-9A5B-FBC3D918D20F}"/>
              </a:ext>
            </a:extLst>
          </p:cNvPr>
          <p:cNvSpPr txBox="1"/>
          <p:nvPr/>
        </p:nvSpPr>
        <p:spPr>
          <a:xfrm>
            <a:off x="9121140" y="-4788217"/>
            <a:ext cx="809244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Government routes appear alongside, based on eligibility. That's the next section.</a:t>
            </a:r>
          </a:p>
        </p:txBody>
      </p:sp>
      <p:sp>
        <p:nvSpPr>
          <p:cNvPr id="88" name="TextBox 40">
            <a:extLst>
              <a:ext uri="{FF2B5EF4-FFF2-40B4-BE49-F238E27FC236}">
                <a16:creationId xmlns:a16="http://schemas.microsoft.com/office/drawing/2014/main" id="{FB0AA9B3-97E1-7D88-9F80-EF6FA1399DAE}"/>
              </a:ext>
            </a:extLst>
          </p:cNvPr>
          <p:cNvSpPr txBox="1"/>
          <p:nvPr/>
        </p:nvSpPr>
        <p:spPr>
          <a:xfrm>
            <a:off x="9121140" y="-3485197"/>
            <a:ext cx="809244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Success is measured by stable placements, not sign-ups.</a:t>
            </a:r>
          </a:p>
        </p:txBody>
      </p:sp>
      <p:grpSp>
        <p:nvGrpSpPr>
          <p:cNvPr id="89" name="Group 41">
            <a:extLst>
              <a:ext uri="{FF2B5EF4-FFF2-40B4-BE49-F238E27FC236}">
                <a16:creationId xmlns:a16="http://schemas.microsoft.com/office/drawing/2014/main" id="{7585964E-F41A-13D1-A242-F555B9359699}"/>
              </a:ext>
            </a:extLst>
          </p:cNvPr>
          <p:cNvGrpSpPr/>
          <p:nvPr/>
        </p:nvGrpSpPr>
        <p:grpSpPr>
          <a:xfrm>
            <a:off x="17145000" y="-999172"/>
            <a:ext cx="822960" cy="411480"/>
            <a:chOff x="0" y="0"/>
            <a:chExt cx="1097280" cy="548640"/>
          </a:xfrm>
        </p:grpSpPr>
        <p:sp>
          <p:nvSpPr>
            <p:cNvPr id="90" name="Freeform 42">
              <a:extLst>
                <a:ext uri="{FF2B5EF4-FFF2-40B4-BE49-F238E27FC236}">
                  <a16:creationId xmlns:a16="http://schemas.microsoft.com/office/drawing/2014/main" id="{6CD3E13E-5C7B-38E0-A6D2-0A153DB75810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91" name="TextBox 43">
              <a:extLst>
                <a:ext uri="{FF2B5EF4-FFF2-40B4-BE49-F238E27FC236}">
                  <a16:creationId xmlns:a16="http://schemas.microsoft.com/office/drawing/2014/main" id="{D0B36B81-B819-9B32-4EDD-6ADAB08CCB84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10</a:t>
              </a:r>
            </a:p>
          </p:txBody>
        </p:sp>
      </p:grpSp>
      <p:grpSp>
        <p:nvGrpSpPr>
          <p:cNvPr id="92" name="Group 2">
            <a:extLst>
              <a:ext uri="{FF2B5EF4-FFF2-40B4-BE49-F238E27FC236}">
                <a16:creationId xmlns:a16="http://schemas.microsoft.com/office/drawing/2014/main" id="{E1032B53-CCEB-013F-FFD7-1A3468FABD46}"/>
              </a:ext>
            </a:extLst>
          </p:cNvPr>
          <p:cNvGrpSpPr/>
          <p:nvPr/>
        </p:nvGrpSpPr>
        <p:grpSpPr>
          <a:xfrm>
            <a:off x="992886" y="11965495"/>
            <a:ext cx="12344400" cy="480060"/>
            <a:chOff x="0" y="0"/>
            <a:chExt cx="16459200" cy="640080"/>
          </a:xfrm>
        </p:grpSpPr>
        <p:sp>
          <p:nvSpPr>
            <p:cNvPr id="93" name="Freeform 3">
              <a:extLst>
                <a:ext uri="{FF2B5EF4-FFF2-40B4-BE49-F238E27FC236}">
                  <a16:creationId xmlns:a16="http://schemas.microsoft.com/office/drawing/2014/main" id="{BEF3C555-D48E-2484-C06A-E05220F2FB30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94" name="TextBox 4">
              <a:extLst>
                <a:ext uri="{FF2B5EF4-FFF2-40B4-BE49-F238E27FC236}">
                  <a16:creationId xmlns:a16="http://schemas.microsoft.com/office/drawing/2014/main" id="{96937553-E033-EBE2-5998-DD06AAF97035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UNDER THE HOOD</a:t>
              </a:r>
            </a:p>
          </p:txBody>
        </p:sp>
      </p:grpSp>
      <p:grpSp>
        <p:nvGrpSpPr>
          <p:cNvPr id="95" name="Group 5">
            <a:extLst>
              <a:ext uri="{FF2B5EF4-FFF2-40B4-BE49-F238E27FC236}">
                <a16:creationId xmlns:a16="http://schemas.microsoft.com/office/drawing/2014/main" id="{6DB7DE8A-3BD4-0FF3-DCE8-539BF1D95738}"/>
              </a:ext>
            </a:extLst>
          </p:cNvPr>
          <p:cNvGrpSpPr/>
          <p:nvPr/>
        </p:nvGrpSpPr>
        <p:grpSpPr>
          <a:xfrm>
            <a:off x="992886" y="12445555"/>
            <a:ext cx="16322040" cy="1234440"/>
            <a:chOff x="0" y="0"/>
            <a:chExt cx="21762720" cy="1645920"/>
          </a:xfrm>
        </p:grpSpPr>
        <p:sp>
          <p:nvSpPr>
            <p:cNvPr id="96" name="Freeform 6">
              <a:extLst>
                <a:ext uri="{FF2B5EF4-FFF2-40B4-BE49-F238E27FC236}">
                  <a16:creationId xmlns:a16="http://schemas.microsoft.com/office/drawing/2014/main" id="{42EBE32A-7E8A-151C-199E-A151B9998864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97" name="TextBox 7">
              <a:extLst>
                <a:ext uri="{FF2B5EF4-FFF2-40B4-BE49-F238E27FC236}">
                  <a16:creationId xmlns:a16="http://schemas.microsoft.com/office/drawing/2014/main" id="{3BC689F0-122F-6278-9353-89DA8AF4FA4D}"/>
                </a:ext>
              </a:extLst>
            </p:cNvPr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How the AI actually works, end to end</a:t>
              </a:r>
            </a:p>
          </p:txBody>
        </p:sp>
      </p:grpSp>
      <p:grpSp>
        <p:nvGrpSpPr>
          <p:cNvPr id="98" name="Group 8">
            <a:extLst>
              <a:ext uri="{FF2B5EF4-FFF2-40B4-BE49-F238E27FC236}">
                <a16:creationId xmlns:a16="http://schemas.microsoft.com/office/drawing/2014/main" id="{9C36E7A4-D645-351B-50FE-6C2C352F3B76}"/>
              </a:ext>
            </a:extLst>
          </p:cNvPr>
          <p:cNvGrpSpPr/>
          <p:nvPr/>
        </p:nvGrpSpPr>
        <p:grpSpPr>
          <a:xfrm>
            <a:off x="983361" y="14836330"/>
            <a:ext cx="2899410" cy="4613910"/>
            <a:chOff x="0" y="0"/>
            <a:chExt cx="3865880" cy="6151880"/>
          </a:xfrm>
        </p:grpSpPr>
        <p:sp>
          <p:nvSpPr>
            <p:cNvPr id="99" name="Freeform 9">
              <a:extLst>
                <a:ext uri="{FF2B5EF4-FFF2-40B4-BE49-F238E27FC236}">
                  <a16:creationId xmlns:a16="http://schemas.microsoft.com/office/drawing/2014/main" id="{2A37A518-5753-51C7-037B-8D6F893F72E4}"/>
                </a:ext>
              </a:extLst>
            </p:cNvPr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0" name="Group 10">
            <a:extLst>
              <a:ext uri="{FF2B5EF4-FFF2-40B4-BE49-F238E27FC236}">
                <a16:creationId xmlns:a16="http://schemas.microsoft.com/office/drawing/2014/main" id="{FD7D6798-C3F4-C36C-FA13-1FE2FFB804BF}"/>
              </a:ext>
            </a:extLst>
          </p:cNvPr>
          <p:cNvGrpSpPr/>
          <p:nvPr/>
        </p:nvGrpSpPr>
        <p:grpSpPr>
          <a:xfrm>
            <a:off x="2055876" y="14365795"/>
            <a:ext cx="754380" cy="754380"/>
            <a:chOff x="0" y="0"/>
            <a:chExt cx="1005840" cy="1005840"/>
          </a:xfrm>
        </p:grpSpPr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ECA33649-A9D4-010A-6FC8-63877BBC8D1B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02" name="Group 12">
            <a:extLst>
              <a:ext uri="{FF2B5EF4-FFF2-40B4-BE49-F238E27FC236}">
                <a16:creationId xmlns:a16="http://schemas.microsoft.com/office/drawing/2014/main" id="{2E4334AE-7CF3-5C80-EFAF-CD141376B1F8}"/>
              </a:ext>
            </a:extLst>
          </p:cNvPr>
          <p:cNvGrpSpPr/>
          <p:nvPr/>
        </p:nvGrpSpPr>
        <p:grpSpPr>
          <a:xfrm>
            <a:off x="2055876" y="14365795"/>
            <a:ext cx="754380" cy="754380"/>
            <a:chOff x="0" y="0"/>
            <a:chExt cx="1005840" cy="1005840"/>
          </a:xfrm>
        </p:grpSpPr>
        <p:sp>
          <p:nvSpPr>
            <p:cNvPr id="103" name="Freeform 13">
              <a:extLst>
                <a:ext uri="{FF2B5EF4-FFF2-40B4-BE49-F238E27FC236}">
                  <a16:creationId xmlns:a16="http://schemas.microsoft.com/office/drawing/2014/main" id="{FB9E38C6-D79D-4753-E4D1-DECABB66CED6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4" name="TextBox 14">
              <a:extLst>
                <a:ext uri="{FF2B5EF4-FFF2-40B4-BE49-F238E27FC236}">
                  <a16:creationId xmlns:a16="http://schemas.microsoft.com/office/drawing/2014/main" id="{C713F05D-1F73-8651-A93D-53CC5E82ADF6}"/>
                </a:ext>
              </a:extLst>
            </p:cNvPr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05" name="Group 15">
            <a:extLst>
              <a:ext uri="{FF2B5EF4-FFF2-40B4-BE49-F238E27FC236}">
                <a16:creationId xmlns:a16="http://schemas.microsoft.com/office/drawing/2014/main" id="{FED1094A-DEE2-CA4D-5F8A-2DF097D9565F}"/>
              </a:ext>
            </a:extLst>
          </p:cNvPr>
          <p:cNvGrpSpPr/>
          <p:nvPr/>
        </p:nvGrpSpPr>
        <p:grpSpPr>
          <a:xfrm>
            <a:off x="1198626" y="15325915"/>
            <a:ext cx="2468880" cy="548640"/>
            <a:chOff x="0" y="0"/>
            <a:chExt cx="3291840" cy="731520"/>
          </a:xfrm>
        </p:grpSpPr>
        <p:sp>
          <p:nvSpPr>
            <p:cNvPr id="106" name="Freeform 16">
              <a:extLst>
                <a:ext uri="{FF2B5EF4-FFF2-40B4-BE49-F238E27FC236}">
                  <a16:creationId xmlns:a16="http://schemas.microsoft.com/office/drawing/2014/main" id="{097A5164-380C-8EA2-173E-208011B3AC62}"/>
                </a:ext>
              </a:extLst>
            </p:cNvPr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07" name="TextBox 17">
              <a:extLst>
                <a:ext uri="{FF2B5EF4-FFF2-40B4-BE49-F238E27FC236}">
                  <a16:creationId xmlns:a16="http://schemas.microsoft.com/office/drawing/2014/main" id="{DCE33D18-906A-3124-FCEB-4134A1005E2A}"/>
                </a:ext>
              </a:extLst>
            </p:cNvPr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Capture</a:t>
              </a:r>
            </a:p>
          </p:txBody>
        </p:sp>
      </p:grpSp>
      <p:sp>
        <p:nvSpPr>
          <p:cNvPr id="108" name="TextBox 18">
            <a:extLst>
              <a:ext uri="{FF2B5EF4-FFF2-40B4-BE49-F238E27FC236}">
                <a16:creationId xmlns:a16="http://schemas.microsoft.com/office/drawing/2014/main" id="{3F842F7F-EFDB-9BF3-0427-1653589C8606}"/>
              </a:ext>
            </a:extLst>
          </p:cNvPr>
          <p:cNvSpPr txBox="1"/>
          <p:nvPr/>
        </p:nvSpPr>
        <p:spPr>
          <a:xfrm>
            <a:off x="1198626" y="16023145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Speech-to-text plus an LLM turn a spoken description into confidence-scored skill tags.</a:t>
            </a:r>
          </a:p>
        </p:txBody>
      </p:sp>
      <p:grpSp>
        <p:nvGrpSpPr>
          <p:cNvPr id="109" name="Group 19">
            <a:extLst>
              <a:ext uri="{FF2B5EF4-FFF2-40B4-BE49-F238E27FC236}">
                <a16:creationId xmlns:a16="http://schemas.microsoft.com/office/drawing/2014/main" id="{E3CFFEDC-C406-4063-B2B6-6C720C061708}"/>
              </a:ext>
            </a:extLst>
          </p:cNvPr>
          <p:cNvGrpSpPr/>
          <p:nvPr/>
        </p:nvGrpSpPr>
        <p:grpSpPr>
          <a:xfrm>
            <a:off x="3873246" y="16628935"/>
            <a:ext cx="480060" cy="685800"/>
            <a:chOff x="0" y="0"/>
            <a:chExt cx="640080" cy="914400"/>
          </a:xfrm>
        </p:grpSpPr>
        <p:sp>
          <p:nvSpPr>
            <p:cNvPr id="110" name="Freeform 20">
              <a:extLst>
                <a:ext uri="{FF2B5EF4-FFF2-40B4-BE49-F238E27FC236}">
                  <a16:creationId xmlns:a16="http://schemas.microsoft.com/office/drawing/2014/main" id="{6FD57D26-9BFA-656B-AB1F-94B709D25CDF}"/>
                </a:ext>
              </a:extLst>
            </p:cNvPr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111" name="TextBox 21">
              <a:extLst>
                <a:ext uri="{FF2B5EF4-FFF2-40B4-BE49-F238E27FC236}">
                  <a16:creationId xmlns:a16="http://schemas.microsoft.com/office/drawing/2014/main" id="{A8ADA3C9-B201-4242-C4F5-81C1A3CC5055}"/>
                </a:ext>
              </a:extLst>
            </p:cNvPr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10"/>
                </a:lnSpc>
              </a:pPr>
              <a:r>
                <a:rPr lang="en-US" sz="2925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112" name="Group 22">
            <a:extLst>
              <a:ext uri="{FF2B5EF4-FFF2-40B4-BE49-F238E27FC236}">
                <a16:creationId xmlns:a16="http://schemas.microsoft.com/office/drawing/2014/main" id="{6A07EDD6-A623-459B-C0F4-FE92E40E17D5}"/>
              </a:ext>
            </a:extLst>
          </p:cNvPr>
          <p:cNvGrpSpPr/>
          <p:nvPr/>
        </p:nvGrpSpPr>
        <p:grpSpPr>
          <a:xfrm>
            <a:off x="4343781" y="14836330"/>
            <a:ext cx="2899410" cy="4613910"/>
            <a:chOff x="0" y="0"/>
            <a:chExt cx="3865880" cy="6151880"/>
          </a:xfrm>
        </p:grpSpPr>
        <p:sp>
          <p:nvSpPr>
            <p:cNvPr id="113" name="Freeform 23">
              <a:extLst>
                <a:ext uri="{FF2B5EF4-FFF2-40B4-BE49-F238E27FC236}">
                  <a16:creationId xmlns:a16="http://schemas.microsoft.com/office/drawing/2014/main" id="{7A6E2CB1-AB9E-6A79-7229-A759783D4C9F}"/>
                </a:ext>
              </a:extLst>
            </p:cNvPr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14" name="Group 24">
            <a:extLst>
              <a:ext uri="{FF2B5EF4-FFF2-40B4-BE49-F238E27FC236}">
                <a16:creationId xmlns:a16="http://schemas.microsoft.com/office/drawing/2014/main" id="{4D2E52CC-C0C9-8F4A-456A-3FE7461B345E}"/>
              </a:ext>
            </a:extLst>
          </p:cNvPr>
          <p:cNvGrpSpPr/>
          <p:nvPr/>
        </p:nvGrpSpPr>
        <p:grpSpPr>
          <a:xfrm>
            <a:off x="5416296" y="14365795"/>
            <a:ext cx="754380" cy="754380"/>
            <a:chOff x="0" y="0"/>
            <a:chExt cx="1005840" cy="1005840"/>
          </a:xfrm>
        </p:grpSpPr>
        <p:sp>
          <p:nvSpPr>
            <p:cNvPr id="115" name="Freeform 25">
              <a:extLst>
                <a:ext uri="{FF2B5EF4-FFF2-40B4-BE49-F238E27FC236}">
                  <a16:creationId xmlns:a16="http://schemas.microsoft.com/office/drawing/2014/main" id="{FBA0EEE9-7975-2BFD-834E-B7283960EF95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16" name="Group 26">
            <a:extLst>
              <a:ext uri="{FF2B5EF4-FFF2-40B4-BE49-F238E27FC236}">
                <a16:creationId xmlns:a16="http://schemas.microsoft.com/office/drawing/2014/main" id="{94AE3D61-1830-7D6E-1D04-2ED4ED1AF034}"/>
              </a:ext>
            </a:extLst>
          </p:cNvPr>
          <p:cNvGrpSpPr/>
          <p:nvPr/>
        </p:nvGrpSpPr>
        <p:grpSpPr>
          <a:xfrm>
            <a:off x="5416296" y="14365795"/>
            <a:ext cx="754380" cy="754380"/>
            <a:chOff x="0" y="0"/>
            <a:chExt cx="1005840" cy="1005840"/>
          </a:xfrm>
        </p:grpSpPr>
        <p:sp>
          <p:nvSpPr>
            <p:cNvPr id="117" name="Freeform 27">
              <a:extLst>
                <a:ext uri="{FF2B5EF4-FFF2-40B4-BE49-F238E27FC236}">
                  <a16:creationId xmlns:a16="http://schemas.microsoft.com/office/drawing/2014/main" id="{CB8A2FD3-F943-F810-5E16-2ADB12F7E1D2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8" name="TextBox 28">
              <a:extLst>
                <a:ext uri="{FF2B5EF4-FFF2-40B4-BE49-F238E27FC236}">
                  <a16:creationId xmlns:a16="http://schemas.microsoft.com/office/drawing/2014/main" id="{3C750A38-FCF5-A7EE-B54B-C09D8C18FF13}"/>
                </a:ext>
              </a:extLst>
            </p:cNvPr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119" name="Group 29">
            <a:extLst>
              <a:ext uri="{FF2B5EF4-FFF2-40B4-BE49-F238E27FC236}">
                <a16:creationId xmlns:a16="http://schemas.microsoft.com/office/drawing/2014/main" id="{753352A0-EC68-A22F-3B56-EE562B75D03C}"/>
              </a:ext>
            </a:extLst>
          </p:cNvPr>
          <p:cNvGrpSpPr/>
          <p:nvPr/>
        </p:nvGrpSpPr>
        <p:grpSpPr>
          <a:xfrm>
            <a:off x="4559046" y="15325915"/>
            <a:ext cx="2468880" cy="548640"/>
            <a:chOff x="0" y="0"/>
            <a:chExt cx="3291840" cy="731520"/>
          </a:xfrm>
        </p:grpSpPr>
        <p:sp>
          <p:nvSpPr>
            <p:cNvPr id="120" name="Freeform 30">
              <a:extLst>
                <a:ext uri="{FF2B5EF4-FFF2-40B4-BE49-F238E27FC236}">
                  <a16:creationId xmlns:a16="http://schemas.microsoft.com/office/drawing/2014/main" id="{C59D4EA4-338D-72EB-72E2-6F0137982E15}"/>
                </a:ext>
              </a:extLst>
            </p:cNvPr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21" name="TextBox 31">
              <a:extLst>
                <a:ext uri="{FF2B5EF4-FFF2-40B4-BE49-F238E27FC236}">
                  <a16:creationId xmlns:a16="http://schemas.microsoft.com/office/drawing/2014/main" id="{DC673AD8-ED96-06DE-2565-CA0497C9DD4B}"/>
                </a:ext>
              </a:extLst>
            </p:cNvPr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Verify</a:t>
              </a:r>
            </a:p>
          </p:txBody>
        </p:sp>
      </p:grpSp>
      <p:sp>
        <p:nvSpPr>
          <p:cNvPr id="122" name="TextBox 32">
            <a:extLst>
              <a:ext uri="{FF2B5EF4-FFF2-40B4-BE49-F238E27FC236}">
                <a16:creationId xmlns:a16="http://schemas.microsoft.com/office/drawing/2014/main" id="{4EE076A3-4E46-3736-F4EB-E38B1E0FD783}"/>
              </a:ext>
            </a:extLst>
          </p:cNvPr>
          <p:cNvSpPr txBox="1"/>
          <p:nvPr/>
        </p:nvSpPr>
        <p:spPr>
          <a:xfrm>
            <a:off x="4559046" y="16023145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Short AI-generated tasks are rubric-scored into a trust score for each claimed skill.</a:t>
            </a:r>
          </a:p>
        </p:txBody>
      </p:sp>
      <p:grpSp>
        <p:nvGrpSpPr>
          <p:cNvPr id="123" name="Group 33">
            <a:extLst>
              <a:ext uri="{FF2B5EF4-FFF2-40B4-BE49-F238E27FC236}">
                <a16:creationId xmlns:a16="http://schemas.microsoft.com/office/drawing/2014/main" id="{B5750B33-F801-3F84-A766-CDA0CA8A68D0}"/>
              </a:ext>
            </a:extLst>
          </p:cNvPr>
          <p:cNvGrpSpPr/>
          <p:nvPr/>
        </p:nvGrpSpPr>
        <p:grpSpPr>
          <a:xfrm>
            <a:off x="7233666" y="16628935"/>
            <a:ext cx="480060" cy="685800"/>
            <a:chOff x="0" y="0"/>
            <a:chExt cx="640080" cy="914400"/>
          </a:xfrm>
        </p:grpSpPr>
        <p:sp>
          <p:nvSpPr>
            <p:cNvPr id="124" name="Freeform 34">
              <a:extLst>
                <a:ext uri="{FF2B5EF4-FFF2-40B4-BE49-F238E27FC236}">
                  <a16:creationId xmlns:a16="http://schemas.microsoft.com/office/drawing/2014/main" id="{6664F9C6-8F2E-7A37-3652-1A5C789B11B0}"/>
                </a:ext>
              </a:extLst>
            </p:cNvPr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125" name="TextBox 35">
              <a:extLst>
                <a:ext uri="{FF2B5EF4-FFF2-40B4-BE49-F238E27FC236}">
                  <a16:creationId xmlns:a16="http://schemas.microsoft.com/office/drawing/2014/main" id="{66AE7AAD-E73F-826F-52D6-C4758E0A795A}"/>
                </a:ext>
              </a:extLst>
            </p:cNvPr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10"/>
                </a:lnSpc>
              </a:pPr>
              <a:r>
                <a:rPr lang="en-US" sz="2925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126" name="Group 36">
            <a:extLst>
              <a:ext uri="{FF2B5EF4-FFF2-40B4-BE49-F238E27FC236}">
                <a16:creationId xmlns:a16="http://schemas.microsoft.com/office/drawing/2014/main" id="{A1499869-7AA7-5602-D29C-BAF1F0789EC6}"/>
              </a:ext>
            </a:extLst>
          </p:cNvPr>
          <p:cNvGrpSpPr/>
          <p:nvPr/>
        </p:nvGrpSpPr>
        <p:grpSpPr>
          <a:xfrm>
            <a:off x="7704201" y="14836330"/>
            <a:ext cx="2899410" cy="4613910"/>
            <a:chOff x="0" y="0"/>
            <a:chExt cx="3865880" cy="6151880"/>
          </a:xfrm>
        </p:grpSpPr>
        <p:sp>
          <p:nvSpPr>
            <p:cNvPr id="127" name="Freeform 37">
              <a:extLst>
                <a:ext uri="{FF2B5EF4-FFF2-40B4-BE49-F238E27FC236}">
                  <a16:creationId xmlns:a16="http://schemas.microsoft.com/office/drawing/2014/main" id="{BC90DCDB-7834-0F5A-F826-9462C2677910}"/>
                </a:ext>
              </a:extLst>
            </p:cNvPr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28" name="Group 38">
            <a:extLst>
              <a:ext uri="{FF2B5EF4-FFF2-40B4-BE49-F238E27FC236}">
                <a16:creationId xmlns:a16="http://schemas.microsoft.com/office/drawing/2014/main" id="{83C99643-87D2-113E-42E3-47F39AF039BC}"/>
              </a:ext>
            </a:extLst>
          </p:cNvPr>
          <p:cNvGrpSpPr/>
          <p:nvPr/>
        </p:nvGrpSpPr>
        <p:grpSpPr>
          <a:xfrm>
            <a:off x="8776716" y="14365795"/>
            <a:ext cx="754380" cy="754380"/>
            <a:chOff x="0" y="0"/>
            <a:chExt cx="1005840" cy="1005840"/>
          </a:xfrm>
        </p:grpSpPr>
        <p:sp>
          <p:nvSpPr>
            <p:cNvPr id="129" name="Freeform 39">
              <a:extLst>
                <a:ext uri="{FF2B5EF4-FFF2-40B4-BE49-F238E27FC236}">
                  <a16:creationId xmlns:a16="http://schemas.microsoft.com/office/drawing/2014/main" id="{C704B5D4-6268-0E9E-1D31-986EB56F6422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30" name="Group 40">
            <a:extLst>
              <a:ext uri="{FF2B5EF4-FFF2-40B4-BE49-F238E27FC236}">
                <a16:creationId xmlns:a16="http://schemas.microsoft.com/office/drawing/2014/main" id="{E8F8E6EF-9A48-4C3A-EC92-5A9429E62645}"/>
              </a:ext>
            </a:extLst>
          </p:cNvPr>
          <p:cNvGrpSpPr/>
          <p:nvPr/>
        </p:nvGrpSpPr>
        <p:grpSpPr>
          <a:xfrm>
            <a:off x="8776716" y="14365795"/>
            <a:ext cx="754380" cy="754380"/>
            <a:chOff x="0" y="0"/>
            <a:chExt cx="1005840" cy="1005840"/>
          </a:xfrm>
        </p:grpSpPr>
        <p:sp>
          <p:nvSpPr>
            <p:cNvPr id="131" name="Freeform 41">
              <a:extLst>
                <a:ext uri="{FF2B5EF4-FFF2-40B4-BE49-F238E27FC236}">
                  <a16:creationId xmlns:a16="http://schemas.microsoft.com/office/drawing/2014/main" id="{A7C3C6C4-4BC6-B94B-4476-55EEEF567C28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2" name="TextBox 42">
              <a:extLst>
                <a:ext uri="{FF2B5EF4-FFF2-40B4-BE49-F238E27FC236}">
                  <a16:creationId xmlns:a16="http://schemas.microsoft.com/office/drawing/2014/main" id="{BD2E8207-8D8E-9CC8-CF1D-05D55B0CA9F9}"/>
                </a:ext>
              </a:extLst>
            </p:cNvPr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133" name="Group 43">
            <a:extLst>
              <a:ext uri="{FF2B5EF4-FFF2-40B4-BE49-F238E27FC236}">
                <a16:creationId xmlns:a16="http://schemas.microsoft.com/office/drawing/2014/main" id="{A8C02B35-7267-4DA6-82CD-3FB5F33461BC}"/>
              </a:ext>
            </a:extLst>
          </p:cNvPr>
          <p:cNvGrpSpPr/>
          <p:nvPr/>
        </p:nvGrpSpPr>
        <p:grpSpPr>
          <a:xfrm>
            <a:off x="7919466" y="15325915"/>
            <a:ext cx="2468880" cy="548640"/>
            <a:chOff x="0" y="0"/>
            <a:chExt cx="3291840" cy="731520"/>
          </a:xfrm>
        </p:grpSpPr>
        <p:sp>
          <p:nvSpPr>
            <p:cNvPr id="134" name="Freeform 44">
              <a:extLst>
                <a:ext uri="{FF2B5EF4-FFF2-40B4-BE49-F238E27FC236}">
                  <a16:creationId xmlns:a16="http://schemas.microsoft.com/office/drawing/2014/main" id="{644B4F0B-0889-9DEE-EE4A-0CB134674E5A}"/>
                </a:ext>
              </a:extLst>
            </p:cNvPr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35" name="TextBox 45">
              <a:extLst>
                <a:ext uri="{FF2B5EF4-FFF2-40B4-BE49-F238E27FC236}">
                  <a16:creationId xmlns:a16="http://schemas.microsoft.com/office/drawing/2014/main" id="{5E46CA96-D03C-D955-5052-D7A820DA37FF}"/>
                </a:ext>
              </a:extLst>
            </p:cNvPr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</a:t>
              </a:r>
            </a:p>
          </p:txBody>
        </p:sp>
      </p:grpSp>
      <p:sp>
        <p:nvSpPr>
          <p:cNvPr id="136" name="TextBox 46">
            <a:extLst>
              <a:ext uri="{FF2B5EF4-FFF2-40B4-BE49-F238E27FC236}">
                <a16:creationId xmlns:a16="http://schemas.microsoft.com/office/drawing/2014/main" id="{D2DBFFE1-65F1-9CF8-FDDB-53CC0BDB4A66}"/>
              </a:ext>
            </a:extLst>
          </p:cNvPr>
          <p:cNvSpPr txBox="1"/>
          <p:nvPr/>
        </p:nvSpPr>
        <p:spPr>
          <a:xfrm>
            <a:off x="7919466" y="16023145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LLM drafts the CV from verified skills, tailored to a role or an exam application.</a:t>
            </a:r>
          </a:p>
        </p:txBody>
      </p:sp>
      <p:grpSp>
        <p:nvGrpSpPr>
          <p:cNvPr id="137" name="Group 47">
            <a:extLst>
              <a:ext uri="{FF2B5EF4-FFF2-40B4-BE49-F238E27FC236}">
                <a16:creationId xmlns:a16="http://schemas.microsoft.com/office/drawing/2014/main" id="{93AD0145-FB7B-9E2E-DE29-25D9E3BB4D17}"/>
              </a:ext>
            </a:extLst>
          </p:cNvPr>
          <p:cNvGrpSpPr/>
          <p:nvPr/>
        </p:nvGrpSpPr>
        <p:grpSpPr>
          <a:xfrm>
            <a:off x="10594086" y="16628935"/>
            <a:ext cx="480060" cy="685800"/>
            <a:chOff x="0" y="0"/>
            <a:chExt cx="640080" cy="914400"/>
          </a:xfrm>
        </p:grpSpPr>
        <p:sp>
          <p:nvSpPr>
            <p:cNvPr id="138" name="Freeform 48">
              <a:extLst>
                <a:ext uri="{FF2B5EF4-FFF2-40B4-BE49-F238E27FC236}">
                  <a16:creationId xmlns:a16="http://schemas.microsoft.com/office/drawing/2014/main" id="{EA20A820-F42C-0176-A52E-3108A496BB7D}"/>
                </a:ext>
              </a:extLst>
            </p:cNvPr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139" name="TextBox 49">
              <a:extLst>
                <a:ext uri="{FF2B5EF4-FFF2-40B4-BE49-F238E27FC236}">
                  <a16:creationId xmlns:a16="http://schemas.microsoft.com/office/drawing/2014/main" id="{ECFE76A4-8F03-79E1-DD01-F7E2245908FC}"/>
                </a:ext>
              </a:extLst>
            </p:cNvPr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10"/>
                </a:lnSpc>
              </a:pPr>
              <a:r>
                <a:rPr lang="en-US" sz="2925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140" name="Group 50">
            <a:extLst>
              <a:ext uri="{FF2B5EF4-FFF2-40B4-BE49-F238E27FC236}">
                <a16:creationId xmlns:a16="http://schemas.microsoft.com/office/drawing/2014/main" id="{4F9ECF3F-807C-7CE3-2443-E149C7A6CAB9}"/>
              </a:ext>
            </a:extLst>
          </p:cNvPr>
          <p:cNvGrpSpPr/>
          <p:nvPr/>
        </p:nvGrpSpPr>
        <p:grpSpPr>
          <a:xfrm>
            <a:off x="11064621" y="14836330"/>
            <a:ext cx="2899410" cy="4613910"/>
            <a:chOff x="0" y="0"/>
            <a:chExt cx="3865880" cy="6151880"/>
          </a:xfrm>
        </p:grpSpPr>
        <p:sp>
          <p:nvSpPr>
            <p:cNvPr id="141" name="Freeform 51">
              <a:extLst>
                <a:ext uri="{FF2B5EF4-FFF2-40B4-BE49-F238E27FC236}">
                  <a16:creationId xmlns:a16="http://schemas.microsoft.com/office/drawing/2014/main" id="{271A6572-8AB5-AADA-BBFA-72DB9F64E825}"/>
                </a:ext>
              </a:extLst>
            </p:cNvPr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42" name="Group 52">
            <a:extLst>
              <a:ext uri="{FF2B5EF4-FFF2-40B4-BE49-F238E27FC236}">
                <a16:creationId xmlns:a16="http://schemas.microsoft.com/office/drawing/2014/main" id="{800F7B25-32D5-E83C-8A92-08997B8AA55D}"/>
              </a:ext>
            </a:extLst>
          </p:cNvPr>
          <p:cNvGrpSpPr/>
          <p:nvPr/>
        </p:nvGrpSpPr>
        <p:grpSpPr>
          <a:xfrm>
            <a:off x="12137136" y="14365795"/>
            <a:ext cx="754380" cy="754380"/>
            <a:chOff x="0" y="0"/>
            <a:chExt cx="1005840" cy="1005840"/>
          </a:xfrm>
        </p:grpSpPr>
        <p:sp>
          <p:nvSpPr>
            <p:cNvPr id="143" name="Freeform 53">
              <a:extLst>
                <a:ext uri="{FF2B5EF4-FFF2-40B4-BE49-F238E27FC236}">
                  <a16:creationId xmlns:a16="http://schemas.microsoft.com/office/drawing/2014/main" id="{0F9DA0A0-2933-6840-9D94-C2F51C28E8DA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44" name="Group 54">
            <a:extLst>
              <a:ext uri="{FF2B5EF4-FFF2-40B4-BE49-F238E27FC236}">
                <a16:creationId xmlns:a16="http://schemas.microsoft.com/office/drawing/2014/main" id="{D05571A6-24E9-F4DB-D259-08AFB3F10A80}"/>
              </a:ext>
            </a:extLst>
          </p:cNvPr>
          <p:cNvGrpSpPr/>
          <p:nvPr/>
        </p:nvGrpSpPr>
        <p:grpSpPr>
          <a:xfrm>
            <a:off x="12137136" y="14365795"/>
            <a:ext cx="754380" cy="754380"/>
            <a:chOff x="0" y="0"/>
            <a:chExt cx="1005840" cy="1005840"/>
          </a:xfrm>
        </p:grpSpPr>
        <p:sp>
          <p:nvSpPr>
            <p:cNvPr id="145" name="Freeform 55">
              <a:extLst>
                <a:ext uri="{FF2B5EF4-FFF2-40B4-BE49-F238E27FC236}">
                  <a16:creationId xmlns:a16="http://schemas.microsoft.com/office/drawing/2014/main" id="{FD32CE9E-576C-3EDA-4B02-0173414799B7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6" name="TextBox 56">
              <a:extLst>
                <a:ext uri="{FF2B5EF4-FFF2-40B4-BE49-F238E27FC236}">
                  <a16:creationId xmlns:a16="http://schemas.microsoft.com/office/drawing/2014/main" id="{FFE6D723-B833-17F1-2D40-71A966D7C8AC}"/>
                </a:ext>
              </a:extLst>
            </p:cNvPr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147" name="Group 57">
            <a:extLst>
              <a:ext uri="{FF2B5EF4-FFF2-40B4-BE49-F238E27FC236}">
                <a16:creationId xmlns:a16="http://schemas.microsoft.com/office/drawing/2014/main" id="{EDBDD1A7-9B32-70EA-4D67-76BB8DD17A6B}"/>
              </a:ext>
            </a:extLst>
          </p:cNvPr>
          <p:cNvGrpSpPr/>
          <p:nvPr/>
        </p:nvGrpSpPr>
        <p:grpSpPr>
          <a:xfrm>
            <a:off x="11279886" y="15325915"/>
            <a:ext cx="2468880" cy="548640"/>
            <a:chOff x="0" y="0"/>
            <a:chExt cx="3291840" cy="731520"/>
          </a:xfrm>
        </p:grpSpPr>
        <p:sp>
          <p:nvSpPr>
            <p:cNvPr id="148" name="Freeform 58">
              <a:extLst>
                <a:ext uri="{FF2B5EF4-FFF2-40B4-BE49-F238E27FC236}">
                  <a16:creationId xmlns:a16="http://schemas.microsoft.com/office/drawing/2014/main" id="{CBC8A4EB-5764-932D-EB0C-A020CDA61DD6}"/>
                </a:ext>
              </a:extLst>
            </p:cNvPr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49" name="TextBox 59">
              <a:extLst>
                <a:ext uri="{FF2B5EF4-FFF2-40B4-BE49-F238E27FC236}">
                  <a16:creationId xmlns:a16="http://schemas.microsoft.com/office/drawing/2014/main" id="{8B430532-BF26-9AF2-07A5-DBF799D9C227}"/>
                </a:ext>
              </a:extLst>
            </p:cNvPr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Analyse</a:t>
              </a:r>
            </a:p>
          </p:txBody>
        </p:sp>
      </p:grpSp>
      <p:sp>
        <p:nvSpPr>
          <p:cNvPr id="150" name="TextBox 60">
            <a:extLst>
              <a:ext uri="{FF2B5EF4-FFF2-40B4-BE49-F238E27FC236}">
                <a16:creationId xmlns:a16="http://schemas.microsoft.com/office/drawing/2014/main" id="{69276DF6-7578-7915-D929-6CBD0855FA17}"/>
              </a:ext>
            </a:extLst>
          </p:cNvPr>
          <p:cNvSpPr txBox="1"/>
          <p:nvPr/>
        </p:nvSpPr>
        <p:spPr>
          <a:xfrm>
            <a:off x="11279886" y="16023145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Embeddings compare the profile with role requirements to find and rank skill gaps.</a:t>
            </a:r>
          </a:p>
        </p:txBody>
      </p:sp>
      <p:grpSp>
        <p:nvGrpSpPr>
          <p:cNvPr id="151" name="Group 61">
            <a:extLst>
              <a:ext uri="{FF2B5EF4-FFF2-40B4-BE49-F238E27FC236}">
                <a16:creationId xmlns:a16="http://schemas.microsoft.com/office/drawing/2014/main" id="{72393F1D-A9E5-0A1C-D6D0-CC57956757A8}"/>
              </a:ext>
            </a:extLst>
          </p:cNvPr>
          <p:cNvGrpSpPr/>
          <p:nvPr/>
        </p:nvGrpSpPr>
        <p:grpSpPr>
          <a:xfrm>
            <a:off x="13954506" y="16628935"/>
            <a:ext cx="480060" cy="685800"/>
            <a:chOff x="0" y="0"/>
            <a:chExt cx="640080" cy="914400"/>
          </a:xfrm>
        </p:grpSpPr>
        <p:sp>
          <p:nvSpPr>
            <p:cNvPr id="152" name="Freeform 62">
              <a:extLst>
                <a:ext uri="{FF2B5EF4-FFF2-40B4-BE49-F238E27FC236}">
                  <a16:creationId xmlns:a16="http://schemas.microsoft.com/office/drawing/2014/main" id="{CAFFE22C-745A-3BFD-03DC-20983508DB2E}"/>
                </a:ext>
              </a:extLst>
            </p:cNvPr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153" name="TextBox 63">
              <a:extLst>
                <a:ext uri="{FF2B5EF4-FFF2-40B4-BE49-F238E27FC236}">
                  <a16:creationId xmlns:a16="http://schemas.microsoft.com/office/drawing/2014/main" id="{723C0C52-9FC3-8AD1-B984-FEAB02EBD243}"/>
                </a:ext>
              </a:extLst>
            </p:cNvPr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10"/>
                </a:lnSpc>
              </a:pPr>
              <a:r>
                <a:rPr lang="en-US" sz="2925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154" name="Group 64">
            <a:extLst>
              <a:ext uri="{FF2B5EF4-FFF2-40B4-BE49-F238E27FC236}">
                <a16:creationId xmlns:a16="http://schemas.microsoft.com/office/drawing/2014/main" id="{002F64F3-F458-A75F-59D3-8DCCDC6916BA}"/>
              </a:ext>
            </a:extLst>
          </p:cNvPr>
          <p:cNvGrpSpPr/>
          <p:nvPr/>
        </p:nvGrpSpPr>
        <p:grpSpPr>
          <a:xfrm>
            <a:off x="14425041" y="14836330"/>
            <a:ext cx="2899410" cy="4613910"/>
            <a:chOff x="0" y="0"/>
            <a:chExt cx="3865880" cy="6151880"/>
          </a:xfrm>
        </p:grpSpPr>
        <p:sp>
          <p:nvSpPr>
            <p:cNvPr id="155" name="Freeform 65">
              <a:extLst>
                <a:ext uri="{FF2B5EF4-FFF2-40B4-BE49-F238E27FC236}">
                  <a16:creationId xmlns:a16="http://schemas.microsoft.com/office/drawing/2014/main" id="{6D9A9DE1-CEFF-32C8-E467-9A47766109C8}"/>
                </a:ext>
              </a:extLst>
            </p:cNvPr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56" name="Group 66">
            <a:extLst>
              <a:ext uri="{FF2B5EF4-FFF2-40B4-BE49-F238E27FC236}">
                <a16:creationId xmlns:a16="http://schemas.microsoft.com/office/drawing/2014/main" id="{4BBBEBD7-A45B-B9F2-848B-7735D27FC77B}"/>
              </a:ext>
            </a:extLst>
          </p:cNvPr>
          <p:cNvGrpSpPr/>
          <p:nvPr/>
        </p:nvGrpSpPr>
        <p:grpSpPr>
          <a:xfrm>
            <a:off x="15497556" y="14365795"/>
            <a:ext cx="754380" cy="754380"/>
            <a:chOff x="0" y="0"/>
            <a:chExt cx="1005840" cy="1005840"/>
          </a:xfrm>
        </p:grpSpPr>
        <p:sp>
          <p:nvSpPr>
            <p:cNvPr id="157" name="Freeform 67">
              <a:extLst>
                <a:ext uri="{FF2B5EF4-FFF2-40B4-BE49-F238E27FC236}">
                  <a16:creationId xmlns:a16="http://schemas.microsoft.com/office/drawing/2014/main" id="{CC56B5D4-59EC-5FB5-21D8-393CF2554BE0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58" name="Group 68">
            <a:extLst>
              <a:ext uri="{FF2B5EF4-FFF2-40B4-BE49-F238E27FC236}">
                <a16:creationId xmlns:a16="http://schemas.microsoft.com/office/drawing/2014/main" id="{B3AE1F62-2115-A0AF-DF9A-60F2CC432FEC}"/>
              </a:ext>
            </a:extLst>
          </p:cNvPr>
          <p:cNvGrpSpPr/>
          <p:nvPr/>
        </p:nvGrpSpPr>
        <p:grpSpPr>
          <a:xfrm>
            <a:off x="15497556" y="14365795"/>
            <a:ext cx="754380" cy="754380"/>
            <a:chOff x="0" y="0"/>
            <a:chExt cx="1005840" cy="1005840"/>
          </a:xfrm>
        </p:grpSpPr>
        <p:sp>
          <p:nvSpPr>
            <p:cNvPr id="159" name="Freeform 69">
              <a:extLst>
                <a:ext uri="{FF2B5EF4-FFF2-40B4-BE49-F238E27FC236}">
                  <a16:creationId xmlns:a16="http://schemas.microsoft.com/office/drawing/2014/main" id="{F37060C7-5FB8-AC28-03C8-05AD22537F6B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60" name="TextBox 70">
              <a:extLst>
                <a:ext uri="{FF2B5EF4-FFF2-40B4-BE49-F238E27FC236}">
                  <a16:creationId xmlns:a16="http://schemas.microsoft.com/office/drawing/2014/main" id="{D7D917EB-8648-073B-85A0-B4BF4C038F55}"/>
                </a:ext>
              </a:extLst>
            </p:cNvPr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id="161" name="Group 71">
            <a:extLst>
              <a:ext uri="{FF2B5EF4-FFF2-40B4-BE49-F238E27FC236}">
                <a16:creationId xmlns:a16="http://schemas.microsoft.com/office/drawing/2014/main" id="{27A75577-EB83-84D3-C286-80BEDF58097D}"/>
              </a:ext>
            </a:extLst>
          </p:cNvPr>
          <p:cNvGrpSpPr/>
          <p:nvPr/>
        </p:nvGrpSpPr>
        <p:grpSpPr>
          <a:xfrm>
            <a:off x="14640306" y="15325915"/>
            <a:ext cx="2468880" cy="548640"/>
            <a:chOff x="0" y="0"/>
            <a:chExt cx="3291840" cy="731520"/>
          </a:xfrm>
        </p:grpSpPr>
        <p:sp>
          <p:nvSpPr>
            <p:cNvPr id="162" name="Freeform 72">
              <a:extLst>
                <a:ext uri="{FF2B5EF4-FFF2-40B4-BE49-F238E27FC236}">
                  <a16:creationId xmlns:a16="http://schemas.microsoft.com/office/drawing/2014/main" id="{F5C6E285-5AEB-B767-C9B6-AEF6F5EDCC86}"/>
                </a:ext>
              </a:extLst>
            </p:cNvPr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63" name="TextBox 73">
              <a:extLst>
                <a:ext uri="{FF2B5EF4-FFF2-40B4-BE49-F238E27FC236}">
                  <a16:creationId xmlns:a16="http://schemas.microsoft.com/office/drawing/2014/main" id="{652DC1D5-8796-DEEB-3D3A-03E569A3A3BC}"/>
                </a:ext>
              </a:extLst>
            </p:cNvPr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Guide</a:t>
              </a:r>
            </a:p>
          </p:txBody>
        </p:sp>
      </p:grpSp>
      <p:sp>
        <p:nvSpPr>
          <p:cNvPr id="164" name="TextBox 74">
            <a:extLst>
              <a:ext uri="{FF2B5EF4-FFF2-40B4-BE49-F238E27FC236}">
                <a16:creationId xmlns:a16="http://schemas.microsoft.com/office/drawing/2014/main" id="{84BB5BA2-3993-8B8F-5E2E-19E82E031AF9}"/>
              </a:ext>
            </a:extLst>
          </p:cNvPr>
          <p:cNvSpPr txBox="1"/>
          <p:nvPr/>
        </p:nvSpPr>
        <p:spPr>
          <a:xfrm>
            <a:off x="14640306" y="16023145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rules engine on curated official data checks exam eligibility; AI drafts study plans and matches peers and jobs.</a:t>
            </a:r>
          </a:p>
        </p:txBody>
      </p:sp>
      <p:sp>
        <p:nvSpPr>
          <p:cNvPr id="165" name="TextBox 75">
            <a:extLst>
              <a:ext uri="{FF2B5EF4-FFF2-40B4-BE49-F238E27FC236}">
                <a16:creationId xmlns:a16="http://schemas.microsoft.com/office/drawing/2014/main" id="{7BDAA929-7315-3BC1-2DAD-B2C7FC56870F}"/>
              </a:ext>
            </a:extLst>
          </p:cNvPr>
          <p:cNvSpPr txBox="1"/>
          <p:nvPr/>
        </p:nvSpPr>
        <p:spPr>
          <a:xfrm>
            <a:off x="992886" y="19911250"/>
            <a:ext cx="163220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All steps run on off-the-shelf speech-to-text, embedding and LLM APIs plus a rules engine for exam eligibility. No custom model training is needed for a first release.</a:t>
            </a:r>
          </a:p>
        </p:txBody>
      </p:sp>
      <p:grpSp>
        <p:nvGrpSpPr>
          <p:cNvPr id="166" name="Group 76">
            <a:extLst>
              <a:ext uri="{FF2B5EF4-FFF2-40B4-BE49-F238E27FC236}">
                <a16:creationId xmlns:a16="http://schemas.microsoft.com/office/drawing/2014/main" id="{6D131E18-6A9E-0B5E-B027-FF61F684C4C3}"/>
              </a:ext>
            </a:extLst>
          </p:cNvPr>
          <p:cNvGrpSpPr/>
          <p:nvPr/>
        </p:nvGrpSpPr>
        <p:grpSpPr>
          <a:xfrm>
            <a:off x="17246346" y="21086635"/>
            <a:ext cx="822960" cy="411480"/>
            <a:chOff x="0" y="0"/>
            <a:chExt cx="1097280" cy="548640"/>
          </a:xfrm>
        </p:grpSpPr>
        <p:sp>
          <p:nvSpPr>
            <p:cNvPr id="167" name="Freeform 77">
              <a:extLst>
                <a:ext uri="{FF2B5EF4-FFF2-40B4-BE49-F238E27FC236}">
                  <a16:creationId xmlns:a16="http://schemas.microsoft.com/office/drawing/2014/main" id="{FE2402D1-A9E5-E207-09DE-982A1D90FA3E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68" name="TextBox 78">
              <a:extLst>
                <a:ext uri="{FF2B5EF4-FFF2-40B4-BE49-F238E27FC236}">
                  <a16:creationId xmlns:a16="http://schemas.microsoft.com/office/drawing/2014/main" id="{0C7EA941-1556-3B83-5AD3-15F47BD0CD2B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12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UNDER THE HOOD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097280"/>
            <a:ext cx="16322040" cy="1234440"/>
            <a:chOff x="0" y="0"/>
            <a:chExt cx="2176272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How the AI actually works, end to end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595" y="3488055"/>
            <a:ext cx="2899410" cy="4613910"/>
            <a:chOff x="0" y="0"/>
            <a:chExt cx="3865880" cy="61518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2023110" y="3017520"/>
            <a:ext cx="754380" cy="754380"/>
            <a:chOff x="0" y="0"/>
            <a:chExt cx="1005840" cy="1005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023110" y="3017520"/>
            <a:ext cx="754380" cy="754380"/>
            <a:chOff x="0" y="0"/>
            <a:chExt cx="1005840" cy="1005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65860" y="3977640"/>
            <a:ext cx="2468880" cy="548640"/>
            <a:chOff x="0" y="0"/>
            <a:chExt cx="329184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Capture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65860" y="4674870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Speech-to-text plus an LLM turn a spoken description into confidence-scored skill tags.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840480" y="5280660"/>
            <a:ext cx="480060" cy="685800"/>
            <a:chOff x="0" y="0"/>
            <a:chExt cx="640080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10"/>
                </a:lnSpc>
              </a:pPr>
              <a:r>
                <a:rPr lang="en-US" sz="2925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11015" y="3488055"/>
            <a:ext cx="2899410" cy="4613910"/>
            <a:chOff x="0" y="0"/>
            <a:chExt cx="3865880" cy="61518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383530" y="3017520"/>
            <a:ext cx="754380" cy="754380"/>
            <a:chOff x="0" y="0"/>
            <a:chExt cx="1005840" cy="10058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5383530" y="3017520"/>
            <a:ext cx="754380" cy="754380"/>
            <a:chOff x="0" y="0"/>
            <a:chExt cx="1005840" cy="10058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6280" y="3977640"/>
            <a:ext cx="2468880" cy="548640"/>
            <a:chOff x="0" y="0"/>
            <a:chExt cx="329184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Verify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526280" y="4674870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Short AI-generated tasks are rubric-scored into a trust score for each claimed skill.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7200900" y="5280660"/>
            <a:ext cx="480060" cy="685800"/>
            <a:chOff x="0" y="0"/>
            <a:chExt cx="640080" cy="914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10"/>
                </a:lnSpc>
              </a:pPr>
              <a:r>
                <a:rPr lang="en-US" sz="2925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71435" y="3488055"/>
            <a:ext cx="2899410" cy="4613910"/>
            <a:chOff x="0" y="0"/>
            <a:chExt cx="3865880" cy="61518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8743950" y="3017520"/>
            <a:ext cx="754380" cy="754380"/>
            <a:chOff x="0" y="0"/>
            <a:chExt cx="1005840" cy="10058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8743950" y="3017520"/>
            <a:ext cx="754380" cy="754380"/>
            <a:chOff x="0" y="0"/>
            <a:chExt cx="1005840" cy="10058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886700" y="3977640"/>
            <a:ext cx="2468880" cy="548640"/>
            <a:chOff x="0" y="0"/>
            <a:chExt cx="3291840" cy="7315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7886700" y="4674870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LLM drafts the CV from verified skills, tailored to a role or an exam application.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0561320" y="5280660"/>
            <a:ext cx="480060" cy="685800"/>
            <a:chOff x="0" y="0"/>
            <a:chExt cx="640080" cy="914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10"/>
                </a:lnSpc>
              </a:pPr>
              <a:r>
                <a:rPr lang="en-US" sz="2925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031855" y="3488055"/>
            <a:ext cx="2899410" cy="4613910"/>
            <a:chOff x="0" y="0"/>
            <a:chExt cx="3865880" cy="61518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2104370" y="3017520"/>
            <a:ext cx="754380" cy="754380"/>
            <a:chOff x="0" y="0"/>
            <a:chExt cx="1005840" cy="10058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2104370" y="3017520"/>
            <a:ext cx="754380" cy="754380"/>
            <a:chOff x="0" y="0"/>
            <a:chExt cx="1005840" cy="10058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247120" y="3977640"/>
            <a:ext cx="2468880" cy="548640"/>
            <a:chOff x="0" y="0"/>
            <a:chExt cx="3291840" cy="73152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Analyse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247120" y="4674870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Embeddings compare the profile with role requirements to find and rank skill gaps.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3921740" y="5280660"/>
            <a:ext cx="480060" cy="685800"/>
            <a:chOff x="0" y="0"/>
            <a:chExt cx="640080" cy="9144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10"/>
                </a:lnSpc>
              </a:pPr>
              <a:r>
                <a:rPr lang="en-US" sz="2925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392275" y="3488055"/>
            <a:ext cx="2899410" cy="4613910"/>
            <a:chOff x="0" y="0"/>
            <a:chExt cx="3865880" cy="61518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15464790" y="3017520"/>
            <a:ext cx="754380" cy="754380"/>
            <a:chOff x="0" y="0"/>
            <a:chExt cx="1005840" cy="10058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5464790" y="3017520"/>
            <a:ext cx="754380" cy="754380"/>
            <a:chOff x="0" y="0"/>
            <a:chExt cx="1005840" cy="10058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4607540" y="3977640"/>
            <a:ext cx="2468880" cy="548640"/>
            <a:chOff x="0" y="0"/>
            <a:chExt cx="3291840" cy="7315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Guide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4607540" y="4674870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rules engine on curated official data checks exam eligibility; AI drafts study plans and matches peers and jobs.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60120" y="8562975"/>
            <a:ext cx="163220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All steps run on off-the-shelf speech-to-text, embedding and LLM APIs plus a rules engine for exam eligibility. No custom model training is needed for a first release.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12</a:t>
              </a:r>
            </a:p>
          </p:txBody>
        </p:sp>
      </p:grpSp>
      <p:grpSp>
        <p:nvGrpSpPr>
          <p:cNvPr id="79" name="Group 2">
            <a:extLst>
              <a:ext uri="{FF2B5EF4-FFF2-40B4-BE49-F238E27FC236}">
                <a16:creationId xmlns:a16="http://schemas.microsoft.com/office/drawing/2014/main" id="{7B1903D7-EC70-4BAE-C3EF-73A8C6A68C96}"/>
              </a:ext>
            </a:extLst>
          </p:cNvPr>
          <p:cNvGrpSpPr/>
          <p:nvPr/>
        </p:nvGrpSpPr>
        <p:grpSpPr>
          <a:xfrm>
            <a:off x="744855" y="-10433685"/>
            <a:ext cx="12344400" cy="480060"/>
            <a:chOff x="0" y="0"/>
            <a:chExt cx="16459200" cy="640080"/>
          </a:xfrm>
        </p:grpSpPr>
        <p:sp>
          <p:nvSpPr>
            <p:cNvPr id="80" name="Freeform 3">
              <a:extLst>
                <a:ext uri="{FF2B5EF4-FFF2-40B4-BE49-F238E27FC236}">
                  <a16:creationId xmlns:a16="http://schemas.microsoft.com/office/drawing/2014/main" id="{9CB0C7DF-5381-A815-89DD-40AB8CEBA1F8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81" name="TextBox 4">
              <a:extLst>
                <a:ext uri="{FF2B5EF4-FFF2-40B4-BE49-F238E27FC236}">
                  <a16:creationId xmlns:a16="http://schemas.microsoft.com/office/drawing/2014/main" id="{49E5D00D-5542-B571-7DEF-DFA637AA8255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GOVERNMENT JOB MODULE</a:t>
              </a:r>
            </a:p>
          </p:txBody>
        </p:sp>
      </p:grpSp>
      <p:grpSp>
        <p:nvGrpSpPr>
          <p:cNvPr id="82" name="Group 5">
            <a:extLst>
              <a:ext uri="{FF2B5EF4-FFF2-40B4-BE49-F238E27FC236}">
                <a16:creationId xmlns:a16="http://schemas.microsoft.com/office/drawing/2014/main" id="{5D939DEE-A1A6-99AD-9D9C-D77368B6EC29}"/>
              </a:ext>
            </a:extLst>
          </p:cNvPr>
          <p:cNvGrpSpPr/>
          <p:nvPr/>
        </p:nvGrpSpPr>
        <p:grpSpPr>
          <a:xfrm>
            <a:off x="744855" y="-9953625"/>
            <a:ext cx="16322040" cy="1234440"/>
            <a:chOff x="0" y="0"/>
            <a:chExt cx="21762720" cy="1645920"/>
          </a:xfrm>
        </p:grpSpPr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E53EFB42-8FC5-0330-3718-BEF04AF005F4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84" name="TextBox 7">
              <a:extLst>
                <a:ext uri="{FF2B5EF4-FFF2-40B4-BE49-F238E27FC236}">
                  <a16:creationId xmlns:a16="http://schemas.microsoft.com/office/drawing/2014/main" id="{736DA8A8-E865-FC29-F43A-439A19BCBB88}"/>
                </a:ext>
              </a:extLst>
            </p:cNvPr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Government exams: eligibility, study plan, apply</a:t>
              </a:r>
            </a:p>
          </p:txBody>
        </p:sp>
      </p:grpSp>
      <p:grpSp>
        <p:nvGrpSpPr>
          <p:cNvPr id="85" name="Group 8">
            <a:extLst>
              <a:ext uri="{FF2B5EF4-FFF2-40B4-BE49-F238E27FC236}">
                <a16:creationId xmlns:a16="http://schemas.microsoft.com/office/drawing/2014/main" id="{C7709A78-BA27-5F92-2411-4765DE672852}"/>
              </a:ext>
            </a:extLst>
          </p:cNvPr>
          <p:cNvGrpSpPr/>
          <p:nvPr/>
        </p:nvGrpSpPr>
        <p:grpSpPr>
          <a:xfrm>
            <a:off x="735330" y="-8317230"/>
            <a:ext cx="5135118" cy="4545330"/>
            <a:chOff x="0" y="0"/>
            <a:chExt cx="6846824" cy="6060440"/>
          </a:xfrm>
        </p:grpSpPr>
        <p:sp>
          <p:nvSpPr>
            <p:cNvPr id="86" name="Freeform 9">
              <a:extLst>
                <a:ext uri="{FF2B5EF4-FFF2-40B4-BE49-F238E27FC236}">
                  <a16:creationId xmlns:a16="http://schemas.microsoft.com/office/drawing/2014/main" id="{A25194D1-2CB1-D969-3963-755B75CF3D1C}"/>
                </a:ext>
              </a:extLst>
            </p:cNvPr>
            <p:cNvSpPr/>
            <p:nvPr/>
          </p:nvSpPr>
          <p:spPr>
            <a:xfrm>
              <a:off x="0" y="0"/>
              <a:ext cx="6846824" cy="6060440"/>
            </a:xfrm>
            <a:custGeom>
              <a:avLst/>
              <a:gdLst/>
              <a:ahLst/>
              <a:cxnLst/>
              <a:rect l="l" t="t" r="r" b="b"/>
              <a:pathLst>
                <a:path w="6846824" h="606044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63182" y="0"/>
                  </a:lnTo>
                  <a:cubicBezTo>
                    <a:pt x="6764655" y="0"/>
                    <a:pt x="6846824" y="82169"/>
                    <a:pt x="6846824" y="183642"/>
                  </a:cubicBezTo>
                  <a:lnTo>
                    <a:pt x="6846824" y="5876798"/>
                  </a:lnTo>
                  <a:cubicBezTo>
                    <a:pt x="6846824" y="5978271"/>
                    <a:pt x="6764655" y="6060440"/>
                    <a:pt x="6663182" y="6060440"/>
                  </a:cubicBezTo>
                  <a:lnTo>
                    <a:pt x="183642" y="6060440"/>
                  </a:lnTo>
                  <a:cubicBezTo>
                    <a:pt x="82169" y="6060440"/>
                    <a:pt x="0" y="5978271"/>
                    <a:pt x="0" y="5876798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87" name="Group 10">
            <a:extLst>
              <a:ext uri="{FF2B5EF4-FFF2-40B4-BE49-F238E27FC236}">
                <a16:creationId xmlns:a16="http://schemas.microsoft.com/office/drawing/2014/main" id="{CF0AB8FB-861C-48A5-5754-939668E2DBFE}"/>
              </a:ext>
            </a:extLst>
          </p:cNvPr>
          <p:cNvGrpSpPr/>
          <p:nvPr/>
        </p:nvGrpSpPr>
        <p:grpSpPr>
          <a:xfrm>
            <a:off x="1156335" y="-7923657"/>
            <a:ext cx="685800" cy="685800"/>
            <a:chOff x="0" y="0"/>
            <a:chExt cx="914400" cy="914400"/>
          </a:xfrm>
        </p:grpSpPr>
        <p:sp>
          <p:nvSpPr>
            <p:cNvPr id="88" name="Freeform 11">
              <a:extLst>
                <a:ext uri="{FF2B5EF4-FFF2-40B4-BE49-F238E27FC236}">
                  <a16:creationId xmlns:a16="http://schemas.microsoft.com/office/drawing/2014/main" id="{E183EEB6-6702-D367-1912-A98CC307D7FA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89" name="Group 12">
            <a:extLst>
              <a:ext uri="{FF2B5EF4-FFF2-40B4-BE49-F238E27FC236}">
                <a16:creationId xmlns:a16="http://schemas.microsoft.com/office/drawing/2014/main" id="{2FE1B1DE-B318-5FED-BA21-43DB52C03926}"/>
              </a:ext>
            </a:extLst>
          </p:cNvPr>
          <p:cNvGrpSpPr/>
          <p:nvPr/>
        </p:nvGrpSpPr>
        <p:grpSpPr>
          <a:xfrm>
            <a:off x="1156335" y="-7923657"/>
            <a:ext cx="685800" cy="685800"/>
            <a:chOff x="0" y="0"/>
            <a:chExt cx="914400" cy="914400"/>
          </a:xfrm>
        </p:grpSpPr>
        <p:sp>
          <p:nvSpPr>
            <p:cNvPr id="90" name="Freeform 13">
              <a:extLst>
                <a:ext uri="{FF2B5EF4-FFF2-40B4-BE49-F238E27FC236}">
                  <a16:creationId xmlns:a16="http://schemas.microsoft.com/office/drawing/2014/main" id="{1E657B42-4D40-CC23-4E35-2D114DF87CC1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1" name="TextBox 14">
              <a:extLst>
                <a:ext uri="{FF2B5EF4-FFF2-40B4-BE49-F238E27FC236}">
                  <a16:creationId xmlns:a16="http://schemas.microsoft.com/office/drawing/2014/main" id="{1CA68E3C-0B3A-8320-A088-7040C419E801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92" name="Group 15">
            <a:extLst>
              <a:ext uri="{FF2B5EF4-FFF2-40B4-BE49-F238E27FC236}">
                <a16:creationId xmlns:a16="http://schemas.microsoft.com/office/drawing/2014/main" id="{964CC602-F56E-2F4D-2053-24E64CEEFC1A}"/>
              </a:ext>
            </a:extLst>
          </p:cNvPr>
          <p:cNvGrpSpPr/>
          <p:nvPr/>
        </p:nvGrpSpPr>
        <p:grpSpPr>
          <a:xfrm>
            <a:off x="2116455" y="-7923657"/>
            <a:ext cx="3470148" cy="685800"/>
            <a:chOff x="0" y="0"/>
            <a:chExt cx="4626864" cy="914400"/>
          </a:xfrm>
        </p:grpSpPr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1600B5AA-268A-4260-8AC3-981457A13DF2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94" name="TextBox 17">
              <a:extLst>
                <a:ext uri="{FF2B5EF4-FFF2-40B4-BE49-F238E27FC236}">
                  <a16:creationId xmlns:a16="http://schemas.microsoft.com/office/drawing/2014/main" id="{EB4900B9-CEFD-92BD-C8DF-B7923A887CE3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Check eligibility</a:t>
              </a:r>
            </a:p>
          </p:txBody>
        </p:sp>
      </p:grpSp>
      <p:sp>
        <p:nvSpPr>
          <p:cNvPr id="95" name="TextBox 18">
            <a:extLst>
              <a:ext uri="{FF2B5EF4-FFF2-40B4-BE49-F238E27FC236}">
                <a16:creationId xmlns:a16="http://schemas.microsoft.com/office/drawing/2014/main" id="{641FF15C-2809-C3AC-975F-10820437AD72}"/>
              </a:ext>
            </a:extLst>
          </p:cNvPr>
          <p:cNvSpPr txBox="1"/>
          <p:nvPr/>
        </p:nvSpPr>
        <p:spPr>
          <a:xfrm>
            <a:off x="1156335" y="-7002780"/>
            <a:ext cx="4293108" cy="294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Enter qualification, age and category once. SkillAscend shows only the exams you can actually sit, including age limits, attempts and relaxations.</a:t>
            </a:r>
          </a:p>
        </p:txBody>
      </p:sp>
      <p:grpSp>
        <p:nvGrpSpPr>
          <p:cNvPr id="96" name="Group 19">
            <a:extLst>
              <a:ext uri="{FF2B5EF4-FFF2-40B4-BE49-F238E27FC236}">
                <a16:creationId xmlns:a16="http://schemas.microsoft.com/office/drawing/2014/main" id="{7C369619-ACCB-DC20-0E41-861B3802EEAC}"/>
              </a:ext>
            </a:extLst>
          </p:cNvPr>
          <p:cNvGrpSpPr/>
          <p:nvPr/>
        </p:nvGrpSpPr>
        <p:grpSpPr>
          <a:xfrm>
            <a:off x="6331458" y="-8317230"/>
            <a:ext cx="5135118" cy="4545330"/>
            <a:chOff x="0" y="0"/>
            <a:chExt cx="6846824" cy="6060440"/>
          </a:xfrm>
        </p:grpSpPr>
        <p:sp>
          <p:nvSpPr>
            <p:cNvPr id="97" name="Freeform 20">
              <a:extLst>
                <a:ext uri="{FF2B5EF4-FFF2-40B4-BE49-F238E27FC236}">
                  <a16:creationId xmlns:a16="http://schemas.microsoft.com/office/drawing/2014/main" id="{F68221C9-8FD2-95FB-0BF8-4146199D33BD}"/>
                </a:ext>
              </a:extLst>
            </p:cNvPr>
            <p:cNvSpPr/>
            <p:nvPr/>
          </p:nvSpPr>
          <p:spPr>
            <a:xfrm>
              <a:off x="0" y="0"/>
              <a:ext cx="6846824" cy="6060440"/>
            </a:xfrm>
            <a:custGeom>
              <a:avLst/>
              <a:gdLst/>
              <a:ahLst/>
              <a:cxnLst/>
              <a:rect l="l" t="t" r="r" b="b"/>
              <a:pathLst>
                <a:path w="6846824" h="606044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63182" y="0"/>
                  </a:lnTo>
                  <a:cubicBezTo>
                    <a:pt x="6764655" y="0"/>
                    <a:pt x="6846824" y="82169"/>
                    <a:pt x="6846824" y="183642"/>
                  </a:cubicBezTo>
                  <a:lnTo>
                    <a:pt x="6846824" y="5876798"/>
                  </a:lnTo>
                  <a:cubicBezTo>
                    <a:pt x="6846824" y="5978271"/>
                    <a:pt x="6764655" y="6060440"/>
                    <a:pt x="6663182" y="6060440"/>
                  </a:cubicBezTo>
                  <a:lnTo>
                    <a:pt x="183642" y="6060440"/>
                  </a:lnTo>
                  <a:cubicBezTo>
                    <a:pt x="82169" y="6060440"/>
                    <a:pt x="0" y="5978271"/>
                    <a:pt x="0" y="5876798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98" name="Group 21">
            <a:extLst>
              <a:ext uri="{FF2B5EF4-FFF2-40B4-BE49-F238E27FC236}">
                <a16:creationId xmlns:a16="http://schemas.microsoft.com/office/drawing/2014/main" id="{CB29CDA7-6329-5DB4-FB23-89D7F52994B1}"/>
              </a:ext>
            </a:extLst>
          </p:cNvPr>
          <p:cNvGrpSpPr/>
          <p:nvPr/>
        </p:nvGrpSpPr>
        <p:grpSpPr>
          <a:xfrm>
            <a:off x="6752463" y="-7923657"/>
            <a:ext cx="685800" cy="685800"/>
            <a:chOff x="0" y="0"/>
            <a:chExt cx="914400" cy="914400"/>
          </a:xfrm>
        </p:grpSpPr>
        <p:sp>
          <p:nvSpPr>
            <p:cNvPr id="99" name="Freeform 22">
              <a:extLst>
                <a:ext uri="{FF2B5EF4-FFF2-40B4-BE49-F238E27FC236}">
                  <a16:creationId xmlns:a16="http://schemas.microsoft.com/office/drawing/2014/main" id="{900E5007-7F21-7289-5B84-08067A1555D7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00" name="Group 23">
            <a:extLst>
              <a:ext uri="{FF2B5EF4-FFF2-40B4-BE49-F238E27FC236}">
                <a16:creationId xmlns:a16="http://schemas.microsoft.com/office/drawing/2014/main" id="{5C8D5DB2-EEC2-FA6C-D340-230981EAAFEF}"/>
              </a:ext>
            </a:extLst>
          </p:cNvPr>
          <p:cNvGrpSpPr/>
          <p:nvPr/>
        </p:nvGrpSpPr>
        <p:grpSpPr>
          <a:xfrm>
            <a:off x="6752463" y="-7923657"/>
            <a:ext cx="685800" cy="685800"/>
            <a:chOff x="0" y="0"/>
            <a:chExt cx="914400" cy="914400"/>
          </a:xfrm>
        </p:grpSpPr>
        <p:sp>
          <p:nvSpPr>
            <p:cNvPr id="101" name="Freeform 24">
              <a:extLst>
                <a:ext uri="{FF2B5EF4-FFF2-40B4-BE49-F238E27FC236}">
                  <a16:creationId xmlns:a16="http://schemas.microsoft.com/office/drawing/2014/main" id="{4C928737-A303-E526-9C0B-672CADDD572F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2" name="TextBox 25">
              <a:extLst>
                <a:ext uri="{FF2B5EF4-FFF2-40B4-BE49-F238E27FC236}">
                  <a16:creationId xmlns:a16="http://schemas.microsoft.com/office/drawing/2014/main" id="{F9520954-C1BD-0B6C-9D05-4C1B9BA6B29D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103" name="Group 26">
            <a:extLst>
              <a:ext uri="{FF2B5EF4-FFF2-40B4-BE49-F238E27FC236}">
                <a16:creationId xmlns:a16="http://schemas.microsoft.com/office/drawing/2014/main" id="{2AD66F8B-92E3-0552-4435-D1AAE1EEBC5A}"/>
              </a:ext>
            </a:extLst>
          </p:cNvPr>
          <p:cNvGrpSpPr/>
          <p:nvPr/>
        </p:nvGrpSpPr>
        <p:grpSpPr>
          <a:xfrm>
            <a:off x="7712583" y="-7923657"/>
            <a:ext cx="3470148" cy="685800"/>
            <a:chOff x="0" y="0"/>
            <a:chExt cx="4626864" cy="914400"/>
          </a:xfrm>
        </p:grpSpPr>
        <p:sp>
          <p:nvSpPr>
            <p:cNvPr id="104" name="Freeform 27">
              <a:extLst>
                <a:ext uri="{FF2B5EF4-FFF2-40B4-BE49-F238E27FC236}">
                  <a16:creationId xmlns:a16="http://schemas.microsoft.com/office/drawing/2014/main" id="{412DB6BE-F08C-3BA3-6D1A-DBF978BF12BB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05" name="TextBox 28">
              <a:extLst>
                <a:ext uri="{FF2B5EF4-FFF2-40B4-BE49-F238E27FC236}">
                  <a16:creationId xmlns:a16="http://schemas.microsoft.com/office/drawing/2014/main" id="{CF56C619-ACFE-7AF8-DBDA-5A60B0F622C4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Study smart</a:t>
              </a:r>
            </a:p>
          </p:txBody>
        </p:sp>
      </p:grpSp>
      <p:sp>
        <p:nvSpPr>
          <p:cNvPr id="106" name="TextBox 29">
            <a:extLst>
              <a:ext uri="{FF2B5EF4-FFF2-40B4-BE49-F238E27FC236}">
                <a16:creationId xmlns:a16="http://schemas.microsoft.com/office/drawing/2014/main" id="{54916571-EFA2-4A40-B17F-267A09951927}"/>
              </a:ext>
            </a:extLst>
          </p:cNvPr>
          <p:cNvSpPr txBox="1"/>
          <p:nvPr/>
        </p:nvSpPr>
        <p:spPr>
          <a:xfrm>
            <a:off x="6752463" y="-7002780"/>
            <a:ext cx="4293108" cy="294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personalised plan: official syllabus, weak topics from your gap finder, free resources, and a timeline to the exam date.</a:t>
            </a:r>
          </a:p>
        </p:txBody>
      </p:sp>
      <p:grpSp>
        <p:nvGrpSpPr>
          <p:cNvPr id="107" name="Group 30">
            <a:extLst>
              <a:ext uri="{FF2B5EF4-FFF2-40B4-BE49-F238E27FC236}">
                <a16:creationId xmlns:a16="http://schemas.microsoft.com/office/drawing/2014/main" id="{15F2F305-B5DA-A5C0-08B9-EB2AC34DEDC0}"/>
              </a:ext>
            </a:extLst>
          </p:cNvPr>
          <p:cNvGrpSpPr/>
          <p:nvPr/>
        </p:nvGrpSpPr>
        <p:grpSpPr>
          <a:xfrm>
            <a:off x="11927586" y="-8317230"/>
            <a:ext cx="5135118" cy="4545330"/>
            <a:chOff x="0" y="0"/>
            <a:chExt cx="6846824" cy="6060440"/>
          </a:xfrm>
        </p:grpSpPr>
        <p:sp>
          <p:nvSpPr>
            <p:cNvPr id="108" name="Freeform 31">
              <a:extLst>
                <a:ext uri="{FF2B5EF4-FFF2-40B4-BE49-F238E27FC236}">
                  <a16:creationId xmlns:a16="http://schemas.microsoft.com/office/drawing/2014/main" id="{B08FA5F4-CED9-322D-1B43-5F45C520054F}"/>
                </a:ext>
              </a:extLst>
            </p:cNvPr>
            <p:cNvSpPr/>
            <p:nvPr/>
          </p:nvSpPr>
          <p:spPr>
            <a:xfrm>
              <a:off x="0" y="0"/>
              <a:ext cx="6846824" cy="6060440"/>
            </a:xfrm>
            <a:custGeom>
              <a:avLst/>
              <a:gdLst/>
              <a:ahLst/>
              <a:cxnLst/>
              <a:rect l="l" t="t" r="r" b="b"/>
              <a:pathLst>
                <a:path w="6846824" h="606044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63182" y="0"/>
                  </a:lnTo>
                  <a:cubicBezTo>
                    <a:pt x="6764655" y="0"/>
                    <a:pt x="6846824" y="82169"/>
                    <a:pt x="6846824" y="183642"/>
                  </a:cubicBezTo>
                  <a:lnTo>
                    <a:pt x="6846824" y="5876798"/>
                  </a:lnTo>
                  <a:cubicBezTo>
                    <a:pt x="6846824" y="5978271"/>
                    <a:pt x="6764655" y="6060440"/>
                    <a:pt x="6663182" y="6060440"/>
                  </a:cubicBezTo>
                  <a:lnTo>
                    <a:pt x="183642" y="6060440"/>
                  </a:lnTo>
                  <a:cubicBezTo>
                    <a:pt x="82169" y="6060440"/>
                    <a:pt x="0" y="5978271"/>
                    <a:pt x="0" y="5876798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9" name="Group 32">
            <a:extLst>
              <a:ext uri="{FF2B5EF4-FFF2-40B4-BE49-F238E27FC236}">
                <a16:creationId xmlns:a16="http://schemas.microsoft.com/office/drawing/2014/main" id="{86168991-57EE-38E5-4063-C323667C2845}"/>
              </a:ext>
            </a:extLst>
          </p:cNvPr>
          <p:cNvGrpSpPr/>
          <p:nvPr/>
        </p:nvGrpSpPr>
        <p:grpSpPr>
          <a:xfrm>
            <a:off x="12348591" y="-7923657"/>
            <a:ext cx="685800" cy="685800"/>
            <a:chOff x="0" y="0"/>
            <a:chExt cx="914400" cy="914400"/>
          </a:xfrm>
        </p:grpSpPr>
        <p:sp>
          <p:nvSpPr>
            <p:cNvPr id="110" name="Freeform 33">
              <a:extLst>
                <a:ext uri="{FF2B5EF4-FFF2-40B4-BE49-F238E27FC236}">
                  <a16:creationId xmlns:a16="http://schemas.microsoft.com/office/drawing/2014/main" id="{28A5558F-7FB7-24B2-3EDA-5D6275565AF1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11" name="Group 34">
            <a:extLst>
              <a:ext uri="{FF2B5EF4-FFF2-40B4-BE49-F238E27FC236}">
                <a16:creationId xmlns:a16="http://schemas.microsoft.com/office/drawing/2014/main" id="{69710222-8BBA-F49C-1E68-DBB96DFD4098}"/>
              </a:ext>
            </a:extLst>
          </p:cNvPr>
          <p:cNvGrpSpPr/>
          <p:nvPr/>
        </p:nvGrpSpPr>
        <p:grpSpPr>
          <a:xfrm>
            <a:off x="12348591" y="-7923657"/>
            <a:ext cx="685800" cy="685800"/>
            <a:chOff x="0" y="0"/>
            <a:chExt cx="914400" cy="914400"/>
          </a:xfrm>
        </p:grpSpPr>
        <p:sp>
          <p:nvSpPr>
            <p:cNvPr id="112" name="Freeform 35">
              <a:extLst>
                <a:ext uri="{FF2B5EF4-FFF2-40B4-BE49-F238E27FC236}">
                  <a16:creationId xmlns:a16="http://schemas.microsoft.com/office/drawing/2014/main" id="{26F0F590-72D0-C15D-727E-CE78F1AD6757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3" name="TextBox 36">
              <a:extLst>
                <a:ext uri="{FF2B5EF4-FFF2-40B4-BE49-F238E27FC236}">
                  <a16:creationId xmlns:a16="http://schemas.microsoft.com/office/drawing/2014/main" id="{72473FAB-2DF3-819D-2F4A-29DD0FD3D589}"/>
                </a:ext>
              </a:extLst>
            </p:cNvPr>
            <p:cNvSpPr txBox="1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114" name="Group 37">
            <a:extLst>
              <a:ext uri="{FF2B5EF4-FFF2-40B4-BE49-F238E27FC236}">
                <a16:creationId xmlns:a16="http://schemas.microsoft.com/office/drawing/2014/main" id="{6E831DEC-C167-8AB5-E01B-D9B55B8E2985}"/>
              </a:ext>
            </a:extLst>
          </p:cNvPr>
          <p:cNvGrpSpPr/>
          <p:nvPr/>
        </p:nvGrpSpPr>
        <p:grpSpPr>
          <a:xfrm>
            <a:off x="13308711" y="-7923657"/>
            <a:ext cx="3470148" cy="685800"/>
            <a:chOff x="0" y="0"/>
            <a:chExt cx="4626864" cy="914400"/>
          </a:xfrm>
        </p:grpSpPr>
        <p:sp>
          <p:nvSpPr>
            <p:cNvPr id="115" name="Freeform 38">
              <a:extLst>
                <a:ext uri="{FF2B5EF4-FFF2-40B4-BE49-F238E27FC236}">
                  <a16:creationId xmlns:a16="http://schemas.microsoft.com/office/drawing/2014/main" id="{CA782DCF-291D-3C2D-12A0-B86D3E050313}"/>
                </a:ext>
              </a:extLst>
            </p:cNvPr>
            <p:cNvSpPr/>
            <p:nvPr/>
          </p:nvSpPr>
          <p:spPr>
            <a:xfrm>
              <a:off x="0" y="0"/>
              <a:ext cx="4626864" cy="914400"/>
            </a:xfrm>
            <a:custGeom>
              <a:avLst/>
              <a:gdLst/>
              <a:ahLst/>
              <a:cxnLst/>
              <a:rect l="l" t="t" r="r" b="b"/>
              <a:pathLst>
                <a:path w="4626864" h="914400">
                  <a:moveTo>
                    <a:pt x="0" y="0"/>
                  </a:moveTo>
                  <a:lnTo>
                    <a:pt x="4626864" y="0"/>
                  </a:lnTo>
                  <a:lnTo>
                    <a:pt x="46268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94" b="-48594"/>
              </a:stretch>
            </a:blipFill>
          </p:spPr>
        </p:sp>
        <p:sp>
          <p:nvSpPr>
            <p:cNvPr id="116" name="TextBox 39">
              <a:extLst>
                <a:ext uri="{FF2B5EF4-FFF2-40B4-BE49-F238E27FC236}">
                  <a16:creationId xmlns:a16="http://schemas.microsoft.com/office/drawing/2014/main" id="{E161AEBB-4F58-DC53-C794-99F1BD179362}"/>
                </a:ext>
              </a:extLst>
            </p:cNvPr>
            <p:cNvSpPr txBox="1"/>
            <p:nvPr/>
          </p:nvSpPr>
          <p:spPr>
            <a:xfrm>
              <a:off x="0" y="-9525"/>
              <a:ext cx="4626864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Apply with confidence</a:t>
              </a:r>
            </a:p>
          </p:txBody>
        </p:sp>
      </p:grpSp>
      <p:sp>
        <p:nvSpPr>
          <p:cNvPr id="117" name="TextBox 40">
            <a:extLst>
              <a:ext uri="{FF2B5EF4-FFF2-40B4-BE49-F238E27FC236}">
                <a16:creationId xmlns:a16="http://schemas.microsoft.com/office/drawing/2014/main" id="{DDB2058A-1954-D657-8A23-4242651F138E}"/>
              </a:ext>
            </a:extLst>
          </p:cNvPr>
          <p:cNvSpPr txBox="1"/>
          <p:nvPr/>
        </p:nvSpPr>
        <p:spPr>
          <a:xfrm>
            <a:off x="12348591" y="-7002780"/>
            <a:ext cx="4293108" cy="294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step-by-step application guide, document checklist and deadline reminders, with a link to the official notification.</a:t>
            </a:r>
          </a:p>
        </p:txBody>
      </p:sp>
      <p:grpSp>
        <p:nvGrpSpPr>
          <p:cNvPr id="118" name="Group 41">
            <a:extLst>
              <a:ext uri="{FF2B5EF4-FFF2-40B4-BE49-F238E27FC236}">
                <a16:creationId xmlns:a16="http://schemas.microsoft.com/office/drawing/2014/main" id="{B5F58A08-E79C-E087-0E9B-10C67C1F4113}"/>
              </a:ext>
            </a:extLst>
          </p:cNvPr>
          <p:cNvGrpSpPr/>
          <p:nvPr/>
        </p:nvGrpSpPr>
        <p:grpSpPr>
          <a:xfrm>
            <a:off x="735330" y="-3448050"/>
            <a:ext cx="16341090" cy="1664970"/>
            <a:chOff x="0" y="0"/>
            <a:chExt cx="21788120" cy="2219960"/>
          </a:xfrm>
        </p:grpSpPr>
        <p:sp>
          <p:nvSpPr>
            <p:cNvPr id="119" name="Freeform 42">
              <a:extLst>
                <a:ext uri="{FF2B5EF4-FFF2-40B4-BE49-F238E27FC236}">
                  <a16:creationId xmlns:a16="http://schemas.microsoft.com/office/drawing/2014/main" id="{8B7F1447-3311-09B2-D07F-A6CAEF486021}"/>
                </a:ext>
              </a:extLst>
            </p:cNvPr>
            <p:cNvSpPr/>
            <p:nvPr/>
          </p:nvSpPr>
          <p:spPr>
            <a:xfrm>
              <a:off x="0" y="0"/>
              <a:ext cx="21788120" cy="2219960"/>
            </a:xfrm>
            <a:custGeom>
              <a:avLst/>
              <a:gdLst/>
              <a:ahLst/>
              <a:cxnLst/>
              <a:rect l="l" t="t" r="r" b="b"/>
              <a:pathLst>
                <a:path w="21788120" h="2219960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21603081" y="0"/>
                  </a:lnTo>
                  <a:cubicBezTo>
                    <a:pt x="21705190" y="0"/>
                    <a:pt x="21788120" y="82804"/>
                    <a:pt x="21788120" y="185039"/>
                  </a:cubicBezTo>
                  <a:lnTo>
                    <a:pt x="21788120" y="2034921"/>
                  </a:lnTo>
                  <a:cubicBezTo>
                    <a:pt x="21788120" y="2137029"/>
                    <a:pt x="21705317" y="2219960"/>
                    <a:pt x="21603081" y="2219960"/>
                  </a:cubicBezTo>
                  <a:lnTo>
                    <a:pt x="185039" y="2219960"/>
                  </a:lnTo>
                  <a:cubicBezTo>
                    <a:pt x="82804" y="2219960"/>
                    <a:pt x="0" y="2137156"/>
                    <a:pt x="0" y="2034921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20" name="Group 43">
            <a:extLst>
              <a:ext uri="{FF2B5EF4-FFF2-40B4-BE49-F238E27FC236}">
                <a16:creationId xmlns:a16="http://schemas.microsoft.com/office/drawing/2014/main" id="{9AADB82B-B279-96DC-24E7-4363EF4A626D}"/>
              </a:ext>
            </a:extLst>
          </p:cNvPr>
          <p:cNvGrpSpPr/>
          <p:nvPr/>
        </p:nvGrpSpPr>
        <p:grpSpPr>
          <a:xfrm>
            <a:off x="1156335" y="-3260217"/>
            <a:ext cx="5486400" cy="480060"/>
            <a:chOff x="0" y="0"/>
            <a:chExt cx="7315200" cy="640080"/>
          </a:xfrm>
        </p:grpSpPr>
        <p:sp>
          <p:nvSpPr>
            <p:cNvPr id="121" name="Freeform 44">
              <a:extLst>
                <a:ext uri="{FF2B5EF4-FFF2-40B4-BE49-F238E27FC236}">
                  <a16:creationId xmlns:a16="http://schemas.microsoft.com/office/drawing/2014/main" id="{A316ED30-828A-88CD-836C-18EE073275DC}"/>
                </a:ext>
              </a:extLst>
            </p:cNvPr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122" name="TextBox 45">
              <a:extLst>
                <a:ext uri="{FF2B5EF4-FFF2-40B4-BE49-F238E27FC236}">
                  <a16:creationId xmlns:a16="http://schemas.microsoft.com/office/drawing/2014/main" id="{D07CDA52-EF00-F4D2-F09A-0605D8737A7C}"/>
                </a:ext>
              </a:extLst>
            </p:cNvPr>
            <p:cNvSpPr txBox="1"/>
            <p:nvPr/>
          </p:nvSpPr>
          <p:spPr>
            <a:xfrm>
              <a:off x="0" y="0"/>
              <a:ext cx="7315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Accuracy first</a:t>
              </a:r>
            </a:p>
          </p:txBody>
        </p:sp>
      </p:grpSp>
      <p:sp>
        <p:nvSpPr>
          <p:cNvPr id="123" name="TextBox 46">
            <a:extLst>
              <a:ext uri="{FF2B5EF4-FFF2-40B4-BE49-F238E27FC236}">
                <a16:creationId xmlns:a16="http://schemas.microsoft.com/office/drawing/2014/main" id="{B03AC72E-9128-8CDF-0261-9E1CBED95ECE}"/>
              </a:ext>
            </a:extLst>
          </p:cNvPr>
          <p:cNvSpPr txBox="1"/>
          <p:nvPr/>
        </p:nvSpPr>
        <p:spPr>
          <a:xfrm>
            <a:off x="1156335" y="-2809875"/>
            <a:ext cx="1549908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Every exam shows its official source and a “last updated” date, and users are told to confirm on the official site before applying. A first release would cover a curated set of 5–8 real exams.</a:t>
            </a:r>
          </a:p>
        </p:txBody>
      </p:sp>
      <p:grpSp>
        <p:nvGrpSpPr>
          <p:cNvPr id="124" name="Group 47">
            <a:extLst>
              <a:ext uri="{FF2B5EF4-FFF2-40B4-BE49-F238E27FC236}">
                <a16:creationId xmlns:a16="http://schemas.microsoft.com/office/drawing/2014/main" id="{658DEB1D-6BC2-E921-2231-DA79E440F81B}"/>
              </a:ext>
            </a:extLst>
          </p:cNvPr>
          <p:cNvGrpSpPr/>
          <p:nvPr/>
        </p:nvGrpSpPr>
        <p:grpSpPr>
          <a:xfrm>
            <a:off x="16998315" y="-1312545"/>
            <a:ext cx="822960" cy="411480"/>
            <a:chOff x="0" y="0"/>
            <a:chExt cx="1097280" cy="548640"/>
          </a:xfrm>
        </p:grpSpPr>
        <p:sp>
          <p:nvSpPr>
            <p:cNvPr id="125" name="Freeform 48">
              <a:extLst>
                <a:ext uri="{FF2B5EF4-FFF2-40B4-BE49-F238E27FC236}">
                  <a16:creationId xmlns:a16="http://schemas.microsoft.com/office/drawing/2014/main" id="{CA1233CF-D1E2-CF3D-E1D0-0B2137681E69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26" name="TextBox 49">
              <a:extLst>
                <a:ext uri="{FF2B5EF4-FFF2-40B4-BE49-F238E27FC236}">
                  <a16:creationId xmlns:a16="http://schemas.microsoft.com/office/drawing/2014/main" id="{8C27590D-8E59-160D-9DDE-A40840FC3948}"/>
                </a:ext>
              </a:extLst>
            </p:cNvPr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11</a:t>
              </a:r>
            </a:p>
          </p:txBody>
        </p:sp>
      </p:grpSp>
      <p:grpSp>
        <p:nvGrpSpPr>
          <p:cNvPr id="127" name="Group 2">
            <a:extLst>
              <a:ext uri="{FF2B5EF4-FFF2-40B4-BE49-F238E27FC236}">
                <a16:creationId xmlns:a16="http://schemas.microsoft.com/office/drawing/2014/main" id="{A24474B1-4502-735D-B3DD-403B599973C1}"/>
              </a:ext>
            </a:extLst>
          </p:cNvPr>
          <p:cNvGrpSpPr/>
          <p:nvPr/>
        </p:nvGrpSpPr>
        <p:grpSpPr>
          <a:xfrm>
            <a:off x="1192911" y="10972800"/>
            <a:ext cx="12344400" cy="480060"/>
            <a:chOff x="0" y="0"/>
            <a:chExt cx="16459200" cy="640080"/>
          </a:xfrm>
        </p:grpSpPr>
        <p:sp>
          <p:nvSpPr>
            <p:cNvPr id="128" name="Freeform 3">
              <a:extLst>
                <a:ext uri="{FF2B5EF4-FFF2-40B4-BE49-F238E27FC236}">
                  <a16:creationId xmlns:a16="http://schemas.microsoft.com/office/drawing/2014/main" id="{8D7709E6-3BCA-665D-A1AA-D94152A583C2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129" name="TextBox 4">
              <a:extLst>
                <a:ext uri="{FF2B5EF4-FFF2-40B4-BE49-F238E27FC236}">
                  <a16:creationId xmlns:a16="http://schemas.microsoft.com/office/drawing/2014/main" id="{F2EC6E42-400C-BBAF-DDCE-0DC17073ACFD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FEASIBILITY</a:t>
              </a:r>
            </a:p>
          </p:txBody>
        </p:sp>
      </p:grpSp>
      <p:grpSp>
        <p:nvGrpSpPr>
          <p:cNvPr id="130" name="Group 5">
            <a:extLst>
              <a:ext uri="{FF2B5EF4-FFF2-40B4-BE49-F238E27FC236}">
                <a16:creationId xmlns:a16="http://schemas.microsoft.com/office/drawing/2014/main" id="{36ECCD74-EC57-0DEF-2203-89E98B249DD9}"/>
              </a:ext>
            </a:extLst>
          </p:cNvPr>
          <p:cNvGrpSpPr/>
          <p:nvPr/>
        </p:nvGrpSpPr>
        <p:grpSpPr>
          <a:xfrm>
            <a:off x="1192911" y="11452860"/>
            <a:ext cx="16322040" cy="1234440"/>
            <a:chOff x="0" y="0"/>
            <a:chExt cx="21762720" cy="1645920"/>
          </a:xfrm>
        </p:grpSpPr>
        <p:sp>
          <p:nvSpPr>
            <p:cNvPr id="131" name="Freeform 6">
              <a:extLst>
                <a:ext uri="{FF2B5EF4-FFF2-40B4-BE49-F238E27FC236}">
                  <a16:creationId xmlns:a16="http://schemas.microsoft.com/office/drawing/2014/main" id="{08C4087B-DC9B-068A-26E5-E32A5326F051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132" name="TextBox 7">
              <a:extLst>
                <a:ext uri="{FF2B5EF4-FFF2-40B4-BE49-F238E27FC236}">
                  <a16:creationId xmlns:a16="http://schemas.microsoft.com/office/drawing/2014/main" id="{43BFDB2A-D702-EAB7-48A5-79037557D742}"/>
                </a:ext>
              </a:extLst>
            </p:cNvPr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How we would build it</a:t>
              </a:r>
            </a:p>
          </p:txBody>
        </p:sp>
      </p:grpSp>
      <p:grpSp>
        <p:nvGrpSpPr>
          <p:cNvPr id="133" name="Group 8">
            <a:extLst>
              <a:ext uri="{FF2B5EF4-FFF2-40B4-BE49-F238E27FC236}">
                <a16:creationId xmlns:a16="http://schemas.microsoft.com/office/drawing/2014/main" id="{110C97E3-59F6-25B3-50EC-C40FC8D13FB1}"/>
              </a:ext>
            </a:extLst>
          </p:cNvPr>
          <p:cNvGrpSpPr/>
          <p:nvPr/>
        </p:nvGrpSpPr>
        <p:grpSpPr>
          <a:xfrm>
            <a:off x="1192911" y="13098780"/>
            <a:ext cx="16322040" cy="754380"/>
            <a:chOff x="0" y="0"/>
            <a:chExt cx="21762720" cy="1005840"/>
          </a:xfrm>
        </p:grpSpPr>
        <p:sp>
          <p:nvSpPr>
            <p:cNvPr id="134" name="Freeform 9">
              <a:extLst>
                <a:ext uri="{FF2B5EF4-FFF2-40B4-BE49-F238E27FC236}">
                  <a16:creationId xmlns:a16="http://schemas.microsoft.com/office/drawing/2014/main" id="{01633389-C608-4D49-D5C7-4788D6F5BA3C}"/>
                </a:ext>
              </a:extLst>
            </p:cNvPr>
            <p:cNvSpPr/>
            <p:nvPr/>
          </p:nvSpPr>
          <p:spPr>
            <a:xfrm>
              <a:off x="0" y="0"/>
              <a:ext cx="21762720" cy="1005840"/>
            </a:xfrm>
            <a:custGeom>
              <a:avLst/>
              <a:gdLst/>
              <a:ahLst/>
              <a:cxnLst/>
              <a:rect l="l" t="t" r="r" b="b"/>
              <a:pathLst>
                <a:path w="21762720" h="100584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35" name="Group 10">
            <a:extLst>
              <a:ext uri="{FF2B5EF4-FFF2-40B4-BE49-F238E27FC236}">
                <a16:creationId xmlns:a16="http://schemas.microsoft.com/office/drawing/2014/main" id="{C3391F71-1673-03F6-9809-1698E807632E}"/>
              </a:ext>
            </a:extLst>
          </p:cNvPr>
          <p:cNvGrpSpPr/>
          <p:nvPr/>
        </p:nvGrpSpPr>
        <p:grpSpPr>
          <a:xfrm>
            <a:off x="1398651" y="13098780"/>
            <a:ext cx="4526280" cy="754380"/>
            <a:chOff x="0" y="0"/>
            <a:chExt cx="6035040" cy="1005840"/>
          </a:xfrm>
        </p:grpSpPr>
        <p:sp>
          <p:nvSpPr>
            <p:cNvPr id="136" name="Freeform 11">
              <a:extLst>
                <a:ext uri="{FF2B5EF4-FFF2-40B4-BE49-F238E27FC236}">
                  <a16:creationId xmlns:a16="http://schemas.microsoft.com/office/drawing/2014/main" id="{98C07700-C909-BEE6-9D05-C5C07EEEAEFB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37" name="TextBox 12">
              <a:extLst>
                <a:ext uri="{FF2B5EF4-FFF2-40B4-BE49-F238E27FC236}">
                  <a16:creationId xmlns:a16="http://schemas.microsoft.com/office/drawing/2014/main" id="{56658439-48D5-6D96-D9C2-D3465FA1F0CA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Component</a:t>
              </a:r>
            </a:p>
          </p:txBody>
        </p:sp>
      </p:grpSp>
      <p:grpSp>
        <p:nvGrpSpPr>
          <p:cNvPr id="138" name="Group 13">
            <a:extLst>
              <a:ext uri="{FF2B5EF4-FFF2-40B4-BE49-F238E27FC236}">
                <a16:creationId xmlns:a16="http://schemas.microsoft.com/office/drawing/2014/main" id="{8FF94370-0E4B-5DA6-BBA3-CA3CFDEF6B3A}"/>
              </a:ext>
            </a:extLst>
          </p:cNvPr>
          <p:cNvGrpSpPr/>
          <p:nvPr/>
        </p:nvGrpSpPr>
        <p:grpSpPr>
          <a:xfrm>
            <a:off x="6336411" y="13098780"/>
            <a:ext cx="7955280" cy="754380"/>
            <a:chOff x="0" y="0"/>
            <a:chExt cx="10607040" cy="1005840"/>
          </a:xfrm>
        </p:grpSpPr>
        <p:sp>
          <p:nvSpPr>
            <p:cNvPr id="139" name="Freeform 14">
              <a:extLst>
                <a:ext uri="{FF2B5EF4-FFF2-40B4-BE49-F238E27FC236}">
                  <a16:creationId xmlns:a16="http://schemas.microsoft.com/office/drawing/2014/main" id="{66131D0F-D792-0F63-8D88-0C5CEF234200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40" name="TextBox 15">
              <a:extLst>
                <a:ext uri="{FF2B5EF4-FFF2-40B4-BE49-F238E27FC236}">
                  <a16:creationId xmlns:a16="http://schemas.microsoft.com/office/drawing/2014/main" id="{B55FEED5-B362-24D5-D9A3-3BEC9249CA12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Approach</a:t>
              </a:r>
            </a:p>
          </p:txBody>
        </p:sp>
      </p:grpSp>
      <p:grpSp>
        <p:nvGrpSpPr>
          <p:cNvPr id="141" name="Group 16">
            <a:extLst>
              <a:ext uri="{FF2B5EF4-FFF2-40B4-BE49-F238E27FC236}">
                <a16:creationId xmlns:a16="http://schemas.microsoft.com/office/drawing/2014/main" id="{9B9EA56F-4690-42EF-4FC6-4026DB0892A8}"/>
              </a:ext>
            </a:extLst>
          </p:cNvPr>
          <p:cNvGrpSpPr/>
          <p:nvPr/>
        </p:nvGrpSpPr>
        <p:grpSpPr>
          <a:xfrm>
            <a:off x="14703171" y="13098780"/>
            <a:ext cx="2606040" cy="754380"/>
            <a:chOff x="0" y="0"/>
            <a:chExt cx="3474720" cy="1005840"/>
          </a:xfrm>
        </p:grpSpPr>
        <p:sp>
          <p:nvSpPr>
            <p:cNvPr id="142" name="Freeform 17">
              <a:extLst>
                <a:ext uri="{FF2B5EF4-FFF2-40B4-BE49-F238E27FC236}">
                  <a16:creationId xmlns:a16="http://schemas.microsoft.com/office/drawing/2014/main" id="{C3636B79-BFE7-7237-269D-3ADC1A7B385C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43" name="TextBox 18">
              <a:extLst>
                <a:ext uri="{FF2B5EF4-FFF2-40B4-BE49-F238E27FC236}">
                  <a16:creationId xmlns:a16="http://schemas.microsoft.com/office/drawing/2014/main" id="{9C3ADB8A-AF15-EBAF-C66C-280842CB6BC9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Readiness</a:t>
              </a:r>
            </a:p>
          </p:txBody>
        </p:sp>
      </p:grpSp>
      <p:grpSp>
        <p:nvGrpSpPr>
          <p:cNvPr id="144" name="Group 19">
            <a:extLst>
              <a:ext uri="{FF2B5EF4-FFF2-40B4-BE49-F238E27FC236}">
                <a16:creationId xmlns:a16="http://schemas.microsoft.com/office/drawing/2014/main" id="{388BCFE8-BAAD-9F76-FEF7-4D49C3A58C91}"/>
              </a:ext>
            </a:extLst>
          </p:cNvPr>
          <p:cNvGrpSpPr/>
          <p:nvPr/>
        </p:nvGrpSpPr>
        <p:grpSpPr>
          <a:xfrm>
            <a:off x="1398651" y="13853160"/>
            <a:ext cx="4526280" cy="754380"/>
            <a:chOff x="0" y="0"/>
            <a:chExt cx="6035040" cy="1005840"/>
          </a:xfrm>
        </p:grpSpPr>
        <p:sp>
          <p:nvSpPr>
            <p:cNvPr id="145" name="Freeform 20">
              <a:extLst>
                <a:ext uri="{FF2B5EF4-FFF2-40B4-BE49-F238E27FC236}">
                  <a16:creationId xmlns:a16="http://schemas.microsoft.com/office/drawing/2014/main" id="{22B93ABC-C37C-0681-77C4-4DA86CCA3CAB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46" name="TextBox 21">
              <a:extLst>
                <a:ext uri="{FF2B5EF4-FFF2-40B4-BE49-F238E27FC236}">
                  <a16:creationId xmlns:a16="http://schemas.microsoft.com/office/drawing/2014/main" id="{316D3A72-723F-87C9-4402-C394C18429FC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Voice capture &amp; skill extraction</a:t>
              </a:r>
            </a:p>
          </p:txBody>
        </p:sp>
      </p:grpSp>
      <p:grpSp>
        <p:nvGrpSpPr>
          <p:cNvPr id="147" name="Group 22">
            <a:extLst>
              <a:ext uri="{FF2B5EF4-FFF2-40B4-BE49-F238E27FC236}">
                <a16:creationId xmlns:a16="http://schemas.microsoft.com/office/drawing/2014/main" id="{3BC448FB-7F86-4D45-99A6-BCF255ED2EF4}"/>
              </a:ext>
            </a:extLst>
          </p:cNvPr>
          <p:cNvGrpSpPr/>
          <p:nvPr/>
        </p:nvGrpSpPr>
        <p:grpSpPr>
          <a:xfrm>
            <a:off x="6336411" y="13853160"/>
            <a:ext cx="7955280" cy="754380"/>
            <a:chOff x="0" y="0"/>
            <a:chExt cx="10607040" cy="1005840"/>
          </a:xfrm>
        </p:grpSpPr>
        <p:sp>
          <p:nvSpPr>
            <p:cNvPr id="148" name="Freeform 23">
              <a:extLst>
                <a:ext uri="{FF2B5EF4-FFF2-40B4-BE49-F238E27FC236}">
                  <a16:creationId xmlns:a16="http://schemas.microsoft.com/office/drawing/2014/main" id="{9E6A734E-4EF5-8DDF-D8CA-C9843130B476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49" name="TextBox 24">
              <a:extLst>
                <a:ext uri="{FF2B5EF4-FFF2-40B4-BE49-F238E27FC236}">
                  <a16:creationId xmlns:a16="http://schemas.microsoft.com/office/drawing/2014/main" id="{9A80AA76-1961-0A72-F867-CAFD78C39CB9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Browser mic + speech-to-text API; LLM prompt → structured tags</a:t>
              </a:r>
            </a:p>
          </p:txBody>
        </p:sp>
      </p:grpSp>
      <p:grpSp>
        <p:nvGrpSpPr>
          <p:cNvPr id="150" name="Group 25">
            <a:extLst>
              <a:ext uri="{FF2B5EF4-FFF2-40B4-BE49-F238E27FC236}">
                <a16:creationId xmlns:a16="http://schemas.microsoft.com/office/drawing/2014/main" id="{45654569-8F5A-59E2-8B4E-B07F6E41E275}"/>
              </a:ext>
            </a:extLst>
          </p:cNvPr>
          <p:cNvGrpSpPr/>
          <p:nvPr/>
        </p:nvGrpSpPr>
        <p:grpSpPr>
          <a:xfrm>
            <a:off x="14703171" y="13853160"/>
            <a:ext cx="2606040" cy="754380"/>
            <a:chOff x="0" y="0"/>
            <a:chExt cx="3474720" cy="1005840"/>
          </a:xfrm>
        </p:grpSpPr>
        <p:sp>
          <p:nvSpPr>
            <p:cNvPr id="151" name="Freeform 26">
              <a:extLst>
                <a:ext uri="{FF2B5EF4-FFF2-40B4-BE49-F238E27FC236}">
                  <a16:creationId xmlns:a16="http://schemas.microsoft.com/office/drawing/2014/main" id="{8D626396-C9A2-5D8E-1C9B-D8F6DE463DA3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52" name="TextBox 27">
              <a:extLst>
                <a:ext uri="{FF2B5EF4-FFF2-40B4-BE49-F238E27FC236}">
                  <a16:creationId xmlns:a16="http://schemas.microsoft.com/office/drawing/2014/main" id="{19584DA5-A757-B2B8-E18D-0F45CADDB0DF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Ready-made</a:t>
              </a:r>
            </a:p>
          </p:txBody>
        </p:sp>
      </p:grpSp>
      <p:grpSp>
        <p:nvGrpSpPr>
          <p:cNvPr id="153" name="Group 28">
            <a:extLst>
              <a:ext uri="{FF2B5EF4-FFF2-40B4-BE49-F238E27FC236}">
                <a16:creationId xmlns:a16="http://schemas.microsoft.com/office/drawing/2014/main" id="{72109673-3651-0103-720B-F4A6F91EB28A}"/>
              </a:ext>
            </a:extLst>
          </p:cNvPr>
          <p:cNvGrpSpPr/>
          <p:nvPr/>
        </p:nvGrpSpPr>
        <p:grpSpPr>
          <a:xfrm>
            <a:off x="1192911" y="14607540"/>
            <a:ext cx="16322040" cy="754380"/>
            <a:chOff x="0" y="0"/>
            <a:chExt cx="21762720" cy="1005840"/>
          </a:xfrm>
        </p:grpSpPr>
        <p:sp>
          <p:nvSpPr>
            <p:cNvPr id="154" name="Freeform 29">
              <a:extLst>
                <a:ext uri="{FF2B5EF4-FFF2-40B4-BE49-F238E27FC236}">
                  <a16:creationId xmlns:a16="http://schemas.microsoft.com/office/drawing/2014/main" id="{D6A3AEDB-B1FB-48E2-10EF-BA887FE71204}"/>
                </a:ext>
              </a:extLst>
            </p:cNvPr>
            <p:cNvSpPr/>
            <p:nvPr/>
          </p:nvSpPr>
          <p:spPr>
            <a:xfrm>
              <a:off x="0" y="0"/>
              <a:ext cx="21762720" cy="1005840"/>
            </a:xfrm>
            <a:custGeom>
              <a:avLst/>
              <a:gdLst/>
              <a:ahLst/>
              <a:cxnLst/>
              <a:rect l="l" t="t" r="r" b="b"/>
              <a:pathLst>
                <a:path w="21762720" h="100584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155" name="Group 30">
            <a:extLst>
              <a:ext uri="{FF2B5EF4-FFF2-40B4-BE49-F238E27FC236}">
                <a16:creationId xmlns:a16="http://schemas.microsoft.com/office/drawing/2014/main" id="{CFB07D1D-17DE-2571-709E-7E5423C9665A}"/>
              </a:ext>
            </a:extLst>
          </p:cNvPr>
          <p:cNvGrpSpPr/>
          <p:nvPr/>
        </p:nvGrpSpPr>
        <p:grpSpPr>
          <a:xfrm>
            <a:off x="1398651" y="14607540"/>
            <a:ext cx="4526280" cy="754380"/>
            <a:chOff x="0" y="0"/>
            <a:chExt cx="6035040" cy="1005840"/>
          </a:xfrm>
        </p:grpSpPr>
        <p:sp>
          <p:nvSpPr>
            <p:cNvPr id="156" name="Freeform 31">
              <a:extLst>
                <a:ext uri="{FF2B5EF4-FFF2-40B4-BE49-F238E27FC236}">
                  <a16:creationId xmlns:a16="http://schemas.microsoft.com/office/drawing/2014/main" id="{0489CB06-8F03-81E0-FC18-A4048D773B6C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57" name="TextBox 32">
              <a:extLst>
                <a:ext uri="{FF2B5EF4-FFF2-40B4-BE49-F238E27FC236}">
                  <a16:creationId xmlns:a16="http://schemas.microsoft.com/office/drawing/2014/main" id="{4C8D2D55-6821-A873-2F87-7FE72A99B56F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Skill verification</a:t>
              </a:r>
            </a:p>
          </p:txBody>
        </p:sp>
      </p:grpSp>
      <p:grpSp>
        <p:nvGrpSpPr>
          <p:cNvPr id="158" name="Group 33">
            <a:extLst>
              <a:ext uri="{FF2B5EF4-FFF2-40B4-BE49-F238E27FC236}">
                <a16:creationId xmlns:a16="http://schemas.microsoft.com/office/drawing/2014/main" id="{B60CB33F-7A03-A236-1B4E-7FF2DC62F81D}"/>
              </a:ext>
            </a:extLst>
          </p:cNvPr>
          <p:cNvGrpSpPr/>
          <p:nvPr/>
        </p:nvGrpSpPr>
        <p:grpSpPr>
          <a:xfrm>
            <a:off x="6336411" y="14607540"/>
            <a:ext cx="7955280" cy="754380"/>
            <a:chOff x="0" y="0"/>
            <a:chExt cx="10607040" cy="1005840"/>
          </a:xfrm>
        </p:grpSpPr>
        <p:sp>
          <p:nvSpPr>
            <p:cNvPr id="159" name="Freeform 34">
              <a:extLst>
                <a:ext uri="{FF2B5EF4-FFF2-40B4-BE49-F238E27FC236}">
                  <a16:creationId xmlns:a16="http://schemas.microsoft.com/office/drawing/2014/main" id="{76902ACB-C334-083A-B963-8EC66C97BB8E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60" name="TextBox 35">
              <a:extLst>
                <a:ext uri="{FF2B5EF4-FFF2-40B4-BE49-F238E27FC236}">
                  <a16:creationId xmlns:a16="http://schemas.microsoft.com/office/drawing/2014/main" id="{0A0EE339-763C-4086-820C-EC75D36617CB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LLM-generated task, rubric-scored by a second LLM pass</a:t>
              </a:r>
            </a:p>
          </p:txBody>
        </p:sp>
      </p:grpSp>
      <p:grpSp>
        <p:nvGrpSpPr>
          <p:cNvPr id="161" name="Group 36">
            <a:extLst>
              <a:ext uri="{FF2B5EF4-FFF2-40B4-BE49-F238E27FC236}">
                <a16:creationId xmlns:a16="http://schemas.microsoft.com/office/drawing/2014/main" id="{01FAE054-1EDE-8E2F-FD37-B66B724989DA}"/>
              </a:ext>
            </a:extLst>
          </p:cNvPr>
          <p:cNvGrpSpPr/>
          <p:nvPr/>
        </p:nvGrpSpPr>
        <p:grpSpPr>
          <a:xfrm>
            <a:off x="14703171" y="14607540"/>
            <a:ext cx="2606040" cy="754380"/>
            <a:chOff x="0" y="0"/>
            <a:chExt cx="3474720" cy="1005840"/>
          </a:xfrm>
        </p:grpSpPr>
        <p:sp>
          <p:nvSpPr>
            <p:cNvPr id="162" name="Freeform 37">
              <a:extLst>
                <a:ext uri="{FF2B5EF4-FFF2-40B4-BE49-F238E27FC236}">
                  <a16:creationId xmlns:a16="http://schemas.microsoft.com/office/drawing/2014/main" id="{3BD5EBE1-2460-9C41-6192-1C528099BDE4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63" name="TextBox 38">
              <a:extLst>
                <a:ext uri="{FF2B5EF4-FFF2-40B4-BE49-F238E27FC236}">
                  <a16:creationId xmlns:a16="http://schemas.microsoft.com/office/drawing/2014/main" id="{804BA332-ED4D-D163-D4DE-DD1BF22A860D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Ready-made</a:t>
              </a:r>
            </a:p>
          </p:txBody>
        </p:sp>
      </p:grpSp>
      <p:grpSp>
        <p:nvGrpSpPr>
          <p:cNvPr id="164" name="Group 39">
            <a:extLst>
              <a:ext uri="{FF2B5EF4-FFF2-40B4-BE49-F238E27FC236}">
                <a16:creationId xmlns:a16="http://schemas.microsoft.com/office/drawing/2014/main" id="{5EC9C798-F0D7-0B33-0FC1-C40E875F2BA8}"/>
              </a:ext>
            </a:extLst>
          </p:cNvPr>
          <p:cNvGrpSpPr/>
          <p:nvPr/>
        </p:nvGrpSpPr>
        <p:grpSpPr>
          <a:xfrm>
            <a:off x="1398651" y="15361920"/>
            <a:ext cx="4526280" cy="754380"/>
            <a:chOff x="0" y="0"/>
            <a:chExt cx="6035040" cy="1005840"/>
          </a:xfrm>
        </p:grpSpPr>
        <p:sp>
          <p:nvSpPr>
            <p:cNvPr id="165" name="Freeform 40">
              <a:extLst>
                <a:ext uri="{FF2B5EF4-FFF2-40B4-BE49-F238E27FC236}">
                  <a16:creationId xmlns:a16="http://schemas.microsoft.com/office/drawing/2014/main" id="{8DFE29B4-831B-A703-86EC-3A63C247DD5F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66" name="TextBox 41">
              <a:extLst>
                <a:ext uri="{FF2B5EF4-FFF2-40B4-BE49-F238E27FC236}">
                  <a16:creationId xmlns:a16="http://schemas.microsoft.com/office/drawing/2014/main" id="{A5858B46-C21F-B2AA-BFBC-B4E9C13284D1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CV builder</a:t>
              </a:r>
            </a:p>
          </p:txBody>
        </p:sp>
      </p:grpSp>
      <p:grpSp>
        <p:nvGrpSpPr>
          <p:cNvPr id="167" name="Group 42">
            <a:extLst>
              <a:ext uri="{FF2B5EF4-FFF2-40B4-BE49-F238E27FC236}">
                <a16:creationId xmlns:a16="http://schemas.microsoft.com/office/drawing/2014/main" id="{DBA9443D-9D7A-22B9-C57C-C74881145BC9}"/>
              </a:ext>
            </a:extLst>
          </p:cNvPr>
          <p:cNvGrpSpPr/>
          <p:nvPr/>
        </p:nvGrpSpPr>
        <p:grpSpPr>
          <a:xfrm>
            <a:off x="6336411" y="15361920"/>
            <a:ext cx="7955280" cy="754380"/>
            <a:chOff x="0" y="0"/>
            <a:chExt cx="10607040" cy="1005840"/>
          </a:xfrm>
        </p:grpSpPr>
        <p:sp>
          <p:nvSpPr>
            <p:cNvPr id="168" name="Freeform 43">
              <a:extLst>
                <a:ext uri="{FF2B5EF4-FFF2-40B4-BE49-F238E27FC236}">
                  <a16:creationId xmlns:a16="http://schemas.microsoft.com/office/drawing/2014/main" id="{4DB7E613-48E2-085D-0567-CA5FE0971EC4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69" name="TextBox 44">
              <a:extLst>
                <a:ext uri="{FF2B5EF4-FFF2-40B4-BE49-F238E27FC236}">
                  <a16:creationId xmlns:a16="http://schemas.microsoft.com/office/drawing/2014/main" id="{ED1B4268-B510-68B7-2661-2EBC7FCEB290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LLM drafts the CV from the verified profile; export as PDF</a:t>
              </a:r>
            </a:p>
          </p:txBody>
        </p:sp>
      </p:grpSp>
      <p:grpSp>
        <p:nvGrpSpPr>
          <p:cNvPr id="170" name="Group 45">
            <a:extLst>
              <a:ext uri="{FF2B5EF4-FFF2-40B4-BE49-F238E27FC236}">
                <a16:creationId xmlns:a16="http://schemas.microsoft.com/office/drawing/2014/main" id="{B15E735C-A431-C49F-5DE5-4692BE8E4D18}"/>
              </a:ext>
            </a:extLst>
          </p:cNvPr>
          <p:cNvGrpSpPr/>
          <p:nvPr/>
        </p:nvGrpSpPr>
        <p:grpSpPr>
          <a:xfrm>
            <a:off x="14703171" y="15361920"/>
            <a:ext cx="2606040" cy="754380"/>
            <a:chOff x="0" y="0"/>
            <a:chExt cx="3474720" cy="1005840"/>
          </a:xfrm>
        </p:grpSpPr>
        <p:sp>
          <p:nvSpPr>
            <p:cNvPr id="171" name="Freeform 46">
              <a:extLst>
                <a:ext uri="{FF2B5EF4-FFF2-40B4-BE49-F238E27FC236}">
                  <a16:creationId xmlns:a16="http://schemas.microsoft.com/office/drawing/2014/main" id="{010B90C1-AE53-7DD6-058A-B0AE3831EB96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72" name="TextBox 47">
              <a:extLst>
                <a:ext uri="{FF2B5EF4-FFF2-40B4-BE49-F238E27FC236}">
                  <a16:creationId xmlns:a16="http://schemas.microsoft.com/office/drawing/2014/main" id="{46F5F922-F74C-4B0A-6ED2-30EAEDAF9049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Ready-made</a:t>
              </a:r>
            </a:p>
          </p:txBody>
        </p:sp>
      </p:grpSp>
      <p:grpSp>
        <p:nvGrpSpPr>
          <p:cNvPr id="173" name="Group 48">
            <a:extLst>
              <a:ext uri="{FF2B5EF4-FFF2-40B4-BE49-F238E27FC236}">
                <a16:creationId xmlns:a16="http://schemas.microsoft.com/office/drawing/2014/main" id="{819950C3-932E-A40F-C4B4-60297E0FAC08}"/>
              </a:ext>
            </a:extLst>
          </p:cNvPr>
          <p:cNvGrpSpPr/>
          <p:nvPr/>
        </p:nvGrpSpPr>
        <p:grpSpPr>
          <a:xfrm>
            <a:off x="1192911" y="16116300"/>
            <a:ext cx="16322040" cy="754380"/>
            <a:chOff x="0" y="0"/>
            <a:chExt cx="21762720" cy="1005840"/>
          </a:xfrm>
        </p:grpSpPr>
        <p:sp>
          <p:nvSpPr>
            <p:cNvPr id="174" name="Freeform 49">
              <a:extLst>
                <a:ext uri="{FF2B5EF4-FFF2-40B4-BE49-F238E27FC236}">
                  <a16:creationId xmlns:a16="http://schemas.microsoft.com/office/drawing/2014/main" id="{3BBE346C-C9B6-8C23-0DB5-BABBFF1475C0}"/>
                </a:ext>
              </a:extLst>
            </p:cNvPr>
            <p:cNvSpPr/>
            <p:nvPr/>
          </p:nvSpPr>
          <p:spPr>
            <a:xfrm>
              <a:off x="0" y="0"/>
              <a:ext cx="21762720" cy="1005840"/>
            </a:xfrm>
            <a:custGeom>
              <a:avLst/>
              <a:gdLst/>
              <a:ahLst/>
              <a:cxnLst/>
              <a:rect l="l" t="t" r="r" b="b"/>
              <a:pathLst>
                <a:path w="21762720" h="100584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175" name="Group 50">
            <a:extLst>
              <a:ext uri="{FF2B5EF4-FFF2-40B4-BE49-F238E27FC236}">
                <a16:creationId xmlns:a16="http://schemas.microsoft.com/office/drawing/2014/main" id="{A0E3A04B-FE7E-1A91-B1C4-69A6D9B8378F}"/>
              </a:ext>
            </a:extLst>
          </p:cNvPr>
          <p:cNvGrpSpPr/>
          <p:nvPr/>
        </p:nvGrpSpPr>
        <p:grpSpPr>
          <a:xfrm>
            <a:off x="1398651" y="16116300"/>
            <a:ext cx="4526280" cy="754380"/>
            <a:chOff x="0" y="0"/>
            <a:chExt cx="6035040" cy="1005840"/>
          </a:xfrm>
        </p:grpSpPr>
        <p:sp>
          <p:nvSpPr>
            <p:cNvPr id="176" name="Freeform 51">
              <a:extLst>
                <a:ext uri="{FF2B5EF4-FFF2-40B4-BE49-F238E27FC236}">
                  <a16:creationId xmlns:a16="http://schemas.microsoft.com/office/drawing/2014/main" id="{047BDD8E-7770-5780-C618-4EC97A971ED7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77" name="TextBox 52">
              <a:extLst>
                <a:ext uri="{FF2B5EF4-FFF2-40B4-BE49-F238E27FC236}">
                  <a16:creationId xmlns:a16="http://schemas.microsoft.com/office/drawing/2014/main" id="{BC446978-7BD3-0276-5FBF-B43E74FE3CAF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Gap finder</a:t>
              </a:r>
            </a:p>
          </p:txBody>
        </p:sp>
      </p:grpSp>
      <p:grpSp>
        <p:nvGrpSpPr>
          <p:cNvPr id="178" name="Group 53">
            <a:extLst>
              <a:ext uri="{FF2B5EF4-FFF2-40B4-BE49-F238E27FC236}">
                <a16:creationId xmlns:a16="http://schemas.microsoft.com/office/drawing/2014/main" id="{55EB90F7-F659-2B9D-640F-05916C0F8133}"/>
              </a:ext>
            </a:extLst>
          </p:cNvPr>
          <p:cNvGrpSpPr/>
          <p:nvPr/>
        </p:nvGrpSpPr>
        <p:grpSpPr>
          <a:xfrm>
            <a:off x="6336411" y="16116300"/>
            <a:ext cx="7955280" cy="754380"/>
            <a:chOff x="0" y="0"/>
            <a:chExt cx="10607040" cy="1005840"/>
          </a:xfrm>
        </p:grpSpPr>
        <p:sp>
          <p:nvSpPr>
            <p:cNvPr id="179" name="Freeform 54">
              <a:extLst>
                <a:ext uri="{FF2B5EF4-FFF2-40B4-BE49-F238E27FC236}">
                  <a16:creationId xmlns:a16="http://schemas.microsoft.com/office/drawing/2014/main" id="{06496C41-0A1B-CED2-920C-557F6C063FA3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80" name="TextBox 55">
              <a:extLst>
                <a:ext uri="{FF2B5EF4-FFF2-40B4-BE49-F238E27FC236}">
                  <a16:creationId xmlns:a16="http://schemas.microsoft.com/office/drawing/2014/main" id="{ED42DE2D-4DE9-BA69-15A1-C96E940C2A09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Embedding similarity against role requirements</a:t>
              </a:r>
            </a:p>
          </p:txBody>
        </p:sp>
      </p:grpSp>
      <p:grpSp>
        <p:nvGrpSpPr>
          <p:cNvPr id="181" name="Group 56">
            <a:extLst>
              <a:ext uri="{FF2B5EF4-FFF2-40B4-BE49-F238E27FC236}">
                <a16:creationId xmlns:a16="http://schemas.microsoft.com/office/drawing/2014/main" id="{90362CC3-1A83-90E3-D8FA-06241E25270D}"/>
              </a:ext>
            </a:extLst>
          </p:cNvPr>
          <p:cNvGrpSpPr/>
          <p:nvPr/>
        </p:nvGrpSpPr>
        <p:grpSpPr>
          <a:xfrm>
            <a:off x="14703171" y="16116300"/>
            <a:ext cx="2606040" cy="754380"/>
            <a:chOff x="0" y="0"/>
            <a:chExt cx="3474720" cy="1005840"/>
          </a:xfrm>
        </p:grpSpPr>
        <p:sp>
          <p:nvSpPr>
            <p:cNvPr id="182" name="Freeform 57">
              <a:extLst>
                <a:ext uri="{FF2B5EF4-FFF2-40B4-BE49-F238E27FC236}">
                  <a16:creationId xmlns:a16="http://schemas.microsoft.com/office/drawing/2014/main" id="{96D09FE5-247A-D335-0075-C1D9877976FF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83" name="TextBox 58">
              <a:extLst>
                <a:ext uri="{FF2B5EF4-FFF2-40B4-BE49-F238E27FC236}">
                  <a16:creationId xmlns:a16="http://schemas.microsoft.com/office/drawing/2014/main" id="{9CF1BA20-BEFD-F8A7-C933-0DB88BC974E8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Ready-made</a:t>
              </a:r>
            </a:p>
          </p:txBody>
        </p:sp>
      </p:grpSp>
      <p:grpSp>
        <p:nvGrpSpPr>
          <p:cNvPr id="184" name="Group 59">
            <a:extLst>
              <a:ext uri="{FF2B5EF4-FFF2-40B4-BE49-F238E27FC236}">
                <a16:creationId xmlns:a16="http://schemas.microsoft.com/office/drawing/2014/main" id="{5685262A-73DC-9144-B952-7FB632BE3391}"/>
              </a:ext>
            </a:extLst>
          </p:cNvPr>
          <p:cNvGrpSpPr/>
          <p:nvPr/>
        </p:nvGrpSpPr>
        <p:grpSpPr>
          <a:xfrm>
            <a:off x="1398651" y="16870680"/>
            <a:ext cx="4526280" cy="754380"/>
            <a:chOff x="0" y="0"/>
            <a:chExt cx="6035040" cy="1005840"/>
          </a:xfrm>
        </p:grpSpPr>
        <p:sp>
          <p:nvSpPr>
            <p:cNvPr id="185" name="Freeform 60">
              <a:extLst>
                <a:ext uri="{FF2B5EF4-FFF2-40B4-BE49-F238E27FC236}">
                  <a16:creationId xmlns:a16="http://schemas.microsoft.com/office/drawing/2014/main" id="{1C9C155E-626F-3572-526C-2A75ED32E4B5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86" name="TextBox 61">
              <a:extLst>
                <a:ext uri="{FF2B5EF4-FFF2-40B4-BE49-F238E27FC236}">
                  <a16:creationId xmlns:a16="http://schemas.microsoft.com/office/drawing/2014/main" id="{25F1800B-BF96-0E89-3CEE-11AE2CC750F7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Exam eligibility</a:t>
              </a:r>
            </a:p>
          </p:txBody>
        </p:sp>
      </p:grpSp>
      <p:grpSp>
        <p:nvGrpSpPr>
          <p:cNvPr id="187" name="Group 62">
            <a:extLst>
              <a:ext uri="{FF2B5EF4-FFF2-40B4-BE49-F238E27FC236}">
                <a16:creationId xmlns:a16="http://schemas.microsoft.com/office/drawing/2014/main" id="{0D637FFC-3F5D-A59A-4589-5B34444FB319}"/>
              </a:ext>
            </a:extLst>
          </p:cNvPr>
          <p:cNvGrpSpPr/>
          <p:nvPr/>
        </p:nvGrpSpPr>
        <p:grpSpPr>
          <a:xfrm>
            <a:off x="6336411" y="16870680"/>
            <a:ext cx="7955280" cy="754380"/>
            <a:chOff x="0" y="0"/>
            <a:chExt cx="10607040" cy="1005840"/>
          </a:xfrm>
        </p:grpSpPr>
        <p:sp>
          <p:nvSpPr>
            <p:cNvPr id="188" name="Freeform 63">
              <a:extLst>
                <a:ext uri="{FF2B5EF4-FFF2-40B4-BE49-F238E27FC236}">
                  <a16:creationId xmlns:a16="http://schemas.microsoft.com/office/drawing/2014/main" id="{436B6057-8A83-6FA7-1422-9E109FD473DD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89" name="TextBox 64">
              <a:extLst>
                <a:ext uri="{FF2B5EF4-FFF2-40B4-BE49-F238E27FC236}">
                  <a16:creationId xmlns:a16="http://schemas.microsoft.com/office/drawing/2014/main" id="{C57086DB-22D1-9747-EE2E-ACDD11093B01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Rules engine on curated official notifications</a:t>
              </a:r>
            </a:p>
          </p:txBody>
        </p:sp>
      </p:grpSp>
      <p:grpSp>
        <p:nvGrpSpPr>
          <p:cNvPr id="190" name="Group 65">
            <a:extLst>
              <a:ext uri="{FF2B5EF4-FFF2-40B4-BE49-F238E27FC236}">
                <a16:creationId xmlns:a16="http://schemas.microsoft.com/office/drawing/2014/main" id="{98080D03-A6C5-B125-3E0F-B439461940AF}"/>
              </a:ext>
            </a:extLst>
          </p:cNvPr>
          <p:cNvGrpSpPr/>
          <p:nvPr/>
        </p:nvGrpSpPr>
        <p:grpSpPr>
          <a:xfrm>
            <a:off x="14703171" y="16870680"/>
            <a:ext cx="2606040" cy="754380"/>
            <a:chOff x="0" y="0"/>
            <a:chExt cx="3474720" cy="1005840"/>
          </a:xfrm>
        </p:grpSpPr>
        <p:sp>
          <p:nvSpPr>
            <p:cNvPr id="191" name="Freeform 66">
              <a:extLst>
                <a:ext uri="{FF2B5EF4-FFF2-40B4-BE49-F238E27FC236}">
                  <a16:creationId xmlns:a16="http://schemas.microsoft.com/office/drawing/2014/main" id="{C7D09F2D-A0BA-778A-7711-A5D9937C59F0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92" name="TextBox 67">
              <a:extLst>
                <a:ext uri="{FF2B5EF4-FFF2-40B4-BE49-F238E27FC236}">
                  <a16:creationId xmlns:a16="http://schemas.microsoft.com/office/drawing/2014/main" id="{2611D627-E368-847F-1273-98BBB0BFB6F3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Needs data</a:t>
              </a:r>
            </a:p>
          </p:txBody>
        </p:sp>
      </p:grpSp>
      <p:grpSp>
        <p:nvGrpSpPr>
          <p:cNvPr id="193" name="Group 68">
            <a:extLst>
              <a:ext uri="{FF2B5EF4-FFF2-40B4-BE49-F238E27FC236}">
                <a16:creationId xmlns:a16="http://schemas.microsoft.com/office/drawing/2014/main" id="{2FECADC5-E03A-468F-F1AD-A35DE4E0112D}"/>
              </a:ext>
            </a:extLst>
          </p:cNvPr>
          <p:cNvGrpSpPr/>
          <p:nvPr/>
        </p:nvGrpSpPr>
        <p:grpSpPr>
          <a:xfrm>
            <a:off x="1192911" y="17625060"/>
            <a:ext cx="16322040" cy="754380"/>
            <a:chOff x="0" y="0"/>
            <a:chExt cx="21762720" cy="1005840"/>
          </a:xfrm>
        </p:grpSpPr>
        <p:sp>
          <p:nvSpPr>
            <p:cNvPr id="194" name="Freeform 69">
              <a:extLst>
                <a:ext uri="{FF2B5EF4-FFF2-40B4-BE49-F238E27FC236}">
                  <a16:creationId xmlns:a16="http://schemas.microsoft.com/office/drawing/2014/main" id="{13C450D1-2CCA-FA66-6028-4AACA8B1E632}"/>
                </a:ext>
              </a:extLst>
            </p:cNvPr>
            <p:cNvSpPr/>
            <p:nvPr/>
          </p:nvSpPr>
          <p:spPr>
            <a:xfrm>
              <a:off x="0" y="0"/>
              <a:ext cx="21762720" cy="1005840"/>
            </a:xfrm>
            <a:custGeom>
              <a:avLst/>
              <a:gdLst/>
              <a:ahLst/>
              <a:cxnLst/>
              <a:rect l="l" t="t" r="r" b="b"/>
              <a:pathLst>
                <a:path w="21762720" h="100584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195" name="Group 70">
            <a:extLst>
              <a:ext uri="{FF2B5EF4-FFF2-40B4-BE49-F238E27FC236}">
                <a16:creationId xmlns:a16="http://schemas.microsoft.com/office/drawing/2014/main" id="{FF622A3B-908C-27EF-CA58-61B165F127EB}"/>
              </a:ext>
            </a:extLst>
          </p:cNvPr>
          <p:cNvGrpSpPr/>
          <p:nvPr/>
        </p:nvGrpSpPr>
        <p:grpSpPr>
          <a:xfrm>
            <a:off x="1398651" y="17625060"/>
            <a:ext cx="4526280" cy="754380"/>
            <a:chOff x="0" y="0"/>
            <a:chExt cx="6035040" cy="1005840"/>
          </a:xfrm>
        </p:grpSpPr>
        <p:sp>
          <p:nvSpPr>
            <p:cNvPr id="196" name="Freeform 71">
              <a:extLst>
                <a:ext uri="{FF2B5EF4-FFF2-40B4-BE49-F238E27FC236}">
                  <a16:creationId xmlns:a16="http://schemas.microsoft.com/office/drawing/2014/main" id="{D80AD6F7-2568-D34C-CCDD-9AFE4484CB5C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97" name="TextBox 72">
              <a:extLst>
                <a:ext uri="{FF2B5EF4-FFF2-40B4-BE49-F238E27FC236}">
                  <a16:creationId xmlns:a16="http://schemas.microsoft.com/office/drawing/2014/main" id="{B4D7054E-755E-E65B-1B60-DD47A0D1A6DB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Learning &amp; study plan</a:t>
              </a:r>
            </a:p>
          </p:txBody>
        </p:sp>
      </p:grpSp>
      <p:grpSp>
        <p:nvGrpSpPr>
          <p:cNvPr id="198" name="Group 73">
            <a:extLst>
              <a:ext uri="{FF2B5EF4-FFF2-40B4-BE49-F238E27FC236}">
                <a16:creationId xmlns:a16="http://schemas.microsoft.com/office/drawing/2014/main" id="{4BD7D2A9-29D9-5281-39F0-F2498881EC32}"/>
              </a:ext>
            </a:extLst>
          </p:cNvPr>
          <p:cNvGrpSpPr/>
          <p:nvPr/>
        </p:nvGrpSpPr>
        <p:grpSpPr>
          <a:xfrm>
            <a:off x="6336411" y="17625060"/>
            <a:ext cx="7955280" cy="754380"/>
            <a:chOff x="0" y="0"/>
            <a:chExt cx="10607040" cy="1005840"/>
          </a:xfrm>
        </p:grpSpPr>
        <p:sp>
          <p:nvSpPr>
            <p:cNvPr id="199" name="Freeform 74">
              <a:extLst>
                <a:ext uri="{FF2B5EF4-FFF2-40B4-BE49-F238E27FC236}">
                  <a16:creationId xmlns:a16="http://schemas.microsoft.com/office/drawing/2014/main" id="{8A47BB9F-A577-D0DD-3C24-FECA72C95FB2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200" name="TextBox 75">
              <a:extLst>
                <a:ext uri="{FF2B5EF4-FFF2-40B4-BE49-F238E27FC236}">
                  <a16:creationId xmlns:a16="http://schemas.microsoft.com/office/drawing/2014/main" id="{755E24B7-6D40-3C7A-9A0A-A4650469D4D6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Curated free resources; LLM sequences the plan</a:t>
              </a:r>
            </a:p>
          </p:txBody>
        </p:sp>
      </p:grpSp>
      <p:grpSp>
        <p:nvGrpSpPr>
          <p:cNvPr id="201" name="Group 76">
            <a:extLst>
              <a:ext uri="{FF2B5EF4-FFF2-40B4-BE49-F238E27FC236}">
                <a16:creationId xmlns:a16="http://schemas.microsoft.com/office/drawing/2014/main" id="{68D03D31-C83D-3FE3-406A-7940C230AAB2}"/>
              </a:ext>
            </a:extLst>
          </p:cNvPr>
          <p:cNvGrpSpPr/>
          <p:nvPr/>
        </p:nvGrpSpPr>
        <p:grpSpPr>
          <a:xfrm>
            <a:off x="14703171" y="17625060"/>
            <a:ext cx="2606040" cy="754380"/>
            <a:chOff x="0" y="0"/>
            <a:chExt cx="3474720" cy="1005840"/>
          </a:xfrm>
        </p:grpSpPr>
        <p:sp>
          <p:nvSpPr>
            <p:cNvPr id="202" name="Freeform 77">
              <a:extLst>
                <a:ext uri="{FF2B5EF4-FFF2-40B4-BE49-F238E27FC236}">
                  <a16:creationId xmlns:a16="http://schemas.microsoft.com/office/drawing/2014/main" id="{A6A3B2DB-9CAE-D80F-F6DD-6D5AAE0C7170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203" name="TextBox 78">
              <a:extLst>
                <a:ext uri="{FF2B5EF4-FFF2-40B4-BE49-F238E27FC236}">
                  <a16:creationId xmlns:a16="http://schemas.microsoft.com/office/drawing/2014/main" id="{75071403-B7DB-F763-F3FA-CBE2AF5C2C02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Needs data</a:t>
              </a:r>
            </a:p>
          </p:txBody>
        </p:sp>
      </p:grpSp>
      <p:grpSp>
        <p:nvGrpSpPr>
          <p:cNvPr id="204" name="Group 79">
            <a:extLst>
              <a:ext uri="{FF2B5EF4-FFF2-40B4-BE49-F238E27FC236}">
                <a16:creationId xmlns:a16="http://schemas.microsoft.com/office/drawing/2014/main" id="{D9E6EBFC-74F0-A95B-9FB8-C936BC349A5A}"/>
              </a:ext>
            </a:extLst>
          </p:cNvPr>
          <p:cNvGrpSpPr/>
          <p:nvPr/>
        </p:nvGrpSpPr>
        <p:grpSpPr>
          <a:xfrm>
            <a:off x="1398651" y="18379440"/>
            <a:ext cx="4526280" cy="754380"/>
            <a:chOff x="0" y="0"/>
            <a:chExt cx="6035040" cy="1005840"/>
          </a:xfrm>
        </p:grpSpPr>
        <p:sp>
          <p:nvSpPr>
            <p:cNvPr id="205" name="Freeform 80">
              <a:extLst>
                <a:ext uri="{FF2B5EF4-FFF2-40B4-BE49-F238E27FC236}">
                  <a16:creationId xmlns:a16="http://schemas.microsoft.com/office/drawing/2014/main" id="{F58E1C20-B589-62F7-B305-23AE0B5DC56F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206" name="TextBox 81">
              <a:extLst>
                <a:ext uri="{FF2B5EF4-FFF2-40B4-BE49-F238E27FC236}">
                  <a16:creationId xmlns:a16="http://schemas.microsoft.com/office/drawing/2014/main" id="{B706A7D9-B949-1ECE-2501-510C9D729A3A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Peer network &amp; job matching</a:t>
              </a:r>
            </a:p>
          </p:txBody>
        </p:sp>
      </p:grpSp>
      <p:grpSp>
        <p:nvGrpSpPr>
          <p:cNvPr id="207" name="Group 82">
            <a:extLst>
              <a:ext uri="{FF2B5EF4-FFF2-40B4-BE49-F238E27FC236}">
                <a16:creationId xmlns:a16="http://schemas.microsoft.com/office/drawing/2014/main" id="{4C2224A4-2C39-6D31-E9DB-A39DEDCD767B}"/>
              </a:ext>
            </a:extLst>
          </p:cNvPr>
          <p:cNvGrpSpPr/>
          <p:nvPr/>
        </p:nvGrpSpPr>
        <p:grpSpPr>
          <a:xfrm>
            <a:off x="6336411" y="18379440"/>
            <a:ext cx="7955280" cy="754380"/>
            <a:chOff x="0" y="0"/>
            <a:chExt cx="10607040" cy="1005840"/>
          </a:xfrm>
        </p:grpSpPr>
        <p:sp>
          <p:nvSpPr>
            <p:cNvPr id="208" name="Freeform 83">
              <a:extLst>
                <a:ext uri="{FF2B5EF4-FFF2-40B4-BE49-F238E27FC236}">
                  <a16:creationId xmlns:a16="http://schemas.microsoft.com/office/drawing/2014/main" id="{38E8E298-C6B1-F78A-3812-7BD07104F39C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209" name="TextBox 84">
              <a:extLst>
                <a:ext uri="{FF2B5EF4-FFF2-40B4-BE49-F238E27FC236}">
                  <a16:creationId xmlns:a16="http://schemas.microsoft.com/office/drawing/2014/main" id="{7D359CF5-9DBC-4ABA-4DE1-09DE9A29F564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Goal-based matching; employer and mentor onboarding</a:t>
              </a:r>
            </a:p>
          </p:txBody>
        </p:sp>
      </p:grpSp>
      <p:grpSp>
        <p:nvGrpSpPr>
          <p:cNvPr id="210" name="Group 85">
            <a:extLst>
              <a:ext uri="{FF2B5EF4-FFF2-40B4-BE49-F238E27FC236}">
                <a16:creationId xmlns:a16="http://schemas.microsoft.com/office/drawing/2014/main" id="{1C00F857-1865-52B0-931D-E280B6771A9D}"/>
              </a:ext>
            </a:extLst>
          </p:cNvPr>
          <p:cNvGrpSpPr/>
          <p:nvPr/>
        </p:nvGrpSpPr>
        <p:grpSpPr>
          <a:xfrm>
            <a:off x="14703171" y="18379440"/>
            <a:ext cx="2606040" cy="754380"/>
            <a:chOff x="0" y="0"/>
            <a:chExt cx="3474720" cy="1005840"/>
          </a:xfrm>
        </p:grpSpPr>
        <p:sp>
          <p:nvSpPr>
            <p:cNvPr id="211" name="Freeform 86">
              <a:extLst>
                <a:ext uri="{FF2B5EF4-FFF2-40B4-BE49-F238E27FC236}">
                  <a16:creationId xmlns:a16="http://schemas.microsoft.com/office/drawing/2014/main" id="{13D3DA20-FBCC-8E6F-D12F-51C683B126B9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212" name="TextBox 87">
              <a:extLst>
                <a:ext uri="{FF2B5EF4-FFF2-40B4-BE49-F238E27FC236}">
                  <a16:creationId xmlns:a16="http://schemas.microsoft.com/office/drawing/2014/main" id="{4ED34A62-6CA6-1185-5E41-455B3FFAFD53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Needs partners</a:t>
              </a:r>
            </a:p>
          </p:txBody>
        </p:sp>
      </p:grpSp>
      <p:sp>
        <p:nvSpPr>
          <p:cNvPr id="213" name="TextBox 88">
            <a:extLst>
              <a:ext uri="{FF2B5EF4-FFF2-40B4-BE49-F238E27FC236}">
                <a16:creationId xmlns:a16="http://schemas.microsoft.com/office/drawing/2014/main" id="{471ADA16-137A-CF40-53CA-BF564BAD4CAD}"/>
              </a:ext>
            </a:extLst>
          </p:cNvPr>
          <p:cNvSpPr txBox="1"/>
          <p:nvPr/>
        </p:nvSpPr>
        <p:spPr>
          <a:xfrm>
            <a:off x="1192911" y="19330035"/>
            <a:ext cx="163220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The core thread (voice → verified profile → CV → gap → exam eligibility) uses existing APIs. Peers and jobs need partners, so they come in later phases.</a:t>
            </a:r>
          </a:p>
        </p:txBody>
      </p:sp>
      <p:grpSp>
        <p:nvGrpSpPr>
          <p:cNvPr id="214" name="Group 89">
            <a:extLst>
              <a:ext uri="{FF2B5EF4-FFF2-40B4-BE49-F238E27FC236}">
                <a16:creationId xmlns:a16="http://schemas.microsoft.com/office/drawing/2014/main" id="{AFE377BB-CF67-A864-3070-B220FFB909C9}"/>
              </a:ext>
            </a:extLst>
          </p:cNvPr>
          <p:cNvGrpSpPr/>
          <p:nvPr/>
        </p:nvGrpSpPr>
        <p:grpSpPr>
          <a:xfrm>
            <a:off x="17446371" y="20093940"/>
            <a:ext cx="822960" cy="411480"/>
            <a:chOff x="0" y="0"/>
            <a:chExt cx="1097280" cy="548640"/>
          </a:xfrm>
        </p:grpSpPr>
        <p:sp>
          <p:nvSpPr>
            <p:cNvPr id="215" name="Freeform 90">
              <a:extLst>
                <a:ext uri="{FF2B5EF4-FFF2-40B4-BE49-F238E27FC236}">
                  <a16:creationId xmlns:a16="http://schemas.microsoft.com/office/drawing/2014/main" id="{44D5E11C-73A9-6C7B-FE47-245C93F106FB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16" name="TextBox 91">
              <a:extLst>
                <a:ext uri="{FF2B5EF4-FFF2-40B4-BE49-F238E27FC236}">
                  <a16:creationId xmlns:a16="http://schemas.microsoft.com/office/drawing/2014/main" id="{1083B786-874C-E579-7AEA-F12750B813B0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13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FEASIBILITY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097280"/>
            <a:ext cx="16322040" cy="1234440"/>
            <a:chOff x="0" y="0"/>
            <a:chExt cx="2176272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How we would build it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0120" y="2743200"/>
            <a:ext cx="16322040" cy="754380"/>
            <a:chOff x="0" y="0"/>
            <a:chExt cx="21762720" cy="1005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62720" cy="1005840"/>
            </a:xfrm>
            <a:custGeom>
              <a:avLst/>
              <a:gdLst/>
              <a:ahLst/>
              <a:cxnLst/>
              <a:rect l="l" t="t" r="r" b="b"/>
              <a:pathLst>
                <a:path w="21762720" h="100584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65860" y="2743200"/>
            <a:ext cx="4526280" cy="754380"/>
            <a:chOff x="0" y="0"/>
            <a:chExt cx="6035040" cy="1005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Component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103620" y="2743200"/>
            <a:ext cx="7955280" cy="754380"/>
            <a:chOff x="0" y="0"/>
            <a:chExt cx="10607040" cy="1005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Approach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470380" y="2743200"/>
            <a:ext cx="2606040" cy="754380"/>
            <a:chOff x="0" y="0"/>
            <a:chExt cx="3474720" cy="10058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Readiness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5860" y="3497580"/>
            <a:ext cx="4526280" cy="754380"/>
            <a:chOff x="0" y="0"/>
            <a:chExt cx="6035040" cy="1005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Voice capture &amp; skill extraction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103620" y="3497580"/>
            <a:ext cx="7955280" cy="754380"/>
            <a:chOff x="0" y="0"/>
            <a:chExt cx="10607040" cy="10058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Browser mic + speech-to-text API; LLM prompt → structured tags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470380" y="3497580"/>
            <a:ext cx="2606040" cy="754380"/>
            <a:chOff x="0" y="0"/>
            <a:chExt cx="3474720" cy="10058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Ready-made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60120" y="4251960"/>
            <a:ext cx="16322040" cy="754380"/>
            <a:chOff x="0" y="0"/>
            <a:chExt cx="21762720" cy="10058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762720" cy="1005840"/>
            </a:xfrm>
            <a:custGeom>
              <a:avLst/>
              <a:gdLst/>
              <a:ahLst/>
              <a:cxnLst/>
              <a:rect l="l" t="t" r="r" b="b"/>
              <a:pathLst>
                <a:path w="21762720" h="100584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165860" y="4251960"/>
            <a:ext cx="4526280" cy="754380"/>
            <a:chOff x="0" y="0"/>
            <a:chExt cx="6035040" cy="10058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Skill verification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03620" y="4251960"/>
            <a:ext cx="7955280" cy="754380"/>
            <a:chOff x="0" y="0"/>
            <a:chExt cx="10607040" cy="10058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LLM-generated task, rubric-scored by a second LLM pass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470380" y="4251960"/>
            <a:ext cx="2606040" cy="754380"/>
            <a:chOff x="0" y="0"/>
            <a:chExt cx="3474720" cy="10058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Ready-made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65860" y="5006340"/>
            <a:ext cx="4526280" cy="754380"/>
            <a:chOff x="0" y="0"/>
            <a:chExt cx="6035040" cy="10058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CV builder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03620" y="5006340"/>
            <a:ext cx="7955280" cy="754380"/>
            <a:chOff x="0" y="0"/>
            <a:chExt cx="10607040" cy="10058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LLM drafts the CV from the verified profile; export as PDF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4470380" y="5006340"/>
            <a:ext cx="2606040" cy="754380"/>
            <a:chOff x="0" y="0"/>
            <a:chExt cx="3474720" cy="10058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Ready-made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60120" y="5760720"/>
            <a:ext cx="16322040" cy="754380"/>
            <a:chOff x="0" y="0"/>
            <a:chExt cx="21762720" cy="10058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762720" cy="1005840"/>
            </a:xfrm>
            <a:custGeom>
              <a:avLst/>
              <a:gdLst/>
              <a:ahLst/>
              <a:cxnLst/>
              <a:rect l="l" t="t" r="r" b="b"/>
              <a:pathLst>
                <a:path w="21762720" h="100584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165860" y="5760720"/>
            <a:ext cx="4526280" cy="754380"/>
            <a:chOff x="0" y="0"/>
            <a:chExt cx="6035040" cy="10058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Gap finder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103620" y="5760720"/>
            <a:ext cx="7955280" cy="754380"/>
            <a:chOff x="0" y="0"/>
            <a:chExt cx="10607040" cy="10058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Embedding similarity against role requirements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470380" y="5760720"/>
            <a:ext cx="2606040" cy="754380"/>
            <a:chOff x="0" y="0"/>
            <a:chExt cx="3474720" cy="10058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Ready-made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65860" y="6515100"/>
            <a:ext cx="4526280" cy="754380"/>
            <a:chOff x="0" y="0"/>
            <a:chExt cx="6035040" cy="10058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Exam eligibility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103620" y="6515100"/>
            <a:ext cx="7955280" cy="754380"/>
            <a:chOff x="0" y="0"/>
            <a:chExt cx="10607040" cy="10058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Rules engine on curated official notifications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4470380" y="6515100"/>
            <a:ext cx="2606040" cy="754380"/>
            <a:chOff x="0" y="0"/>
            <a:chExt cx="3474720" cy="100584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Needs data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60120" y="7269480"/>
            <a:ext cx="16322040" cy="754380"/>
            <a:chOff x="0" y="0"/>
            <a:chExt cx="21762720" cy="10058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1762720" cy="1005840"/>
            </a:xfrm>
            <a:custGeom>
              <a:avLst/>
              <a:gdLst/>
              <a:ahLst/>
              <a:cxnLst/>
              <a:rect l="l" t="t" r="r" b="b"/>
              <a:pathLst>
                <a:path w="21762720" h="100584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1165860" y="7269480"/>
            <a:ext cx="4526280" cy="754380"/>
            <a:chOff x="0" y="0"/>
            <a:chExt cx="6035040" cy="10058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Learning &amp; study plan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103620" y="7269480"/>
            <a:ext cx="7955280" cy="754380"/>
            <a:chOff x="0" y="0"/>
            <a:chExt cx="10607040" cy="10058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Curated free resources; LLM sequences the plan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4470380" y="7269480"/>
            <a:ext cx="2606040" cy="754380"/>
            <a:chOff x="0" y="0"/>
            <a:chExt cx="3474720" cy="10058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Needs data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65860" y="8023860"/>
            <a:ext cx="4526280" cy="754380"/>
            <a:chOff x="0" y="0"/>
            <a:chExt cx="6035040" cy="100584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Peer network &amp; job matching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103620" y="8023860"/>
            <a:ext cx="7955280" cy="754380"/>
            <a:chOff x="0" y="0"/>
            <a:chExt cx="10607040" cy="100584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Goal-based matching; employer and mentor onboarding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4470380" y="8023860"/>
            <a:ext cx="2606040" cy="754380"/>
            <a:chOff x="0" y="0"/>
            <a:chExt cx="3474720" cy="100584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Needs partners</a:t>
              </a: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960120" y="8974455"/>
            <a:ext cx="163220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The core thread (voice → verified profile → CV → gap → exam eligibility) uses existing APIs. Peers and jobs need partners, so they come in later phases.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13</a:t>
              </a:r>
            </a:p>
          </p:txBody>
        </p:sp>
      </p:grpSp>
      <p:grpSp>
        <p:nvGrpSpPr>
          <p:cNvPr id="92" name="Group 2">
            <a:extLst>
              <a:ext uri="{FF2B5EF4-FFF2-40B4-BE49-F238E27FC236}">
                <a16:creationId xmlns:a16="http://schemas.microsoft.com/office/drawing/2014/main" id="{833A73CA-2262-246A-EE30-1B052D9AFA20}"/>
              </a:ext>
            </a:extLst>
          </p:cNvPr>
          <p:cNvGrpSpPr/>
          <p:nvPr/>
        </p:nvGrpSpPr>
        <p:grpSpPr>
          <a:xfrm>
            <a:off x="857250" y="-10172224"/>
            <a:ext cx="12344400" cy="480060"/>
            <a:chOff x="0" y="0"/>
            <a:chExt cx="16459200" cy="640080"/>
          </a:xfrm>
        </p:grpSpPr>
        <p:sp>
          <p:nvSpPr>
            <p:cNvPr id="93" name="Freeform 3">
              <a:extLst>
                <a:ext uri="{FF2B5EF4-FFF2-40B4-BE49-F238E27FC236}">
                  <a16:creationId xmlns:a16="http://schemas.microsoft.com/office/drawing/2014/main" id="{02F71966-19A2-FB5B-9E1D-592E0E1F5E0F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94" name="TextBox 4">
              <a:extLst>
                <a:ext uri="{FF2B5EF4-FFF2-40B4-BE49-F238E27FC236}">
                  <a16:creationId xmlns:a16="http://schemas.microsoft.com/office/drawing/2014/main" id="{EA9D6AA7-F64E-2B16-A693-DC01C9773651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UNDER THE HOOD</a:t>
              </a:r>
            </a:p>
          </p:txBody>
        </p:sp>
      </p:grpSp>
      <p:grpSp>
        <p:nvGrpSpPr>
          <p:cNvPr id="95" name="Group 5">
            <a:extLst>
              <a:ext uri="{FF2B5EF4-FFF2-40B4-BE49-F238E27FC236}">
                <a16:creationId xmlns:a16="http://schemas.microsoft.com/office/drawing/2014/main" id="{4E4DB5CB-0341-6EEE-5BD2-2E1AB4B19BCF}"/>
              </a:ext>
            </a:extLst>
          </p:cNvPr>
          <p:cNvGrpSpPr/>
          <p:nvPr/>
        </p:nvGrpSpPr>
        <p:grpSpPr>
          <a:xfrm>
            <a:off x="857250" y="-9692164"/>
            <a:ext cx="16322040" cy="1234440"/>
            <a:chOff x="0" y="0"/>
            <a:chExt cx="21762720" cy="1645920"/>
          </a:xfrm>
        </p:grpSpPr>
        <p:sp>
          <p:nvSpPr>
            <p:cNvPr id="96" name="Freeform 6">
              <a:extLst>
                <a:ext uri="{FF2B5EF4-FFF2-40B4-BE49-F238E27FC236}">
                  <a16:creationId xmlns:a16="http://schemas.microsoft.com/office/drawing/2014/main" id="{DEA758CA-C1C7-B641-B257-AF3FE7691D3A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97" name="TextBox 7">
              <a:extLst>
                <a:ext uri="{FF2B5EF4-FFF2-40B4-BE49-F238E27FC236}">
                  <a16:creationId xmlns:a16="http://schemas.microsoft.com/office/drawing/2014/main" id="{4719455C-21DA-38BD-DE83-AEBD2BE6DEA7}"/>
                </a:ext>
              </a:extLst>
            </p:cNvPr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How the AI actually works, end to end</a:t>
              </a:r>
            </a:p>
          </p:txBody>
        </p:sp>
      </p:grpSp>
      <p:grpSp>
        <p:nvGrpSpPr>
          <p:cNvPr id="98" name="Group 8">
            <a:extLst>
              <a:ext uri="{FF2B5EF4-FFF2-40B4-BE49-F238E27FC236}">
                <a16:creationId xmlns:a16="http://schemas.microsoft.com/office/drawing/2014/main" id="{289527F9-07AF-24F1-C1A0-088875A07D56}"/>
              </a:ext>
            </a:extLst>
          </p:cNvPr>
          <p:cNvGrpSpPr/>
          <p:nvPr/>
        </p:nvGrpSpPr>
        <p:grpSpPr>
          <a:xfrm>
            <a:off x="847725" y="-7301389"/>
            <a:ext cx="2899410" cy="4613910"/>
            <a:chOff x="0" y="0"/>
            <a:chExt cx="3865880" cy="6151880"/>
          </a:xfrm>
        </p:grpSpPr>
        <p:sp>
          <p:nvSpPr>
            <p:cNvPr id="99" name="Freeform 9">
              <a:extLst>
                <a:ext uri="{FF2B5EF4-FFF2-40B4-BE49-F238E27FC236}">
                  <a16:creationId xmlns:a16="http://schemas.microsoft.com/office/drawing/2014/main" id="{5C3E3853-C9DE-031A-8A89-63887D3F417E}"/>
                </a:ext>
              </a:extLst>
            </p:cNvPr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0" name="Group 10">
            <a:extLst>
              <a:ext uri="{FF2B5EF4-FFF2-40B4-BE49-F238E27FC236}">
                <a16:creationId xmlns:a16="http://schemas.microsoft.com/office/drawing/2014/main" id="{C12AB181-8176-6611-738C-E1BB60D92210}"/>
              </a:ext>
            </a:extLst>
          </p:cNvPr>
          <p:cNvGrpSpPr/>
          <p:nvPr/>
        </p:nvGrpSpPr>
        <p:grpSpPr>
          <a:xfrm>
            <a:off x="1920240" y="-7771924"/>
            <a:ext cx="754380" cy="754380"/>
            <a:chOff x="0" y="0"/>
            <a:chExt cx="1005840" cy="1005840"/>
          </a:xfrm>
        </p:grpSpPr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8F8AF8CB-AF15-1F69-D714-FE510EB25DDF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02" name="Group 12">
            <a:extLst>
              <a:ext uri="{FF2B5EF4-FFF2-40B4-BE49-F238E27FC236}">
                <a16:creationId xmlns:a16="http://schemas.microsoft.com/office/drawing/2014/main" id="{D8D2CA4D-BA51-6DD2-4CF9-BCB20921214C}"/>
              </a:ext>
            </a:extLst>
          </p:cNvPr>
          <p:cNvGrpSpPr/>
          <p:nvPr/>
        </p:nvGrpSpPr>
        <p:grpSpPr>
          <a:xfrm>
            <a:off x="1920240" y="-7771924"/>
            <a:ext cx="754380" cy="754380"/>
            <a:chOff x="0" y="0"/>
            <a:chExt cx="1005840" cy="1005840"/>
          </a:xfrm>
        </p:grpSpPr>
        <p:sp>
          <p:nvSpPr>
            <p:cNvPr id="103" name="Freeform 13">
              <a:extLst>
                <a:ext uri="{FF2B5EF4-FFF2-40B4-BE49-F238E27FC236}">
                  <a16:creationId xmlns:a16="http://schemas.microsoft.com/office/drawing/2014/main" id="{C261039C-01B7-72B3-44F1-0AD151056305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4" name="TextBox 14">
              <a:extLst>
                <a:ext uri="{FF2B5EF4-FFF2-40B4-BE49-F238E27FC236}">
                  <a16:creationId xmlns:a16="http://schemas.microsoft.com/office/drawing/2014/main" id="{A5ABE227-E01F-8D1A-52D4-79517355F71E}"/>
                </a:ext>
              </a:extLst>
            </p:cNvPr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05" name="Group 15">
            <a:extLst>
              <a:ext uri="{FF2B5EF4-FFF2-40B4-BE49-F238E27FC236}">
                <a16:creationId xmlns:a16="http://schemas.microsoft.com/office/drawing/2014/main" id="{AF243E0A-9D6E-13C4-7915-AE7C60BAFD5D}"/>
              </a:ext>
            </a:extLst>
          </p:cNvPr>
          <p:cNvGrpSpPr/>
          <p:nvPr/>
        </p:nvGrpSpPr>
        <p:grpSpPr>
          <a:xfrm>
            <a:off x="1062990" y="-6811804"/>
            <a:ext cx="2468880" cy="548640"/>
            <a:chOff x="0" y="0"/>
            <a:chExt cx="3291840" cy="731520"/>
          </a:xfrm>
        </p:grpSpPr>
        <p:sp>
          <p:nvSpPr>
            <p:cNvPr id="106" name="Freeform 16">
              <a:extLst>
                <a:ext uri="{FF2B5EF4-FFF2-40B4-BE49-F238E27FC236}">
                  <a16:creationId xmlns:a16="http://schemas.microsoft.com/office/drawing/2014/main" id="{D88344EE-88C5-D93C-F28C-568586A7648C}"/>
                </a:ext>
              </a:extLst>
            </p:cNvPr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07" name="TextBox 17">
              <a:extLst>
                <a:ext uri="{FF2B5EF4-FFF2-40B4-BE49-F238E27FC236}">
                  <a16:creationId xmlns:a16="http://schemas.microsoft.com/office/drawing/2014/main" id="{14899F25-5F7E-64D0-66A1-8F021AAB56A0}"/>
                </a:ext>
              </a:extLst>
            </p:cNvPr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Capture</a:t>
              </a:r>
            </a:p>
          </p:txBody>
        </p:sp>
      </p:grpSp>
      <p:sp>
        <p:nvSpPr>
          <p:cNvPr id="108" name="TextBox 18">
            <a:extLst>
              <a:ext uri="{FF2B5EF4-FFF2-40B4-BE49-F238E27FC236}">
                <a16:creationId xmlns:a16="http://schemas.microsoft.com/office/drawing/2014/main" id="{DE284E3F-CBF2-C9B1-7327-199BCD368F78}"/>
              </a:ext>
            </a:extLst>
          </p:cNvPr>
          <p:cNvSpPr txBox="1"/>
          <p:nvPr/>
        </p:nvSpPr>
        <p:spPr>
          <a:xfrm>
            <a:off x="1062990" y="-6114574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Speech-to-text plus an LLM turn a spoken description into confidence-scored skill tags.</a:t>
            </a:r>
          </a:p>
        </p:txBody>
      </p:sp>
      <p:grpSp>
        <p:nvGrpSpPr>
          <p:cNvPr id="109" name="Group 19">
            <a:extLst>
              <a:ext uri="{FF2B5EF4-FFF2-40B4-BE49-F238E27FC236}">
                <a16:creationId xmlns:a16="http://schemas.microsoft.com/office/drawing/2014/main" id="{F3C1E8E6-B812-FA1A-E9EB-F010076488FC}"/>
              </a:ext>
            </a:extLst>
          </p:cNvPr>
          <p:cNvGrpSpPr/>
          <p:nvPr/>
        </p:nvGrpSpPr>
        <p:grpSpPr>
          <a:xfrm>
            <a:off x="3737610" y="-5508784"/>
            <a:ext cx="480060" cy="685800"/>
            <a:chOff x="0" y="0"/>
            <a:chExt cx="640080" cy="914400"/>
          </a:xfrm>
        </p:grpSpPr>
        <p:sp>
          <p:nvSpPr>
            <p:cNvPr id="110" name="Freeform 20">
              <a:extLst>
                <a:ext uri="{FF2B5EF4-FFF2-40B4-BE49-F238E27FC236}">
                  <a16:creationId xmlns:a16="http://schemas.microsoft.com/office/drawing/2014/main" id="{2D81B740-C144-0C49-F1DC-49FBC2B6F9ED}"/>
                </a:ext>
              </a:extLst>
            </p:cNvPr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111" name="TextBox 21">
              <a:extLst>
                <a:ext uri="{FF2B5EF4-FFF2-40B4-BE49-F238E27FC236}">
                  <a16:creationId xmlns:a16="http://schemas.microsoft.com/office/drawing/2014/main" id="{8956C4EE-03DF-EF0D-F805-A647CA3DF467}"/>
                </a:ext>
              </a:extLst>
            </p:cNvPr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10"/>
                </a:lnSpc>
              </a:pPr>
              <a:r>
                <a:rPr lang="en-US" sz="2925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112" name="Group 22">
            <a:extLst>
              <a:ext uri="{FF2B5EF4-FFF2-40B4-BE49-F238E27FC236}">
                <a16:creationId xmlns:a16="http://schemas.microsoft.com/office/drawing/2014/main" id="{0428BE63-7143-E024-7942-2DCECD930006}"/>
              </a:ext>
            </a:extLst>
          </p:cNvPr>
          <p:cNvGrpSpPr/>
          <p:nvPr/>
        </p:nvGrpSpPr>
        <p:grpSpPr>
          <a:xfrm>
            <a:off x="4208145" y="-7301389"/>
            <a:ext cx="2899410" cy="4613910"/>
            <a:chOff x="0" y="0"/>
            <a:chExt cx="3865880" cy="6151880"/>
          </a:xfrm>
        </p:grpSpPr>
        <p:sp>
          <p:nvSpPr>
            <p:cNvPr id="113" name="Freeform 23">
              <a:extLst>
                <a:ext uri="{FF2B5EF4-FFF2-40B4-BE49-F238E27FC236}">
                  <a16:creationId xmlns:a16="http://schemas.microsoft.com/office/drawing/2014/main" id="{A766A46A-F389-8A8F-9127-904E1DEFF64C}"/>
                </a:ext>
              </a:extLst>
            </p:cNvPr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14" name="Group 24">
            <a:extLst>
              <a:ext uri="{FF2B5EF4-FFF2-40B4-BE49-F238E27FC236}">
                <a16:creationId xmlns:a16="http://schemas.microsoft.com/office/drawing/2014/main" id="{BDC205A3-E25E-4438-1923-457B17AC9221}"/>
              </a:ext>
            </a:extLst>
          </p:cNvPr>
          <p:cNvGrpSpPr/>
          <p:nvPr/>
        </p:nvGrpSpPr>
        <p:grpSpPr>
          <a:xfrm>
            <a:off x="5280660" y="-7771924"/>
            <a:ext cx="754380" cy="754380"/>
            <a:chOff x="0" y="0"/>
            <a:chExt cx="1005840" cy="1005840"/>
          </a:xfrm>
        </p:grpSpPr>
        <p:sp>
          <p:nvSpPr>
            <p:cNvPr id="115" name="Freeform 25">
              <a:extLst>
                <a:ext uri="{FF2B5EF4-FFF2-40B4-BE49-F238E27FC236}">
                  <a16:creationId xmlns:a16="http://schemas.microsoft.com/office/drawing/2014/main" id="{51210ECC-395A-0449-DD60-3074D371769A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16" name="Group 26">
            <a:extLst>
              <a:ext uri="{FF2B5EF4-FFF2-40B4-BE49-F238E27FC236}">
                <a16:creationId xmlns:a16="http://schemas.microsoft.com/office/drawing/2014/main" id="{BFCAC771-CF06-B177-0E54-45ACCD03B42D}"/>
              </a:ext>
            </a:extLst>
          </p:cNvPr>
          <p:cNvGrpSpPr/>
          <p:nvPr/>
        </p:nvGrpSpPr>
        <p:grpSpPr>
          <a:xfrm>
            <a:off x="5280660" y="-7771924"/>
            <a:ext cx="754380" cy="754380"/>
            <a:chOff x="0" y="0"/>
            <a:chExt cx="1005840" cy="1005840"/>
          </a:xfrm>
        </p:grpSpPr>
        <p:sp>
          <p:nvSpPr>
            <p:cNvPr id="117" name="Freeform 27">
              <a:extLst>
                <a:ext uri="{FF2B5EF4-FFF2-40B4-BE49-F238E27FC236}">
                  <a16:creationId xmlns:a16="http://schemas.microsoft.com/office/drawing/2014/main" id="{FCC0443E-868A-7526-3A88-6C35CD777890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8" name="TextBox 28">
              <a:extLst>
                <a:ext uri="{FF2B5EF4-FFF2-40B4-BE49-F238E27FC236}">
                  <a16:creationId xmlns:a16="http://schemas.microsoft.com/office/drawing/2014/main" id="{72B3D1A7-4A35-893C-183D-D26320A87255}"/>
                </a:ext>
              </a:extLst>
            </p:cNvPr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119" name="Group 29">
            <a:extLst>
              <a:ext uri="{FF2B5EF4-FFF2-40B4-BE49-F238E27FC236}">
                <a16:creationId xmlns:a16="http://schemas.microsoft.com/office/drawing/2014/main" id="{6D1A0D4C-DCC3-F192-1B78-39D3C431CE55}"/>
              </a:ext>
            </a:extLst>
          </p:cNvPr>
          <p:cNvGrpSpPr/>
          <p:nvPr/>
        </p:nvGrpSpPr>
        <p:grpSpPr>
          <a:xfrm>
            <a:off x="4423410" y="-6811804"/>
            <a:ext cx="2468880" cy="548640"/>
            <a:chOff x="0" y="0"/>
            <a:chExt cx="3291840" cy="731520"/>
          </a:xfrm>
        </p:grpSpPr>
        <p:sp>
          <p:nvSpPr>
            <p:cNvPr id="120" name="Freeform 30">
              <a:extLst>
                <a:ext uri="{FF2B5EF4-FFF2-40B4-BE49-F238E27FC236}">
                  <a16:creationId xmlns:a16="http://schemas.microsoft.com/office/drawing/2014/main" id="{E76AAB1F-EE68-7597-4314-FA892FE13D4B}"/>
                </a:ext>
              </a:extLst>
            </p:cNvPr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21" name="TextBox 31">
              <a:extLst>
                <a:ext uri="{FF2B5EF4-FFF2-40B4-BE49-F238E27FC236}">
                  <a16:creationId xmlns:a16="http://schemas.microsoft.com/office/drawing/2014/main" id="{7716A488-9B6C-BD68-49B9-310FED4C5E3A}"/>
                </a:ext>
              </a:extLst>
            </p:cNvPr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Verify</a:t>
              </a:r>
            </a:p>
          </p:txBody>
        </p:sp>
      </p:grpSp>
      <p:sp>
        <p:nvSpPr>
          <p:cNvPr id="122" name="TextBox 32">
            <a:extLst>
              <a:ext uri="{FF2B5EF4-FFF2-40B4-BE49-F238E27FC236}">
                <a16:creationId xmlns:a16="http://schemas.microsoft.com/office/drawing/2014/main" id="{3485246B-A2F6-B5FE-E3AB-0BEF6E47D12C}"/>
              </a:ext>
            </a:extLst>
          </p:cNvPr>
          <p:cNvSpPr txBox="1"/>
          <p:nvPr/>
        </p:nvSpPr>
        <p:spPr>
          <a:xfrm>
            <a:off x="4423410" y="-6114574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Short AI-generated tasks are rubric-scored into a trust score for each claimed skill.</a:t>
            </a:r>
          </a:p>
        </p:txBody>
      </p:sp>
      <p:grpSp>
        <p:nvGrpSpPr>
          <p:cNvPr id="123" name="Group 33">
            <a:extLst>
              <a:ext uri="{FF2B5EF4-FFF2-40B4-BE49-F238E27FC236}">
                <a16:creationId xmlns:a16="http://schemas.microsoft.com/office/drawing/2014/main" id="{40E90FE9-2D62-C5AF-6ECD-05F9DF102ED8}"/>
              </a:ext>
            </a:extLst>
          </p:cNvPr>
          <p:cNvGrpSpPr/>
          <p:nvPr/>
        </p:nvGrpSpPr>
        <p:grpSpPr>
          <a:xfrm>
            <a:off x="7098030" y="-5508784"/>
            <a:ext cx="480060" cy="685800"/>
            <a:chOff x="0" y="0"/>
            <a:chExt cx="640080" cy="914400"/>
          </a:xfrm>
        </p:grpSpPr>
        <p:sp>
          <p:nvSpPr>
            <p:cNvPr id="124" name="Freeform 34">
              <a:extLst>
                <a:ext uri="{FF2B5EF4-FFF2-40B4-BE49-F238E27FC236}">
                  <a16:creationId xmlns:a16="http://schemas.microsoft.com/office/drawing/2014/main" id="{775E8EA9-1537-FE95-C188-B96F6BC5D010}"/>
                </a:ext>
              </a:extLst>
            </p:cNvPr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125" name="TextBox 35">
              <a:extLst>
                <a:ext uri="{FF2B5EF4-FFF2-40B4-BE49-F238E27FC236}">
                  <a16:creationId xmlns:a16="http://schemas.microsoft.com/office/drawing/2014/main" id="{40ECDAD7-CDDD-41A3-83B6-B5B2343D3741}"/>
                </a:ext>
              </a:extLst>
            </p:cNvPr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10"/>
                </a:lnSpc>
              </a:pPr>
              <a:r>
                <a:rPr lang="en-US" sz="2925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126" name="Group 36">
            <a:extLst>
              <a:ext uri="{FF2B5EF4-FFF2-40B4-BE49-F238E27FC236}">
                <a16:creationId xmlns:a16="http://schemas.microsoft.com/office/drawing/2014/main" id="{B37E4C9C-7631-80E0-0359-97CB92D18A8F}"/>
              </a:ext>
            </a:extLst>
          </p:cNvPr>
          <p:cNvGrpSpPr/>
          <p:nvPr/>
        </p:nvGrpSpPr>
        <p:grpSpPr>
          <a:xfrm>
            <a:off x="7568565" y="-7301389"/>
            <a:ext cx="2899410" cy="4613910"/>
            <a:chOff x="0" y="0"/>
            <a:chExt cx="3865880" cy="6151880"/>
          </a:xfrm>
        </p:grpSpPr>
        <p:sp>
          <p:nvSpPr>
            <p:cNvPr id="127" name="Freeform 37">
              <a:extLst>
                <a:ext uri="{FF2B5EF4-FFF2-40B4-BE49-F238E27FC236}">
                  <a16:creationId xmlns:a16="http://schemas.microsoft.com/office/drawing/2014/main" id="{D4B6CDD7-94DC-B584-85DC-8D56A15A5BC0}"/>
                </a:ext>
              </a:extLst>
            </p:cNvPr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28" name="Group 38">
            <a:extLst>
              <a:ext uri="{FF2B5EF4-FFF2-40B4-BE49-F238E27FC236}">
                <a16:creationId xmlns:a16="http://schemas.microsoft.com/office/drawing/2014/main" id="{E5C78927-3DC2-0BAB-7DE9-60E9C8BD7D15}"/>
              </a:ext>
            </a:extLst>
          </p:cNvPr>
          <p:cNvGrpSpPr/>
          <p:nvPr/>
        </p:nvGrpSpPr>
        <p:grpSpPr>
          <a:xfrm>
            <a:off x="8641080" y="-7771924"/>
            <a:ext cx="754380" cy="754380"/>
            <a:chOff x="0" y="0"/>
            <a:chExt cx="1005840" cy="1005840"/>
          </a:xfrm>
        </p:grpSpPr>
        <p:sp>
          <p:nvSpPr>
            <p:cNvPr id="129" name="Freeform 39">
              <a:extLst>
                <a:ext uri="{FF2B5EF4-FFF2-40B4-BE49-F238E27FC236}">
                  <a16:creationId xmlns:a16="http://schemas.microsoft.com/office/drawing/2014/main" id="{2619E732-BA03-0F76-D66A-61C827F6C817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30" name="Group 40">
            <a:extLst>
              <a:ext uri="{FF2B5EF4-FFF2-40B4-BE49-F238E27FC236}">
                <a16:creationId xmlns:a16="http://schemas.microsoft.com/office/drawing/2014/main" id="{87D5FB21-0588-3F6F-F84C-46AC2E951C7D}"/>
              </a:ext>
            </a:extLst>
          </p:cNvPr>
          <p:cNvGrpSpPr/>
          <p:nvPr/>
        </p:nvGrpSpPr>
        <p:grpSpPr>
          <a:xfrm>
            <a:off x="8641080" y="-7771924"/>
            <a:ext cx="754380" cy="754380"/>
            <a:chOff x="0" y="0"/>
            <a:chExt cx="1005840" cy="1005840"/>
          </a:xfrm>
        </p:grpSpPr>
        <p:sp>
          <p:nvSpPr>
            <p:cNvPr id="131" name="Freeform 41">
              <a:extLst>
                <a:ext uri="{FF2B5EF4-FFF2-40B4-BE49-F238E27FC236}">
                  <a16:creationId xmlns:a16="http://schemas.microsoft.com/office/drawing/2014/main" id="{9C193920-5FFA-D437-E5DA-9DC053B3CB0E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2" name="TextBox 42">
              <a:extLst>
                <a:ext uri="{FF2B5EF4-FFF2-40B4-BE49-F238E27FC236}">
                  <a16:creationId xmlns:a16="http://schemas.microsoft.com/office/drawing/2014/main" id="{B099FFA6-4954-DBE5-3409-5E3E549F8D0A}"/>
                </a:ext>
              </a:extLst>
            </p:cNvPr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133" name="Group 43">
            <a:extLst>
              <a:ext uri="{FF2B5EF4-FFF2-40B4-BE49-F238E27FC236}">
                <a16:creationId xmlns:a16="http://schemas.microsoft.com/office/drawing/2014/main" id="{A6A5D134-E203-BB40-F2E4-20CE75C9DB3D}"/>
              </a:ext>
            </a:extLst>
          </p:cNvPr>
          <p:cNvGrpSpPr/>
          <p:nvPr/>
        </p:nvGrpSpPr>
        <p:grpSpPr>
          <a:xfrm>
            <a:off x="7783830" y="-6811804"/>
            <a:ext cx="2468880" cy="548640"/>
            <a:chOff x="0" y="0"/>
            <a:chExt cx="3291840" cy="731520"/>
          </a:xfrm>
        </p:grpSpPr>
        <p:sp>
          <p:nvSpPr>
            <p:cNvPr id="134" name="Freeform 44">
              <a:extLst>
                <a:ext uri="{FF2B5EF4-FFF2-40B4-BE49-F238E27FC236}">
                  <a16:creationId xmlns:a16="http://schemas.microsoft.com/office/drawing/2014/main" id="{07B2A951-C1E4-FFD7-44CB-838D46C6CF7F}"/>
                </a:ext>
              </a:extLst>
            </p:cNvPr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35" name="TextBox 45">
              <a:extLst>
                <a:ext uri="{FF2B5EF4-FFF2-40B4-BE49-F238E27FC236}">
                  <a16:creationId xmlns:a16="http://schemas.microsoft.com/office/drawing/2014/main" id="{CB22A23C-BC17-A4FC-BB9F-6239DAC65FFC}"/>
                </a:ext>
              </a:extLst>
            </p:cNvPr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</a:t>
              </a:r>
            </a:p>
          </p:txBody>
        </p:sp>
      </p:grpSp>
      <p:sp>
        <p:nvSpPr>
          <p:cNvPr id="136" name="TextBox 46">
            <a:extLst>
              <a:ext uri="{FF2B5EF4-FFF2-40B4-BE49-F238E27FC236}">
                <a16:creationId xmlns:a16="http://schemas.microsoft.com/office/drawing/2014/main" id="{6A8E5FED-B833-6287-2959-95957894B548}"/>
              </a:ext>
            </a:extLst>
          </p:cNvPr>
          <p:cNvSpPr txBox="1"/>
          <p:nvPr/>
        </p:nvSpPr>
        <p:spPr>
          <a:xfrm>
            <a:off x="7783830" y="-6114574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LLM drafts the CV from verified skills, tailored to a role or an exam application.</a:t>
            </a:r>
          </a:p>
        </p:txBody>
      </p:sp>
      <p:grpSp>
        <p:nvGrpSpPr>
          <p:cNvPr id="137" name="Group 47">
            <a:extLst>
              <a:ext uri="{FF2B5EF4-FFF2-40B4-BE49-F238E27FC236}">
                <a16:creationId xmlns:a16="http://schemas.microsoft.com/office/drawing/2014/main" id="{4E3DF287-6105-D920-3778-9B7956B16DEE}"/>
              </a:ext>
            </a:extLst>
          </p:cNvPr>
          <p:cNvGrpSpPr/>
          <p:nvPr/>
        </p:nvGrpSpPr>
        <p:grpSpPr>
          <a:xfrm>
            <a:off x="10458450" y="-5508784"/>
            <a:ext cx="480060" cy="685800"/>
            <a:chOff x="0" y="0"/>
            <a:chExt cx="640080" cy="914400"/>
          </a:xfrm>
        </p:grpSpPr>
        <p:sp>
          <p:nvSpPr>
            <p:cNvPr id="138" name="Freeform 48">
              <a:extLst>
                <a:ext uri="{FF2B5EF4-FFF2-40B4-BE49-F238E27FC236}">
                  <a16:creationId xmlns:a16="http://schemas.microsoft.com/office/drawing/2014/main" id="{91866DD8-D383-D9D0-9554-6346B0336BD6}"/>
                </a:ext>
              </a:extLst>
            </p:cNvPr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139" name="TextBox 49">
              <a:extLst>
                <a:ext uri="{FF2B5EF4-FFF2-40B4-BE49-F238E27FC236}">
                  <a16:creationId xmlns:a16="http://schemas.microsoft.com/office/drawing/2014/main" id="{33F03B7D-CB50-26EE-0312-320980A4B079}"/>
                </a:ext>
              </a:extLst>
            </p:cNvPr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10"/>
                </a:lnSpc>
              </a:pPr>
              <a:r>
                <a:rPr lang="en-US" sz="2925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140" name="Group 50">
            <a:extLst>
              <a:ext uri="{FF2B5EF4-FFF2-40B4-BE49-F238E27FC236}">
                <a16:creationId xmlns:a16="http://schemas.microsoft.com/office/drawing/2014/main" id="{FFF130EF-BB21-6504-4E99-4CBF0CBA89BA}"/>
              </a:ext>
            </a:extLst>
          </p:cNvPr>
          <p:cNvGrpSpPr/>
          <p:nvPr/>
        </p:nvGrpSpPr>
        <p:grpSpPr>
          <a:xfrm>
            <a:off x="10928985" y="-7301389"/>
            <a:ext cx="2899410" cy="4613910"/>
            <a:chOff x="0" y="0"/>
            <a:chExt cx="3865880" cy="6151880"/>
          </a:xfrm>
        </p:grpSpPr>
        <p:sp>
          <p:nvSpPr>
            <p:cNvPr id="141" name="Freeform 51">
              <a:extLst>
                <a:ext uri="{FF2B5EF4-FFF2-40B4-BE49-F238E27FC236}">
                  <a16:creationId xmlns:a16="http://schemas.microsoft.com/office/drawing/2014/main" id="{A2397F9B-83AB-0BF8-730B-FD39C8E88C37}"/>
                </a:ext>
              </a:extLst>
            </p:cNvPr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42" name="Group 52">
            <a:extLst>
              <a:ext uri="{FF2B5EF4-FFF2-40B4-BE49-F238E27FC236}">
                <a16:creationId xmlns:a16="http://schemas.microsoft.com/office/drawing/2014/main" id="{BF4EEC34-AB44-B5D2-F937-9020697A605F}"/>
              </a:ext>
            </a:extLst>
          </p:cNvPr>
          <p:cNvGrpSpPr/>
          <p:nvPr/>
        </p:nvGrpSpPr>
        <p:grpSpPr>
          <a:xfrm>
            <a:off x="12001500" y="-7771924"/>
            <a:ext cx="754380" cy="754380"/>
            <a:chOff x="0" y="0"/>
            <a:chExt cx="1005840" cy="1005840"/>
          </a:xfrm>
        </p:grpSpPr>
        <p:sp>
          <p:nvSpPr>
            <p:cNvPr id="143" name="Freeform 53">
              <a:extLst>
                <a:ext uri="{FF2B5EF4-FFF2-40B4-BE49-F238E27FC236}">
                  <a16:creationId xmlns:a16="http://schemas.microsoft.com/office/drawing/2014/main" id="{BBD2B45B-2716-D028-8FDD-84B97CC3915F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44" name="Group 54">
            <a:extLst>
              <a:ext uri="{FF2B5EF4-FFF2-40B4-BE49-F238E27FC236}">
                <a16:creationId xmlns:a16="http://schemas.microsoft.com/office/drawing/2014/main" id="{34698B01-BA46-47A5-35FA-3093BFCD990D}"/>
              </a:ext>
            </a:extLst>
          </p:cNvPr>
          <p:cNvGrpSpPr/>
          <p:nvPr/>
        </p:nvGrpSpPr>
        <p:grpSpPr>
          <a:xfrm>
            <a:off x="12001500" y="-7771924"/>
            <a:ext cx="754380" cy="754380"/>
            <a:chOff x="0" y="0"/>
            <a:chExt cx="1005840" cy="1005840"/>
          </a:xfrm>
        </p:grpSpPr>
        <p:sp>
          <p:nvSpPr>
            <p:cNvPr id="145" name="Freeform 55">
              <a:extLst>
                <a:ext uri="{FF2B5EF4-FFF2-40B4-BE49-F238E27FC236}">
                  <a16:creationId xmlns:a16="http://schemas.microsoft.com/office/drawing/2014/main" id="{593AA78C-C41E-C8F9-3736-D6EFF9F32654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6" name="TextBox 56">
              <a:extLst>
                <a:ext uri="{FF2B5EF4-FFF2-40B4-BE49-F238E27FC236}">
                  <a16:creationId xmlns:a16="http://schemas.microsoft.com/office/drawing/2014/main" id="{4CCBA218-EC0D-BDD0-43B1-0375AA034C95}"/>
                </a:ext>
              </a:extLst>
            </p:cNvPr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147" name="Group 57">
            <a:extLst>
              <a:ext uri="{FF2B5EF4-FFF2-40B4-BE49-F238E27FC236}">
                <a16:creationId xmlns:a16="http://schemas.microsoft.com/office/drawing/2014/main" id="{DAB13D19-5557-B25E-DA19-9E65861E3899}"/>
              </a:ext>
            </a:extLst>
          </p:cNvPr>
          <p:cNvGrpSpPr/>
          <p:nvPr/>
        </p:nvGrpSpPr>
        <p:grpSpPr>
          <a:xfrm>
            <a:off x="11144250" y="-6811804"/>
            <a:ext cx="2468880" cy="548640"/>
            <a:chOff x="0" y="0"/>
            <a:chExt cx="3291840" cy="731520"/>
          </a:xfrm>
        </p:grpSpPr>
        <p:sp>
          <p:nvSpPr>
            <p:cNvPr id="148" name="Freeform 58">
              <a:extLst>
                <a:ext uri="{FF2B5EF4-FFF2-40B4-BE49-F238E27FC236}">
                  <a16:creationId xmlns:a16="http://schemas.microsoft.com/office/drawing/2014/main" id="{3CA99D24-5766-9239-38EC-240A96CA7BF5}"/>
                </a:ext>
              </a:extLst>
            </p:cNvPr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49" name="TextBox 59">
              <a:extLst>
                <a:ext uri="{FF2B5EF4-FFF2-40B4-BE49-F238E27FC236}">
                  <a16:creationId xmlns:a16="http://schemas.microsoft.com/office/drawing/2014/main" id="{0CBA8243-A2B4-4523-D1CD-A3A0046106FE}"/>
                </a:ext>
              </a:extLst>
            </p:cNvPr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Analyse</a:t>
              </a:r>
            </a:p>
          </p:txBody>
        </p:sp>
      </p:grpSp>
      <p:sp>
        <p:nvSpPr>
          <p:cNvPr id="150" name="TextBox 60">
            <a:extLst>
              <a:ext uri="{FF2B5EF4-FFF2-40B4-BE49-F238E27FC236}">
                <a16:creationId xmlns:a16="http://schemas.microsoft.com/office/drawing/2014/main" id="{660CA801-4899-E561-891D-3B9BC6DEE03C}"/>
              </a:ext>
            </a:extLst>
          </p:cNvPr>
          <p:cNvSpPr txBox="1"/>
          <p:nvPr/>
        </p:nvSpPr>
        <p:spPr>
          <a:xfrm>
            <a:off x="11144250" y="-6114574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Embeddings compare the profile with role requirements to find and rank skill gaps.</a:t>
            </a:r>
          </a:p>
        </p:txBody>
      </p:sp>
      <p:grpSp>
        <p:nvGrpSpPr>
          <p:cNvPr id="151" name="Group 61">
            <a:extLst>
              <a:ext uri="{FF2B5EF4-FFF2-40B4-BE49-F238E27FC236}">
                <a16:creationId xmlns:a16="http://schemas.microsoft.com/office/drawing/2014/main" id="{8CB855E3-5C29-F7A5-6E39-A1FAA30C09FF}"/>
              </a:ext>
            </a:extLst>
          </p:cNvPr>
          <p:cNvGrpSpPr/>
          <p:nvPr/>
        </p:nvGrpSpPr>
        <p:grpSpPr>
          <a:xfrm>
            <a:off x="13818870" y="-5508784"/>
            <a:ext cx="480060" cy="685800"/>
            <a:chOff x="0" y="0"/>
            <a:chExt cx="640080" cy="914400"/>
          </a:xfrm>
        </p:grpSpPr>
        <p:sp>
          <p:nvSpPr>
            <p:cNvPr id="152" name="Freeform 62">
              <a:extLst>
                <a:ext uri="{FF2B5EF4-FFF2-40B4-BE49-F238E27FC236}">
                  <a16:creationId xmlns:a16="http://schemas.microsoft.com/office/drawing/2014/main" id="{63CA230C-72DB-6D9E-BB6F-FDC0A54CEBDB}"/>
                </a:ext>
              </a:extLst>
            </p:cNvPr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153" name="TextBox 63">
              <a:extLst>
                <a:ext uri="{FF2B5EF4-FFF2-40B4-BE49-F238E27FC236}">
                  <a16:creationId xmlns:a16="http://schemas.microsoft.com/office/drawing/2014/main" id="{65583EE7-C754-C5F8-3771-A47D60789483}"/>
                </a:ext>
              </a:extLst>
            </p:cNvPr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10"/>
                </a:lnSpc>
              </a:pPr>
              <a:r>
                <a:rPr lang="en-US" sz="2925">
                  <a:solidFill>
                    <a:srgbClr val="CCFBF1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154" name="Group 64">
            <a:extLst>
              <a:ext uri="{FF2B5EF4-FFF2-40B4-BE49-F238E27FC236}">
                <a16:creationId xmlns:a16="http://schemas.microsoft.com/office/drawing/2014/main" id="{DF173A32-90F7-979D-B53B-EE816D8CF3E8}"/>
              </a:ext>
            </a:extLst>
          </p:cNvPr>
          <p:cNvGrpSpPr/>
          <p:nvPr/>
        </p:nvGrpSpPr>
        <p:grpSpPr>
          <a:xfrm>
            <a:off x="14289405" y="-7301389"/>
            <a:ext cx="2899410" cy="4613910"/>
            <a:chOff x="0" y="0"/>
            <a:chExt cx="3865880" cy="6151880"/>
          </a:xfrm>
        </p:grpSpPr>
        <p:sp>
          <p:nvSpPr>
            <p:cNvPr id="155" name="Freeform 65">
              <a:extLst>
                <a:ext uri="{FF2B5EF4-FFF2-40B4-BE49-F238E27FC236}">
                  <a16:creationId xmlns:a16="http://schemas.microsoft.com/office/drawing/2014/main" id="{06548588-E7AC-1C6B-313B-F83BFEB0203F}"/>
                </a:ext>
              </a:extLst>
            </p:cNvPr>
            <p:cNvSpPr/>
            <p:nvPr/>
          </p:nvSpPr>
          <p:spPr>
            <a:xfrm>
              <a:off x="0" y="0"/>
              <a:ext cx="3865880" cy="6151880"/>
            </a:xfrm>
            <a:custGeom>
              <a:avLst/>
              <a:gdLst/>
              <a:ahLst/>
              <a:cxnLst/>
              <a:rect l="l" t="t" r="r" b="b"/>
              <a:pathLst>
                <a:path w="3865880" h="61518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681730" y="0"/>
                  </a:lnTo>
                  <a:cubicBezTo>
                    <a:pt x="3783457" y="0"/>
                    <a:pt x="3865880" y="82423"/>
                    <a:pt x="3865880" y="184150"/>
                  </a:cubicBezTo>
                  <a:lnTo>
                    <a:pt x="3865880" y="5967730"/>
                  </a:lnTo>
                  <a:cubicBezTo>
                    <a:pt x="3865880" y="6069457"/>
                    <a:pt x="3783457" y="6151880"/>
                    <a:pt x="3681730" y="6151880"/>
                  </a:cubicBezTo>
                  <a:lnTo>
                    <a:pt x="184150" y="6151880"/>
                  </a:lnTo>
                  <a:cubicBezTo>
                    <a:pt x="82423" y="6151880"/>
                    <a:pt x="0" y="6069457"/>
                    <a:pt x="0" y="5967730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56" name="Group 66">
            <a:extLst>
              <a:ext uri="{FF2B5EF4-FFF2-40B4-BE49-F238E27FC236}">
                <a16:creationId xmlns:a16="http://schemas.microsoft.com/office/drawing/2014/main" id="{A980E905-9673-9423-7477-15397339A29C}"/>
              </a:ext>
            </a:extLst>
          </p:cNvPr>
          <p:cNvGrpSpPr/>
          <p:nvPr/>
        </p:nvGrpSpPr>
        <p:grpSpPr>
          <a:xfrm>
            <a:off x="15361920" y="-7771924"/>
            <a:ext cx="754380" cy="754380"/>
            <a:chOff x="0" y="0"/>
            <a:chExt cx="1005840" cy="1005840"/>
          </a:xfrm>
        </p:grpSpPr>
        <p:sp>
          <p:nvSpPr>
            <p:cNvPr id="157" name="Freeform 67">
              <a:extLst>
                <a:ext uri="{FF2B5EF4-FFF2-40B4-BE49-F238E27FC236}">
                  <a16:creationId xmlns:a16="http://schemas.microsoft.com/office/drawing/2014/main" id="{CE1B3C4B-8BCB-3174-9DA9-8FF2E6B5D298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58" name="Group 68">
            <a:extLst>
              <a:ext uri="{FF2B5EF4-FFF2-40B4-BE49-F238E27FC236}">
                <a16:creationId xmlns:a16="http://schemas.microsoft.com/office/drawing/2014/main" id="{DCD4669E-57B6-8ACF-D491-2FF838E4990F}"/>
              </a:ext>
            </a:extLst>
          </p:cNvPr>
          <p:cNvGrpSpPr/>
          <p:nvPr/>
        </p:nvGrpSpPr>
        <p:grpSpPr>
          <a:xfrm>
            <a:off x="15361920" y="-7771924"/>
            <a:ext cx="754380" cy="754380"/>
            <a:chOff x="0" y="0"/>
            <a:chExt cx="1005840" cy="1005840"/>
          </a:xfrm>
        </p:grpSpPr>
        <p:sp>
          <p:nvSpPr>
            <p:cNvPr id="159" name="Freeform 69">
              <a:extLst>
                <a:ext uri="{FF2B5EF4-FFF2-40B4-BE49-F238E27FC236}">
                  <a16:creationId xmlns:a16="http://schemas.microsoft.com/office/drawing/2014/main" id="{EEF53B1F-17CC-8D81-D29A-CE094F778ACF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60" name="TextBox 70">
              <a:extLst>
                <a:ext uri="{FF2B5EF4-FFF2-40B4-BE49-F238E27FC236}">
                  <a16:creationId xmlns:a16="http://schemas.microsoft.com/office/drawing/2014/main" id="{BFB5B945-69F1-1654-11B1-D278C7FB477B}"/>
                </a:ext>
              </a:extLst>
            </p:cNvPr>
            <p:cNvSpPr txBox="1"/>
            <p:nvPr/>
          </p:nvSpPr>
          <p:spPr>
            <a:xfrm>
              <a:off x="0" y="0"/>
              <a:ext cx="100584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id="161" name="Group 71">
            <a:extLst>
              <a:ext uri="{FF2B5EF4-FFF2-40B4-BE49-F238E27FC236}">
                <a16:creationId xmlns:a16="http://schemas.microsoft.com/office/drawing/2014/main" id="{18F502AD-99A7-63C1-C8B9-2E896F038096}"/>
              </a:ext>
            </a:extLst>
          </p:cNvPr>
          <p:cNvGrpSpPr/>
          <p:nvPr/>
        </p:nvGrpSpPr>
        <p:grpSpPr>
          <a:xfrm>
            <a:off x="14504670" y="-6811804"/>
            <a:ext cx="2468880" cy="548640"/>
            <a:chOff x="0" y="0"/>
            <a:chExt cx="3291840" cy="731520"/>
          </a:xfrm>
        </p:grpSpPr>
        <p:sp>
          <p:nvSpPr>
            <p:cNvPr id="162" name="Freeform 72">
              <a:extLst>
                <a:ext uri="{FF2B5EF4-FFF2-40B4-BE49-F238E27FC236}">
                  <a16:creationId xmlns:a16="http://schemas.microsoft.com/office/drawing/2014/main" id="{F46AC6D6-3F15-16D4-8C37-9A09CF891F73}"/>
                </a:ext>
              </a:extLst>
            </p:cNvPr>
            <p:cNvSpPr/>
            <p:nvPr/>
          </p:nvSpPr>
          <p:spPr>
            <a:xfrm>
              <a:off x="0" y="0"/>
              <a:ext cx="3291840" cy="731520"/>
            </a:xfrm>
            <a:custGeom>
              <a:avLst/>
              <a:gdLst/>
              <a:ahLst/>
              <a:cxnLst/>
              <a:rect l="l" t="t" r="r" b="b"/>
              <a:pathLst>
                <a:path w="3291840" h="73152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2"/>
              </a:stretch>
            </a:blipFill>
          </p:spPr>
        </p:sp>
        <p:sp>
          <p:nvSpPr>
            <p:cNvPr id="163" name="TextBox 73">
              <a:extLst>
                <a:ext uri="{FF2B5EF4-FFF2-40B4-BE49-F238E27FC236}">
                  <a16:creationId xmlns:a16="http://schemas.microsoft.com/office/drawing/2014/main" id="{0C08F165-4A1C-2622-F59E-1E134A85B49F}"/>
                </a:ext>
              </a:extLst>
            </p:cNvPr>
            <p:cNvSpPr txBox="1"/>
            <p:nvPr/>
          </p:nvSpPr>
          <p:spPr>
            <a:xfrm>
              <a:off x="0" y="0"/>
              <a:ext cx="3291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Guide</a:t>
              </a:r>
            </a:p>
          </p:txBody>
        </p:sp>
      </p:grpSp>
      <p:sp>
        <p:nvSpPr>
          <p:cNvPr id="164" name="TextBox 74">
            <a:extLst>
              <a:ext uri="{FF2B5EF4-FFF2-40B4-BE49-F238E27FC236}">
                <a16:creationId xmlns:a16="http://schemas.microsoft.com/office/drawing/2014/main" id="{0CDD0227-44EE-2C57-C049-E835EF6DB86B}"/>
              </a:ext>
            </a:extLst>
          </p:cNvPr>
          <p:cNvSpPr txBox="1"/>
          <p:nvPr/>
        </p:nvSpPr>
        <p:spPr>
          <a:xfrm>
            <a:off x="14504670" y="-6114574"/>
            <a:ext cx="2468880" cy="321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rules engine on curated official data checks exam eligibility; AI drafts study plans and matches peers and jobs.</a:t>
            </a:r>
          </a:p>
        </p:txBody>
      </p:sp>
      <p:sp>
        <p:nvSpPr>
          <p:cNvPr id="165" name="TextBox 75">
            <a:extLst>
              <a:ext uri="{FF2B5EF4-FFF2-40B4-BE49-F238E27FC236}">
                <a16:creationId xmlns:a16="http://schemas.microsoft.com/office/drawing/2014/main" id="{4A1478A4-64FA-E97A-F8BD-356E3E814EF0}"/>
              </a:ext>
            </a:extLst>
          </p:cNvPr>
          <p:cNvSpPr txBox="1"/>
          <p:nvPr/>
        </p:nvSpPr>
        <p:spPr>
          <a:xfrm>
            <a:off x="857250" y="-2226469"/>
            <a:ext cx="163220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All steps run on off-the-shelf speech-to-text, embedding and LLM APIs plus a rules engine for exam eligibility. No custom model training is needed for a first release.</a:t>
            </a:r>
          </a:p>
        </p:txBody>
      </p:sp>
      <p:grpSp>
        <p:nvGrpSpPr>
          <p:cNvPr id="166" name="Group 76">
            <a:extLst>
              <a:ext uri="{FF2B5EF4-FFF2-40B4-BE49-F238E27FC236}">
                <a16:creationId xmlns:a16="http://schemas.microsoft.com/office/drawing/2014/main" id="{7024F039-4973-09BB-BB0E-6AC7A1395545}"/>
              </a:ext>
            </a:extLst>
          </p:cNvPr>
          <p:cNvGrpSpPr/>
          <p:nvPr/>
        </p:nvGrpSpPr>
        <p:grpSpPr>
          <a:xfrm>
            <a:off x="17110710" y="-1051084"/>
            <a:ext cx="822960" cy="411480"/>
            <a:chOff x="0" y="0"/>
            <a:chExt cx="1097280" cy="548640"/>
          </a:xfrm>
        </p:grpSpPr>
        <p:sp>
          <p:nvSpPr>
            <p:cNvPr id="167" name="Freeform 77">
              <a:extLst>
                <a:ext uri="{FF2B5EF4-FFF2-40B4-BE49-F238E27FC236}">
                  <a16:creationId xmlns:a16="http://schemas.microsoft.com/office/drawing/2014/main" id="{8A9EA6C0-AFBB-65EF-4575-174768F63B00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68" name="TextBox 78">
              <a:extLst>
                <a:ext uri="{FF2B5EF4-FFF2-40B4-BE49-F238E27FC236}">
                  <a16:creationId xmlns:a16="http://schemas.microsoft.com/office/drawing/2014/main" id="{A7065DC2-BDB3-1C77-39CE-7B9EA8EC1FB3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12</a:t>
              </a:r>
            </a:p>
          </p:txBody>
        </p:sp>
      </p:grpSp>
      <p:grpSp>
        <p:nvGrpSpPr>
          <p:cNvPr id="169" name="Group 2">
            <a:extLst>
              <a:ext uri="{FF2B5EF4-FFF2-40B4-BE49-F238E27FC236}">
                <a16:creationId xmlns:a16="http://schemas.microsoft.com/office/drawing/2014/main" id="{ED28B240-4DCD-06EE-F957-5671AEEFA4E2}"/>
              </a:ext>
            </a:extLst>
          </p:cNvPr>
          <p:cNvGrpSpPr/>
          <p:nvPr/>
        </p:nvGrpSpPr>
        <p:grpSpPr>
          <a:xfrm>
            <a:off x="1131570" y="10604659"/>
            <a:ext cx="12344400" cy="480060"/>
            <a:chOff x="0" y="0"/>
            <a:chExt cx="16459200" cy="640080"/>
          </a:xfrm>
        </p:grpSpPr>
        <p:sp>
          <p:nvSpPr>
            <p:cNvPr id="170" name="Freeform 3">
              <a:extLst>
                <a:ext uri="{FF2B5EF4-FFF2-40B4-BE49-F238E27FC236}">
                  <a16:creationId xmlns:a16="http://schemas.microsoft.com/office/drawing/2014/main" id="{E371EAF1-D2A3-9370-7753-71B43C1B97E5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171" name="TextBox 4">
              <a:extLst>
                <a:ext uri="{FF2B5EF4-FFF2-40B4-BE49-F238E27FC236}">
                  <a16:creationId xmlns:a16="http://schemas.microsoft.com/office/drawing/2014/main" id="{DF74231A-7B49-33FC-D32F-4014A70471D4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USER JOURNEY</a:t>
              </a:r>
            </a:p>
          </p:txBody>
        </p:sp>
      </p:grpSp>
      <p:grpSp>
        <p:nvGrpSpPr>
          <p:cNvPr id="172" name="Group 5">
            <a:extLst>
              <a:ext uri="{FF2B5EF4-FFF2-40B4-BE49-F238E27FC236}">
                <a16:creationId xmlns:a16="http://schemas.microsoft.com/office/drawing/2014/main" id="{C00259BD-F996-DBF0-824F-5A112829F46A}"/>
              </a:ext>
            </a:extLst>
          </p:cNvPr>
          <p:cNvGrpSpPr/>
          <p:nvPr/>
        </p:nvGrpSpPr>
        <p:grpSpPr>
          <a:xfrm>
            <a:off x="1131570" y="11084719"/>
            <a:ext cx="16322040" cy="1234440"/>
            <a:chOff x="0" y="0"/>
            <a:chExt cx="21762720" cy="1645920"/>
          </a:xfrm>
        </p:grpSpPr>
        <p:sp>
          <p:nvSpPr>
            <p:cNvPr id="173" name="Freeform 6">
              <a:extLst>
                <a:ext uri="{FF2B5EF4-FFF2-40B4-BE49-F238E27FC236}">
                  <a16:creationId xmlns:a16="http://schemas.microsoft.com/office/drawing/2014/main" id="{D5386284-F43C-F066-0A95-2A974F0AAEBE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174" name="TextBox 7">
              <a:extLst>
                <a:ext uri="{FF2B5EF4-FFF2-40B4-BE49-F238E27FC236}">
                  <a16:creationId xmlns:a16="http://schemas.microsoft.com/office/drawing/2014/main" id="{A5C45FB7-5746-9B89-EDA9-9CA445D27D66}"/>
                </a:ext>
              </a:extLst>
            </p:cNvPr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One person, start to finish</a:t>
              </a:r>
            </a:p>
          </p:txBody>
        </p:sp>
      </p:grpSp>
      <p:grpSp>
        <p:nvGrpSpPr>
          <p:cNvPr id="175" name="Group 8">
            <a:extLst>
              <a:ext uri="{FF2B5EF4-FFF2-40B4-BE49-F238E27FC236}">
                <a16:creationId xmlns:a16="http://schemas.microsoft.com/office/drawing/2014/main" id="{CBCC90D6-E14E-A147-27A4-25FBC7F52578}"/>
              </a:ext>
            </a:extLst>
          </p:cNvPr>
          <p:cNvGrpSpPr/>
          <p:nvPr/>
        </p:nvGrpSpPr>
        <p:grpSpPr>
          <a:xfrm>
            <a:off x="1131570" y="12662059"/>
            <a:ext cx="685800" cy="685800"/>
            <a:chOff x="0" y="0"/>
            <a:chExt cx="914400" cy="914400"/>
          </a:xfrm>
        </p:grpSpPr>
        <p:sp>
          <p:nvSpPr>
            <p:cNvPr id="176" name="Freeform 9">
              <a:extLst>
                <a:ext uri="{FF2B5EF4-FFF2-40B4-BE49-F238E27FC236}">
                  <a16:creationId xmlns:a16="http://schemas.microsoft.com/office/drawing/2014/main" id="{D8AEE9CC-68BA-5A7E-0DD5-7D88B5DDFF3D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77" name="Group 10">
            <a:extLst>
              <a:ext uri="{FF2B5EF4-FFF2-40B4-BE49-F238E27FC236}">
                <a16:creationId xmlns:a16="http://schemas.microsoft.com/office/drawing/2014/main" id="{DD60ADFB-59A2-3EBE-A21D-5A1C88362B44}"/>
              </a:ext>
            </a:extLst>
          </p:cNvPr>
          <p:cNvGrpSpPr/>
          <p:nvPr/>
        </p:nvGrpSpPr>
        <p:grpSpPr>
          <a:xfrm>
            <a:off x="1131570" y="12662059"/>
            <a:ext cx="685800" cy="685800"/>
            <a:chOff x="0" y="0"/>
            <a:chExt cx="914400" cy="914400"/>
          </a:xfrm>
        </p:grpSpPr>
        <p:sp>
          <p:nvSpPr>
            <p:cNvPr id="178" name="Freeform 11">
              <a:extLst>
                <a:ext uri="{FF2B5EF4-FFF2-40B4-BE49-F238E27FC236}">
                  <a16:creationId xmlns:a16="http://schemas.microsoft.com/office/drawing/2014/main" id="{DF9C19B6-0416-147D-C73E-D6DD6FBAF900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79" name="TextBox 12">
              <a:extLst>
                <a:ext uri="{FF2B5EF4-FFF2-40B4-BE49-F238E27FC236}">
                  <a16:creationId xmlns:a16="http://schemas.microsoft.com/office/drawing/2014/main" id="{B9FFE73F-5A2A-D4B2-E93C-92C51935477D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80" name="Group 13">
            <a:extLst>
              <a:ext uri="{FF2B5EF4-FFF2-40B4-BE49-F238E27FC236}">
                <a16:creationId xmlns:a16="http://schemas.microsoft.com/office/drawing/2014/main" id="{FC11E9FF-50B9-9246-C536-820B01882315}"/>
              </a:ext>
            </a:extLst>
          </p:cNvPr>
          <p:cNvGrpSpPr/>
          <p:nvPr/>
        </p:nvGrpSpPr>
        <p:grpSpPr>
          <a:xfrm>
            <a:off x="2160270" y="12662059"/>
            <a:ext cx="4526280" cy="685800"/>
            <a:chOff x="0" y="0"/>
            <a:chExt cx="6035040" cy="914400"/>
          </a:xfrm>
        </p:grpSpPr>
        <p:sp>
          <p:nvSpPr>
            <p:cNvPr id="181" name="Freeform 14">
              <a:extLst>
                <a:ext uri="{FF2B5EF4-FFF2-40B4-BE49-F238E27FC236}">
                  <a16:creationId xmlns:a16="http://schemas.microsoft.com/office/drawing/2014/main" id="{61A38610-741F-593E-D4E4-E1A487380EE2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182" name="TextBox 15">
              <a:extLst>
                <a:ext uri="{FF2B5EF4-FFF2-40B4-BE49-F238E27FC236}">
                  <a16:creationId xmlns:a16="http://schemas.microsoft.com/office/drawing/2014/main" id="{AE835938-F18B-BF51-5934-54E11866E4F9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Speaks a skill</a:t>
              </a:r>
            </a:p>
          </p:txBody>
        </p:sp>
      </p:grpSp>
      <p:grpSp>
        <p:nvGrpSpPr>
          <p:cNvPr id="183" name="Group 16">
            <a:extLst>
              <a:ext uri="{FF2B5EF4-FFF2-40B4-BE49-F238E27FC236}">
                <a16:creationId xmlns:a16="http://schemas.microsoft.com/office/drawing/2014/main" id="{F2AE30F0-73EF-6A14-0D46-083886FA7104}"/>
              </a:ext>
            </a:extLst>
          </p:cNvPr>
          <p:cNvGrpSpPr/>
          <p:nvPr/>
        </p:nvGrpSpPr>
        <p:grpSpPr>
          <a:xfrm>
            <a:off x="6892290" y="12662059"/>
            <a:ext cx="10561320" cy="685800"/>
            <a:chOff x="0" y="0"/>
            <a:chExt cx="14081760" cy="914400"/>
          </a:xfrm>
        </p:grpSpPr>
        <p:sp>
          <p:nvSpPr>
            <p:cNvPr id="184" name="Freeform 17">
              <a:extLst>
                <a:ext uri="{FF2B5EF4-FFF2-40B4-BE49-F238E27FC236}">
                  <a16:creationId xmlns:a16="http://schemas.microsoft.com/office/drawing/2014/main" id="{0F53E463-06BB-B042-48AF-00D4B67C8B01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185" name="TextBox 18">
              <a:extLst>
                <a:ext uri="{FF2B5EF4-FFF2-40B4-BE49-F238E27FC236}">
                  <a16:creationId xmlns:a16="http://schemas.microsoft.com/office/drawing/2014/main" id="{70680B86-63EC-5CE0-3E90-BC4D5BEDEF26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Pratik describes his work aloud, and AI extracts his skill tags.</a:t>
              </a:r>
            </a:p>
          </p:txBody>
        </p:sp>
      </p:grpSp>
      <p:grpSp>
        <p:nvGrpSpPr>
          <p:cNvPr id="186" name="Group 19">
            <a:extLst>
              <a:ext uri="{FF2B5EF4-FFF2-40B4-BE49-F238E27FC236}">
                <a16:creationId xmlns:a16="http://schemas.microsoft.com/office/drawing/2014/main" id="{D49BF506-E29E-052E-DE5D-D345CB4CB5A2}"/>
              </a:ext>
            </a:extLst>
          </p:cNvPr>
          <p:cNvGrpSpPr/>
          <p:nvPr/>
        </p:nvGrpSpPr>
        <p:grpSpPr>
          <a:xfrm>
            <a:off x="1131570" y="13567315"/>
            <a:ext cx="685800" cy="685800"/>
            <a:chOff x="0" y="0"/>
            <a:chExt cx="914400" cy="914400"/>
          </a:xfrm>
        </p:grpSpPr>
        <p:sp>
          <p:nvSpPr>
            <p:cNvPr id="187" name="Freeform 20">
              <a:extLst>
                <a:ext uri="{FF2B5EF4-FFF2-40B4-BE49-F238E27FC236}">
                  <a16:creationId xmlns:a16="http://schemas.microsoft.com/office/drawing/2014/main" id="{70E0B3A8-651F-9421-3868-DE7BF4426292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88" name="Group 21">
            <a:extLst>
              <a:ext uri="{FF2B5EF4-FFF2-40B4-BE49-F238E27FC236}">
                <a16:creationId xmlns:a16="http://schemas.microsoft.com/office/drawing/2014/main" id="{6F991F45-8D23-AD56-A505-1CA405952E8F}"/>
              </a:ext>
            </a:extLst>
          </p:cNvPr>
          <p:cNvGrpSpPr/>
          <p:nvPr/>
        </p:nvGrpSpPr>
        <p:grpSpPr>
          <a:xfrm>
            <a:off x="1131570" y="13567315"/>
            <a:ext cx="685800" cy="685800"/>
            <a:chOff x="0" y="0"/>
            <a:chExt cx="914400" cy="914400"/>
          </a:xfrm>
        </p:grpSpPr>
        <p:sp>
          <p:nvSpPr>
            <p:cNvPr id="189" name="Freeform 22">
              <a:extLst>
                <a:ext uri="{FF2B5EF4-FFF2-40B4-BE49-F238E27FC236}">
                  <a16:creationId xmlns:a16="http://schemas.microsoft.com/office/drawing/2014/main" id="{029643E3-8909-03CB-F04C-99C46D03CADD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90" name="TextBox 23">
              <a:extLst>
                <a:ext uri="{FF2B5EF4-FFF2-40B4-BE49-F238E27FC236}">
                  <a16:creationId xmlns:a16="http://schemas.microsoft.com/office/drawing/2014/main" id="{A4E2356D-2B18-3595-4421-C34560D9EF6D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191" name="Group 24">
            <a:extLst>
              <a:ext uri="{FF2B5EF4-FFF2-40B4-BE49-F238E27FC236}">
                <a16:creationId xmlns:a16="http://schemas.microsoft.com/office/drawing/2014/main" id="{3DA4DFE8-0AA5-38BC-C25F-11217635D343}"/>
              </a:ext>
            </a:extLst>
          </p:cNvPr>
          <p:cNvGrpSpPr/>
          <p:nvPr/>
        </p:nvGrpSpPr>
        <p:grpSpPr>
          <a:xfrm>
            <a:off x="2160270" y="13567315"/>
            <a:ext cx="4526280" cy="685800"/>
            <a:chOff x="0" y="0"/>
            <a:chExt cx="6035040" cy="914400"/>
          </a:xfrm>
        </p:grpSpPr>
        <p:sp>
          <p:nvSpPr>
            <p:cNvPr id="192" name="Freeform 25">
              <a:extLst>
                <a:ext uri="{FF2B5EF4-FFF2-40B4-BE49-F238E27FC236}">
                  <a16:creationId xmlns:a16="http://schemas.microsoft.com/office/drawing/2014/main" id="{B357CE92-D7BE-4577-0EDC-11C9A12ED5DD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193" name="TextBox 26">
              <a:extLst>
                <a:ext uri="{FF2B5EF4-FFF2-40B4-BE49-F238E27FC236}">
                  <a16:creationId xmlns:a16="http://schemas.microsoft.com/office/drawing/2014/main" id="{BFAB663A-287A-FF07-2FA9-E555D67CA417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Gets verified</a:t>
              </a:r>
            </a:p>
          </p:txBody>
        </p:sp>
      </p:grpSp>
      <p:grpSp>
        <p:nvGrpSpPr>
          <p:cNvPr id="194" name="Group 27">
            <a:extLst>
              <a:ext uri="{FF2B5EF4-FFF2-40B4-BE49-F238E27FC236}">
                <a16:creationId xmlns:a16="http://schemas.microsoft.com/office/drawing/2014/main" id="{8B6D0175-84F6-B3DD-BFFB-10C964D4CBDA}"/>
              </a:ext>
            </a:extLst>
          </p:cNvPr>
          <p:cNvGrpSpPr/>
          <p:nvPr/>
        </p:nvGrpSpPr>
        <p:grpSpPr>
          <a:xfrm>
            <a:off x="6892290" y="13567315"/>
            <a:ext cx="10561320" cy="685800"/>
            <a:chOff x="0" y="0"/>
            <a:chExt cx="14081760" cy="914400"/>
          </a:xfrm>
        </p:grpSpPr>
        <p:sp>
          <p:nvSpPr>
            <p:cNvPr id="195" name="Freeform 28">
              <a:extLst>
                <a:ext uri="{FF2B5EF4-FFF2-40B4-BE49-F238E27FC236}">
                  <a16:creationId xmlns:a16="http://schemas.microsoft.com/office/drawing/2014/main" id="{F1F00722-01E8-5CE0-0DF0-81BEBCD6B46C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196" name="TextBox 29">
              <a:extLst>
                <a:ext uri="{FF2B5EF4-FFF2-40B4-BE49-F238E27FC236}">
                  <a16:creationId xmlns:a16="http://schemas.microsoft.com/office/drawing/2014/main" id="{1C097D08-F36B-317C-402D-55BB27CB8107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 one-question AI task runs and his trust score appears.</a:t>
              </a:r>
            </a:p>
          </p:txBody>
        </p:sp>
      </p:grpSp>
      <p:grpSp>
        <p:nvGrpSpPr>
          <p:cNvPr id="197" name="Group 30">
            <a:extLst>
              <a:ext uri="{FF2B5EF4-FFF2-40B4-BE49-F238E27FC236}">
                <a16:creationId xmlns:a16="http://schemas.microsoft.com/office/drawing/2014/main" id="{383321F0-336B-7451-7435-B40E1138FF76}"/>
              </a:ext>
            </a:extLst>
          </p:cNvPr>
          <p:cNvGrpSpPr/>
          <p:nvPr/>
        </p:nvGrpSpPr>
        <p:grpSpPr>
          <a:xfrm>
            <a:off x="1131570" y="14472571"/>
            <a:ext cx="685800" cy="685800"/>
            <a:chOff x="0" y="0"/>
            <a:chExt cx="914400" cy="914400"/>
          </a:xfrm>
        </p:grpSpPr>
        <p:sp>
          <p:nvSpPr>
            <p:cNvPr id="198" name="Freeform 31">
              <a:extLst>
                <a:ext uri="{FF2B5EF4-FFF2-40B4-BE49-F238E27FC236}">
                  <a16:creationId xmlns:a16="http://schemas.microsoft.com/office/drawing/2014/main" id="{C1E196AD-5F9C-50C0-6302-63E0FFFE3110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99" name="Group 32">
            <a:extLst>
              <a:ext uri="{FF2B5EF4-FFF2-40B4-BE49-F238E27FC236}">
                <a16:creationId xmlns:a16="http://schemas.microsoft.com/office/drawing/2014/main" id="{ED3DFD52-4495-2802-E404-0056D0687E4C}"/>
              </a:ext>
            </a:extLst>
          </p:cNvPr>
          <p:cNvGrpSpPr/>
          <p:nvPr/>
        </p:nvGrpSpPr>
        <p:grpSpPr>
          <a:xfrm>
            <a:off x="1131570" y="14472571"/>
            <a:ext cx="685800" cy="685800"/>
            <a:chOff x="0" y="0"/>
            <a:chExt cx="914400" cy="914400"/>
          </a:xfrm>
        </p:grpSpPr>
        <p:sp>
          <p:nvSpPr>
            <p:cNvPr id="200" name="Freeform 33">
              <a:extLst>
                <a:ext uri="{FF2B5EF4-FFF2-40B4-BE49-F238E27FC236}">
                  <a16:creationId xmlns:a16="http://schemas.microsoft.com/office/drawing/2014/main" id="{4A0F41F6-77E1-FA66-53FD-4C6DA51D638F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01" name="TextBox 34">
              <a:extLst>
                <a:ext uri="{FF2B5EF4-FFF2-40B4-BE49-F238E27FC236}">
                  <a16:creationId xmlns:a16="http://schemas.microsoft.com/office/drawing/2014/main" id="{D0B8E3C0-C9F4-66C2-2205-A14737950B21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202" name="Group 35">
            <a:extLst>
              <a:ext uri="{FF2B5EF4-FFF2-40B4-BE49-F238E27FC236}">
                <a16:creationId xmlns:a16="http://schemas.microsoft.com/office/drawing/2014/main" id="{E14E694A-0375-A587-C5C9-5291B6B962B4}"/>
              </a:ext>
            </a:extLst>
          </p:cNvPr>
          <p:cNvGrpSpPr/>
          <p:nvPr/>
        </p:nvGrpSpPr>
        <p:grpSpPr>
          <a:xfrm>
            <a:off x="2160270" y="14472571"/>
            <a:ext cx="4526280" cy="685800"/>
            <a:chOff x="0" y="0"/>
            <a:chExt cx="6035040" cy="914400"/>
          </a:xfrm>
        </p:grpSpPr>
        <p:sp>
          <p:nvSpPr>
            <p:cNvPr id="203" name="Freeform 36">
              <a:extLst>
                <a:ext uri="{FF2B5EF4-FFF2-40B4-BE49-F238E27FC236}">
                  <a16:creationId xmlns:a16="http://schemas.microsoft.com/office/drawing/2014/main" id="{48DB5F0C-3608-7208-5F5B-69807FB37816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204" name="TextBox 37">
              <a:extLst>
                <a:ext uri="{FF2B5EF4-FFF2-40B4-BE49-F238E27FC236}">
                  <a16:creationId xmlns:a16="http://schemas.microsoft.com/office/drawing/2014/main" id="{6C757F87-665C-B3E4-F752-6E8B5C952CDD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Gets his CV</a:t>
              </a:r>
            </a:p>
          </p:txBody>
        </p:sp>
      </p:grpSp>
      <p:grpSp>
        <p:nvGrpSpPr>
          <p:cNvPr id="205" name="Group 38">
            <a:extLst>
              <a:ext uri="{FF2B5EF4-FFF2-40B4-BE49-F238E27FC236}">
                <a16:creationId xmlns:a16="http://schemas.microsoft.com/office/drawing/2014/main" id="{0389C056-F7CC-DCD4-71A5-3A580E811DB4}"/>
              </a:ext>
            </a:extLst>
          </p:cNvPr>
          <p:cNvGrpSpPr/>
          <p:nvPr/>
        </p:nvGrpSpPr>
        <p:grpSpPr>
          <a:xfrm>
            <a:off x="6892290" y="14472571"/>
            <a:ext cx="10561320" cy="685800"/>
            <a:chOff x="0" y="0"/>
            <a:chExt cx="14081760" cy="914400"/>
          </a:xfrm>
        </p:grpSpPr>
        <p:sp>
          <p:nvSpPr>
            <p:cNvPr id="206" name="Freeform 39">
              <a:extLst>
                <a:ext uri="{FF2B5EF4-FFF2-40B4-BE49-F238E27FC236}">
                  <a16:creationId xmlns:a16="http://schemas.microsoft.com/office/drawing/2014/main" id="{A7437A32-ABE7-871D-A961-65F4EEC461CC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207" name="TextBox 40">
              <a:extLst>
                <a:ext uri="{FF2B5EF4-FFF2-40B4-BE49-F238E27FC236}">
                  <a16:creationId xmlns:a16="http://schemas.microsoft.com/office/drawing/2014/main" id="{903244FD-688E-C410-AC91-52E4E8C9AAC2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 professional CV is generated from what he said and proved.</a:t>
              </a:r>
            </a:p>
          </p:txBody>
        </p:sp>
      </p:grpSp>
      <p:grpSp>
        <p:nvGrpSpPr>
          <p:cNvPr id="208" name="Group 41">
            <a:extLst>
              <a:ext uri="{FF2B5EF4-FFF2-40B4-BE49-F238E27FC236}">
                <a16:creationId xmlns:a16="http://schemas.microsoft.com/office/drawing/2014/main" id="{00A17B79-C1D5-8C1E-EE6A-E92E92ECA562}"/>
              </a:ext>
            </a:extLst>
          </p:cNvPr>
          <p:cNvGrpSpPr/>
          <p:nvPr/>
        </p:nvGrpSpPr>
        <p:grpSpPr>
          <a:xfrm>
            <a:off x="1131570" y="15377827"/>
            <a:ext cx="685800" cy="685800"/>
            <a:chOff x="0" y="0"/>
            <a:chExt cx="914400" cy="914400"/>
          </a:xfrm>
        </p:grpSpPr>
        <p:sp>
          <p:nvSpPr>
            <p:cNvPr id="209" name="Freeform 42">
              <a:extLst>
                <a:ext uri="{FF2B5EF4-FFF2-40B4-BE49-F238E27FC236}">
                  <a16:creationId xmlns:a16="http://schemas.microsoft.com/office/drawing/2014/main" id="{54A41B10-E12A-1891-0541-6367B49186C1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10" name="Group 43">
            <a:extLst>
              <a:ext uri="{FF2B5EF4-FFF2-40B4-BE49-F238E27FC236}">
                <a16:creationId xmlns:a16="http://schemas.microsoft.com/office/drawing/2014/main" id="{44EA4FB2-F386-3A12-960E-1391927CA146}"/>
              </a:ext>
            </a:extLst>
          </p:cNvPr>
          <p:cNvGrpSpPr/>
          <p:nvPr/>
        </p:nvGrpSpPr>
        <p:grpSpPr>
          <a:xfrm>
            <a:off x="1131570" y="15377827"/>
            <a:ext cx="685800" cy="685800"/>
            <a:chOff x="0" y="0"/>
            <a:chExt cx="914400" cy="914400"/>
          </a:xfrm>
        </p:grpSpPr>
        <p:sp>
          <p:nvSpPr>
            <p:cNvPr id="211" name="Freeform 44">
              <a:extLst>
                <a:ext uri="{FF2B5EF4-FFF2-40B4-BE49-F238E27FC236}">
                  <a16:creationId xmlns:a16="http://schemas.microsoft.com/office/drawing/2014/main" id="{987EBB0C-123A-02FA-2C98-3D9B66088159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12" name="TextBox 45">
              <a:extLst>
                <a:ext uri="{FF2B5EF4-FFF2-40B4-BE49-F238E27FC236}">
                  <a16:creationId xmlns:a16="http://schemas.microsoft.com/office/drawing/2014/main" id="{6404AA00-B178-D998-BDC5-270A7524C9B9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213" name="Group 46">
            <a:extLst>
              <a:ext uri="{FF2B5EF4-FFF2-40B4-BE49-F238E27FC236}">
                <a16:creationId xmlns:a16="http://schemas.microsoft.com/office/drawing/2014/main" id="{EDDB3B1C-EAD9-C8A4-8CCF-F0267102E079}"/>
              </a:ext>
            </a:extLst>
          </p:cNvPr>
          <p:cNvGrpSpPr/>
          <p:nvPr/>
        </p:nvGrpSpPr>
        <p:grpSpPr>
          <a:xfrm>
            <a:off x="2160270" y="15377827"/>
            <a:ext cx="4526280" cy="685800"/>
            <a:chOff x="0" y="0"/>
            <a:chExt cx="6035040" cy="914400"/>
          </a:xfrm>
        </p:grpSpPr>
        <p:sp>
          <p:nvSpPr>
            <p:cNvPr id="214" name="Freeform 47">
              <a:extLst>
                <a:ext uri="{FF2B5EF4-FFF2-40B4-BE49-F238E27FC236}">
                  <a16:creationId xmlns:a16="http://schemas.microsoft.com/office/drawing/2014/main" id="{20D746E7-EC0C-D424-22DC-1156DD07E667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215" name="TextBox 48">
              <a:extLst>
                <a:ext uri="{FF2B5EF4-FFF2-40B4-BE49-F238E27FC236}">
                  <a16:creationId xmlns:a16="http://schemas.microsoft.com/office/drawing/2014/main" id="{106DA0E9-FAC9-2D63-ECF0-67D3E5F205B3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Sees his gap</a:t>
              </a:r>
            </a:p>
          </p:txBody>
        </p:sp>
      </p:grpSp>
      <p:grpSp>
        <p:nvGrpSpPr>
          <p:cNvPr id="216" name="Group 49">
            <a:extLst>
              <a:ext uri="{FF2B5EF4-FFF2-40B4-BE49-F238E27FC236}">
                <a16:creationId xmlns:a16="http://schemas.microsoft.com/office/drawing/2014/main" id="{AEFE9855-F0EB-0C9C-DBF0-4BC41D9F22BE}"/>
              </a:ext>
            </a:extLst>
          </p:cNvPr>
          <p:cNvGrpSpPr/>
          <p:nvPr/>
        </p:nvGrpSpPr>
        <p:grpSpPr>
          <a:xfrm>
            <a:off x="6892290" y="15377827"/>
            <a:ext cx="10561320" cy="685800"/>
            <a:chOff x="0" y="0"/>
            <a:chExt cx="14081760" cy="914400"/>
          </a:xfrm>
        </p:grpSpPr>
        <p:sp>
          <p:nvSpPr>
            <p:cNvPr id="217" name="Freeform 50">
              <a:extLst>
                <a:ext uri="{FF2B5EF4-FFF2-40B4-BE49-F238E27FC236}">
                  <a16:creationId xmlns:a16="http://schemas.microsoft.com/office/drawing/2014/main" id="{CD6F0D0F-C68A-4069-1920-AB0E8FFCD6BC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218" name="TextBox 51">
              <a:extLst>
                <a:ext uri="{FF2B5EF4-FFF2-40B4-BE49-F238E27FC236}">
                  <a16:creationId xmlns:a16="http://schemas.microsoft.com/office/drawing/2014/main" id="{8F78CD21-AB45-9ED4-900E-207105D80E83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AI shows the one missing skill and the first short lesson.</a:t>
              </a:r>
            </a:p>
          </p:txBody>
        </p:sp>
      </p:grpSp>
      <p:grpSp>
        <p:nvGrpSpPr>
          <p:cNvPr id="219" name="Group 52">
            <a:extLst>
              <a:ext uri="{FF2B5EF4-FFF2-40B4-BE49-F238E27FC236}">
                <a16:creationId xmlns:a16="http://schemas.microsoft.com/office/drawing/2014/main" id="{CA2B8C33-4D9F-2A3E-1579-BF15AD70D926}"/>
              </a:ext>
            </a:extLst>
          </p:cNvPr>
          <p:cNvGrpSpPr/>
          <p:nvPr/>
        </p:nvGrpSpPr>
        <p:grpSpPr>
          <a:xfrm>
            <a:off x="1131570" y="16283083"/>
            <a:ext cx="685800" cy="685800"/>
            <a:chOff x="0" y="0"/>
            <a:chExt cx="914400" cy="914400"/>
          </a:xfrm>
        </p:grpSpPr>
        <p:sp>
          <p:nvSpPr>
            <p:cNvPr id="220" name="Freeform 53">
              <a:extLst>
                <a:ext uri="{FF2B5EF4-FFF2-40B4-BE49-F238E27FC236}">
                  <a16:creationId xmlns:a16="http://schemas.microsoft.com/office/drawing/2014/main" id="{3B682103-E64F-50F1-DC9A-45182748B1EF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21" name="Group 54">
            <a:extLst>
              <a:ext uri="{FF2B5EF4-FFF2-40B4-BE49-F238E27FC236}">
                <a16:creationId xmlns:a16="http://schemas.microsoft.com/office/drawing/2014/main" id="{35B89108-BC65-540D-2F84-3257E6BE3926}"/>
              </a:ext>
            </a:extLst>
          </p:cNvPr>
          <p:cNvGrpSpPr/>
          <p:nvPr/>
        </p:nvGrpSpPr>
        <p:grpSpPr>
          <a:xfrm>
            <a:off x="1131570" y="16283083"/>
            <a:ext cx="685800" cy="685800"/>
            <a:chOff x="0" y="0"/>
            <a:chExt cx="914400" cy="914400"/>
          </a:xfrm>
        </p:grpSpPr>
        <p:sp>
          <p:nvSpPr>
            <p:cNvPr id="222" name="Freeform 55">
              <a:extLst>
                <a:ext uri="{FF2B5EF4-FFF2-40B4-BE49-F238E27FC236}">
                  <a16:creationId xmlns:a16="http://schemas.microsoft.com/office/drawing/2014/main" id="{D6864E52-ECDD-B07E-BC88-FD99F8935D22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3" name="TextBox 56">
              <a:extLst>
                <a:ext uri="{FF2B5EF4-FFF2-40B4-BE49-F238E27FC236}">
                  <a16:creationId xmlns:a16="http://schemas.microsoft.com/office/drawing/2014/main" id="{96A3490B-C9A7-E81E-CE5D-6D8B293FDEDB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id="224" name="Group 57">
            <a:extLst>
              <a:ext uri="{FF2B5EF4-FFF2-40B4-BE49-F238E27FC236}">
                <a16:creationId xmlns:a16="http://schemas.microsoft.com/office/drawing/2014/main" id="{58FAA45C-3183-A173-2494-E49A567BC694}"/>
              </a:ext>
            </a:extLst>
          </p:cNvPr>
          <p:cNvGrpSpPr/>
          <p:nvPr/>
        </p:nvGrpSpPr>
        <p:grpSpPr>
          <a:xfrm>
            <a:off x="2160270" y="16283083"/>
            <a:ext cx="4526280" cy="685800"/>
            <a:chOff x="0" y="0"/>
            <a:chExt cx="6035040" cy="914400"/>
          </a:xfrm>
        </p:grpSpPr>
        <p:sp>
          <p:nvSpPr>
            <p:cNvPr id="225" name="Freeform 58">
              <a:extLst>
                <a:ext uri="{FF2B5EF4-FFF2-40B4-BE49-F238E27FC236}">
                  <a16:creationId xmlns:a16="http://schemas.microsoft.com/office/drawing/2014/main" id="{83573130-2D70-488E-6C45-DB3A65D37B77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226" name="TextBox 59">
              <a:extLst>
                <a:ext uri="{FF2B5EF4-FFF2-40B4-BE49-F238E27FC236}">
                  <a16:creationId xmlns:a16="http://schemas.microsoft.com/office/drawing/2014/main" id="{D537ACC9-A17D-29EE-51CE-C2A5173C1924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Checks exam eligibility</a:t>
              </a:r>
            </a:p>
          </p:txBody>
        </p:sp>
      </p:grpSp>
      <p:grpSp>
        <p:nvGrpSpPr>
          <p:cNvPr id="227" name="Group 60">
            <a:extLst>
              <a:ext uri="{FF2B5EF4-FFF2-40B4-BE49-F238E27FC236}">
                <a16:creationId xmlns:a16="http://schemas.microsoft.com/office/drawing/2014/main" id="{156A1106-E0B4-194C-84D1-B245E62AEDEA}"/>
              </a:ext>
            </a:extLst>
          </p:cNvPr>
          <p:cNvGrpSpPr/>
          <p:nvPr/>
        </p:nvGrpSpPr>
        <p:grpSpPr>
          <a:xfrm>
            <a:off x="6892290" y="16283083"/>
            <a:ext cx="10561320" cy="685800"/>
            <a:chOff x="0" y="0"/>
            <a:chExt cx="14081760" cy="914400"/>
          </a:xfrm>
        </p:grpSpPr>
        <p:sp>
          <p:nvSpPr>
            <p:cNvPr id="228" name="Freeform 61">
              <a:extLst>
                <a:ext uri="{FF2B5EF4-FFF2-40B4-BE49-F238E27FC236}">
                  <a16:creationId xmlns:a16="http://schemas.microsoft.com/office/drawing/2014/main" id="{52B4C48D-6E14-3CFC-FF44-67898939934E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229" name="TextBox 62">
              <a:extLst>
                <a:ext uri="{FF2B5EF4-FFF2-40B4-BE49-F238E27FC236}">
                  <a16:creationId xmlns:a16="http://schemas.microsoft.com/office/drawing/2014/main" id="{A637F5B7-5DEE-A6C6-A831-4A831DDB65F2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He enters qualification, age and category, and sees only the exams he can sit.</a:t>
              </a:r>
            </a:p>
          </p:txBody>
        </p:sp>
      </p:grpSp>
      <p:grpSp>
        <p:nvGrpSpPr>
          <p:cNvPr id="230" name="Group 63">
            <a:extLst>
              <a:ext uri="{FF2B5EF4-FFF2-40B4-BE49-F238E27FC236}">
                <a16:creationId xmlns:a16="http://schemas.microsoft.com/office/drawing/2014/main" id="{2B760735-81FA-89B4-C75A-D2B9757FC3B9}"/>
              </a:ext>
            </a:extLst>
          </p:cNvPr>
          <p:cNvGrpSpPr/>
          <p:nvPr/>
        </p:nvGrpSpPr>
        <p:grpSpPr>
          <a:xfrm>
            <a:off x="1131570" y="17188339"/>
            <a:ext cx="685800" cy="685800"/>
            <a:chOff x="0" y="0"/>
            <a:chExt cx="914400" cy="914400"/>
          </a:xfrm>
        </p:grpSpPr>
        <p:sp>
          <p:nvSpPr>
            <p:cNvPr id="231" name="Freeform 64">
              <a:extLst>
                <a:ext uri="{FF2B5EF4-FFF2-40B4-BE49-F238E27FC236}">
                  <a16:creationId xmlns:a16="http://schemas.microsoft.com/office/drawing/2014/main" id="{D6CE32F5-2FA9-5EC1-6123-02FA281DB816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32" name="Group 65">
            <a:extLst>
              <a:ext uri="{FF2B5EF4-FFF2-40B4-BE49-F238E27FC236}">
                <a16:creationId xmlns:a16="http://schemas.microsoft.com/office/drawing/2014/main" id="{A67988DA-DDB2-15C7-206D-A1D40910A81E}"/>
              </a:ext>
            </a:extLst>
          </p:cNvPr>
          <p:cNvGrpSpPr/>
          <p:nvPr/>
        </p:nvGrpSpPr>
        <p:grpSpPr>
          <a:xfrm>
            <a:off x="1131570" y="17188339"/>
            <a:ext cx="685800" cy="685800"/>
            <a:chOff x="0" y="0"/>
            <a:chExt cx="914400" cy="914400"/>
          </a:xfrm>
        </p:grpSpPr>
        <p:sp>
          <p:nvSpPr>
            <p:cNvPr id="233" name="Freeform 66">
              <a:extLst>
                <a:ext uri="{FF2B5EF4-FFF2-40B4-BE49-F238E27FC236}">
                  <a16:creationId xmlns:a16="http://schemas.microsoft.com/office/drawing/2014/main" id="{3940CF46-0D04-D666-616B-CBDCD2D06B52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34" name="TextBox 67">
              <a:extLst>
                <a:ext uri="{FF2B5EF4-FFF2-40B4-BE49-F238E27FC236}">
                  <a16:creationId xmlns:a16="http://schemas.microsoft.com/office/drawing/2014/main" id="{188FE348-4203-13EE-5295-9275E15E8801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</a:t>
              </a:r>
            </a:p>
          </p:txBody>
        </p:sp>
      </p:grpSp>
      <p:grpSp>
        <p:nvGrpSpPr>
          <p:cNvPr id="235" name="Group 68">
            <a:extLst>
              <a:ext uri="{FF2B5EF4-FFF2-40B4-BE49-F238E27FC236}">
                <a16:creationId xmlns:a16="http://schemas.microsoft.com/office/drawing/2014/main" id="{A1C0B678-1791-D7BC-F957-C748F1C0C21C}"/>
              </a:ext>
            </a:extLst>
          </p:cNvPr>
          <p:cNvGrpSpPr/>
          <p:nvPr/>
        </p:nvGrpSpPr>
        <p:grpSpPr>
          <a:xfrm>
            <a:off x="2160270" y="17188339"/>
            <a:ext cx="4526280" cy="685800"/>
            <a:chOff x="0" y="0"/>
            <a:chExt cx="6035040" cy="914400"/>
          </a:xfrm>
        </p:grpSpPr>
        <p:sp>
          <p:nvSpPr>
            <p:cNvPr id="236" name="Freeform 69">
              <a:extLst>
                <a:ext uri="{FF2B5EF4-FFF2-40B4-BE49-F238E27FC236}">
                  <a16:creationId xmlns:a16="http://schemas.microsoft.com/office/drawing/2014/main" id="{5C3F6FA1-A6DC-0C0F-91BC-5BA7FBA8DE29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237" name="TextBox 70">
              <a:extLst>
                <a:ext uri="{FF2B5EF4-FFF2-40B4-BE49-F238E27FC236}">
                  <a16:creationId xmlns:a16="http://schemas.microsoft.com/office/drawing/2014/main" id="{B1B36106-7B0E-B5A6-F8A4-D11530A5E376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Gets the plan</a:t>
              </a:r>
            </a:p>
          </p:txBody>
        </p:sp>
      </p:grpSp>
      <p:grpSp>
        <p:nvGrpSpPr>
          <p:cNvPr id="238" name="Group 71">
            <a:extLst>
              <a:ext uri="{FF2B5EF4-FFF2-40B4-BE49-F238E27FC236}">
                <a16:creationId xmlns:a16="http://schemas.microsoft.com/office/drawing/2014/main" id="{9AF3D4D6-4EB9-9EC2-6D54-1894E73F34AD}"/>
              </a:ext>
            </a:extLst>
          </p:cNvPr>
          <p:cNvGrpSpPr/>
          <p:nvPr/>
        </p:nvGrpSpPr>
        <p:grpSpPr>
          <a:xfrm>
            <a:off x="6892290" y="17188339"/>
            <a:ext cx="10561320" cy="685800"/>
            <a:chOff x="0" y="0"/>
            <a:chExt cx="14081760" cy="914400"/>
          </a:xfrm>
        </p:grpSpPr>
        <p:sp>
          <p:nvSpPr>
            <p:cNvPr id="239" name="Freeform 72">
              <a:extLst>
                <a:ext uri="{FF2B5EF4-FFF2-40B4-BE49-F238E27FC236}">
                  <a16:creationId xmlns:a16="http://schemas.microsoft.com/office/drawing/2014/main" id="{75008A6B-82F7-B330-CDBC-5D8716A062F6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240" name="TextBox 73">
              <a:extLst>
                <a:ext uri="{FF2B5EF4-FFF2-40B4-BE49-F238E27FC236}">
                  <a16:creationId xmlns:a16="http://schemas.microsoft.com/office/drawing/2014/main" id="{1481F062-6D65-9C2D-75FC-FAC1D75BC55C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 study timeline and an application checklist appear for one exam.</a:t>
              </a:r>
            </a:p>
          </p:txBody>
        </p:sp>
      </p:grpSp>
      <p:grpSp>
        <p:nvGrpSpPr>
          <p:cNvPr id="241" name="Group 74">
            <a:extLst>
              <a:ext uri="{FF2B5EF4-FFF2-40B4-BE49-F238E27FC236}">
                <a16:creationId xmlns:a16="http://schemas.microsoft.com/office/drawing/2014/main" id="{7B1183CA-2D7D-D687-CD7B-7DC989BA4995}"/>
              </a:ext>
            </a:extLst>
          </p:cNvPr>
          <p:cNvGrpSpPr/>
          <p:nvPr/>
        </p:nvGrpSpPr>
        <p:grpSpPr>
          <a:xfrm>
            <a:off x="1131570" y="18093595"/>
            <a:ext cx="685800" cy="685800"/>
            <a:chOff x="0" y="0"/>
            <a:chExt cx="914400" cy="914400"/>
          </a:xfrm>
        </p:grpSpPr>
        <p:sp>
          <p:nvSpPr>
            <p:cNvPr id="242" name="Freeform 75">
              <a:extLst>
                <a:ext uri="{FF2B5EF4-FFF2-40B4-BE49-F238E27FC236}">
                  <a16:creationId xmlns:a16="http://schemas.microsoft.com/office/drawing/2014/main" id="{2BA9EA91-E995-DED8-DC3A-2F1891F57204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43" name="Group 76">
            <a:extLst>
              <a:ext uri="{FF2B5EF4-FFF2-40B4-BE49-F238E27FC236}">
                <a16:creationId xmlns:a16="http://schemas.microsoft.com/office/drawing/2014/main" id="{61233442-4404-1F94-2D56-3377549C0F62}"/>
              </a:ext>
            </a:extLst>
          </p:cNvPr>
          <p:cNvGrpSpPr/>
          <p:nvPr/>
        </p:nvGrpSpPr>
        <p:grpSpPr>
          <a:xfrm>
            <a:off x="1131570" y="18093595"/>
            <a:ext cx="685800" cy="685800"/>
            <a:chOff x="0" y="0"/>
            <a:chExt cx="914400" cy="914400"/>
          </a:xfrm>
        </p:grpSpPr>
        <p:sp>
          <p:nvSpPr>
            <p:cNvPr id="244" name="Freeform 77">
              <a:extLst>
                <a:ext uri="{FF2B5EF4-FFF2-40B4-BE49-F238E27FC236}">
                  <a16:creationId xmlns:a16="http://schemas.microsoft.com/office/drawing/2014/main" id="{6F4FB720-02A7-E45E-FFA2-161B16D1F6B1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45" name="TextBox 78">
              <a:extLst>
                <a:ext uri="{FF2B5EF4-FFF2-40B4-BE49-F238E27FC236}">
                  <a16:creationId xmlns:a16="http://schemas.microsoft.com/office/drawing/2014/main" id="{CB00DEE8-649F-0769-6B05-75B976852CD4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7</a:t>
              </a:r>
            </a:p>
          </p:txBody>
        </p:sp>
      </p:grpSp>
      <p:grpSp>
        <p:nvGrpSpPr>
          <p:cNvPr id="246" name="Group 79">
            <a:extLst>
              <a:ext uri="{FF2B5EF4-FFF2-40B4-BE49-F238E27FC236}">
                <a16:creationId xmlns:a16="http://schemas.microsoft.com/office/drawing/2014/main" id="{8DDD0D10-EB06-379B-88EB-03FF9339E954}"/>
              </a:ext>
            </a:extLst>
          </p:cNvPr>
          <p:cNvGrpSpPr/>
          <p:nvPr/>
        </p:nvGrpSpPr>
        <p:grpSpPr>
          <a:xfrm>
            <a:off x="2160270" y="18093595"/>
            <a:ext cx="4526280" cy="685800"/>
            <a:chOff x="0" y="0"/>
            <a:chExt cx="6035040" cy="914400"/>
          </a:xfrm>
        </p:grpSpPr>
        <p:sp>
          <p:nvSpPr>
            <p:cNvPr id="247" name="Freeform 80">
              <a:extLst>
                <a:ext uri="{FF2B5EF4-FFF2-40B4-BE49-F238E27FC236}">
                  <a16:creationId xmlns:a16="http://schemas.microsoft.com/office/drawing/2014/main" id="{46ACED5C-E9E9-9FF2-B337-7071C7249B09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248" name="TextBox 81">
              <a:extLst>
                <a:ext uri="{FF2B5EF4-FFF2-40B4-BE49-F238E27FC236}">
                  <a16:creationId xmlns:a16="http://schemas.microsoft.com/office/drawing/2014/main" id="{089F1697-0162-5C2F-AC30-16A6470FF672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Meets peers</a:t>
              </a:r>
            </a:p>
          </p:txBody>
        </p:sp>
      </p:grpSp>
      <p:grpSp>
        <p:nvGrpSpPr>
          <p:cNvPr id="249" name="Group 82">
            <a:extLst>
              <a:ext uri="{FF2B5EF4-FFF2-40B4-BE49-F238E27FC236}">
                <a16:creationId xmlns:a16="http://schemas.microsoft.com/office/drawing/2014/main" id="{7AE2F7E5-D3F9-BDA9-269B-FF1CC9C694D5}"/>
              </a:ext>
            </a:extLst>
          </p:cNvPr>
          <p:cNvGrpSpPr/>
          <p:nvPr/>
        </p:nvGrpSpPr>
        <p:grpSpPr>
          <a:xfrm>
            <a:off x="6892290" y="18093595"/>
            <a:ext cx="10561320" cy="685800"/>
            <a:chOff x="0" y="0"/>
            <a:chExt cx="14081760" cy="914400"/>
          </a:xfrm>
        </p:grpSpPr>
        <p:sp>
          <p:nvSpPr>
            <p:cNvPr id="250" name="Freeform 83">
              <a:extLst>
                <a:ext uri="{FF2B5EF4-FFF2-40B4-BE49-F238E27FC236}">
                  <a16:creationId xmlns:a16="http://schemas.microsoft.com/office/drawing/2014/main" id="{F2C6BF40-3727-46B5-1D87-924B06B5C40C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251" name="TextBox 84">
              <a:extLst>
                <a:ext uri="{FF2B5EF4-FFF2-40B4-BE49-F238E27FC236}">
                  <a16:creationId xmlns:a16="http://schemas.microsoft.com/office/drawing/2014/main" id="{11006768-D7D3-B42E-ED55-F6A5E6650F6B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He joins a study group and is matched with a mentor who cleared the exam.</a:t>
              </a:r>
            </a:p>
          </p:txBody>
        </p:sp>
      </p:grpSp>
      <p:grpSp>
        <p:nvGrpSpPr>
          <p:cNvPr id="252" name="Group 85">
            <a:extLst>
              <a:ext uri="{FF2B5EF4-FFF2-40B4-BE49-F238E27FC236}">
                <a16:creationId xmlns:a16="http://schemas.microsoft.com/office/drawing/2014/main" id="{AC45CD49-8CCE-40B6-007D-13F6A7D3DC93}"/>
              </a:ext>
            </a:extLst>
          </p:cNvPr>
          <p:cNvGrpSpPr/>
          <p:nvPr/>
        </p:nvGrpSpPr>
        <p:grpSpPr>
          <a:xfrm>
            <a:off x="17385030" y="19725799"/>
            <a:ext cx="822960" cy="411480"/>
            <a:chOff x="0" y="0"/>
            <a:chExt cx="1097280" cy="548640"/>
          </a:xfrm>
        </p:grpSpPr>
        <p:sp>
          <p:nvSpPr>
            <p:cNvPr id="253" name="Freeform 86">
              <a:extLst>
                <a:ext uri="{FF2B5EF4-FFF2-40B4-BE49-F238E27FC236}">
                  <a16:creationId xmlns:a16="http://schemas.microsoft.com/office/drawing/2014/main" id="{C42EC875-5763-17C9-0A02-7AE3CB8F5A9B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54" name="TextBox 87">
              <a:extLst>
                <a:ext uri="{FF2B5EF4-FFF2-40B4-BE49-F238E27FC236}">
                  <a16:creationId xmlns:a16="http://schemas.microsoft.com/office/drawing/2014/main" id="{E7B67392-E983-86F5-F672-C59E4A32C90A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14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USER JOURNEY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097280"/>
            <a:ext cx="16322040" cy="1234440"/>
            <a:chOff x="0" y="0"/>
            <a:chExt cx="2176272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One person, start to finish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0120" y="267462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60120" y="2674620"/>
            <a:ext cx="685800" cy="685800"/>
            <a:chOff x="0" y="0"/>
            <a:chExt cx="91440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88820" y="2674620"/>
            <a:ext cx="4526280" cy="685800"/>
            <a:chOff x="0" y="0"/>
            <a:chExt cx="603504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Speaks a skill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20840" y="2674620"/>
            <a:ext cx="10561320" cy="685800"/>
            <a:chOff x="0" y="0"/>
            <a:chExt cx="14081760" cy="914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Pratik describes his work aloud, and AI extracts his skill tags.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60120" y="3579876"/>
            <a:ext cx="685800" cy="685800"/>
            <a:chOff x="0" y="0"/>
            <a:chExt cx="914400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60120" y="3579876"/>
            <a:ext cx="685800" cy="685800"/>
            <a:chOff x="0" y="0"/>
            <a:chExt cx="91440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88820" y="3579876"/>
            <a:ext cx="4526280" cy="685800"/>
            <a:chOff x="0" y="0"/>
            <a:chExt cx="603504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Gets verified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0840" y="3579876"/>
            <a:ext cx="10561320" cy="685800"/>
            <a:chOff x="0" y="0"/>
            <a:chExt cx="14081760" cy="914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 one-question AI task runs and his trust score appears.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60120" y="4485132"/>
            <a:ext cx="685800" cy="685800"/>
            <a:chOff x="0" y="0"/>
            <a:chExt cx="914400" cy="914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960120" y="4485132"/>
            <a:ext cx="685800" cy="685800"/>
            <a:chOff x="0" y="0"/>
            <a:chExt cx="91440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988820" y="4485132"/>
            <a:ext cx="4526280" cy="685800"/>
            <a:chOff x="0" y="0"/>
            <a:chExt cx="603504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Gets his CV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720840" y="4485132"/>
            <a:ext cx="10561320" cy="685800"/>
            <a:chOff x="0" y="0"/>
            <a:chExt cx="14081760" cy="914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 professional CV is generated from what he said and proved.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60120" y="5390388"/>
            <a:ext cx="685800" cy="685800"/>
            <a:chOff x="0" y="0"/>
            <a:chExt cx="914400" cy="914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960120" y="5390388"/>
            <a:ext cx="685800" cy="685800"/>
            <a:chOff x="0" y="0"/>
            <a:chExt cx="914400" cy="914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988820" y="5390388"/>
            <a:ext cx="4526280" cy="685800"/>
            <a:chOff x="0" y="0"/>
            <a:chExt cx="6035040" cy="914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Sees his gap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720840" y="5390388"/>
            <a:ext cx="10561320" cy="685800"/>
            <a:chOff x="0" y="0"/>
            <a:chExt cx="14081760" cy="914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AI shows the one missing skill and the first short lesson.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60120" y="6295644"/>
            <a:ext cx="685800" cy="685800"/>
            <a:chOff x="0" y="0"/>
            <a:chExt cx="914400" cy="914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960120" y="6295644"/>
            <a:ext cx="685800" cy="685800"/>
            <a:chOff x="0" y="0"/>
            <a:chExt cx="914400" cy="9144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988820" y="6295644"/>
            <a:ext cx="4526280" cy="685800"/>
            <a:chOff x="0" y="0"/>
            <a:chExt cx="6035040" cy="9144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Checks exam eligibility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720840" y="6295644"/>
            <a:ext cx="10561320" cy="685800"/>
            <a:chOff x="0" y="0"/>
            <a:chExt cx="14081760" cy="9144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He enters qualification, age and category, and sees only the exams he can sit.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60120" y="7200900"/>
            <a:ext cx="685800" cy="685800"/>
            <a:chOff x="0" y="0"/>
            <a:chExt cx="914400" cy="9144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960120" y="7200900"/>
            <a:ext cx="685800" cy="685800"/>
            <a:chOff x="0" y="0"/>
            <a:chExt cx="914400" cy="9144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988820" y="7200900"/>
            <a:ext cx="4526280" cy="685800"/>
            <a:chOff x="0" y="0"/>
            <a:chExt cx="6035040" cy="9144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Gets the plan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720840" y="7200900"/>
            <a:ext cx="10561320" cy="685800"/>
            <a:chOff x="0" y="0"/>
            <a:chExt cx="14081760" cy="9144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 study timeline and an application checklist appear for one exam.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60120" y="8106156"/>
            <a:ext cx="685800" cy="685800"/>
            <a:chOff x="0" y="0"/>
            <a:chExt cx="914400" cy="9144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960120" y="8106156"/>
            <a:ext cx="685800" cy="685800"/>
            <a:chOff x="0" y="0"/>
            <a:chExt cx="914400" cy="9144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7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988820" y="8106156"/>
            <a:ext cx="4526280" cy="685800"/>
            <a:chOff x="0" y="0"/>
            <a:chExt cx="6035040" cy="9144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Meets peers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720840" y="8106156"/>
            <a:ext cx="10561320" cy="685800"/>
            <a:chOff x="0" y="0"/>
            <a:chExt cx="14081760" cy="9144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He joins a study group and is matched with a mentor who cleared the exam.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14</a:t>
              </a:r>
            </a:p>
          </p:txBody>
        </p:sp>
      </p:grpSp>
      <p:grpSp>
        <p:nvGrpSpPr>
          <p:cNvPr id="88" name="Group 2">
            <a:extLst>
              <a:ext uri="{FF2B5EF4-FFF2-40B4-BE49-F238E27FC236}">
                <a16:creationId xmlns:a16="http://schemas.microsoft.com/office/drawing/2014/main" id="{0E438DCE-F412-111B-3046-FC647C54EE61}"/>
              </a:ext>
            </a:extLst>
          </p:cNvPr>
          <p:cNvGrpSpPr/>
          <p:nvPr/>
        </p:nvGrpSpPr>
        <p:grpSpPr>
          <a:xfrm>
            <a:off x="960120" y="-10054114"/>
            <a:ext cx="12344400" cy="480060"/>
            <a:chOff x="0" y="0"/>
            <a:chExt cx="16459200" cy="640080"/>
          </a:xfrm>
        </p:grpSpPr>
        <p:sp>
          <p:nvSpPr>
            <p:cNvPr id="89" name="Freeform 3">
              <a:extLst>
                <a:ext uri="{FF2B5EF4-FFF2-40B4-BE49-F238E27FC236}">
                  <a16:creationId xmlns:a16="http://schemas.microsoft.com/office/drawing/2014/main" id="{2866E697-C8CC-DAB7-FFA1-A10671C10E70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90" name="TextBox 4">
              <a:extLst>
                <a:ext uri="{FF2B5EF4-FFF2-40B4-BE49-F238E27FC236}">
                  <a16:creationId xmlns:a16="http://schemas.microsoft.com/office/drawing/2014/main" id="{2A00DC70-81A3-C1AB-C4C1-3F513A5061E1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FEASIBILITY</a:t>
              </a:r>
            </a:p>
          </p:txBody>
        </p:sp>
      </p:grpSp>
      <p:grpSp>
        <p:nvGrpSpPr>
          <p:cNvPr id="91" name="Group 5">
            <a:extLst>
              <a:ext uri="{FF2B5EF4-FFF2-40B4-BE49-F238E27FC236}">
                <a16:creationId xmlns:a16="http://schemas.microsoft.com/office/drawing/2014/main" id="{019DA8BD-9504-E64F-DBE8-6E57F0CEDEA4}"/>
              </a:ext>
            </a:extLst>
          </p:cNvPr>
          <p:cNvGrpSpPr/>
          <p:nvPr/>
        </p:nvGrpSpPr>
        <p:grpSpPr>
          <a:xfrm>
            <a:off x="960120" y="-9574054"/>
            <a:ext cx="16322040" cy="1234440"/>
            <a:chOff x="0" y="0"/>
            <a:chExt cx="21762720" cy="1645920"/>
          </a:xfrm>
        </p:grpSpPr>
        <p:sp>
          <p:nvSpPr>
            <p:cNvPr id="92" name="Freeform 6">
              <a:extLst>
                <a:ext uri="{FF2B5EF4-FFF2-40B4-BE49-F238E27FC236}">
                  <a16:creationId xmlns:a16="http://schemas.microsoft.com/office/drawing/2014/main" id="{1A84F710-26A5-9A9C-CBFE-E9FCA07A2402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93" name="TextBox 7">
              <a:extLst>
                <a:ext uri="{FF2B5EF4-FFF2-40B4-BE49-F238E27FC236}">
                  <a16:creationId xmlns:a16="http://schemas.microsoft.com/office/drawing/2014/main" id="{E10786BD-D095-9462-C1A2-9D54B90782A5}"/>
                </a:ext>
              </a:extLst>
            </p:cNvPr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How we would build it</a:t>
              </a:r>
            </a:p>
          </p:txBody>
        </p:sp>
      </p:grpSp>
      <p:grpSp>
        <p:nvGrpSpPr>
          <p:cNvPr id="94" name="Group 8">
            <a:extLst>
              <a:ext uri="{FF2B5EF4-FFF2-40B4-BE49-F238E27FC236}">
                <a16:creationId xmlns:a16="http://schemas.microsoft.com/office/drawing/2014/main" id="{619F9F66-1FB6-5C8F-686D-313F422BCFAD}"/>
              </a:ext>
            </a:extLst>
          </p:cNvPr>
          <p:cNvGrpSpPr/>
          <p:nvPr/>
        </p:nvGrpSpPr>
        <p:grpSpPr>
          <a:xfrm>
            <a:off x="960120" y="-7928134"/>
            <a:ext cx="16322040" cy="754380"/>
            <a:chOff x="0" y="0"/>
            <a:chExt cx="21762720" cy="1005840"/>
          </a:xfrm>
        </p:grpSpPr>
        <p:sp>
          <p:nvSpPr>
            <p:cNvPr id="95" name="Freeform 9">
              <a:extLst>
                <a:ext uri="{FF2B5EF4-FFF2-40B4-BE49-F238E27FC236}">
                  <a16:creationId xmlns:a16="http://schemas.microsoft.com/office/drawing/2014/main" id="{889F74F6-3949-9171-8D39-B0F2EAD3D54B}"/>
                </a:ext>
              </a:extLst>
            </p:cNvPr>
            <p:cNvSpPr/>
            <p:nvPr/>
          </p:nvSpPr>
          <p:spPr>
            <a:xfrm>
              <a:off x="0" y="0"/>
              <a:ext cx="21762720" cy="1005840"/>
            </a:xfrm>
            <a:custGeom>
              <a:avLst/>
              <a:gdLst/>
              <a:ahLst/>
              <a:cxnLst/>
              <a:rect l="l" t="t" r="r" b="b"/>
              <a:pathLst>
                <a:path w="21762720" h="100584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96" name="Group 10">
            <a:extLst>
              <a:ext uri="{FF2B5EF4-FFF2-40B4-BE49-F238E27FC236}">
                <a16:creationId xmlns:a16="http://schemas.microsoft.com/office/drawing/2014/main" id="{EFBB96D2-3547-DC50-A1F4-9ACF873C7719}"/>
              </a:ext>
            </a:extLst>
          </p:cNvPr>
          <p:cNvGrpSpPr/>
          <p:nvPr/>
        </p:nvGrpSpPr>
        <p:grpSpPr>
          <a:xfrm>
            <a:off x="1165860" y="-7928134"/>
            <a:ext cx="4526280" cy="754380"/>
            <a:chOff x="0" y="0"/>
            <a:chExt cx="6035040" cy="1005840"/>
          </a:xfrm>
        </p:grpSpPr>
        <p:sp>
          <p:nvSpPr>
            <p:cNvPr id="97" name="Freeform 11">
              <a:extLst>
                <a:ext uri="{FF2B5EF4-FFF2-40B4-BE49-F238E27FC236}">
                  <a16:creationId xmlns:a16="http://schemas.microsoft.com/office/drawing/2014/main" id="{81814C3D-03F3-80E0-975F-1F7686D487F9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98" name="TextBox 12">
              <a:extLst>
                <a:ext uri="{FF2B5EF4-FFF2-40B4-BE49-F238E27FC236}">
                  <a16:creationId xmlns:a16="http://schemas.microsoft.com/office/drawing/2014/main" id="{C66255F6-D100-B2F0-FED8-5B8993F3AC32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Component</a:t>
              </a:r>
            </a:p>
          </p:txBody>
        </p:sp>
      </p:grpSp>
      <p:grpSp>
        <p:nvGrpSpPr>
          <p:cNvPr id="99" name="Group 13">
            <a:extLst>
              <a:ext uri="{FF2B5EF4-FFF2-40B4-BE49-F238E27FC236}">
                <a16:creationId xmlns:a16="http://schemas.microsoft.com/office/drawing/2014/main" id="{2DB53373-36DC-8DEB-6354-E1062BA5507B}"/>
              </a:ext>
            </a:extLst>
          </p:cNvPr>
          <p:cNvGrpSpPr/>
          <p:nvPr/>
        </p:nvGrpSpPr>
        <p:grpSpPr>
          <a:xfrm>
            <a:off x="6103620" y="-7928134"/>
            <a:ext cx="7955280" cy="754380"/>
            <a:chOff x="0" y="0"/>
            <a:chExt cx="10607040" cy="1005840"/>
          </a:xfrm>
        </p:grpSpPr>
        <p:sp>
          <p:nvSpPr>
            <p:cNvPr id="100" name="Freeform 14">
              <a:extLst>
                <a:ext uri="{FF2B5EF4-FFF2-40B4-BE49-F238E27FC236}">
                  <a16:creationId xmlns:a16="http://schemas.microsoft.com/office/drawing/2014/main" id="{56A0E208-EF58-D012-1845-FE427C09185D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01" name="TextBox 15">
              <a:extLst>
                <a:ext uri="{FF2B5EF4-FFF2-40B4-BE49-F238E27FC236}">
                  <a16:creationId xmlns:a16="http://schemas.microsoft.com/office/drawing/2014/main" id="{2A3C4C7D-AA1F-CFA9-C340-71A22B057FC3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Approach</a:t>
              </a:r>
            </a:p>
          </p:txBody>
        </p:sp>
      </p:grpSp>
      <p:grpSp>
        <p:nvGrpSpPr>
          <p:cNvPr id="102" name="Group 16">
            <a:extLst>
              <a:ext uri="{FF2B5EF4-FFF2-40B4-BE49-F238E27FC236}">
                <a16:creationId xmlns:a16="http://schemas.microsoft.com/office/drawing/2014/main" id="{800CB245-2B44-FD57-7EE8-43C7BBA12CF3}"/>
              </a:ext>
            </a:extLst>
          </p:cNvPr>
          <p:cNvGrpSpPr/>
          <p:nvPr/>
        </p:nvGrpSpPr>
        <p:grpSpPr>
          <a:xfrm>
            <a:off x="14470380" y="-7928134"/>
            <a:ext cx="2606040" cy="754380"/>
            <a:chOff x="0" y="0"/>
            <a:chExt cx="3474720" cy="1005840"/>
          </a:xfrm>
        </p:grpSpPr>
        <p:sp>
          <p:nvSpPr>
            <p:cNvPr id="103" name="Freeform 17">
              <a:extLst>
                <a:ext uri="{FF2B5EF4-FFF2-40B4-BE49-F238E27FC236}">
                  <a16:creationId xmlns:a16="http://schemas.microsoft.com/office/drawing/2014/main" id="{1C67F826-115E-D88F-3520-D0F7D3252E94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04" name="TextBox 18">
              <a:extLst>
                <a:ext uri="{FF2B5EF4-FFF2-40B4-BE49-F238E27FC236}">
                  <a16:creationId xmlns:a16="http://schemas.microsoft.com/office/drawing/2014/main" id="{A53F6EB1-D607-9A1B-4BFE-81C2AFBCBFC9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Readiness</a:t>
              </a:r>
            </a:p>
          </p:txBody>
        </p:sp>
      </p:grpSp>
      <p:grpSp>
        <p:nvGrpSpPr>
          <p:cNvPr id="105" name="Group 19">
            <a:extLst>
              <a:ext uri="{FF2B5EF4-FFF2-40B4-BE49-F238E27FC236}">
                <a16:creationId xmlns:a16="http://schemas.microsoft.com/office/drawing/2014/main" id="{E202D3D8-779A-82F5-1380-9FC1B7439763}"/>
              </a:ext>
            </a:extLst>
          </p:cNvPr>
          <p:cNvGrpSpPr/>
          <p:nvPr/>
        </p:nvGrpSpPr>
        <p:grpSpPr>
          <a:xfrm>
            <a:off x="1165860" y="-7173754"/>
            <a:ext cx="4526280" cy="754380"/>
            <a:chOff x="0" y="0"/>
            <a:chExt cx="6035040" cy="1005840"/>
          </a:xfrm>
        </p:grpSpPr>
        <p:sp>
          <p:nvSpPr>
            <p:cNvPr id="106" name="Freeform 20">
              <a:extLst>
                <a:ext uri="{FF2B5EF4-FFF2-40B4-BE49-F238E27FC236}">
                  <a16:creationId xmlns:a16="http://schemas.microsoft.com/office/drawing/2014/main" id="{2DB72F63-31C7-4D39-17AF-7F616FA487C6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07" name="TextBox 21">
              <a:extLst>
                <a:ext uri="{FF2B5EF4-FFF2-40B4-BE49-F238E27FC236}">
                  <a16:creationId xmlns:a16="http://schemas.microsoft.com/office/drawing/2014/main" id="{F04F4447-0730-2A72-E33D-D68C441698A7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Voice capture &amp; skill extraction</a:t>
              </a:r>
            </a:p>
          </p:txBody>
        </p:sp>
      </p:grpSp>
      <p:grpSp>
        <p:nvGrpSpPr>
          <p:cNvPr id="108" name="Group 22">
            <a:extLst>
              <a:ext uri="{FF2B5EF4-FFF2-40B4-BE49-F238E27FC236}">
                <a16:creationId xmlns:a16="http://schemas.microsoft.com/office/drawing/2014/main" id="{B9E91E54-A2AB-6F18-3A54-80B98BE90279}"/>
              </a:ext>
            </a:extLst>
          </p:cNvPr>
          <p:cNvGrpSpPr/>
          <p:nvPr/>
        </p:nvGrpSpPr>
        <p:grpSpPr>
          <a:xfrm>
            <a:off x="6103620" y="-7173754"/>
            <a:ext cx="7955280" cy="754380"/>
            <a:chOff x="0" y="0"/>
            <a:chExt cx="10607040" cy="1005840"/>
          </a:xfrm>
        </p:grpSpPr>
        <p:sp>
          <p:nvSpPr>
            <p:cNvPr id="109" name="Freeform 23">
              <a:extLst>
                <a:ext uri="{FF2B5EF4-FFF2-40B4-BE49-F238E27FC236}">
                  <a16:creationId xmlns:a16="http://schemas.microsoft.com/office/drawing/2014/main" id="{31FB0F4F-AB0B-C3A3-2085-63846EF020EA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10" name="TextBox 24">
              <a:extLst>
                <a:ext uri="{FF2B5EF4-FFF2-40B4-BE49-F238E27FC236}">
                  <a16:creationId xmlns:a16="http://schemas.microsoft.com/office/drawing/2014/main" id="{2214D424-76C3-D7C5-871F-233E15FD7E7F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Browser mic + speech-to-text API; LLM prompt → structured tags</a:t>
              </a:r>
            </a:p>
          </p:txBody>
        </p:sp>
      </p:grpSp>
      <p:grpSp>
        <p:nvGrpSpPr>
          <p:cNvPr id="111" name="Group 25">
            <a:extLst>
              <a:ext uri="{FF2B5EF4-FFF2-40B4-BE49-F238E27FC236}">
                <a16:creationId xmlns:a16="http://schemas.microsoft.com/office/drawing/2014/main" id="{DFD7CDC0-6EB4-E6DB-7449-D6D3B9F7749F}"/>
              </a:ext>
            </a:extLst>
          </p:cNvPr>
          <p:cNvGrpSpPr/>
          <p:nvPr/>
        </p:nvGrpSpPr>
        <p:grpSpPr>
          <a:xfrm>
            <a:off x="14470380" y="-7173754"/>
            <a:ext cx="2606040" cy="754380"/>
            <a:chOff x="0" y="0"/>
            <a:chExt cx="3474720" cy="1005840"/>
          </a:xfrm>
        </p:grpSpPr>
        <p:sp>
          <p:nvSpPr>
            <p:cNvPr id="112" name="Freeform 26">
              <a:extLst>
                <a:ext uri="{FF2B5EF4-FFF2-40B4-BE49-F238E27FC236}">
                  <a16:creationId xmlns:a16="http://schemas.microsoft.com/office/drawing/2014/main" id="{7FF14C63-7ABC-5FA8-10C9-41EDA6972E50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13" name="TextBox 27">
              <a:extLst>
                <a:ext uri="{FF2B5EF4-FFF2-40B4-BE49-F238E27FC236}">
                  <a16:creationId xmlns:a16="http://schemas.microsoft.com/office/drawing/2014/main" id="{EFE0C954-D118-E1F7-BF49-05A3CD53B759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Ready-made</a:t>
              </a:r>
            </a:p>
          </p:txBody>
        </p:sp>
      </p:grpSp>
      <p:grpSp>
        <p:nvGrpSpPr>
          <p:cNvPr id="114" name="Group 28">
            <a:extLst>
              <a:ext uri="{FF2B5EF4-FFF2-40B4-BE49-F238E27FC236}">
                <a16:creationId xmlns:a16="http://schemas.microsoft.com/office/drawing/2014/main" id="{67AC7B60-17A4-6804-3000-66901FF75976}"/>
              </a:ext>
            </a:extLst>
          </p:cNvPr>
          <p:cNvGrpSpPr/>
          <p:nvPr/>
        </p:nvGrpSpPr>
        <p:grpSpPr>
          <a:xfrm>
            <a:off x="960120" y="-6419374"/>
            <a:ext cx="16322040" cy="754380"/>
            <a:chOff x="0" y="0"/>
            <a:chExt cx="21762720" cy="1005840"/>
          </a:xfrm>
        </p:grpSpPr>
        <p:sp>
          <p:nvSpPr>
            <p:cNvPr id="115" name="Freeform 29">
              <a:extLst>
                <a:ext uri="{FF2B5EF4-FFF2-40B4-BE49-F238E27FC236}">
                  <a16:creationId xmlns:a16="http://schemas.microsoft.com/office/drawing/2014/main" id="{B5D59CA0-E769-65B8-795C-642491ACB1D8}"/>
                </a:ext>
              </a:extLst>
            </p:cNvPr>
            <p:cNvSpPr/>
            <p:nvPr/>
          </p:nvSpPr>
          <p:spPr>
            <a:xfrm>
              <a:off x="0" y="0"/>
              <a:ext cx="21762720" cy="1005840"/>
            </a:xfrm>
            <a:custGeom>
              <a:avLst/>
              <a:gdLst/>
              <a:ahLst/>
              <a:cxnLst/>
              <a:rect l="l" t="t" r="r" b="b"/>
              <a:pathLst>
                <a:path w="21762720" h="100584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116" name="Group 30">
            <a:extLst>
              <a:ext uri="{FF2B5EF4-FFF2-40B4-BE49-F238E27FC236}">
                <a16:creationId xmlns:a16="http://schemas.microsoft.com/office/drawing/2014/main" id="{88267307-40E8-B6AA-C73F-259DC2DEC9B0}"/>
              </a:ext>
            </a:extLst>
          </p:cNvPr>
          <p:cNvGrpSpPr/>
          <p:nvPr/>
        </p:nvGrpSpPr>
        <p:grpSpPr>
          <a:xfrm>
            <a:off x="1165860" y="-6419374"/>
            <a:ext cx="4526280" cy="754380"/>
            <a:chOff x="0" y="0"/>
            <a:chExt cx="6035040" cy="1005840"/>
          </a:xfrm>
        </p:grpSpPr>
        <p:sp>
          <p:nvSpPr>
            <p:cNvPr id="117" name="Freeform 31">
              <a:extLst>
                <a:ext uri="{FF2B5EF4-FFF2-40B4-BE49-F238E27FC236}">
                  <a16:creationId xmlns:a16="http://schemas.microsoft.com/office/drawing/2014/main" id="{E0CBC159-1612-FCFE-D6DA-9E4E26C4F1EE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18" name="TextBox 32">
              <a:extLst>
                <a:ext uri="{FF2B5EF4-FFF2-40B4-BE49-F238E27FC236}">
                  <a16:creationId xmlns:a16="http://schemas.microsoft.com/office/drawing/2014/main" id="{1D722545-273F-528B-619A-A0FF7DB08F8B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Skill verification</a:t>
              </a:r>
            </a:p>
          </p:txBody>
        </p:sp>
      </p:grpSp>
      <p:grpSp>
        <p:nvGrpSpPr>
          <p:cNvPr id="119" name="Group 33">
            <a:extLst>
              <a:ext uri="{FF2B5EF4-FFF2-40B4-BE49-F238E27FC236}">
                <a16:creationId xmlns:a16="http://schemas.microsoft.com/office/drawing/2014/main" id="{35170A79-D65E-E8F8-B598-A0144AB52525}"/>
              </a:ext>
            </a:extLst>
          </p:cNvPr>
          <p:cNvGrpSpPr/>
          <p:nvPr/>
        </p:nvGrpSpPr>
        <p:grpSpPr>
          <a:xfrm>
            <a:off x="6103620" y="-6419374"/>
            <a:ext cx="7955280" cy="754380"/>
            <a:chOff x="0" y="0"/>
            <a:chExt cx="10607040" cy="1005840"/>
          </a:xfrm>
        </p:grpSpPr>
        <p:sp>
          <p:nvSpPr>
            <p:cNvPr id="120" name="Freeform 34">
              <a:extLst>
                <a:ext uri="{FF2B5EF4-FFF2-40B4-BE49-F238E27FC236}">
                  <a16:creationId xmlns:a16="http://schemas.microsoft.com/office/drawing/2014/main" id="{941231D4-B24A-B37B-635C-8C4C4AB2419A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21" name="TextBox 35">
              <a:extLst>
                <a:ext uri="{FF2B5EF4-FFF2-40B4-BE49-F238E27FC236}">
                  <a16:creationId xmlns:a16="http://schemas.microsoft.com/office/drawing/2014/main" id="{B0F445AA-5387-69B0-F5BB-2762037871FF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LLM-generated task, rubric-scored by a second LLM pass</a:t>
              </a:r>
            </a:p>
          </p:txBody>
        </p:sp>
      </p:grpSp>
      <p:grpSp>
        <p:nvGrpSpPr>
          <p:cNvPr id="122" name="Group 36">
            <a:extLst>
              <a:ext uri="{FF2B5EF4-FFF2-40B4-BE49-F238E27FC236}">
                <a16:creationId xmlns:a16="http://schemas.microsoft.com/office/drawing/2014/main" id="{C31A190E-D279-3BCA-26E9-91A73E13179D}"/>
              </a:ext>
            </a:extLst>
          </p:cNvPr>
          <p:cNvGrpSpPr/>
          <p:nvPr/>
        </p:nvGrpSpPr>
        <p:grpSpPr>
          <a:xfrm>
            <a:off x="14470380" y="-6419374"/>
            <a:ext cx="2606040" cy="754380"/>
            <a:chOff x="0" y="0"/>
            <a:chExt cx="3474720" cy="1005840"/>
          </a:xfrm>
        </p:grpSpPr>
        <p:sp>
          <p:nvSpPr>
            <p:cNvPr id="123" name="Freeform 37">
              <a:extLst>
                <a:ext uri="{FF2B5EF4-FFF2-40B4-BE49-F238E27FC236}">
                  <a16:creationId xmlns:a16="http://schemas.microsoft.com/office/drawing/2014/main" id="{3E39C36B-4FB4-2F9B-EE51-6FEC508865DF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24" name="TextBox 38">
              <a:extLst>
                <a:ext uri="{FF2B5EF4-FFF2-40B4-BE49-F238E27FC236}">
                  <a16:creationId xmlns:a16="http://schemas.microsoft.com/office/drawing/2014/main" id="{9D32070A-C814-21E4-B3C2-94F9C6BBEFC9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Ready-made</a:t>
              </a:r>
            </a:p>
          </p:txBody>
        </p:sp>
      </p:grpSp>
      <p:grpSp>
        <p:nvGrpSpPr>
          <p:cNvPr id="125" name="Group 39">
            <a:extLst>
              <a:ext uri="{FF2B5EF4-FFF2-40B4-BE49-F238E27FC236}">
                <a16:creationId xmlns:a16="http://schemas.microsoft.com/office/drawing/2014/main" id="{FC691C82-CB24-4F71-CD94-DECC21560B3B}"/>
              </a:ext>
            </a:extLst>
          </p:cNvPr>
          <p:cNvGrpSpPr/>
          <p:nvPr/>
        </p:nvGrpSpPr>
        <p:grpSpPr>
          <a:xfrm>
            <a:off x="1165860" y="-5664994"/>
            <a:ext cx="4526280" cy="754380"/>
            <a:chOff x="0" y="0"/>
            <a:chExt cx="6035040" cy="1005840"/>
          </a:xfrm>
        </p:grpSpPr>
        <p:sp>
          <p:nvSpPr>
            <p:cNvPr id="126" name="Freeform 40">
              <a:extLst>
                <a:ext uri="{FF2B5EF4-FFF2-40B4-BE49-F238E27FC236}">
                  <a16:creationId xmlns:a16="http://schemas.microsoft.com/office/drawing/2014/main" id="{354B4B9C-4981-07E7-B054-6FCDE647B039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27" name="TextBox 41">
              <a:extLst>
                <a:ext uri="{FF2B5EF4-FFF2-40B4-BE49-F238E27FC236}">
                  <a16:creationId xmlns:a16="http://schemas.microsoft.com/office/drawing/2014/main" id="{FDBF476C-410A-7771-7BD2-32597A3996DA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CV builder</a:t>
              </a:r>
            </a:p>
          </p:txBody>
        </p:sp>
      </p:grpSp>
      <p:grpSp>
        <p:nvGrpSpPr>
          <p:cNvPr id="128" name="Group 42">
            <a:extLst>
              <a:ext uri="{FF2B5EF4-FFF2-40B4-BE49-F238E27FC236}">
                <a16:creationId xmlns:a16="http://schemas.microsoft.com/office/drawing/2014/main" id="{EA8046DE-6679-5F37-7081-9ED5C9F87124}"/>
              </a:ext>
            </a:extLst>
          </p:cNvPr>
          <p:cNvGrpSpPr/>
          <p:nvPr/>
        </p:nvGrpSpPr>
        <p:grpSpPr>
          <a:xfrm>
            <a:off x="6103620" y="-5664994"/>
            <a:ext cx="7955280" cy="754380"/>
            <a:chOff x="0" y="0"/>
            <a:chExt cx="10607040" cy="1005840"/>
          </a:xfrm>
        </p:grpSpPr>
        <p:sp>
          <p:nvSpPr>
            <p:cNvPr id="129" name="Freeform 43">
              <a:extLst>
                <a:ext uri="{FF2B5EF4-FFF2-40B4-BE49-F238E27FC236}">
                  <a16:creationId xmlns:a16="http://schemas.microsoft.com/office/drawing/2014/main" id="{9A1B1591-89B9-B02D-8CEA-9E5B9C631E33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30" name="TextBox 44">
              <a:extLst>
                <a:ext uri="{FF2B5EF4-FFF2-40B4-BE49-F238E27FC236}">
                  <a16:creationId xmlns:a16="http://schemas.microsoft.com/office/drawing/2014/main" id="{6026B9FF-B5E0-213F-30C0-1647FD85A47C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LLM drafts the CV from the verified profile; export as PDF</a:t>
              </a:r>
            </a:p>
          </p:txBody>
        </p:sp>
      </p:grpSp>
      <p:grpSp>
        <p:nvGrpSpPr>
          <p:cNvPr id="131" name="Group 45">
            <a:extLst>
              <a:ext uri="{FF2B5EF4-FFF2-40B4-BE49-F238E27FC236}">
                <a16:creationId xmlns:a16="http://schemas.microsoft.com/office/drawing/2014/main" id="{3D55E0D6-149F-0FF6-33A5-673C417AAB77}"/>
              </a:ext>
            </a:extLst>
          </p:cNvPr>
          <p:cNvGrpSpPr/>
          <p:nvPr/>
        </p:nvGrpSpPr>
        <p:grpSpPr>
          <a:xfrm>
            <a:off x="14470380" y="-5664994"/>
            <a:ext cx="2606040" cy="754380"/>
            <a:chOff x="0" y="0"/>
            <a:chExt cx="3474720" cy="1005840"/>
          </a:xfrm>
        </p:grpSpPr>
        <p:sp>
          <p:nvSpPr>
            <p:cNvPr id="132" name="Freeform 46">
              <a:extLst>
                <a:ext uri="{FF2B5EF4-FFF2-40B4-BE49-F238E27FC236}">
                  <a16:creationId xmlns:a16="http://schemas.microsoft.com/office/drawing/2014/main" id="{98D764F9-1F73-67BB-8640-B50E3EEF6621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33" name="TextBox 47">
              <a:extLst>
                <a:ext uri="{FF2B5EF4-FFF2-40B4-BE49-F238E27FC236}">
                  <a16:creationId xmlns:a16="http://schemas.microsoft.com/office/drawing/2014/main" id="{E95DE0B5-9B57-0B36-41B6-DD9DB62E9B41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Ready-made</a:t>
              </a:r>
            </a:p>
          </p:txBody>
        </p:sp>
      </p:grpSp>
      <p:grpSp>
        <p:nvGrpSpPr>
          <p:cNvPr id="134" name="Group 48">
            <a:extLst>
              <a:ext uri="{FF2B5EF4-FFF2-40B4-BE49-F238E27FC236}">
                <a16:creationId xmlns:a16="http://schemas.microsoft.com/office/drawing/2014/main" id="{DE726AE0-396F-E36B-06FE-AD3E6B821FE5}"/>
              </a:ext>
            </a:extLst>
          </p:cNvPr>
          <p:cNvGrpSpPr/>
          <p:nvPr/>
        </p:nvGrpSpPr>
        <p:grpSpPr>
          <a:xfrm>
            <a:off x="960120" y="-4910614"/>
            <a:ext cx="16322040" cy="754380"/>
            <a:chOff x="0" y="0"/>
            <a:chExt cx="21762720" cy="1005840"/>
          </a:xfrm>
        </p:grpSpPr>
        <p:sp>
          <p:nvSpPr>
            <p:cNvPr id="135" name="Freeform 49">
              <a:extLst>
                <a:ext uri="{FF2B5EF4-FFF2-40B4-BE49-F238E27FC236}">
                  <a16:creationId xmlns:a16="http://schemas.microsoft.com/office/drawing/2014/main" id="{6F69255D-FE94-94A7-CDFE-9CD74D10FBD2}"/>
                </a:ext>
              </a:extLst>
            </p:cNvPr>
            <p:cNvSpPr/>
            <p:nvPr/>
          </p:nvSpPr>
          <p:spPr>
            <a:xfrm>
              <a:off x="0" y="0"/>
              <a:ext cx="21762720" cy="1005840"/>
            </a:xfrm>
            <a:custGeom>
              <a:avLst/>
              <a:gdLst/>
              <a:ahLst/>
              <a:cxnLst/>
              <a:rect l="l" t="t" r="r" b="b"/>
              <a:pathLst>
                <a:path w="21762720" h="100584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136" name="Group 50">
            <a:extLst>
              <a:ext uri="{FF2B5EF4-FFF2-40B4-BE49-F238E27FC236}">
                <a16:creationId xmlns:a16="http://schemas.microsoft.com/office/drawing/2014/main" id="{55DD7B00-ED3B-A9BE-8FFE-79E85C48C43E}"/>
              </a:ext>
            </a:extLst>
          </p:cNvPr>
          <p:cNvGrpSpPr/>
          <p:nvPr/>
        </p:nvGrpSpPr>
        <p:grpSpPr>
          <a:xfrm>
            <a:off x="1165860" y="-4910614"/>
            <a:ext cx="4526280" cy="754380"/>
            <a:chOff x="0" y="0"/>
            <a:chExt cx="6035040" cy="1005840"/>
          </a:xfrm>
        </p:grpSpPr>
        <p:sp>
          <p:nvSpPr>
            <p:cNvPr id="137" name="Freeform 51">
              <a:extLst>
                <a:ext uri="{FF2B5EF4-FFF2-40B4-BE49-F238E27FC236}">
                  <a16:creationId xmlns:a16="http://schemas.microsoft.com/office/drawing/2014/main" id="{C42FDA9B-A295-565D-3E83-70D737CB8E14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38" name="TextBox 52">
              <a:extLst>
                <a:ext uri="{FF2B5EF4-FFF2-40B4-BE49-F238E27FC236}">
                  <a16:creationId xmlns:a16="http://schemas.microsoft.com/office/drawing/2014/main" id="{5AF8AB4C-AEAB-C04F-EAC1-4447B2AFAAD1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Gap finder</a:t>
              </a:r>
            </a:p>
          </p:txBody>
        </p:sp>
      </p:grpSp>
      <p:grpSp>
        <p:nvGrpSpPr>
          <p:cNvPr id="139" name="Group 53">
            <a:extLst>
              <a:ext uri="{FF2B5EF4-FFF2-40B4-BE49-F238E27FC236}">
                <a16:creationId xmlns:a16="http://schemas.microsoft.com/office/drawing/2014/main" id="{AEDDE31B-FB46-1171-C79D-AB1516332191}"/>
              </a:ext>
            </a:extLst>
          </p:cNvPr>
          <p:cNvGrpSpPr/>
          <p:nvPr/>
        </p:nvGrpSpPr>
        <p:grpSpPr>
          <a:xfrm>
            <a:off x="6103620" y="-4910614"/>
            <a:ext cx="7955280" cy="754380"/>
            <a:chOff x="0" y="0"/>
            <a:chExt cx="10607040" cy="1005840"/>
          </a:xfrm>
        </p:grpSpPr>
        <p:sp>
          <p:nvSpPr>
            <p:cNvPr id="140" name="Freeform 54">
              <a:extLst>
                <a:ext uri="{FF2B5EF4-FFF2-40B4-BE49-F238E27FC236}">
                  <a16:creationId xmlns:a16="http://schemas.microsoft.com/office/drawing/2014/main" id="{629EC61F-5064-98B1-7C1E-DA23D9D3AE97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41" name="TextBox 55">
              <a:extLst>
                <a:ext uri="{FF2B5EF4-FFF2-40B4-BE49-F238E27FC236}">
                  <a16:creationId xmlns:a16="http://schemas.microsoft.com/office/drawing/2014/main" id="{57838A27-E258-AF81-D0B6-D109E98CE950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Embedding similarity against role requirements</a:t>
              </a:r>
            </a:p>
          </p:txBody>
        </p:sp>
      </p:grpSp>
      <p:grpSp>
        <p:nvGrpSpPr>
          <p:cNvPr id="142" name="Group 56">
            <a:extLst>
              <a:ext uri="{FF2B5EF4-FFF2-40B4-BE49-F238E27FC236}">
                <a16:creationId xmlns:a16="http://schemas.microsoft.com/office/drawing/2014/main" id="{105C262A-379C-B304-C9D9-C1EEA72D552E}"/>
              </a:ext>
            </a:extLst>
          </p:cNvPr>
          <p:cNvGrpSpPr/>
          <p:nvPr/>
        </p:nvGrpSpPr>
        <p:grpSpPr>
          <a:xfrm>
            <a:off x="14470380" y="-4910614"/>
            <a:ext cx="2606040" cy="754380"/>
            <a:chOff x="0" y="0"/>
            <a:chExt cx="3474720" cy="1005840"/>
          </a:xfrm>
        </p:grpSpPr>
        <p:sp>
          <p:nvSpPr>
            <p:cNvPr id="143" name="Freeform 57">
              <a:extLst>
                <a:ext uri="{FF2B5EF4-FFF2-40B4-BE49-F238E27FC236}">
                  <a16:creationId xmlns:a16="http://schemas.microsoft.com/office/drawing/2014/main" id="{7D1F6D2C-6276-DD4B-2D95-30B69B4BBE87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44" name="TextBox 58">
              <a:extLst>
                <a:ext uri="{FF2B5EF4-FFF2-40B4-BE49-F238E27FC236}">
                  <a16:creationId xmlns:a16="http://schemas.microsoft.com/office/drawing/2014/main" id="{2FB4EB09-DB71-F340-0061-B875E86F75A9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Ready-made</a:t>
              </a:r>
            </a:p>
          </p:txBody>
        </p:sp>
      </p:grpSp>
      <p:grpSp>
        <p:nvGrpSpPr>
          <p:cNvPr id="145" name="Group 59">
            <a:extLst>
              <a:ext uri="{FF2B5EF4-FFF2-40B4-BE49-F238E27FC236}">
                <a16:creationId xmlns:a16="http://schemas.microsoft.com/office/drawing/2014/main" id="{2DE22D78-C55D-DC92-E3F9-F8454514A272}"/>
              </a:ext>
            </a:extLst>
          </p:cNvPr>
          <p:cNvGrpSpPr/>
          <p:nvPr/>
        </p:nvGrpSpPr>
        <p:grpSpPr>
          <a:xfrm>
            <a:off x="1165860" y="-4156234"/>
            <a:ext cx="4526280" cy="754380"/>
            <a:chOff x="0" y="0"/>
            <a:chExt cx="6035040" cy="1005840"/>
          </a:xfrm>
        </p:grpSpPr>
        <p:sp>
          <p:nvSpPr>
            <p:cNvPr id="146" name="Freeform 60">
              <a:extLst>
                <a:ext uri="{FF2B5EF4-FFF2-40B4-BE49-F238E27FC236}">
                  <a16:creationId xmlns:a16="http://schemas.microsoft.com/office/drawing/2014/main" id="{76C14BED-16F0-9E0C-CF99-1E6A1224EF8F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47" name="TextBox 61">
              <a:extLst>
                <a:ext uri="{FF2B5EF4-FFF2-40B4-BE49-F238E27FC236}">
                  <a16:creationId xmlns:a16="http://schemas.microsoft.com/office/drawing/2014/main" id="{1F6D9C4E-A786-0685-B709-D56347663B69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Exam eligibility</a:t>
              </a:r>
            </a:p>
          </p:txBody>
        </p:sp>
      </p:grpSp>
      <p:grpSp>
        <p:nvGrpSpPr>
          <p:cNvPr id="148" name="Group 62">
            <a:extLst>
              <a:ext uri="{FF2B5EF4-FFF2-40B4-BE49-F238E27FC236}">
                <a16:creationId xmlns:a16="http://schemas.microsoft.com/office/drawing/2014/main" id="{1BE35662-8867-69FF-D413-359BCD9CD8A3}"/>
              </a:ext>
            </a:extLst>
          </p:cNvPr>
          <p:cNvGrpSpPr/>
          <p:nvPr/>
        </p:nvGrpSpPr>
        <p:grpSpPr>
          <a:xfrm>
            <a:off x="6103620" y="-4156234"/>
            <a:ext cx="7955280" cy="754380"/>
            <a:chOff x="0" y="0"/>
            <a:chExt cx="10607040" cy="1005840"/>
          </a:xfrm>
        </p:grpSpPr>
        <p:sp>
          <p:nvSpPr>
            <p:cNvPr id="149" name="Freeform 63">
              <a:extLst>
                <a:ext uri="{FF2B5EF4-FFF2-40B4-BE49-F238E27FC236}">
                  <a16:creationId xmlns:a16="http://schemas.microsoft.com/office/drawing/2014/main" id="{152A9456-CB08-5C3B-4FFD-93DEBC5E2CCD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50" name="TextBox 64">
              <a:extLst>
                <a:ext uri="{FF2B5EF4-FFF2-40B4-BE49-F238E27FC236}">
                  <a16:creationId xmlns:a16="http://schemas.microsoft.com/office/drawing/2014/main" id="{B09492FA-C351-3C1E-9295-3F6D6D41BDE1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Rules engine on curated official notifications</a:t>
              </a:r>
            </a:p>
          </p:txBody>
        </p:sp>
      </p:grpSp>
      <p:grpSp>
        <p:nvGrpSpPr>
          <p:cNvPr id="151" name="Group 65">
            <a:extLst>
              <a:ext uri="{FF2B5EF4-FFF2-40B4-BE49-F238E27FC236}">
                <a16:creationId xmlns:a16="http://schemas.microsoft.com/office/drawing/2014/main" id="{F83BBA37-2CBB-7006-9C76-C8F0740AD7CA}"/>
              </a:ext>
            </a:extLst>
          </p:cNvPr>
          <p:cNvGrpSpPr/>
          <p:nvPr/>
        </p:nvGrpSpPr>
        <p:grpSpPr>
          <a:xfrm>
            <a:off x="14470380" y="-4156234"/>
            <a:ext cx="2606040" cy="754380"/>
            <a:chOff x="0" y="0"/>
            <a:chExt cx="3474720" cy="1005840"/>
          </a:xfrm>
        </p:grpSpPr>
        <p:sp>
          <p:nvSpPr>
            <p:cNvPr id="152" name="Freeform 66">
              <a:extLst>
                <a:ext uri="{FF2B5EF4-FFF2-40B4-BE49-F238E27FC236}">
                  <a16:creationId xmlns:a16="http://schemas.microsoft.com/office/drawing/2014/main" id="{12DB9AD4-8CCD-2E2E-1CC5-CAF5E2F52545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53" name="TextBox 67">
              <a:extLst>
                <a:ext uri="{FF2B5EF4-FFF2-40B4-BE49-F238E27FC236}">
                  <a16:creationId xmlns:a16="http://schemas.microsoft.com/office/drawing/2014/main" id="{D45C49B2-5963-AE91-4582-E82E8514D250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Needs data</a:t>
              </a:r>
            </a:p>
          </p:txBody>
        </p:sp>
      </p:grpSp>
      <p:grpSp>
        <p:nvGrpSpPr>
          <p:cNvPr id="154" name="Group 68">
            <a:extLst>
              <a:ext uri="{FF2B5EF4-FFF2-40B4-BE49-F238E27FC236}">
                <a16:creationId xmlns:a16="http://schemas.microsoft.com/office/drawing/2014/main" id="{007425C8-4B11-17CD-BB5F-0300A1A21904}"/>
              </a:ext>
            </a:extLst>
          </p:cNvPr>
          <p:cNvGrpSpPr/>
          <p:nvPr/>
        </p:nvGrpSpPr>
        <p:grpSpPr>
          <a:xfrm>
            <a:off x="960120" y="-3401854"/>
            <a:ext cx="16322040" cy="754380"/>
            <a:chOff x="0" y="0"/>
            <a:chExt cx="21762720" cy="1005840"/>
          </a:xfrm>
        </p:grpSpPr>
        <p:sp>
          <p:nvSpPr>
            <p:cNvPr id="155" name="Freeform 69">
              <a:extLst>
                <a:ext uri="{FF2B5EF4-FFF2-40B4-BE49-F238E27FC236}">
                  <a16:creationId xmlns:a16="http://schemas.microsoft.com/office/drawing/2014/main" id="{E82A3281-08C4-B71C-618B-ACA679A3A009}"/>
                </a:ext>
              </a:extLst>
            </p:cNvPr>
            <p:cNvSpPr/>
            <p:nvPr/>
          </p:nvSpPr>
          <p:spPr>
            <a:xfrm>
              <a:off x="0" y="0"/>
              <a:ext cx="21762720" cy="1005840"/>
            </a:xfrm>
            <a:custGeom>
              <a:avLst/>
              <a:gdLst/>
              <a:ahLst/>
              <a:cxnLst/>
              <a:rect l="l" t="t" r="r" b="b"/>
              <a:pathLst>
                <a:path w="21762720" h="100584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156" name="Group 70">
            <a:extLst>
              <a:ext uri="{FF2B5EF4-FFF2-40B4-BE49-F238E27FC236}">
                <a16:creationId xmlns:a16="http://schemas.microsoft.com/office/drawing/2014/main" id="{E98BE808-B9C6-AAB3-B05B-9AEFB9E96D32}"/>
              </a:ext>
            </a:extLst>
          </p:cNvPr>
          <p:cNvGrpSpPr/>
          <p:nvPr/>
        </p:nvGrpSpPr>
        <p:grpSpPr>
          <a:xfrm>
            <a:off x="1165860" y="-3401854"/>
            <a:ext cx="4526280" cy="754380"/>
            <a:chOff x="0" y="0"/>
            <a:chExt cx="6035040" cy="1005840"/>
          </a:xfrm>
        </p:grpSpPr>
        <p:sp>
          <p:nvSpPr>
            <p:cNvPr id="157" name="Freeform 71">
              <a:extLst>
                <a:ext uri="{FF2B5EF4-FFF2-40B4-BE49-F238E27FC236}">
                  <a16:creationId xmlns:a16="http://schemas.microsoft.com/office/drawing/2014/main" id="{CA05793D-8E83-878E-351E-FE499EF1896B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58" name="TextBox 72">
              <a:extLst>
                <a:ext uri="{FF2B5EF4-FFF2-40B4-BE49-F238E27FC236}">
                  <a16:creationId xmlns:a16="http://schemas.microsoft.com/office/drawing/2014/main" id="{B5673D28-EE40-CD70-D7C2-94C3C03F00BD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Learning &amp; study plan</a:t>
              </a:r>
            </a:p>
          </p:txBody>
        </p:sp>
      </p:grpSp>
      <p:grpSp>
        <p:nvGrpSpPr>
          <p:cNvPr id="159" name="Group 73">
            <a:extLst>
              <a:ext uri="{FF2B5EF4-FFF2-40B4-BE49-F238E27FC236}">
                <a16:creationId xmlns:a16="http://schemas.microsoft.com/office/drawing/2014/main" id="{FC0B3BAC-3341-5248-6359-4AB75487E2BA}"/>
              </a:ext>
            </a:extLst>
          </p:cNvPr>
          <p:cNvGrpSpPr/>
          <p:nvPr/>
        </p:nvGrpSpPr>
        <p:grpSpPr>
          <a:xfrm>
            <a:off x="6103620" y="-3401854"/>
            <a:ext cx="7955280" cy="754380"/>
            <a:chOff x="0" y="0"/>
            <a:chExt cx="10607040" cy="1005840"/>
          </a:xfrm>
        </p:grpSpPr>
        <p:sp>
          <p:nvSpPr>
            <p:cNvPr id="160" name="Freeform 74">
              <a:extLst>
                <a:ext uri="{FF2B5EF4-FFF2-40B4-BE49-F238E27FC236}">
                  <a16:creationId xmlns:a16="http://schemas.microsoft.com/office/drawing/2014/main" id="{67E53AEF-6796-2A35-54F5-3069AC0D3123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61" name="TextBox 75">
              <a:extLst>
                <a:ext uri="{FF2B5EF4-FFF2-40B4-BE49-F238E27FC236}">
                  <a16:creationId xmlns:a16="http://schemas.microsoft.com/office/drawing/2014/main" id="{E36B2B58-CC67-9D94-B9D7-94522551CE85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Curated free resources; LLM sequences the plan</a:t>
              </a:r>
            </a:p>
          </p:txBody>
        </p:sp>
      </p:grpSp>
      <p:grpSp>
        <p:nvGrpSpPr>
          <p:cNvPr id="162" name="Group 76">
            <a:extLst>
              <a:ext uri="{FF2B5EF4-FFF2-40B4-BE49-F238E27FC236}">
                <a16:creationId xmlns:a16="http://schemas.microsoft.com/office/drawing/2014/main" id="{F95E6B95-6E20-A564-8AD0-954DB56C42D9}"/>
              </a:ext>
            </a:extLst>
          </p:cNvPr>
          <p:cNvGrpSpPr/>
          <p:nvPr/>
        </p:nvGrpSpPr>
        <p:grpSpPr>
          <a:xfrm>
            <a:off x="14470380" y="-3401854"/>
            <a:ext cx="2606040" cy="754380"/>
            <a:chOff x="0" y="0"/>
            <a:chExt cx="3474720" cy="1005840"/>
          </a:xfrm>
        </p:grpSpPr>
        <p:sp>
          <p:nvSpPr>
            <p:cNvPr id="163" name="Freeform 77">
              <a:extLst>
                <a:ext uri="{FF2B5EF4-FFF2-40B4-BE49-F238E27FC236}">
                  <a16:creationId xmlns:a16="http://schemas.microsoft.com/office/drawing/2014/main" id="{D38E36FF-2F7D-1457-3FC4-77C307F981C5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64" name="TextBox 78">
              <a:extLst>
                <a:ext uri="{FF2B5EF4-FFF2-40B4-BE49-F238E27FC236}">
                  <a16:creationId xmlns:a16="http://schemas.microsoft.com/office/drawing/2014/main" id="{269CF95C-6014-93D3-B4E7-985EF7CFA7FE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Needs data</a:t>
              </a:r>
            </a:p>
          </p:txBody>
        </p:sp>
      </p:grpSp>
      <p:grpSp>
        <p:nvGrpSpPr>
          <p:cNvPr id="165" name="Group 79">
            <a:extLst>
              <a:ext uri="{FF2B5EF4-FFF2-40B4-BE49-F238E27FC236}">
                <a16:creationId xmlns:a16="http://schemas.microsoft.com/office/drawing/2014/main" id="{8A83190A-B1A2-A945-E236-36297C2FA56E}"/>
              </a:ext>
            </a:extLst>
          </p:cNvPr>
          <p:cNvGrpSpPr/>
          <p:nvPr/>
        </p:nvGrpSpPr>
        <p:grpSpPr>
          <a:xfrm>
            <a:off x="1165860" y="-2647474"/>
            <a:ext cx="4526280" cy="754380"/>
            <a:chOff x="0" y="0"/>
            <a:chExt cx="6035040" cy="1005840"/>
          </a:xfrm>
        </p:grpSpPr>
        <p:sp>
          <p:nvSpPr>
            <p:cNvPr id="166" name="Freeform 80">
              <a:extLst>
                <a:ext uri="{FF2B5EF4-FFF2-40B4-BE49-F238E27FC236}">
                  <a16:creationId xmlns:a16="http://schemas.microsoft.com/office/drawing/2014/main" id="{E7D694E8-F0BC-7741-BBFB-9342DEEDEEF6}"/>
                </a:ext>
              </a:extLst>
            </p:cNvPr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67" name="TextBox 81">
              <a:extLst>
                <a:ext uri="{FF2B5EF4-FFF2-40B4-BE49-F238E27FC236}">
                  <a16:creationId xmlns:a16="http://schemas.microsoft.com/office/drawing/2014/main" id="{C19208BE-68D7-23F2-EBB8-89EF85C861AD}"/>
                </a:ext>
              </a:extLst>
            </p:cNvPr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Peer network &amp; job matching</a:t>
              </a:r>
            </a:p>
          </p:txBody>
        </p:sp>
      </p:grpSp>
      <p:grpSp>
        <p:nvGrpSpPr>
          <p:cNvPr id="168" name="Group 82">
            <a:extLst>
              <a:ext uri="{FF2B5EF4-FFF2-40B4-BE49-F238E27FC236}">
                <a16:creationId xmlns:a16="http://schemas.microsoft.com/office/drawing/2014/main" id="{0D0D6563-8EBD-E269-3F61-92E592D17205}"/>
              </a:ext>
            </a:extLst>
          </p:cNvPr>
          <p:cNvGrpSpPr/>
          <p:nvPr/>
        </p:nvGrpSpPr>
        <p:grpSpPr>
          <a:xfrm>
            <a:off x="6103620" y="-2647474"/>
            <a:ext cx="7955280" cy="754380"/>
            <a:chOff x="0" y="0"/>
            <a:chExt cx="10607040" cy="1005840"/>
          </a:xfrm>
        </p:grpSpPr>
        <p:sp>
          <p:nvSpPr>
            <p:cNvPr id="169" name="Freeform 83">
              <a:extLst>
                <a:ext uri="{FF2B5EF4-FFF2-40B4-BE49-F238E27FC236}">
                  <a16:creationId xmlns:a16="http://schemas.microsoft.com/office/drawing/2014/main" id="{D6A3DECC-280C-6B73-2E46-CF4101D56783}"/>
                </a:ext>
              </a:extLst>
            </p:cNvPr>
            <p:cNvSpPr/>
            <p:nvPr/>
          </p:nvSpPr>
          <p:spPr>
            <a:xfrm>
              <a:off x="0" y="0"/>
              <a:ext cx="10607040" cy="1005840"/>
            </a:xfrm>
            <a:custGeom>
              <a:avLst/>
              <a:gdLst/>
              <a:ahLst/>
              <a:cxnLst/>
              <a:rect l="l" t="t" r="r" b="b"/>
              <a:pathLst>
                <a:path w="10607040" h="1005840">
                  <a:moveTo>
                    <a:pt x="0" y="0"/>
                  </a:moveTo>
                  <a:lnTo>
                    <a:pt x="10607040" y="0"/>
                  </a:lnTo>
                  <a:lnTo>
                    <a:pt x="10607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170" name="TextBox 84">
              <a:extLst>
                <a:ext uri="{FF2B5EF4-FFF2-40B4-BE49-F238E27FC236}">
                  <a16:creationId xmlns:a16="http://schemas.microsoft.com/office/drawing/2014/main" id="{E6E93B46-F00E-058D-2142-BAE58E19E036}"/>
                </a:ext>
              </a:extLst>
            </p:cNvPr>
            <p:cNvSpPr txBox="1"/>
            <p:nvPr/>
          </p:nvSpPr>
          <p:spPr>
            <a:xfrm>
              <a:off x="0" y="-9525"/>
              <a:ext cx="10607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Goal-based matching; employer and mentor onboarding</a:t>
              </a:r>
            </a:p>
          </p:txBody>
        </p:sp>
      </p:grpSp>
      <p:grpSp>
        <p:nvGrpSpPr>
          <p:cNvPr id="171" name="Group 85">
            <a:extLst>
              <a:ext uri="{FF2B5EF4-FFF2-40B4-BE49-F238E27FC236}">
                <a16:creationId xmlns:a16="http://schemas.microsoft.com/office/drawing/2014/main" id="{48907180-8FB7-68D8-04D4-FED2D9B0E52D}"/>
              </a:ext>
            </a:extLst>
          </p:cNvPr>
          <p:cNvGrpSpPr/>
          <p:nvPr/>
        </p:nvGrpSpPr>
        <p:grpSpPr>
          <a:xfrm>
            <a:off x="14470380" y="-2647474"/>
            <a:ext cx="2606040" cy="754380"/>
            <a:chOff x="0" y="0"/>
            <a:chExt cx="3474720" cy="1005840"/>
          </a:xfrm>
        </p:grpSpPr>
        <p:sp>
          <p:nvSpPr>
            <p:cNvPr id="172" name="Freeform 86">
              <a:extLst>
                <a:ext uri="{FF2B5EF4-FFF2-40B4-BE49-F238E27FC236}">
                  <a16:creationId xmlns:a16="http://schemas.microsoft.com/office/drawing/2014/main" id="{F72BF510-1993-76B8-F17C-67620BC4E2DA}"/>
                </a:ext>
              </a:extLst>
            </p:cNvPr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1"/>
              </a:stretch>
            </a:blipFill>
          </p:spPr>
        </p:sp>
        <p:sp>
          <p:nvSpPr>
            <p:cNvPr id="173" name="TextBox 87">
              <a:extLst>
                <a:ext uri="{FF2B5EF4-FFF2-40B4-BE49-F238E27FC236}">
                  <a16:creationId xmlns:a16="http://schemas.microsoft.com/office/drawing/2014/main" id="{3062A7E8-C917-F543-EF0F-1A7462D75E07}"/>
                </a:ext>
              </a:extLst>
            </p:cNvPr>
            <p:cNvSpPr txBox="1"/>
            <p:nvPr/>
          </p:nvSpPr>
          <p:spPr>
            <a:xfrm>
              <a:off x="0" y="-9525"/>
              <a:ext cx="347472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Needs partners</a:t>
              </a:r>
            </a:p>
          </p:txBody>
        </p:sp>
      </p:grpSp>
      <p:sp>
        <p:nvSpPr>
          <p:cNvPr id="174" name="TextBox 88">
            <a:extLst>
              <a:ext uri="{FF2B5EF4-FFF2-40B4-BE49-F238E27FC236}">
                <a16:creationId xmlns:a16="http://schemas.microsoft.com/office/drawing/2014/main" id="{5760B048-736C-7FAB-F73F-0A02058CA45F}"/>
              </a:ext>
            </a:extLst>
          </p:cNvPr>
          <p:cNvSpPr txBox="1"/>
          <p:nvPr/>
        </p:nvSpPr>
        <p:spPr>
          <a:xfrm>
            <a:off x="960120" y="-1696879"/>
            <a:ext cx="163220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The core thread (voice → verified profile → CV → gap → exam eligibility) uses existing APIs. Peers and jobs need partners, so they come in later phases.</a:t>
            </a:r>
          </a:p>
        </p:txBody>
      </p:sp>
      <p:grpSp>
        <p:nvGrpSpPr>
          <p:cNvPr id="175" name="Group 89">
            <a:extLst>
              <a:ext uri="{FF2B5EF4-FFF2-40B4-BE49-F238E27FC236}">
                <a16:creationId xmlns:a16="http://schemas.microsoft.com/office/drawing/2014/main" id="{B0CF4158-EB72-61B0-E737-2E9F2D83D0D7}"/>
              </a:ext>
            </a:extLst>
          </p:cNvPr>
          <p:cNvGrpSpPr/>
          <p:nvPr/>
        </p:nvGrpSpPr>
        <p:grpSpPr>
          <a:xfrm>
            <a:off x="17213580" y="-932974"/>
            <a:ext cx="822960" cy="411480"/>
            <a:chOff x="0" y="0"/>
            <a:chExt cx="1097280" cy="548640"/>
          </a:xfrm>
        </p:grpSpPr>
        <p:sp>
          <p:nvSpPr>
            <p:cNvPr id="176" name="Freeform 90">
              <a:extLst>
                <a:ext uri="{FF2B5EF4-FFF2-40B4-BE49-F238E27FC236}">
                  <a16:creationId xmlns:a16="http://schemas.microsoft.com/office/drawing/2014/main" id="{21C59454-7D5E-AAD0-44BB-F2C3D03BEF5F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77" name="TextBox 91">
              <a:extLst>
                <a:ext uri="{FF2B5EF4-FFF2-40B4-BE49-F238E27FC236}">
                  <a16:creationId xmlns:a16="http://schemas.microsoft.com/office/drawing/2014/main" id="{90528E4D-781F-7C7F-A787-C5DD6139BEC8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13</a:t>
              </a:r>
            </a:p>
          </p:txBody>
        </p:sp>
      </p:grpSp>
      <p:grpSp>
        <p:nvGrpSpPr>
          <p:cNvPr id="179" name="Group 2">
            <a:extLst>
              <a:ext uri="{FF2B5EF4-FFF2-40B4-BE49-F238E27FC236}">
                <a16:creationId xmlns:a16="http://schemas.microsoft.com/office/drawing/2014/main" id="{27E5D635-FDF5-A3D6-3A95-14B3E890ACBE}"/>
              </a:ext>
            </a:extLst>
          </p:cNvPr>
          <p:cNvGrpSpPr/>
          <p:nvPr/>
        </p:nvGrpSpPr>
        <p:grpSpPr>
          <a:xfrm>
            <a:off x="960120" y="10812780"/>
            <a:ext cx="12344400" cy="480060"/>
            <a:chOff x="0" y="0"/>
            <a:chExt cx="16459200" cy="640080"/>
          </a:xfrm>
        </p:grpSpPr>
        <p:sp>
          <p:nvSpPr>
            <p:cNvPr id="180" name="Freeform 3">
              <a:extLst>
                <a:ext uri="{FF2B5EF4-FFF2-40B4-BE49-F238E27FC236}">
                  <a16:creationId xmlns:a16="http://schemas.microsoft.com/office/drawing/2014/main" id="{E8D6B3BE-ADE4-2668-6C6E-25807948FFB8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181" name="TextBox 4">
              <a:extLst>
                <a:ext uri="{FF2B5EF4-FFF2-40B4-BE49-F238E27FC236}">
                  <a16:creationId xmlns:a16="http://schemas.microsoft.com/office/drawing/2014/main" id="{10BD02B5-48F2-BD9A-CC51-87B7888486F0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COMPETITIVE LANDSCAPE</a:t>
              </a:r>
            </a:p>
          </p:txBody>
        </p:sp>
      </p:grpSp>
      <p:grpSp>
        <p:nvGrpSpPr>
          <p:cNvPr id="182" name="Group 5">
            <a:extLst>
              <a:ext uri="{FF2B5EF4-FFF2-40B4-BE49-F238E27FC236}">
                <a16:creationId xmlns:a16="http://schemas.microsoft.com/office/drawing/2014/main" id="{9A653C60-47C1-9B88-B835-063B8FDEA2F3}"/>
              </a:ext>
            </a:extLst>
          </p:cNvPr>
          <p:cNvGrpSpPr/>
          <p:nvPr/>
        </p:nvGrpSpPr>
        <p:grpSpPr>
          <a:xfrm>
            <a:off x="960120" y="11292840"/>
            <a:ext cx="16322040" cy="1234440"/>
            <a:chOff x="0" y="0"/>
            <a:chExt cx="21762720" cy="1645920"/>
          </a:xfrm>
        </p:grpSpPr>
        <p:sp>
          <p:nvSpPr>
            <p:cNvPr id="183" name="Freeform 6">
              <a:extLst>
                <a:ext uri="{FF2B5EF4-FFF2-40B4-BE49-F238E27FC236}">
                  <a16:creationId xmlns:a16="http://schemas.microsoft.com/office/drawing/2014/main" id="{73C7A31E-26A2-EFCA-C137-82B8AA867F92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184" name="TextBox 7">
              <a:extLst>
                <a:ext uri="{FF2B5EF4-FFF2-40B4-BE49-F238E27FC236}">
                  <a16:creationId xmlns:a16="http://schemas.microsoft.com/office/drawing/2014/main" id="{0860C02F-AB70-3F05-01DC-06178FCFD40D}"/>
                </a:ext>
              </a:extLst>
            </p:cNvPr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 existing options fall short here</a:t>
              </a:r>
            </a:p>
          </p:txBody>
        </p:sp>
      </p:grpSp>
      <p:grpSp>
        <p:nvGrpSpPr>
          <p:cNvPr id="185" name="Group 8">
            <a:extLst>
              <a:ext uri="{FF2B5EF4-FFF2-40B4-BE49-F238E27FC236}">
                <a16:creationId xmlns:a16="http://schemas.microsoft.com/office/drawing/2014/main" id="{EE2810AF-2034-5C08-43C8-9F4739CAE827}"/>
              </a:ext>
            </a:extLst>
          </p:cNvPr>
          <p:cNvGrpSpPr/>
          <p:nvPr/>
        </p:nvGrpSpPr>
        <p:grpSpPr>
          <a:xfrm>
            <a:off x="6858000" y="13007340"/>
            <a:ext cx="2606040" cy="850392"/>
            <a:chOff x="0" y="0"/>
            <a:chExt cx="3474720" cy="1133856"/>
          </a:xfrm>
        </p:grpSpPr>
        <p:sp>
          <p:nvSpPr>
            <p:cNvPr id="186" name="Freeform 9">
              <a:extLst>
                <a:ext uri="{FF2B5EF4-FFF2-40B4-BE49-F238E27FC236}">
                  <a16:creationId xmlns:a16="http://schemas.microsoft.com/office/drawing/2014/main" id="{1E6AC7AB-4B0F-D81E-5BE3-FD00100F9D14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187" name="Group 10">
            <a:extLst>
              <a:ext uri="{FF2B5EF4-FFF2-40B4-BE49-F238E27FC236}">
                <a16:creationId xmlns:a16="http://schemas.microsoft.com/office/drawing/2014/main" id="{D3EB9899-40A9-9312-D09E-8AF575C48EC1}"/>
              </a:ext>
            </a:extLst>
          </p:cNvPr>
          <p:cNvGrpSpPr/>
          <p:nvPr/>
        </p:nvGrpSpPr>
        <p:grpSpPr>
          <a:xfrm>
            <a:off x="6926580" y="13007340"/>
            <a:ext cx="2468880" cy="850392"/>
            <a:chOff x="0" y="0"/>
            <a:chExt cx="3291840" cy="1133856"/>
          </a:xfrm>
        </p:grpSpPr>
        <p:sp>
          <p:nvSpPr>
            <p:cNvPr id="188" name="Freeform 11">
              <a:extLst>
                <a:ext uri="{FF2B5EF4-FFF2-40B4-BE49-F238E27FC236}">
                  <a16:creationId xmlns:a16="http://schemas.microsoft.com/office/drawing/2014/main" id="{DC578ED2-03AF-564C-1BFE-714F4354C8D2}"/>
                </a:ext>
              </a:extLst>
            </p:cNvPr>
            <p:cNvSpPr/>
            <p:nvPr/>
          </p:nvSpPr>
          <p:spPr>
            <a:xfrm>
              <a:off x="0" y="0"/>
              <a:ext cx="3291840" cy="1133856"/>
            </a:xfrm>
            <a:custGeom>
              <a:avLst/>
              <a:gdLst/>
              <a:ahLst/>
              <a:cxnLst/>
              <a:rect l="l" t="t" r="r" b="b"/>
              <a:pathLst>
                <a:path w="3291840" h="1133856">
                  <a:moveTo>
                    <a:pt x="0" y="0"/>
                  </a:moveTo>
                  <a:lnTo>
                    <a:pt x="3291840" y="0"/>
                  </a:lnTo>
                  <a:lnTo>
                    <a:pt x="3291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" b="-6569"/>
              </a:stretch>
            </a:blipFill>
          </p:spPr>
        </p:sp>
        <p:sp>
          <p:nvSpPr>
            <p:cNvPr id="189" name="TextBox 12">
              <a:extLst>
                <a:ext uri="{FF2B5EF4-FFF2-40B4-BE49-F238E27FC236}">
                  <a16:creationId xmlns:a16="http://schemas.microsoft.com/office/drawing/2014/main" id="{C5A10298-D7D1-DFC2-FE00-B642BBDD37F1}"/>
                </a:ext>
              </a:extLst>
            </p:cNvPr>
            <p:cNvSpPr txBox="1"/>
            <p:nvPr/>
          </p:nvSpPr>
          <p:spPr>
            <a:xfrm>
              <a:off x="0" y="-9525"/>
              <a:ext cx="329184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LinkedIn</a:t>
              </a:r>
            </a:p>
          </p:txBody>
        </p:sp>
      </p:grpSp>
      <p:grpSp>
        <p:nvGrpSpPr>
          <p:cNvPr id="190" name="Group 13">
            <a:extLst>
              <a:ext uri="{FF2B5EF4-FFF2-40B4-BE49-F238E27FC236}">
                <a16:creationId xmlns:a16="http://schemas.microsoft.com/office/drawing/2014/main" id="{D96C9D15-86A4-AA5B-359F-2158089B14A0}"/>
              </a:ext>
            </a:extLst>
          </p:cNvPr>
          <p:cNvGrpSpPr/>
          <p:nvPr/>
        </p:nvGrpSpPr>
        <p:grpSpPr>
          <a:xfrm>
            <a:off x="9464040" y="13007340"/>
            <a:ext cx="2606040" cy="850392"/>
            <a:chOff x="0" y="0"/>
            <a:chExt cx="3474720" cy="1133856"/>
          </a:xfrm>
        </p:grpSpPr>
        <p:sp>
          <p:nvSpPr>
            <p:cNvPr id="191" name="Freeform 14">
              <a:extLst>
                <a:ext uri="{FF2B5EF4-FFF2-40B4-BE49-F238E27FC236}">
                  <a16:creationId xmlns:a16="http://schemas.microsoft.com/office/drawing/2014/main" id="{D10A37A7-62F1-C85A-1D9F-D0AC108D0BA4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192" name="Group 15">
            <a:extLst>
              <a:ext uri="{FF2B5EF4-FFF2-40B4-BE49-F238E27FC236}">
                <a16:creationId xmlns:a16="http://schemas.microsoft.com/office/drawing/2014/main" id="{6844D1C5-4EEF-2033-F1FB-CE27C95C00C1}"/>
              </a:ext>
            </a:extLst>
          </p:cNvPr>
          <p:cNvGrpSpPr/>
          <p:nvPr/>
        </p:nvGrpSpPr>
        <p:grpSpPr>
          <a:xfrm>
            <a:off x="9532620" y="13007340"/>
            <a:ext cx="2468880" cy="850392"/>
            <a:chOff x="0" y="0"/>
            <a:chExt cx="3291840" cy="1133856"/>
          </a:xfrm>
        </p:grpSpPr>
        <p:sp>
          <p:nvSpPr>
            <p:cNvPr id="193" name="Freeform 16">
              <a:extLst>
                <a:ext uri="{FF2B5EF4-FFF2-40B4-BE49-F238E27FC236}">
                  <a16:creationId xmlns:a16="http://schemas.microsoft.com/office/drawing/2014/main" id="{9A4C0D2E-F3A6-225E-5734-6E919AE186CD}"/>
                </a:ext>
              </a:extLst>
            </p:cNvPr>
            <p:cNvSpPr/>
            <p:nvPr/>
          </p:nvSpPr>
          <p:spPr>
            <a:xfrm>
              <a:off x="0" y="0"/>
              <a:ext cx="3291840" cy="1133856"/>
            </a:xfrm>
            <a:custGeom>
              <a:avLst/>
              <a:gdLst/>
              <a:ahLst/>
              <a:cxnLst/>
              <a:rect l="l" t="t" r="r" b="b"/>
              <a:pathLst>
                <a:path w="3291840" h="1133856">
                  <a:moveTo>
                    <a:pt x="0" y="0"/>
                  </a:moveTo>
                  <a:lnTo>
                    <a:pt x="3291840" y="0"/>
                  </a:lnTo>
                  <a:lnTo>
                    <a:pt x="3291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" b="-6569"/>
              </a:stretch>
            </a:blipFill>
          </p:spPr>
        </p:sp>
        <p:sp>
          <p:nvSpPr>
            <p:cNvPr id="194" name="TextBox 17">
              <a:extLst>
                <a:ext uri="{FF2B5EF4-FFF2-40B4-BE49-F238E27FC236}">
                  <a16:creationId xmlns:a16="http://schemas.microsoft.com/office/drawing/2014/main" id="{B4C9EC71-2B32-1C3C-8C75-27FA572F3283}"/>
                </a:ext>
              </a:extLst>
            </p:cNvPr>
            <p:cNvSpPr txBox="1"/>
            <p:nvPr/>
          </p:nvSpPr>
          <p:spPr>
            <a:xfrm>
              <a:off x="0" y="-9525"/>
              <a:ext cx="329184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Job boards</a:t>
              </a:r>
            </a:p>
          </p:txBody>
        </p:sp>
      </p:grpSp>
      <p:grpSp>
        <p:nvGrpSpPr>
          <p:cNvPr id="195" name="Group 18">
            <a:extLst>
              <a:ext uri="{FF2B5EF4-FFF2-40B4-BE49-F238E27FC236}">
                <a16:creationId xmlns:a16="http://schemas.microsoft.com/office/drawing/2014/main" id="{89912EE8-4BA0-DC9F-3F6D-ACAF19BA4FA5}"/>
              </a:ext>
            </a:extLst>
          </p:cNvPr>
          <p:cNvGrpSpPr/>
          <p:nvPr/>
        </p:nvGrpSpPr>
        <p:grpSpPr>
          <a:xfrm>
            <a:off x="12070080" y="13007340"/>
            <a:ext cx="2606040" cy="850392"/>
            <a:chOff x="0" y="0"/>
            <a:chExt cx="3474720" cy="1133856"/>
          </a:xfrm>
        </p:grpSpPr>
        <p:sp>
          <p:nvSpPr>
            <p:cNvPr id="196" name="Freeform 19">
              <a:extLst>
                <a:ext uri="{FF2B5EF4-FFF2-40B4-BE49-F238E27FC236}">
                  <a16:creationId xmlns:a16="http://schemas.microsoft.com/office/drawing/2014/main" id="{22CAF094-EBF8-8A19-D5E1-4111BD6BEBCA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197" name="Group 20">
            <a:extLst>
              <a:ext uri="{FF2B5EF4-FFF2-40B4-BE49-F238E27FC236}">
                <a16:creationId xmlns:a16="http://schemas.microsoft.com/office/drawing/2014/main" id="{EB394248-0209-7F65-4555-16C4B20DCC06}"/>
              </a:ext>
            </a:extLst>
          </p:cNvPr>
          <p:cNvGrpSpPr/>
          <p:nvPr/>
        </p:nvGrpSpPr>
        <p:grpSpPr>
          <a:xfrm>
            <a:off x="12138660" y="13007340"/>
            <a:ext cx="2468880" cy="850392"/>
            <a:chOff x="0" y="0"/>
            <a:chExt cx="3291840" cy="1133856"/>
          </a:xfrm>
        </p:grpSpPr>
        <p:sp>
          <p:nvSpPr>
            <p:cNvPr id="198" name="Freeform 21">
              <a:extLst>
                <a:ext uri="{FF2B5EF4-FFF2-40B4-BE49-F238E27FC236}">
                  <a16:creationId xmlns:a16="http://schemas.microsoft.com/office/drawing/2014/main" id="{3C13624A-F2D4-6710-DFBF-BDC23E6CE8E3}"/>
                </a:ext>
              </a:extLst>
            </p:cNvPr>
            <p:cNvSpPr/>
            <p:nvPr/>
          </p:nvSpPr>
          <p:spPr>
            <a:xfrm>
              <a:off x="0" y="0"/>
              <a:ext cx="3291840" cy="1133856"/>
            </a:xfrm>
            <a:custGeom>
              <a:avLst/>
              <a:gdLst/>
              <a:ahLst/>
              <a:cxnLst/>
              <a:rect l="l" t="t" r="r" b="b"/>
              <a:pathLst>
                <a:path w="3291840" h="1133856">
                  <a:moveTo>
                    <a:pt x="0" y="0"/>
                  </a:moveTo>
                  <a:lnTo>
                    <a:pt x="3291840" y="0"/>
                  </a:lnTo>
                  <a:lnTo>
                    <a:pt x="3291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" b="-6569"/>
              </a:stretch>
            </a:blipFill>
          </p:spPr>
        </p:sp>
        <p:sp>
          <p:nvSpPr>
            <p:cNvPr id="199" name="TextBox 22">
              <a:extLst>
                <a:ext uri="{FF2B5EF4-FFF2-40B4-BE49-F238E27FC236}">
                  <a16:creationId xmlns:a16="http://schemas.microsoft.com/office/drawing/2014/main" id="{1B9377A1-B214-6CA9-75E0-E1CFC3ED8A1D}"/>
                </a:ext>
              </a:extLst>
            </p:cNvPr>
            <p:cNvSpPr txBox="1"/>
            <p:nvPr/>
          </p:nvSpPr>
          <p:spPr>
            <a:xfrm>
              <a:off x="0" y="-9525"/>
              <a:ext cx="329184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Exam-prep apps</a:t>
              </a:r>
            </a:p>
          </p:txBody>
        </p:sp>
      </p:grpSp>
      <p:grpSp>
        <p:nvGrpSpPr>
          <p:cNvPr id="200" name="Group 23">
            <a:extLst>
              <a:ext uri="{FF2B5EF4-FFF2-40B4-BE49-F238E27FC236}">
                <a16:creationId xmlns:a16="http://schemas.microsoft.com/office/drawing/2014/main" id="{3249913F-8B9B-3430-A515-017E0CE52247}"/>
              </a:ext>
            </a:extLst>
          </p:cNvPr>
          <p:cNvGrpSpPr/>
          <p:nvPr/>
        </p:nvGrpSpPr>
        <p:grpSpPr>
          <a:xfrm>
            <a:off x="14676120" y="13007340"/>
            <a:ext cx="2606040" cy="850392"/>
            <a:chOff x="0" y="0"/>
            <a:chExt cx="3474720" cy="1133856"/>
          </a:xfrm>
        </p:grpSpPr>
        <p:sp>
          <p:nvSpPr>
            <p:cNvPr id="201" name="Freeform 24">
              <a:extLst>
                <a:ext uri="{FF2B5EF4-FFF2-40B4-BE49-F238E27FC236}">
                  <a16:creationId xmlns:a16="http://schemas.microsoft.com/office/drawing/2014/main" id="{A746E620-B222-1A1C-A9E4-5A3D33F3AB36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02" name="Group 25">
            <a:extLst>
              <a:ext uri="{FF2B5EF4-FFF2-40B4-BE49-F238E27FC236}">
                <a16:creationId xmlns:a16="http://schemas.microsoft.com/office/drawing/2014/main" id="{31710D12-7443-356F-837D-0BDE807A87CA}"/>
              </a:ext>
            </a:extLst>
          </p:cNvPr>
          <p:cNvGrpSpPr/>
          <p:nvPr/>
        </p:nvGrpSpPr>
        <p:grpSpPr>
          <a:xfrm>
            <a:off x="14744700" y="13007340"/>
            <a:ext cx="2468880" cy="850392"/>
            <a:chOff x="0" y="0"/>
            <a:chExt cx="3291840" cy="1133856"/>
          </a:xfrm>
        </p:grpSpPr>
        <p:sp>
          <p:nvSpPr>
            <p:cNvPr id="203" name="Freeform 26">
              <a:extLst>
                <a:ext uri="{FF2B5EF4-FFF2-40B4-BE49-F238E27FC236}">
                  <a16:creationId xmlns:a16="http://schemas.microsoft.com/office/drawing/2014/main" id="{D621BA31-DED3-E846-171C-38417F795C66}"/>
                </a:ext>
              </a:extLst>
            </p:cNvPr>
            <p:cNvSpPr/>
            <p:nvPr/>
          </p:nvSpPr>
          <p:spPr>
            <a:xfrm>
              <a:off x="0" y="0"/>
              <a:ext cx="3291840" cy="1133856"/>
            </a:xfrm>
            <a:custGeom>
              <a:avLst/>
              <a:gdLst/>
              <a:ahLst/>
              <a:cxnLst/>
              <a:rect l="l" t="t" r="r" b="b"/>
              <a:pathLst>
                <a:path w="3291840" h="1133856">
                  <a:moveTo>
                    <a:pt x="0" y="0"/>
                  </a:moveTo>
                  <a:lnTo>
                    <a:pt x="3291840" y="0"/>
                  </a:lnTo>
                  <a:lnTo>
                    <a:pt x="3291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" b="-6569"/>
              </a:stretch>
            </a:blipFill>
          </p:spPr>
        </p:sp>
        <p:sp>
          <p:nvSpPr>
            <p:cNvPr id="204" name="TextBox 27">
              <a:extLst>
                <a:ext uri="{FF2B5EF4-FFF2-40B4-BE49-F238E27FC236}">
                  <a16:creationId xmlns:a16="http://schemas.microsoft.com/office/drawing/2014/main" id="{1443C869-8E11-E7B3-AD79-8011901C1E6D}"/>
                </a:ext>
              </a:extLst>
            </p:cNvPr>
            <p:cNvSpPr txBox="1"/>
            <p:nvPr/>
          </p:nvSpPr>
          <p:spPr>
            <a:xfrm>
              <a:off x="0" y="-9525"/>
              <a:ext cx="329184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SkillAscend</a:t>
              </a:r>
            </a:p>
          </p:txBody>
        </p:sp>
      </p:grpSp>
      <p:grpSp>
        <p:nvGrpSpPr>
          <p:cNvPr id="205" name="Group 28">
            <a:extLst>
              <a:ext uri="{FF2B5EF4-FFF2-40B4-BE49-F238E27FC236}">
                <a16:creationId xmlns:a16="http://schemas.microsoft.com/office/drawing/2014/main" id="{E7932DB8-8A21-2C45-7708-DC8A7880E991}"/>
              </a:ext>
            </a:extLst>
          </p:cNvPr>
          <p:cNvGrpSpPr/>
          <p:nvPr/>
        </p:nvGrpSpPr>
        <p:grpSpPr>
          <a:xfrm>
            <a:off x="960120" y="13857732"/>
            <a:ext cx="16322040" cy="850392"/>
            <a:chOff x="0" y="0"/>
            <a:chExt cx="21762720" cy="1133856"/>
          </a:xfrm>
        </p:grpSpPr>
        <p:sp>
          <p:nvSpPr>
            <p:cNvPr id="206" name="Freeform 29">
              <a:extLst>
                <a:ext uri="{FF2B5EF4-FFF2-40B4-BE49-F238E27FC236}">
                  <a16:creationId xmlns:a16="http://schemas.microsoft.com/office/drawing/2014/main" id="{DD9E27D3-9E81-871A-59BA-D3DFD42E71C4}"/>
                </a:ext>
              </a:extLst>
            </p:cNvPr>
            <p:cNvSpPr/>
            <p:nvPr/>
          </p:nvSpPr>
          <p:spPr>
            <a:xfrm>
              <a:off x="0" y="0"/>
              <a:ext cx="21762720" cy="1133856"/>
            </a:xfrm>
            <a:custGeom>
              <a:avLst/>
              <a:gdLst/>
              <a:ahLst/>
              <a:cxnLst/>
              <a:rect l="l" t="t" r="r" b="b"/>
              <a:pathLst>
                <a:path w="21762720" h="1133856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6243D"/>
            </a:solidFill>
          </p:spPr>
        </p:sp>
      </p:grpSp>
      <p:grpSp>
        <p:nvGrpSpPr>
          <p:cNvPr id="207" name="Group 30">
            <a:extLst>
              <a:ext uri="{FF2B5EF4-FFF2-40B4-BE49-F238E27FC236}">
                <a16:creationId xmlns:a16="http://schemas.microsoft.com/office/drawing/2014/main" id="{31979366-B141-1656-134A-6AD372B01D86}"/>
              </a:ext>
            </a:extLst>
          </p:cNvPr>
          <p:cNvGrpSpPr/>
          <p:nvPr/>
        </p:nvGrpSpPr>
        <p:grpSpPr>
          <a:xfrm>
            <a:off x="1165860" y="13857732"/>
            <a:ext cx="5486400" cy="850392"/>
            <a:chOff x="0" y="0"/>
            <a:chExt cx="7315200" cy="1133856"/>
          </a:xfrm>
        </p:grpSpPr>
        <p:sp>
          <p:nvSpPr>
            <p:cNvPr id="208" name="Freeform 31">
              <a:extLst>
                <a:ext uri="{FF2B5EF4-FFF2-40B4-BE49-F238E27FC236}">
                  <a16:creationId xmlns:a16="http://schemas.microsoft.com/office/drawing/2014/main" id="{AC384106-90B9-8BA5-7017-5991630403F3}"/>
                </a:ext>
              </a:extLst>
            </p:cNvPr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209" name="TextBox 32">
              <a:extLst>
                <a:ext uri="{FF2B5EF4-FFF2-40B4-BE49-F238E27FC236}">
                  <a16:creationId xmlns:a16="http://schemas.microsoft.com/office/drawing/2014/main" id="{6264C01E-9CB8-BF96-2C1A-0B8BF0F1D4BE}"/>
                </a:ext>
              </a:extLst>
            </p:cNvPr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Works without an existing CV</a:t>
              </a:r>
            </a:p>
          </p:txBody>
        </p:sp>
      </p:grpSp>
      <p:grpSp>
        <p:nvGrpSpPr>
          <p:cNvPr id="210" name="Group 33">
            <a:extLst>
              <a:ext uri="{FF2B5EF4-FFF2-40B4-BE49-F238E27FC236}">
                <a16:creationId xmlns:a16="http://schemas.microsoft.com/office/drawing/2014/main" id="{1E9323D4-4885-F557-3135-BFD8F4B4D38B}"/>
              </a:ext>
            </a:extLst>
          </p:cNvPr>
          <p:cNvGrpSpPr/>
          <p:nvPr/>
        </p:nvGrpSpPr>
        <p:grpSpPr>
          <a:xfrm>
            <a:off x="6858000" y="13857732"/>
            <a:ext cx="2606040" cy="850392"/>
            <a:chOff x="0" y="0"/>
            <a:chExt cx="3474720" cy="1133856"/>
          </a:xfrm>
        </p:grpSpPr>
        <p:sp>
          <p:nvSpPr>
            <p:cNvPr id="211" name="Freeform 34">
              <a:extLst>
                <a:ext uri="{FF2B5EF4-FFF2-40B4-BE49-F238E27FC236}">
                  <a16:creationId xmlns:a16="http://schemas.microsoft.com/office/drawing/2014/main" id="{FACB0BEA-411A-C7E1-FA3F-EF6AC039E666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12" name="TextBox 35">
              <a:extLst>
                <a:ext uri="{FF2B5EF4-FFF2-40B4-BE49-F238E27FC236}">
                  <a16:creationId xmlns:a16="http://schemas.microsoft.com/office/drawing/2014/main" id="{72F46240-01FF-B0B0-A514-D951F129B762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213" name="Group 36">
            <a:extLst>
              <a:ext uri="{FF2B5EF4-FFF2-40B4-BE49-F238E27FC236}">
                <a16:creationId xmlns:a16="http://schemas.microsoft.com/office/drawing/2014/main" id="{206BD340-2349-4262-C749-3C0D79D018C0}"/>
              </a:ext>
            </a:extLst>
          </p:cNvPr>
          <p:cNvGrpSpPr/>
          <p:nvPr/>
        </p:nvGrpSpPr>
        <p:grpSpPr>
          <a:xfrm>
            <a:off x="9464040" y="13857732"/>
            <a:ext cx="2606040" cy="850392"/>
            <a:chOff x="0" y="0"/>
            <a:chExt cx="3474720" cy="1133856"/>
          </a:xfrm>
        </p:grpSpPr>
        <p:sp>
          <p:nvSpPr>
            <p:cNvPr id="214" name="Freeform 37">
              <a:extLst>
                <a:ext uri="{FF2B5EF4-FFF2-40B4-BE49-F238E27FC236}">
                  <a16:creationId xmlns:a16="http://schemas.microsoft.com/office/drawing/2014/main" id="{05CD641F-8383-A771-6FA8-A7C1DC4C9881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15" name="TextBox 38">
              <a:extLst>
                <a:ext uri="{FF2B5EF4-FFF2-40B4-BE49-F238E27FC236}">
                  <a16:creationId xmlns:a16="http://schemas.microsoft.com/office/drawing/2014/main" id="{89992726-269F-14AE-A8B6-037DC737724A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216" name="Group 39">
            <a:extLst>
              <a:ext uri="{FF2B5EF4-FFF2-40B4-BE49-F238E27FC236}">
                <a16:creationId xmlns:a16="http://schemas.microsoft.com/office/drawing/2014/main" id="{F307BF49-F04D-BC8D-A32B-5FA63CE9099A}"/>
              </a:ext>
            </a:extLst>
          </p:cNvPr>
          <p:cNvGrpSpPr/>
          <p:nvPr/>
        </p:nvGrpSpPr>
        <p:grpSpPr>
          <a:xfrm>
            <a:off x="12070080" y="13857732"/>
            <a:ext cx="2606040" cy="850392"/>
            <a:chOff x="0" y="0"/>
            <a:chExt cx="3474720" cy="1133856"/>
          </a:xfrm>
        </p:grpSpPr>
        <p:sp>
          <p:nvSpPr>
            <p:cNvPr id="217" name="Freeform 40">
              <a:extLst>
                <a:ext uri="{FF2B5EF4-FFF2-40B4-BE49-F238E27FC236}">
                  <a16:creationId xmlns:a16="http://schemas.microsoft.com/office/drawing/2014/main" id="{97AAD697-F271-F0BE-132C-55E07AF430C6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18" name="TextBox 41">
              <a:extLst>
                <a:ext uri="{FF2B5EF4-FFF2-40B4-BE49-F238E27FC236}">
                  <a16:creationId xmlns:a16="http://schemas.microsoft.com/office/drawing/2014/main" id="{A2036666-C90D-2D06-423A-E0463EB837BE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219" name="Group 42">
            <a:extLst>
              <a:ext uri="{FF2B5EF4-FFF2-40B4-BE49-F238E27FC236}">
                <a16:creationId xmlns:a16="http://schemas.microsoft.com/office/drawing/2014/main" id="{024AB3A5-00B2-8409-7AA7-465F865AA7B7}"/>
              </a:ext>
            </a:extLst>
          </p:cNvPr>
          <p:cNvGrpSpPr/>
          <p:nvPr/>
        </p:nvGrpSpPr>
        <p:grpSpPr>
          <a:xfrm>
            <a:off x="14676120" y="13857732"/>
            <a:ext cx="2606040" cy="850392"/>
            <a:chOff x="0" y="0"/>
            <a:chExt cx="3474720" cy="1133856"/>
          </a:xfrm>
        </p:grpSpPr>
        <p:sp>
          <p:nvSpPr>
            <p:cNvPr id="220" name="Freeform 43">
              <a:extLst>
                <a:ext uri="{FF2B5EF4-FFF2-40B4-BE49-F238E27FC236}">
                  <a16:creationId xmlns:a16="http://schemas.microsoft.com/office/drawing/2014/main" id="{274AFCB9-5497-3507-9008-4D3F2EFE3861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21" name="TextBox 44">
              <a:extLst>
                <a:ext uri="{FF2B5EF4-FFF2-40B4-BE49-F238E27FC236}">
                  <a16:creationId xmlns:a16="http://schemas.microsoft.com/office/drawing/2014/main" id="{2CDF2805-4D9A-45C9-33A9-1F5B5763DA6F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222" name="Group 45">
            <a:extLst>
              <a:ext uri="{FF2B5EF4-FFF2-40B4-BE49-F238E27FC236}">
                <a16:creationId xmlns:a16="http://schemas.microsoft.com/office/drawing/2014/main" id="{1F0CA98D-9303-E55C-E55F-576D4B26B100}"/>
              </a:ext>
            </a:extLst>
          </p:cNvPr>
          <p:cNvGrpSpPr/>
          <p:nvPr/>
        </p:nvGrpSpPr>
        <p:grpSpPr>
          <a:xfrm>
            <a:off x="1165860" y="14708124"/>
            <a:ext cx="5486400" cy="850392"/>
            <a:chOff x="0" y="0"/>
            <a:chExt cx="7315200" cy="1133856"/>
          </a:xfrm>
        </p:grpSpPr>
        <p:sp>
          <p:nvSpPr>
            <p:cNvPr id="223" name="Freeform 46">
              <a:extLst>
                <a:ext uri="{FF2B5EF4-FFF2-40B4-BE49-F238E27FC236}">
                  <a16:creationId xmlns:a16="http://schemas.microsoft.com/office/drawing/2014/main" id="{2865F563-8805-B622-3F5F-3C36EF8F0E0B}"/>
                </a:ext>
              </a:extLst>
            </p:cNvPr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224" name="TextBox 47">
              <a:extLst>
                <a:ext uri="{FF2B5EF4-FFF2-40B4-BE49-F238E27FC236}">
                  <a16:creationId xmlns:a16="http://schemas.microsoft.com/office/drawing/2014/main" id="{173707A5-9E68-B9A5-0BB6-49938DE65EA8}"/>
                </a:ext>
              </a:extLst>
            </p:cNvPr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Verifies informally learned skills</a:t>
              </a:r>
            </a:p>
          </p:txBody>
        </p:sp>
      </p:grpSp>
      <p:grpSp>
        <p:nvGrpSpPr>
          <p:cNvPr id="225" name="Group 48">
            <a:extLst>
              <a:ext uri="{FF2B5EF4-FFF2-40B4-BE49-F238E27FC236}">
                <a16:creationId xmlns:a16="http://schemas.microsoft.com/office/drawing/2014/main" id="{C8F58E05-E1C5-62C6-8794-AC32098F0C00}"/>
              </a:ext>
            </a:extLst>
          </p:cNvPr>
          <p:cNvGrpSpPr/>
          <p:nvPr/>
        </p:nvGrpSpPr>
        <p:grpSpPr>
          <a:xfrm>
            <a:off x="6858000" y="14708124"/>
            <a:ext cx="2606040" cy="850392"/>
            <a:chOff x="0" y="0"/>
            <a:chExt cx="3474720" cy="1133856"/>
          </a:xfrm>
        </p:grpSpPr>
        <p:sp>
          <p:nvSpPr>
            <p:cNvPr id="226" name="Freeform 49">
              <a:extLst>
                <a:ext uri="{FF2B5EF4-FFF2-40B4-BE49-F238E27FC236}">
                  <a16:creationId xmlns:a16="http://schemas.microsoft.com/office/drawing/2014/main" id="{BF37B941-843C-33A0-10C5-E1DAAABC3D5F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27" name="TextBox 50">
              <a:extLst>
                <a:ext uri="{FF2B5EF4-FFF2-40B4-BE49-F238E27FC236}">
                  <a16:creationId xmlns:a16="http://schemas.microsoft.com/office/drawing/2014/main" id="{5CB6E779-5A08-0F2D-3EFB-1B62C4AA5585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228" name="Group 51">
            <a:extLst>
              <a:ext uri="{FF2B5EF4-FFF2-40B4-BE49-F238E27FC236}">
                <a16:creationId xmlns:a16="http://schemas.microsoft.com/office/drawing/2014/main" id="{EA37C338-52C1-DC95-DE39-EE110014227C}"/>
              </a:ext>
            </a:extLst>
          </p:cNvPr>
          <p:cNvGrpSpPr/>
          <p:nvPr/>
        </p:nvGrpSpPr>
        <p:grpSpPr>
          <a:xfrm>
            <a:off x="9464040" y="14708124"/>
            <a:ext cx="2606040" cy="850392"/>
            <a:chOff x="0" y="0"/>
            <a:chExt cx="3474720" cy="1133856"/>
          </a:xfrm>
        </p:grpSpPr>
        <p:sp>
          <p:nvSpPr>
            <p:cNvPr id="229" name="Freeform 52">
              <a:extLst>
                <a:ext uri="{FF2B5EF4-FFF2-40B4-BE49-F238E27FC236}">
                  <a16:creationId xmlns:a16="http://schemas.microsoft.com/office/drawing/2014/main" id="{C95E1CFE-BE16-E568-13F3-9F4BD0D96DB4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30" name="TextBox 53">
              <a:extLst>
                <a:ext uri="{FF2B5EF4-FFF2-40B4-BE49-F238E27FC236}">
                  <a16:creationId xmlns:a16="http://schemas.microsoft.com/office/drawing/2014/main" id="{CC0DF30D-642F-FEEC-20D3-BE3A0E62B030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231" name="Group 54">
            <a:extLst>
              <a:ext uri="{FF2B5EF4-FFF2-40B4-BE49-F238E27FC236}">
                <a16:creationId xmlns:a16="http://schemas.microsoft.com/office/drawing/2014/main" id="{728B1053-30A0-3A07-98A6-16B43F84C434}"/>
              </a:ext>
            </a:extLst>
          </p:cNvPr>
          <p:cNvGrpSpPr/>
          <p:nvPr/>
        </p:nvGrpSpPr>
        <p:grpSpPr>
          <a:xfrm>
            <a:off x="12070080" y="14708124"/>
            <a:ext cx="2606040" cy="850392"/>
            <a:chOff x="0" y="0"/>
            <a:chExt cx="3474720" cy="1133856"/>
          </a:xfrm>
        </p:grpSpPr>
        <p:sp>
          <p:nvSpPr>
            <p:cNvPr id="232" name="Freeform 55">
              <a:extLst>
                <a:ext uri="{FF2B5EF4-FFF2-40B4-BE49-F238E27FC236}">
                  <a16:creationId xmlns:a16="http://schemas.microsoft.com/office/drawing/2014/main" id="{61BA99D7-367F-CEDB-E818-750369B3D858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33" name="TextBox 56">
              <a:extLst>
                <a:ext uri="{FF2B5EF4-FFF2-40B4-BE49-F238E27FC236}">
                  <a16:creationId xmlns:a16="http://schemas.microsoft.com/office/drawing/2014/main" id="{4FFFCCA3-BAD7-D3B6-ECB1-8D43F2CB2FA7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234" name="Group 57">
            <a:extLst>
              <a:ext uri="{FF2B5EF4-FFF2-40B4-BE49-F238E27FC236}">
                <a16:creationId xmlns:a16="http://schemas.microsoft.com/office/drawing/2014/main" id="{05D58EF6-2E3A-902C-BAE9-0DF21DBC8E7C}"/>
              </a:ext>
            </a:extLst>
          </p:cNvPr>
          <p:cNvGrpSpPr/>
          <p:nvPr/>
        </p:nvGrpSpPr>
        <p:grpSpPr>
          <a:xfrm>
            <a:off x="14676120" y="14708124"/>
            <a:ext cx="2606040" cy="850392"/>
            <a:chOff x="0" y="0"/>
            <a:chExt cx="3474720" cy="1133856"/>
          </a:xfrm>
        </p:grpSpPr>
        <p:sp>
          <p:nvSpPr>
            <p:cNvPr id="235" name="Freeform 58">
              <a:extLst>
                <a:ext uri="{FF2B5EF4-FFF2-40B4-BE49-F238E27FC236}">
                  <a16:creationId xmlns:a16="http://schemas.microsoft.com/office/drawing/2014/main" id="{0E8DE1A1-EDA0-ADE2-5C8F-9B7FFA245C65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36" name="TextBox 59">
              <a:extLst>
                <a:ext uri="{FF2B5EF4-FFF2-40B4-BE49-F238E27FC236}">
                  <a16:creationId xmlns:a16="http://schemas.microsoft.com/office/drawing/2014/main" id="{7FBA1B3C-A83A-CE9B-9FEA-B816C69E868D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237" name="Group 60">
            <a:extLst>
              <a:ext uri="{FF2B5EF4-FFF2-40B4-BE49-F238E27FC236}">
                <a16:creationId xmlns:a16="http://schemas.microsoft.com/office/drawing/2014/main" id="{8F616A30-9030-043B-B0D5-D070521E2AC4}"/>
              </a:ext>
            </a:extLst>
          </p:cNvPr>
          <p:cNvGrpSpPr/>
          <p:nvPr/>
        </p:nvGrpSpPr>
        <p:grpSpPr>
          <a:xfrm>
            <a:off x="960120" y="15558516"/>
            <a:ext cx="16322040" cy="850392"/>
            <a:chOff x="0" y="0"/>
            <a:chExt cx="21762720" cy="1133856"/>
          </a:xfrm>
        </p:grpSpPr>
        <p:sp>
          <p:nvSpPr>
            <p:cNvPr id="238" name="Freeform 61">
              <a:extLst>
                <a:ext uri="{FF2B5EF4-FFF2-40B4-BE49-F238E27FC236}">
                  <a16:creationId xmlns:a16="http://schemas.microsoft.com/office/drawing/2014/main" id="{D8D80E6C-1DAC-3B0B-7A39-460258721AA2}"/>
                </a:ext>
              </a:extLst>
            </p:cNvPr>
            <p:cNvSpPr/>
            <p:nvPr/>
          </p:nvSpPr>
          <p:spPr>
            <a:xfrm>
              <a:off x="0" y="0"/>
              <a:ext cx="21762720" cy="1133856"/>
            </a:xfrm>
            <a:custGeom>
              <a:avLst/>
              <a:gdLst/>
              <a:ahLst/>
              <a:cxnLst/>
              <a:rect l="l" t="t" r="r" b="b"/>
              <a:pathLst>
                <a:path w="21762720" h="1133856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6243D"/>
            </a:solidFill>
          </p:spPr>
        </p:sp>
      </p:grpSp>
      <p:grpSp>
        <p:nvGrpSpPr>
          <p:cNvPr id="239" name="Group 62">
            <a:extLst>
              <a:ext uri="{FF2B5EF4-FFF2-40B4-BE49-F238E27FC236}">
                <a16:creationId xmlns:a16="http://schemas.microsoft.com/office/drawing/2014/main" id="{1FAACC98-2612-FCF4-7899-5DC4AF57548A}"/>
              </a:ext>
            </a:extLst>
          </p:cNvPr>
          <p:cNvGrpSpPr/>
          <p:nvPr/>
        </p:nvGrpSpPr>
        <p:grpSpPr>
          <a:xfrm>
            <a:off x="1165860" y="15558516"/>
            <a:ext cx="5486400" cy="850392"/>
            <a:chOff x="0" y="0"/>
            <a:chExt cx="7315200" cy="1133856"/>
          </a:xfrm>
        </p:grpSpPr>
        <p:sp>
          <p:nvSpPr>
            <p:cNvPr id="240" name="Freeform 63">
              <a:extLst>
                <a:ext uri="{FF2B5EF4-FFF2-40B4-BE49-F238E27FC236}">
                  <a16:creationId xmlns:a16="http://schemas.microsoft.com/office/drawing/2014/main" id="{DE54C6A1-B1E4-0181-5F3A-43BEDB971507}"/>
                </a:ext>
              </a:extLst>
            </p:cNvPr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241" name="TextBox 64">
              <a:extLst>
                <a:ext uri="{FF2B5EF4-FFF2-40B4-BE49-F238E27FC236}">
                  <a16:creationId xmlns:a16="http://schemas.microsoft.com/office/drawing/2014/main" id="{93814AEA-5EC9-062D-402C-AC5CB4D7A6AC}"/>
                </a:ext>
              </a:extLst>
            </p:cNvPr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Builds your CV for you</a:t>
              </a:r>
            </a:p>
          </p:txBody>
        </p:sp>
      </p:grpSp>
      <p:grpSp>
        <p:nvGrpSpPr>
          <p:cNvPr id="242" name="Group 65">
            <a:extLst>
              <a:ext uri="{FF2B5EF4-FFF2-40B4-BE49-F238E27FC236}">
                <a16:creationId xmlns:a16="http://schemas.microsoft.com/office/drawing/2014/main" id="{1B5C6060-CF2C-D3CC-73DB-57BC58B08858}"/>
              </a:ext>
            </a:extLst>
          </p:cNvPr>
          <p:cNvGrpSpPr/>
          <p:nvPr/>
        </p:nvGrpSpPr>
        <p:grpSpPr>
          <a:xfrm>
            <a:off x="6858000" y="15558516"/>
            <a:ext cx="2606040" cy="850392"/>
            <a:chOff x="0" y="0"/>
            <a:chExt cx="3474720" cy="1133856"/>
          </a:xfrm>
        </p:grpSpPr>
        <p:sp>
          <p:nvSpPr>
            <p:cNvPr id="243" name="Freeform 66">
              <a:extLst>
                <a:ext uri="{FF2B5EF4-FFF2-40B4-BE49-F238E27FC236}">
                  <a16:creationId xmlns:a16="http://schemas.microsoft.com/office/drawing/2014/main" id="{C72E0AB0-5237-CDA6-5C4A-10A93BB1742F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44" name="TextBox 67">
              <a:extLst>
                <a:ext uri="{FF2B5EF4-FFF2-40B4-BE49-F238E27FC236}">
                  <a16:creationId xmlns:a16="http://schemas.microsoft.com/office/drawing/2014/main" id="{45F4D797-394D-7383-FD7F-1223C9E4337A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245" name="Group 68">
            <a:extLst>
              <a:ext uri="{FF2B5EF4-FFF2-40B4-BE49-F238E27FC236}">
                <a16:creationId xmlns:a16="http://schemas.microsoft.com/office/drawing/2014/main" id="{E69B44A2-B040-23CE-D35A-089D5DAADB0D}"/>
              </a:ext>
            </a:extLst>
          </p:cNvPr>
          <p:cNvGrpSpPr/>
          <p:nvPr/>
        </p:nvGrpSpPr>
        <p:grpSpPr>
          <a:xfrm>
            <a:off x="9464040" y="15558516"/>
            <a:ext cx="2606040" cy="850392"/>
            <a:chOff x="0" y="0"/>
            <a:chExt cx="3474720" cy="1133856"/>
          </a:xfrm>
        </p:grpSpPr>
        <p:sp>
          <p:nvSpPr>
            <p:cNvPr id="246" name="Freeform 69">
              <a:extLst>
                <a:ext uri="{FF2B5EF4-FFF2-40B4-BE49-F238E27FC236}">
                  <a16:creationId xmlns:a16="http://schemas.microsoft.com/office/drawing/2014/main" id="{6527270E-9A80-9468-2CF9-406300126306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47" name="TextBox 70">
              <a:extLst>
                <a:ext uri="{FF2B5EF4-FFF2-40B4-BE49-F238E27FC236}">
                  <a16:creationId xmlns:a16="http://schemas.microsoft.com/office/drawing/2014/main" id="{39D3B5AD-262B-B984-E131-C34B60946DB0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248" name="Group 71">
            <a:extLst>
              <a:ext uri="{FF2B5EF4-FFF2-40B4-BE49-F238E27FC236}">
                <a16:creationId xmlns:a16="http://schemas.microsoft.com/office/drawing/2014/main" id="{35870BD8-4E16-B7A4-FECB-8EE1FF845CC4}"/>
              </a:ext>
            </a:extLst>
          </p:cNvPr>
          <p:cNvGrpSpPr/>
          <p:nvPr/>
        </p:nvGrpSpPr>
        <p:grpSpPr>
          <a:xfrm>
            <a:off x="12070080" y="15558516"/>
            <a:ext cx="2606040" cy="850392"/>
            <a:chOff x="0" y="0"/>
            <a:chExt cx="3474720" cy="1133856"/>
          </a:xfrm>
        </p:grpSpPr>
        <p:sp>
          <p:nvSpPr>
            <p:cNvPr id="249" name="Freeform 72">
              <a:extLst>
                <a:ext uri="{FF2B5EF4-FFF2-40B4-BE49-F238E27FC236}">
                  <a16:creationId xmlns:a16="http://schemas.microsoft.com/office/drawing/2014/main" id="{19346FD0-A2E0-8FB7-5919-B91EE1867738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50" name="TextBox 73">
              <a:extLst>
                <a:ext uri="{FF2B5EF4-FFF2-40B4-BE49-F238E27FC236}">
                  <a16:creationId xmlns:a16="http://schemas.microsoft.com/office/drawing/2014/main" id="{7536473A-D01E-CB05-FC72-941536A6C684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251" name="Group 74">
            <a:extLst>
              <a:ext uri="{FF2B5EF4-FFF2-40B4-BE49-F238E27FC236}">
                <a16:creationId xmlns:a16="http://schemas.microsoft.com/office/drawing/2014/main" id="{E5EA4105-83E3-B8E8-1F36-E3F61D7881A7}"/>
              </a:ext>
            </a:extLst>
          </p:cNvPr>
          <p:cNvGrpSpPr/>
          <p:nvPr/>
        </p:nvGrpSpPr>
        <p:grpSpPr>
          <a:xfrm>
            <a:off x="14676120" y="15558516"/>
            <a:ext cx="2606040" cy="850392"/>
            <a:chOff x="0" y="0"/>
            <a:chExt cx="3474720" cy="1133856"/>
          </a:xfrm>
        </p:grpSpPr>
        <p:sp>
          <p:nvSpPr>
            <p:cNvPr id="252" name="Freeform 75">
              <a:extLst>
                <a:ext uri="{FF2B5EF4-FFF2-40B4-BE49-F238E27FC236}">
                  <a16:creationId xmlns:a16="http://schemas.microsoft.com/office/drawing/2014/main" id="{2EF08D20-A4A6-E651-9C21-5EBEBB4208D1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53" name="TextBox 76">
              <a:extLst>
                <a:ext uri="{FF2B5EF4-FFF2-40B4-BE49-F238E27FC236}">
                  <a16:creationId xmlns:a16="http://schemas.microsoft.com/office/drawing/2014/main" id="{6F35A5C8-B748-327B-7C77-3B150226ED9C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254" name="Group 77">
            <a:extLst>
              <a:ext uri="{FF2B5EF4-FFF2-40B4-BE49-F238E27FC236}">
                <a16:creationId xmlns:a16="http://schemas.microsoft.com/office/drawing/2014/main" id="{66BDD6C4-924D-081E-9B56-FA2045E6DBC9}"/>
              </a:ext>
            </a:extLst>
          </p:cNvPr>
          <p:cNvGrpSpPr/>
          <p:nvPr/>
        </p:nvGrpSpPr>
        <p:grpSpPr>
          <a:xfrm>
            <a:off x="1165860" y="16408908"/>
            <a:ext cx="5486400" cy="850392"/>
            <a:chOff x="0" y="0"/>
            <a:chExt cx="7315200" cy="1133856"/>
          </a:xfrm>
        </p:grpSpPr>
        <p:sp>
          <p:nvSpPr>
            <p:cNvPr id="255" name="Freeform 78">
              <a:extLst>
                <a:ext uri="{FF2B5EF4-FFF2-40B4-BE49-F238E27FC236}">
                  <a16:creationId xmlns:a16="http://schemas.microsoft.com/office/drawing/2014/main" id="{1A861FB8-1262-BCA1-6016-5C1A5E42FF0F}"/>
                </a:ext>
              </a:extLst>
            </p:cNvPr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256" name="TextBox 79">
              <a:extLst>
                <a:ext uri="{FF2B5EF4-FFF2-40B4-BE49-F238E27FC236}">
                  <a16:creationId xmlns:a16="http://schemas.microsoft.com/office/drawing/2014/main" id="{3788200D-3C09-A5B1-D0EC-0829F24A767F}"/>
                </a:ext>
              </a:extLst>
            </p:cNvPr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Teaches the skills you're missing</a:t>
              </a:r>
            </a:p>
          </p:txBody>
        </p:sp>
      </p:grpSp>
      <p:grpSp>
        <p:nvGrpSpPr>
          <p:cNvPr id="257" name="Group 80">
            <a:extLst>
              <a:ext uri="{FF2B5EF4-FFF2-40B4-BE49-F238E27FC236}">
                <a16:creationId xmlns:a16="http://schemas.microsoft.com/office/drawing/2014/main" id="{E72BFD7F-D7C6-1996-6255-E242F455ED31}"/>
              </a:ext>
            </a:extLst>
          </p:cNvPr>
          <p:cNvGrpSpPr/>
          <p:nvPr/>
        </p:nvGrpSpPr>
        <p:grpSpPr>
          <a:xfrm>
            <a:off x="6858000" y="16408908"/>
            <a:ext cx="2606040" cy="850392"/>
            <a:chOff x="0" y="0"/>
            <a:chExt cx="3474720" cy="1133856"/>
          </a:xfrm>
        </p:grpSpPr>
        <p:sp>
          <p:nvSpPr>
            <p:cNvPr id="258" name="Freeform 81">
              <a:extLst>
                <a:ext uri="{FF2B5EF4-FFF2-40B4-BE49-F238E27FC236}">
                  <a16:creationId xmlns:a16="http://schemas.microsoft.com/office/drawing/2014/main" id="{A33517AC-F691-5989-2C9C-1342054B6007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59" name="TextBox 82">
              <a:extLst>
                <a:ext uri="{FF2B5EF4-FFF2-40B4-BE49-F238E27FC236}">
                  <a16:creationId xmlns:a16="http://schemas.microsoft.com/office/drawing/2014/main" id="{D979CAC6-C8E8-5626-7D25-510B742FE429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260" name="Group 83">
            <a:extLst>
              <a:ext uri="{FF2B5EF4-FFF2-40B4-BE49-F238E27FC236}">
                <a16:creationId xmlns:a16="http://schemas.microsoft.com/office/drawing/2014/main" id="{7F73DB28-4F12-2EBD-1531-C16EFAFD25C4}"/>
              </a:ext>
            </a:extLst>
          </p:cNvPr>
          <p:cNvGrpSpPr/>
          <p:nvPr/>
        </p:nvGrpSpPr>
        <p:grpSpPr>
          <a:xfrm>
            <a:off x="9464040" y="16408908"/>
            <a:ext cx="2606040" cy="850392"/>
            <a:chOff x="0" y="0"/>
            <a:chExt cx="3474720" cy="1133856"/>
          </a:xfrm>
        </p:grpSpPr>
        <p:sp>
          <p:nvSpPr>
            <p:cNvPr id="261" name="Freeform 84">
              <a:extLst>
                <a:ext uri="{FF2B5EF4-FFF2-40B4-BE49-F238E27FC236}">
                  <a16:creationId xmlns:a16="http://schemas.microsoft.com/office/drawing/2014/main" id="{F2D2C627-1EB7-2269-3028-B135193A0A10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62" name="TextBox 85">
              <a:extLst>
                <a:ext uri="{FF2B5EF4-FFF2-40B4-BE49-F238E27FC236}">
                  <a16:creationId xmlns:a16="http://schemas.microsoft.com/office/drawing/2014/main" id="{9C9EAE2F-9105-A61C-E2BE-4457EEC50405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263" name="Group 86">
            <a:extLst>
              <a:ext uri="{FF2B5EF4-FFF2-40B4-BE49-F238E27FC236}">
                <a16:creationId xmlns:a16="http://schemas.microsoft.com/office/drawing/2014/main" id="{A04646AD-DEE9-5062-261C-64310D3AC8E3}"/>
              </a:ext>
            </a:extLst>
          </p:cNvPr>
          <p:cNvGrpSpPr/>
          <p:nvPr/>
        </p:nvGrpSpPr>
        <p:grpSpPr>
          <a:xfrm>
            <a:off x="12070080" y="16408908"/>
            <a:ext cx="2606040" cy="850392"/>
            <a:chOff x="0" y="0"/>
            <a:chExt cx="3474720" cy="1133856"/>
          </a:xfrm>
        </p:grpSpPr>
        <p:sp>
          <p:nvSpPr>
            <p:cNvPr id="264" name="Freeform 87">
              <a:extLst>
                <a:ext uri="{FF2B5EF4-FFF2-40B4-BE49-F238E27FC236}">
                  <a16:creationId xmlns:a16="http://schemas.microsoft.com/office/drawing/2014/main" id="{92BC4A8E-5B50-BDBD-E98A-7BB5C3605C5C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65" name="TextBox 88">
              <a:extLst>
                <a:ext uri="{FF2B5EF4-FFF2-40B4-BE49-F238E27FC236}">
                  <a16:creationId xmlns:a16="http://schemas.microsoft.com/office/drawing/2014/main" id="{D0230808-F86A-890B-03E3-3B3E79B7526F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266" name="Group 89">
            <a:extLst>
              <a:ext uri="{FF2B5EF4-FFF2-40B4-BE49-F238E27FC236}">
                <a16:creationId xmlns:a16="http://schemas.microsoft.com/office/drawing/2014/main" id="{F6FF36F4-DB2D-5407-08CA-19D00E0F4B4F}"/>
              </a:ext>
            </a:extLst>
          </p:cNvPr>
          <p:cNvGrpSpPr/>
          <p:nvPr/>
        </p:nvGrpSpPr>
        <p:grpSpPr>
          <a:xfrm>
            <a:off x="14676120" y="16408908"/>
            <a:ext cx="2606040" cy="850392"/>
            <a:chOff x="0" y="0"/>
            <a:chExt cx="3474720" cy="1133856"/>
          </a:xfrm>
        </p:grpSpPr>
        <p:sp>
          <p:nvSpPr>
            <p:cNvPr id="267" name="Freeform 90">
              <a:extLst>
                <a:ext uri="{FF2B5EF4-FFF2-40B4-BE49-F238E27FC236}">
                  <a16:creationId xmlns:a16="http://schemas.microsoft.com/office/drawing/2014/main" id="{BB4E5C16-EDA6-E66D-F3B0-23EF6138EB8D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68" name="TextBox 91">
              <a:extLst>
                <a:ext uri="{FF2B5EF4-FFF2-40B4-BE49-F238E27FC236}">
                  <a16:creationId xmlns:a16="http://schemas.microsoft.com/office/drawing/2014/main" id="{DA38378D-F7D2-9CEB-1B79-7273030B701F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269" name="Group 92">
            <a:extLst>
              <a:ext uri="{FF2B5EF4-FFF2-40B4-BE49-F238E27FC236}">
                <a16:creationId xmlns:a16="http://schemas.microsoft.com/office/drawing/2014/main" id="{80420C79-2E77-CF56-F432-FCB11FA30FE6}"/>
              </a:ext>
            </a:extLst>
          </p:cNvPr>
          <p:cNvGrpSpPr/>
          <p:nvPr/>
        </p:nvGrpSpPr>
        <p:grpSpPr>
          <a:xfrm>
            <a:off x="960120" y="17259300"/>
            <a:ext cx="16322040" cy="850392"/>
            <a:chOff x="0" y="0"/>
            <a:chExt cx="21762720" cy="1133856"/>
          </a:xfrm>
        </p:grpSpPr>
        <p:sp>
          <p:nvSpPr>
            <p:cNvPr id="270" name="Freeform 93">
              <a:extLst>
                <a:ext uri="{FF2B5EF4-FFF2-40B4-BE49-F238E27FC236}">
                  <a16:creationId xmlns:a16="http://schemas.microsoft.com/office/drawing/2014/main" id="{4EE88103-A5B9-42F3-3EFB-5133FA732B99}"/>
                </a:ext>
              </a:extLst>
            </p:cNvPr>
            <p:cNvSpPr/>
            <p:nvPr/>
          </p:nvSpPr>
          <p:spPr>
            <a:xfrm>
              <a:off x="0" y="0"/>
              <a:ext cx="21762720" cy="1133856"/>
            </a:xfrm>
            <a:custGeom>
              <a:avLst/>
              <a:gdLst/>
              <a:ahLst/>
              <a:cxnLst/>
              <a:rect l="l" t="t" r="r" b="b"/>
              <a:pathLst>
                <a:path w="21762720" h="1133856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6243D"/>
            </a:solidFill>
          </p:spPr>
        </p:sp>
      </p:grpSp>
      <p:grpSp>
        <p:nvGrpSpPr>
          <p:cNvPr id="271" name="Group 94">
            <a:extLst>
              <a:ext uri="{FF2B5EF4-FFF2-40B4-BE49-F238E27FC236}">
                <a16:creationId xmlns:a16="http://schemas.microsoft.com/office/drawing/2014/main" id="{0587F485-B5BF-BCC6-E181-281D8CACF7B9}"/>
              </a:ext>
            </a:extLst>
          </p:cNvPr>
          <p:cNvGrpSpPr/>
          <p:nvPr/>
        </p:nvGrpSpPr>
        <p:grpSpPr>
          <a:xfrm>
            <a:off x="1165860" y="17259300"/>
            <a:ext cx="5486400" cy="850392"/>
            <a:chOff x="0" y="0"/>
            <a:chExt cx="7315200" cy="1133856"/>
          </a:xfrm>
        </p:grpSpPr>
        <p:sp>
          <p:nvSpPr>
            <p:cNvPr id="272" name="Freeform 95">
              <a:extLst>
                <a:ext uri="{FF2B5EF4-FFF2-40B4-BE49-F238E27FC236}">
                  <a16:creationId xmlns:a16="http://schemas.microsoft.com/office/drawing/2014/main" id="{3A6EF329-F4C6-7ECF-9CF6-125B01624CC9}"/>
                </a:ext>
              </a:extLst>
            </p:cNvPr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273" name="TextBox 96">
              <a:extLst>
                <a:ext uri="{FF2B5EF4-FFF2-40B4-BE49-F238E27FC236}">
                  <a16:creationId xmlns:a16="http://schemas.microsoft.com/office/drawing/2014/main" id="{5002EC82-2E4E-4EEF-ECE1-FF46D2E05BFD}"/>
                </a:ext>
              </a:extLst>
            </p:cNvPr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Government exam eligibility + apply guide</a:t>
              </a:r>
            </a:p>
          </p:txBody>
        </p:sp>
      </p:grpSp>
      <p:grpSp>
        <p:nvGrpSpPr>
          <p:cNvPr id="274" name="Group 97">
            <a:extLst>
              <a:ext uri="{FF2B5EF4-FFF2-40B4-BE49-F238E27FC236}">
                <a16:creationId xmlns:a16="http://schemas.microsoft.com/office/drawing/2014/main" id="{B72E9EF3-27A6-9CB9-F572-0EC5410D4441}"/>
              </a:ext>
            </a:extLst>
          </p:cNvPr>
          <p:cNvGrpSpPr/>
          <p:nvPr/>
        </p:nvGrpSpPr>
        <p:grpSpPr>
          <a:xfrm>
            <a:off x="6858000" y="17259300"/>
            <a:ext cx="2606040" cy="850392"/>
            <a:chOff x="0" y="0"/>
            <a:chExt cx="3474720" cy="1133856"/>
          </a:xfrm>
        </p:grpSpPr>
        <p:sp>
          <p:nvSpPr>
            <p:cNvPr id="275" name="Freeform 98">
              <a:extLst>
                <a:ext uri="{FF2B5EF4-FFF2-40B4-BE49-F238E27FC236}">
                  <a16:creationId xmlns:a16="http://schemas.microsoft.com/office/drawing/2014/main" id="{BA75E889-BA16-C379-B393-4B3201A0661D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76" name="TextBox 99">
              <a:extLst>
                <a:ext uri="{FF2B5EF4-FFF2-40B4-BE49-F238E27FC236}">
                  <a16:creationId xmlns:a16="http://schemas.microsoft.com/office/drawing/2014/main" id="{26C1F50B-7107-2698-8F62-78A7F649D250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277" name="Group 100">
            <a:extLst>
              <a:ext uri="{FF2B5EF4-FFF2-40B4-BE49-F238E27FC236}">
                <a16:creationId xmlns:a16="http://schemas.microsoft.com/office/drawing/2014/main" id="{E4492283-5C33-6FE2-E2AE-462E6A523E9E}"/>
              </a:ext>
            </a:extLst>
          </p:cNvPr>
          <p:cNvGrpSpPr/>
          <p:nvPr/>
        </p:nvGrpSpPr>
        <p:grpSpPr>
          <a:xfrm>
            <a:off x="9464040" y="17259300"/>
            <a:ext cx="2606040" cy="850392"/>
            <a:chOff x="0" y="0"/>
            <a:chExt cx="3474720" cy="1133856"/>
          </a:xfrm>
        </p:grpSpPr>
        <p:sp>
          <p:nvSpPr>
            <p:cNvPr id="278" name="Freeform 101">
              <a:extLst>
                <a:ext uri="{FF2B5EF4-FFF2-40B4-BE49-F238E27FC236}">
                  <a16:creationId xmlns:a16="http://schemas.microsoft.com/office/drawing/2014/main" id="{E8770806-FB30-68C5-4D78-2260BD8C669B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79" name="TextBox 102">
              <a:extLst>
                <a:ext uri="{FF2B5EF4-FFF2-40B4-BE49-F238E27FC236}">
                  <a16:creationId xmlns:a16="http://schemas.microsoft.com/office/drawing/2014/main" id="{CD77CF10-6E2A-2183-2D84-BB60D9D00206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280" name="Group 103">
            <a:extLst>
              <a:ext uri="{FF2B5EF4-FFF2-40B4-BE49-F238E27FC236}">
                <a16:creationId xmlns:a16="http://schemas.microsoft.com/office/drawing/2014/main" id="{AC6A3E34-5EE3-C892-0281-7359438837E8}"/>
              </a:ext>
            </a:extLst>
          </p:cNvPr>
          <p:cNvGrpSpPr/>
          <p:nvPr/>
        </p:nvGrpSpPr>
        <p:grpSpPr>
          <a:xfrm>
            <a:off x="12070080" y="17259300"/>
            <a:ext cx="2606040" cy="850392"/>
            <a:chOff x="0" y="0"/>
            <a:chExt cx="3474720" cy="1133856"/>
          </a:xfrm>
        </p:grpSpPr>
        <p:sp>
          <p:nvSpPr>
            <p:cNvPr id="281" name="Freeform 104">
              <a:extLst>
                <a:ext uri="{FF2B5EF4-FFF2-40B4-BE49-F238E27FC236}">
                  <a16:creationId xmlns:a16="http://schemas.microsoft.com/office/drawing/2014/main" id="{744059A9-4BE0-DD1A-5F71-FD0665B2557B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82" name="TextBox 105">
              <a:extLst>
                <a:ext uri="{FF2B5EF4-FFF2-40B4-BE49-F238E27FC236}">
                  <a16:creationId xmlns:a16="http://schemas.microsoft.com/office/drawing/2014/main" id="{3B27F2BC-7513-FBB4-F03B-E37B454139F4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283" name="Group 106">
            <a:extLst>
              <a:ext uri="{FF2B5EF4-FFF2-40B4-BE49-F238E27FC236}">
                <a16:creationId xmlns:a16="http://schemas.microsoft.com/office/drawing/2014/main" id="{3C8A93D6-C355-88A3-92FB-ECECAAB32BCF}"/>
              </a:ext>
            </a:extLst>
          </p:cNvPr>
          <p:cNvGrpSpPr/>
          <p:nvPr/>
        </p:nvGrpSpPr>
        <p:grpSpPr>
          <a:xfrm>
            <a:off x="14676120" y="17259300"/>
            <a:ext cx="2606040" cy="850392"/>
            <a:chOff x="0" y="0"/>
            <a:chExt cx="3474720" cy="1133856"/>
          </a:xfrm>
        </p:grpSpPr>
        <p:sp>
          <p:nvSpPr>
            <p:cNvPr id="284" name="Freeform 107">
              <a:extLst>
                <a:ext uri="{FF2B5EF4-FFF2-40B4-BE49-F238E27FC236}">
                  <a16:creationId xmlns:a16="http://schemas.microsoft.com/office/drawing/2014/main" id="{9BFCBDE3-2C20-F789-74D4-7E6D83ED8689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85" name="TextBox 108">
              <a:extLst>
                <a:ext uri="{FF2B5EF4-FFF2-40B4-BE49-F238E27FC236}">
                  <a16:creationId xmlns:a16="http://schemas.microsoft.com/office/drawing/2014/main" id="{5123B573-253E-A3E5-5492-25312AE439F9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286" name="Group 109">
            <a:extLst>
              <a:ext uri="{FF2B5EF4-FFF2-40B4-BE49-F238E27FC236}">
                <a16:creationId xmlns:a16="http://schemas.microsoft.com/office/drawing/2014/main" id="{B2916C76-9809-EEC9-3438-5018F61400D2}"/>
              </a:ext>
            </a:extLst>
          </p:cNvPr>
          <p:cNvGrpSpPr/>
          <p:nvPr/>
        </p:nvGrpSpPr>
        <p:grpSpPr>
          <a:xfrm>
            <a:off x="1165860" y="18109692"/>
            <a:ext cx="5486400" cy="850392"/>
            <a:chOff x="0" y="0"/>
            <a:chExt cx="7315200" cy="1133856"/>
          </a:xfrm>
        </p:grpSpPr>
        <p:sp>
          <p:nvSpPr>
            <p:cNvPr id="287" name="Freeform 110">
              <a:extLst>
                <a:ext uri="{FF2B5EF4-FFF2-40B4-BE49-F238E27FC236}">
                  <a16:creationId xmlns:a16="http://schemas.microsoft.com/office/drawing/2014/main" id="{3E10B470-005B-0053-79FD-F02006D4BF0F}"/>
                </a:ext>
              </a:extLst>
            </p:cNvPr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288" name="TextBox 111">
              <a:extLst>
                <a:ext uri="{FF2B5EF4-FFF2-40B4-BE49-F238E27FC236}">
                  <a16:creationId xmlns:a16="http://schemas.microsoft.com/office/drawing/2014/main" id="{4D50CD6B-142C-BAFE-A648-DFCB45520E42}"/>
                </a:ext>
              </a:extLst>
            </p:cNvPr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Peer and mentor network for first-generation job seekers</a:t>
              </a:r>
            </a:p>
          </p:txBody>
        </p:sp>
      </p:grpSp>
      <p:grpSp>
        <p:nvGrpSpPr>
          <p:cNvPr id="289" name="Group 112">
            <a:extLst>
              <a:ext uri="{FF2B5EF4-FFF2-40B4-BE49-F238E27FC236}">
                <a16:creationId xmlns:a16="http://schemas.microsoft.com/office/drawing/2014/main" id="{71B82D6F-1F4C-CDAD-9208-5B02B0A06970}"/>
              </a:ext>
            </a:extLst>
          </p:cNvPr>
          <p:cNvGrpSpPr/>
          <p:nvPr/>
        </p:nvGrpSpPr>
        <p:grpSpPr>
          <a:xfrm>
            <a:off x="6858000" y="18109692"/>
            <a:ext cx="2606040" cy="850392"/>
            <a:chOff x="0" y="0"/>
            <a:chExt cx="3474720" cy="1133856"/>
          </a:xfrm>
        </p:grpSpPr>
        <p:sp>
          <p:nvSpPr>
            <p:cNvPr id="290" name="Freeform 113">
              <a:extLst>
                <a:ext uri="{FF2B5EF4-FFF2-40B4-BE49-F238E27FC236}">
                  <a16:creationId xmlns:a16="http://schemas.microsoft.com/office/drawing/2014/main" id="{300E1684-DA1B-4490-3309-4E50E3979220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91" name="TextBox 114">
              <a:extLst>
                <a:ext uri="{FF2B5EF4-FFF2-40B4-BE49-F238E27FC236}">
                  <a16:creationId xmlns:a16="http://schemas.microsoft.com/office/drawing/2014/main" id="{2F6D5384-F3CB-C682-8052-4954AE69B50C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292" name="Group 115">
            <a:extLst>
              <a:ext uri="{FF2B5EF4-FFF2-40B4-BE49-F238E27FC236}">
                <a16:creationId xmlns:a16="http://schemas.microsoft.com/office/drawing/2014/main" id="{1A024B67-33AB-D89E-28CE-72F087803357}"/>
              </a:ext>
            </a:extLst>
          </p:cNvPr>
          <p:cNvGrpSpPr/>
          <p:nvPr/>
        </p:nvGrpSpPr>
        <p:grpSpPr>
          <a:xfrm>
            <a:off x="9464040" y="18109692"/>
            <a:ext cx="2606040" cy="850392"/>
            <a:chOff x="0" y="0"/>
            <a:chExt cx="3474720" cy="1133856"/>
          </a:xfrm>
        </p:grpSpPr>
        <p:sp>
          <p:nvSpPr>
            <p:cNvPr id="293" name="Freeform 116">
              <a:extLst>
                <a:ext uri="{FF2B5EF4-FFF2-40B4-BE49-F238E27FC236}">
                  <a16:creationId xmlns:a16="http://schemas.microsoft.com/office/drawing/2014/main" id="{70C4F448-0133-22F4-CC1C-6FF3AB1B1280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94" name="TextBox 117">
              <a:extLst>
                <a:ext uri="{FF2B5EF4-FFF2-40B4-BE49-F238E27FC236}">
                  <a16:creationId xmlns:a16="http://schemas.microsoft.com/office/drawing/2014/main" id="{04DF159C-7633-29F0-C5A6-1A743281E6E9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295" name="Group 118">
            <a:extLst>
              <a:ext uri="{FF2B5EF4-FFF2-40B4-BE49-F238E27FC236}">
                <a16:creationId xmlns:a16="http://schemas.microsoft.com/office/drawing/2014/main" id="{FAACD540-3DF5-D3FF-C212-3E2AEC2BB4D9}"/>
              </a:ext>
            </a:extLst>
          </p:cNvPr>
          <p:cNvGrpSpPr/>
          <p:nvPr/>
        </p:nvGrpSpPr>
        <p:grpSpPr>
          <a:xfrm>
            <a:off x="12070080" y="18109692"/>
            <a:ext cx="2606040" cy="850392"/>
            <a:chOff x="0" y="0"/>
            <a:chExt cx="3474720" cy="1133856"/>
          </a:xfrm>
        </p:grpSpPr>
        <p:sp>
          <p:nvSpPr>
            <p:cNvPr id="296" name="Freeform 119">
              <a:extLst>
                <a:ext uri="{FF2B5EF4-FFF2-40B4-BE49-F238E27FC236}">
                  <a16:creationId xmlns:a16="http://schemas.microsoft.com/office/drawing/2014/main" id="{DF10F58D-FA18-CACE-E605-A5145D5B0057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297" name="TextBox 120">
              <a:extLst>
                <a:ext uri="{FF2B5EF4-FFF2-40B4-BE49-F238E27FC236}">
                  <a16:creationId xmlns:a16="http://schemas.microsoft.com/office/drawing/2014/main" id="{9560AD4A-7F8A-1287-5C4C-92C2D58890EC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298" name="Group 121">
            <a:extLst>
              <a:ext uri="{FF2B5EF4-FFF2-40B4-BE49-F238E27FC236}">
                <a16:creationId xmlns:a16="http://schemas.microsoft.com/office/drawing/2014/main" id="{CC22C46E-51E6-9593-38A7-906592351584}"/>
              </a:ext>
            </a:extLst>
          </p:cNvPr>
          <p:cNvGrpSpPr/>
          <p:nvPr/>
        </p:nvGrpSpPr>
        <p:grpSpPr>
          <a:xfrm>
            <a:off x="14676120" y="18109692"/>
            <a:ext cx="2606040" cy="850392"/>
            <a:chOff x="0" y="0"/>
            <a:chExt cx="3474720" cy="1133856"/>
          </a:xfrm>
        </p:grpSpPr>
        <p:sp>
          <p:nvSpPr>
            <p:cNvPr id="299" name="Freeform 122">
              <a:extLst>
                <a:ext uri="{FF2B5EF4-FFF2-40B4-BE49-F238E27FC236}">
                  <a16:creationId xmlns:a16="http://schemas.microsoft.com/office/drawing/2014/main" id="{8748C47F-A32B-5BF8-E146-377CB600CE02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300" name="TextBox 123">
              <a:extLst>
                <a:ext uri="{FF2B5EF4-FFF2-40B4-BE49-F238E27FC236}">
                  <a16:creationId xmlns:a16="http://schemas.microsoft.com/office/drawing/2014/main" id="{6A776061-57D4-19BC-8DA5-7991E4F4C088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sp>
        <p:nvSpPr>
          <p:cNvPr id="301" name="TextBox 124">
            <a:extLst>
              <a:ext uri="{FF2B5EF4-FFF2-40B4-BE49-F238E27FC236}">
                <a16:creationId xmlns:a16="http://schemas.microsoft.com/office/drawing/2014/main" id="{3DAE5001-85C9-CEB1-1F85-3B8F4436C5C8}"/>
              </a:ext>
            </a:extLst>
          </p:cNvPr>
          <p:cNvSpPr txBox="1"/>
          <p:nvPr/>
        </p:nvSpPr>
        <p:spPr>
          <a:xfrm>
            <a:off x="960120" y="19165824"/>
            <a:ext cx="1632204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△ = partial, or varies by product. Simplified from general positioning; confirm current features before presenting.</a:t>
            </a:r>
          </a:p>
        </p:txBody>
      </p:sp>
      <p:grpSp>
        <p:nvGrpSpPr>
          <p:cNvPr id="302" name="Group 125">
            <a:extLst>
              <a:ext uri="{FF2B5EF4-FFF2-40B4-BE49-F238E27FC236}">
                <a16:creationId xmlns:a16="http://schemas.microsoft.com/office/drawing/2014/main" id="{5F28DE1C-968C-9AFE-2534-63360751E2B3}"/>
              </a:ext>
            </a:extLst>
          </p:cNvPr>
          <p:cNvGrpSpPr/>
          <p:nvPr/>
        </p:nvGrpSpPr>
        <p:grpSpPr>
          <a:xfrm>
            <a:off x="17213580" y="19933920"/>
            <a:ext cx="822960" cy="411480"/>
            <a:chOff x="0" y="0"/>
            <a:chExt cx="1097280" cy="548640"/>
          </a:xfrm>
        </p:grpSpPr>
        <p:sp>
          <p:nvSpPr>
            <p:cNvPr id="303" name="Freeform 126">
              <a:extLst>
                <a:ext uri="{FF2B5EF4-FFF2-40B4-BE49-F238E27FC236}">
                  <a16:creationId xmlns:a16="http://schemas.microsoft.com/office/drawing/2014/main" id="{E575C510-BADA-B952-1405-BD66398B1FC5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304" name="TextBox 127">
              <a:extLst>
                <a:ext uri="{FF2B5EF4-FFF2-40B4-BE49-F238E27FC236}">
                  <a16:creationId xmlns:a16="http://schemas.microsoft.com/office/drawing/2014/main" id="{B2C9A8AF-F33D-A7CF-2FE8-362D4D7CD33D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15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COMPETITIVE LANDSCAPE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097280"/>
            <a:ext cx="16322040" cy="1234440"/>
            <a:chOff x="0" y="0"/>
            <a:chExt cx="2176272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 existing options fall short here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58000" y="2811780"/>
            <a:ext cx="2606040" cy="850392"/>
            <a:chOff x="0" y="0"/>
            <a:chExt cx="3474720" cy="11338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926580" y="2811780"/>
            <a:ext cx="2468880" cy="850392"/>
            <a:chOff x="0" y="0"/>
            <a:chExt cx="3291840" cy="11338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91840" cy="1133856"/>
            </a:xfrm>
            <a:custGeom>
              <a:avLst/>
              <a:gdLst/>
              <a:ahLst/>
              <a:cxnLst/>
              <a:rect l="l" t="t" r="r" b="b"/>
              <a:pathLst>
                <a:path w="3291840" h="1133856">
                  <a:moveTo>
                    <a:pt x="0" y="0"/>
                  </a:moveTo>
                  <a:lnTo>
                    <a:pt x="3291840" y="0"/>
                  </a:lnTo>
                  <a:lnTo>
                    <a:pt x="3291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" b="-656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329184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LinkedIn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64040" y="2811780"/>
            <a:ext cx="2606040" cy="850392"/>
            <a:chOff x="0" y="0"/>
            <a:chExt cx="3474720" cy="11338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532620" y="2811780"/>
            <a:ext cx="2468880" cy="850392"/>
            <a:chOff x="0" y="0"/>
            <a:chExt cx="3291840" cy="11338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91840" cy="1133856"/>
            </a:xfrm>
            <a:custGeom>
              <a:avLst/>
              <a:gdLst/>
              <a:ahLst/>
              <a:cxnLst/>
              <a:rect l="l" t="t" r="r" b="b"/>
              <a:pathLst>
                <a:path w="3291840" h="1133856">
                  <a:moveTo>
                    <a:pt x="0" y="0"/>
                  </a:moveTo>
                  <a:lnTo>
                    <a:pt x="3291840" y="0"/>
                  </a:lnTo>
                  <a:lnTo>
                    <a:pt x="3291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" b="-6569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329184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Job boards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070080" y="2811780"/>
            <a:ext cx="2606040" cy="850392"/>
            <a:chOff x="0" y="0"/>
            <a:chExt cx="3474720" cy="11338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2138660" y="2811780"/>
            <a:ext cx="2468880" cy="850392"/>
            <a:chOff x="0" y="0"/>
            <a:chExt cx="3291840" cy="11338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91840" cy="1133856"/>
            </a:xfrm>
            <a:custGeom>
              <a:avLst/>
              <a:gdLst/>
              <a:ahLst/>
              <a:cxnLst/>
              <a:rect l="l" t="t" r="r" b="b"/>
              <a:pathLst>
                <a:path w="3291840" h="1133856">
                  <a:moveTo>
                    <a:pt x="0" y="0"/>
                  </a:moveTo>
                  <a:lnTo>
                    <a:pt x="3291840" y="0"/>
                  </a:lnTo>
                  <a:lnTo>
                    <a:pt x="3291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" b="-6569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329184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Exam-prep apps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676120" y="2811780"/>
            <a:ext cx="2606040" cy="850392"/>
            <a:chOff x="0" y="0"/>
            <a:chExt cx="3474720" cy="11338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4744700" y="2811780"/>
            <a:ext cx="2468880" cy="850392"/>
            <a:chOff x="0" y="0"/>
            <a:chExt cx="3291840" cy="113385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291840" cy="1133856"/>
            </a:xfrm>
            <a:custGeom>
              <a:avLst/>
              <a:gdLst/>
              <a:ahLst/>
              <a:cxnLst/>
              <a:rect l="l" t="t" r="r" b="b"/>
              <a:pathLst>
                <a:path w="3291840" h="1133856">
                  <a:moveTo>
                    <a:pt x="0" y="0"/>
                  </a:moveTo>
                  <a:lnTo>
                    <a:pt x="3291840" y="0"/>
                  </a:lnTo>
                  <a:lnTo>
                    <a:pt x="3291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" b="-656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329184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SkillAscend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60120" y="3662172"/>
            <a:ext cx="16322040" cy="850392"/>
            <a:chOff x="0" y="0"/>
            <a:chExt cx="21762720" cy="113385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762720" cy="1133856"/>
            </a:xfrm>
            <a:custGeom>
              <a:avLst/>
              <a:gdLst/>
              <a:ahLst/>
              <a:cxnLst/>
              <a:rect l="l" t="t" r="r" b="b"/>
              <a:pathLst>
                <a:path w="21762720" h="1133856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6243D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165860" y="3662172"/>
            <a:ext cx="5486400" cy="850392"/>
            <a:chOff x="0" y="0"/>
            <a:chExt cx="7315200" cy="113385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Works without an existing CV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58000" y="3662172"/>
            <a:ext cx="2606040" cy="850392"/>
            <a:chOff x="0" y="0"/>
            <a:chExt cx="3474720" cy="113385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64040" y="3662172"/>
            <a:ext cx="2606040" cy="850392"/>
            <a:chOff x="0" y="0"/>
            <a:chExt cx="3474720" cy="113385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070080" y="3662172"/>
            <a:ext cx="2606040" cy="850392"/>
            <a:chOff x="0" y="0"/>
            <a:chExt cx="3474720" cy="113385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676120" y="3662172"/>
            <a:ext cx="2606040" cy="850392"/>
            <a:chOff x="0" y="0"/>
            <a:chExt cx="3474720" cy="113385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65860" y="4512564"/>
            <a:ext cx="5486400" cy="850392"/>
            <a:chOff x="0" y="0"/>
            <a:chExt cx="7315200" cy="113385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Verifies informally learned skills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858000" y="4512564"/>
            <a:ext cx="2606040" cy="850392"/>
            <a:chOff x="0" y="0"/>
            <a:chExt cx="3474720" cy="113385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464040" y="4512564"/>
            <a:ext cx="2606040" cy="850392"/>
            <a:chOff x="0" y="0"/>
            <a:chExt cx="3474720" cy="113385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070080" y="4512564"/>
            <a:ext cx="2606040" cy="850392"/>
            <a:chOff x="0" y="0"/>
            <a:chExt cx="3474720" cy="113385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4676120" y="4512564"/>
            <a:ext cx="2606040" cy="850392"/>
            <a:chOff x="0" y="0"/>
            <a:chExt cx="3474720" cy="113385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60120" y="5362956"/>
            <a:ext cx="16322040" cy="850392"/>
            <a:chOff x="0" y="0"/>
            <a:chExt cx="21762720" cy="113385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1762720" cy="1133856"/>
            </a:xfrm>
            <a:custGeom>
              <a:avLst/>
              <a:gdLst/>
              <a:ahLst/>
              <a:cxnLst/>
              <a:rect l="l" t="t" r="r" b="b"/>
              <a:pathLst>
                <a:path w="21762720" h="1133856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6243D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165860" y="5362956"/>
            <a:ext cx="5486400" cy="850392"/>
            <a:chOff x="0" y="0"/>
            <a:chExt cx="7315200" cy="113385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Builds your CV for you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858000" y="5362956"/>
            <a:ext cx="2606040" cy="850392"/>
            <a:chOff x="0" y="0"/>
            <a:chExt cx="3474720" cy="113385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464040" y="5362956"/>
            <a:ext cx="2606040" cy="850392"/>
            <a:chOff x="0" y="0"/>
            <a:chExt cx="3474720" cy="113385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070080" y="5362956"/>
            <a:ext cx="2606040" cy="850392"/>
            <a:chOff x="0" y="0"/>
            <a:chExt cx="3474720" cy="113385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4676120" y="5362956"/>
            <a:ext cx="2606040" cy="850392"/>
            <a:chOff x="0" y="0"/>
            <a:chExt cx="3474720" cy="113385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165860" y="6213348"/>
            <a:ext cx="5486400" cy="850392"/>
            <a:chOff x="0" y="0"/>
            <a:chExt cx="7315200" cy="1133856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Teaches the skills you're missing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858000" y="6213348"/>
            <a:ext cx="2606040" cy="850392"/>
            <a:chOff x="0" y="0"/>
            <a:chExt cx="3474720" cy="1133856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464040" y="6213348"/>
            <a:ext cx="2606040" cy="850392"/>
            <a:chOff x="0" y="0"/>
            <a:chExt cx="3474720" cy="113385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070080" y="6213348"/>
            <a:ext cx="2606040" cy="850392"/>
            <a:chOff x="0" y="0"/>
            <a:chExt cx="3474720" cy="113385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4676120" y="6213348"/>
            <a:ext cx="2606040" cy="850392"/>
            <a:chOff x="0" y="0"/>
            <a:chExt cx="3474720" cy="113385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60120" y="7063740"/>
            <a:ext cx="16322040" cy="850392"/>
            <a:chOff x="0" y="0"/>
            <a:chExt cx="21762720" cy="1133856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1762720" cy="1133856"/>
            </a:xfrm>
            <a:custGeom>
              <a:avLst/>
              <a:gdLst/>
              <a:ahLst/>
              <a:cxnLst/>
              <a:rect l="l" t="t" r="r" b="b"/>
              <a:pathLst>
                <a:path w="21762720" h="1133856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6243D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1165860" y="7063740"/>
            <a:ext cx="5486400" cy="850392"/>
            <a:chOff x="0" y="0"/>
            <a:chExt cx="7315200" cy="113385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Government exam eligibility + apply guide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858000" y="7063740"/>
            <a:ext cx="2606040" cy="850392"/>
            <a:chOff x="0" y="0"/>
            <a:chExt cx="3474720" cy="1133856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464040" y="7063740"/>
            <a:ext cx="2606040" cy="850392"/>
            <a:chOff x="0" y="0"/>
            <a:chExt cx="3474720" cy="1133856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2070080" y="7063740"/>
            <a:ext cx="2606040" cy="850392"/>
            <a:chOff x="0" y="0"/>
            <a:chExt cx="3474720" cy="1133856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4676120" y="7063740"/>
            <a:ext cx="2606040" cy="850392"/>
            <a:chOff x="0" y="0"/>
            <a:chExt cx="3474720" cy="1133856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165860" y="7914132"/>
            <a:ext cx="5486400" cy="850392"/>
            <a:chOff x="0" y="0"/>
            <a:chExt cx="7315200" cy="1133856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Peer and mentor network for first-generation job seekers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6858000" y="7914132"/>
            <a:ext cx="2606040" cy="850392"/>
            <a:chOff x="0" y="0"/>
            <a:chExt cx="3474720" cy="1133856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464040" y="7914132"/>
            <a:ext cx="2606040" cy="850392"/>
            <a:chOff x="0" y="0"/>
            <a:chExt cx="3474720" cy="1133856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2070080" y="7914132"/>
            <a:ext cx="2606040" cy="850392"/>
            <a:chOff x="0" y="0"/>
            <a:chExt cx="3474720" cy="1133856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4676120" y="7914132"/>
            <a:ext cx="2606040" cy="850392"/>
            <a:chOff x="0" y="0"/>
            <a:chExt cx="3474720" cy="1133856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sp>
        <p:nvSpPr>
          <p:cNvPr id="124" name="TextBox 124"/>
          <p:cNvSpPr txBox="1"/>
          <p:nvPr/>
        </p:nvSpPr>
        <p:spPr>
          <a:xfrm>
            <a:off x="960120" y="8970264"/>
            <a:ext cx="1632204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△ = partial, or varies by product. Simplified from general positioning; confirm current features before presenting.</a:t>
            </a:r>
          </a:p>
        </p:txBody>
      </p:sp>
      <p:grpSp>
        <p:nvGrpSpPr>
          <p:cNvPr id="125" name="Group 125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15</a:t>
              </a:r>
            </a:p>
          </p:txBody>
        </p:sp>
      </p:grpSp>
      <p:grpSp>
        <p:nvGrpSpPr>
          <p:cNvPr id="214" name="Group 2">
            <a:extLst>
              <a:ext uri="{FF2B5EF4-FFF2-40B4-BE49-F238E27FC236}">
                <a16:creationId xmlns:a16="http://schemas.microsoft.com/office/drawing/2014/main" id="{C860724A-C2DB-2143-04E6-B3D238F6C8DD}"/>
              </a:ext>
            </a:extLst>
          </p:cNvPr>
          <p:cNvGrpSpPr/>
          <p:nvPr/>
        </p:nvGrpSpPr>
        <p:grpSpPr>
          <a:xfrm>
            <a:off x="960120" y="-10803636"/>
            <a:ext cx="12344400" cy="480060"/>
            <a:chOff x="0" y="0"/>
            <a:chExt cx="16459200" cy="640080"/>
          </a:xfrm>
        </p:grpSpPr>
        <p:sp>
          <p:nvSpPr>
            <p:cNvPr id="215" name="Freeform 3">
              <a:extLst>
                <a:ext uri="{FF2B5EF4-FFF2-40B4-BE49-F238E27FC236}">
                  <a16:creationId xmlns:a16="http://schemas.microsoft.com/office/drawing/2014/main" id="{E9394F17-03C7-7EB6-B7DC-5A5749F387C5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216" name="TextBox 4">
              <a:extLst>
                <a:ext uri="{FF2B5EF4-FFF2-40B4-BE49-F238E27FC236}">
                  <a16:creationId xmlns:a16="http://schemas.microsoft.com/office/drawing/2014/main" id="{DC60D15A-E115-BA79-FCA5-35F63C994B5C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USER JOURNEY</a:t>
              </a:r>
            </a:p>
          </p:txBody>
        </p:sp>
      </p:grpSp>
      <p:grpSp>
        <p:nvGrpSpPr>
          <p:cNvPr id="217" name="Group 5">
            <a:extLst>
              <a:ext uri="{FF2B5EF4-FFF2-40B4-BE49-F238E27FC236}">
                <a16:creationId xmlns:a16="http://schemas.microsoft.com/office/drawing/2014/main" id="{14D84D68-6A4B-5B79-DD80-AE12B31F9CEA}"/>
              </a:ext>
            </a:extLst>
          </p:cNvPr>
          <p:cNvGrpSpPr/>
          <p:nvPr/>
        </p:nvGrpSpPr>
        <p:grpSpPr>
          <a:xfrm>
            <a:off x="960120" y="-10323576"/>
            <a:ext cx="16322040" cy="1234440"/>
            <a:chOff x="0" y="0"/>
            <a:chExt cx="21762720" cy="1645920"/>
          </a:xfrm>
        </p:grpSpPr>
        <p:sp>
          <p:nvSpPr>
            <p:cNvPr id="218" name="Freeform 6">
              <a:extLst>
                <a:ext uri="{FF2B5EF4-FFF2-40B4-BE49-F238E27FC236}">
                  <a16:creationId xmlns:a16="http://schemas.microsoft.com/office/drawing/2014/main" id="{A64E0C1C-2287-06AE-C5B3-A46419A097B9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219" name="TextBox 7">
              <a:extLst>
                <a:ext uri="{FF2B5EF4-FFF2-40B4-BE49-F238E27FC236}">
                  <a16:creationId xmlns:a16="http://schemas.microsoft.com/office/drawing/2014/main" id="{B57F11A2-2927-9D76-A92D-92D569140312}"/>
                </a:ext>
              </a:extLst>
            </p:cNvPr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One person, start to finish</a:t>
              </a:r>
            </a:p>
          </p:txBody>
        </p:sp>
      </p:grpSp>
      <p:grpSp>
        <p:nvGrpSpPr>
          <p:cNvPr id="220" name="Group 8">
            <a:extLst>
              <a:ext uri="{FF2B5EF4-FFF2-40B4-BE49-F238E27FC236}">
                <a16:creationId xmlns:a16="http://schemas.microsoft.com/office/drawing/2014/main" id="{0C62F1D5-8D3B-2EA9-B043-CD687FDFAF42}"/>
              </a:ext>
            </a:extLst>
          </p:cNvPr>
          <p:cNvGrpSpPr/>
          <p:nvPr/>
        </p:nvGrpSpPr>
        <p:grpSpPr>
          <a:xfrm>
            <a:off x="960120" y="-8746236"/>
            <a:ext cx="685800" cy="685800"/>
            <a:chOff x="0" y="0"/>
            <a:chExt cx="914400" cy="914400"/>
          </a:xfrm>
        </p:grpSpPr>
        <p:sp>
          <p:nvSpPr>
            <p:cNvPr id="221" name="Freeform 9">
              <a:extLst>
                <a:ext uri="{FF2B5EF4-FFF2-40B4-BE49-F238E27FC236}">
                  <a16:creationId xmlns:a16="http://schemas.microsoft.com/office/drawing/2014/main" id="{3C43D92E-0A22-EEC9-F0FF-16869F387B0B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22" name="Group 10">
            <a:extLst>
              <a:ext uri="{FF2B5EF4-FFF2-40B4-BE49-F238E27FC236}">
                <a16:creationId xmlns:a16="http://schemas.microsoft.com/office/drawing/2014/main" id="{2831363F-A63F-E0C8-FDA0-B581CCEB77E1}"/>
              </a:ext>
            </a:extLst>
          </p:cNvPr>
          <p:cNvGrpSpPr/>
          <p:nvPr/>
        </p:nvGrpSpPr>
        <p:grpSpPr>
          <a:xfrm>
            <a:off x="960120" y="-8746236"/>
            <a:ext cx="685800" cy="685800"/>
            <a:chOff x="0" y="0"/>
            <a:chExt cx="914400" cy="914400"/>
          </a:xfrm>
        </p:grpSpPr>
        <p:sp>
          <p:nvSpPr>
            <p:cNvPr id="223" name="Freeform 11">
              <a:extLst>
                <a:ext uri="{FF2B5EF4-FFF2-40B4-BE49-F238E27FC236}">
                  <a16:creationId xmlns:a16="http://schemas.microsoft.com/office/drawing/2014/main" id="{20F894AC-929D-A815-16B8-61441441A6CA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4" name="TextBox 12">
              <a:extLst>
                <a:ext uri="{FF2B5EF4-FFF2-40B4-BE49-F238E27FC236}">
                  <a16:creationId xmlns:a16="http://schemas.microsoft.com/office/drawing/2014/main" id="{4CB6E309-C6BA-E314-73D5-7B23C07FA6A4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225" name="Group 13">
            <a:extLst>
              <a:ext uri="{FF2B5EF4-FFF2-40B4-BE49-F238E27FC236}">
                <a16:creationId xmlns:a16="http://schemas.microsoft.com/office/drawing/2014/main" id="{516DC389-6D3C-E168-DA64-BA7B5303CC28}"/>
              </a:ext>
            </a:extLst>
          </p:cNvPr>
          <p:cNvGrpSpPr/>
          <p:nvPr/>
        </p:nvGrpSpPr>
        <p:grpSpPr>
          <a:xfrm>
            <a:off x="1988820" y="-8746236"/>
            <a:ext cx="4526280" cy="685800"/>
            <a:chOff x="0" y="0"/>
            <a:chExt cx="6035040" cy="914400"/>
          </a:xfrm>
        </p:grpSpPr>
        <p:sp>
          <p:nvSpPr>
            <p:cNvPr id="226" name="Freeform 14">
              <a:extLst>
                <a:ext uri="{FF2B5EF4-FFF2-40B4-BE49-F238E27FC236}">
                  <a16:creationId xmlns:a16="http://schemas.microsoft.com/office/drawing/2014/main" id="{DA43B280-1DA4-F280-FA50-421595125407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227" name="TextBox 15">
              <a:extLst>
                <a:ext uri="{FF2B5EF4-FFF2-40B4-BE49-F238E27FC236}">
                  <a16:creationId xmlns:a16="http://schemas.microsoft.com/office/drawing/2014/main" id="{B61BAB31-4C19-B4A5-53A7-DD57707BE812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Speaks a skill</a:t>
              </a:r>
            </a:p>
          </p:txBody>
        </p:sp>
      </p:grpSp>
      <p:grpSp>
        <p:nvGrpSpPr>
          <p:cNvPr id="228" name="Group 16">
            <a:extLst>
              <a:ext uri="{FF2B5EF4-FFF2-40B4-BE49-F238E27FC236}">
                <a16:creationId xmlns:a16="http://schemas.microsoft.com/office/drawing/2014/main" id="{27253627-303F-F8AC-8B85-84B1DC9B8082}"/>
              </a:ext>
            </a:extLst>
          </p:cNvPr>
          <p:cNvGrpSpPr/>
          <p:nvPr/>
        </p:nvGrpSpPr>
        <p:grpSpPr>
          <a:xfrm>
            <a:off x="6720840" y="-8746236"/>
            <a:ext cx="10561320" cy="685800"/>
            <a:chOff x="0" y="0"/>
            <a:chExt cx="14081760" cy="914400"/>
          </a:xfrm>
        </p:grpSpPr>
        <p:sp>
          <p:nvSpPr>
            <p:cNvPr id="229" name="Freeform 17">
              <a:extLst>
                <a:ext uri="{FF2B5EF4-FFF2-40B4-BE49-F238E27FC236}">
                  <a16:creationId xmlns:a16="http://schemas.microsoft.com/office/drawing/2014/main" id="{7FCA5C7B-4C39-96FA-BA08-BD7E2BF29F80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230" name="TextBox 18">
              <a:extLst>
                <a:ext uri="{FF2B5EF4-FFF2-40B4-BE49-F238E27FC236}">
                  <a16:creationId xmlns:a16="http://schemas.microsoft.com/office/drawing/2014/main" id="{207178EA-C115-3935-D659-29F9E47DACD1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Pratik describes his work aloud, and AI extracts his skill tags.</a:t>
              </a:r>
            </a:p>
          </p:txBody>
        </p:sp>
      </p:grpSp>
      <p:grpSp>
        <p:nvGrpSpPr>
          <p:cNvPr id="231" name="Group 19">
            <a:extLst>
              <a:ext uri="{FF2B5EF4-FFF2-40B4-BE49-F238E27FC236}">
                <a16:creationId xmlns:a16="http://schemas.microsoft.com/office/drawing/2014/main" id="{8BCDBF3A-1180-AD1D-7F5A-DA5ABA798C34}"/>
              </a:ext>
            </a:extLst>
          </p:cNvPr>
          <p:cNvGrpSpPr/>
          <p:nvPr/>
        </p:nvGrpSpPr>
        <p:grpSpPr>
          <a:xfrm>
            <a:off x="960120" y="-7840980"/>
            <a:ext cx="685800" cy="685800"/>
            <a:chOff x="0" y="0"/>
            <a:chExt cx="914400" cy="914400"/>
          </a:xfrm>
        </p:grpSpPr>
        <p:sp>
          <p:nvSpPr>
            <p:cNvPr id="232" name="Freeform 20">
              <a:extLst>
                <a:ext uri="{FF2B5EF4-FFF2-40B4-BE49-F238E27FC236}">
                  <a16:creationId xmlns:a16="http://schemas.microsoft.com/office/drawing/2014/main" id="{A93B314F-E038-2489-434B-C84995E713BC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33" name="Group 21">
            <a:extLst>
              <a:ext uri="{FF2B5EF4-FFF2-40B4-BE49-F238E27FC236}">
                <a16:creationId xmlns:a16="http://schemas.microsoft.com/office/drawing/2014/main" id="{583DA52C-7F82-9355-492C-790404DFBB3B}"/>
              </a:ext>
            </a:extLst>
          </p:cNvPr>
          <p:cNvGrpSpPr/>
          <p:nvPr/>
        </p:nvGrpSpPr>
        <p:grpSpPr>
          <a:xfrm>
            <a:off x="960120" y="-7840980"/>
            <a:ext cx="685800" cy="685800"/>
            <a:chOff x="0" y="0"/>
            <a:chExt cx="914400" cy="914400"/>
          </a:xfrm>
        </p:grpSpPr>
        <p:sp>
          <p:nvSpPr>
            <p:cNvPr id="234" name="Freeform 22">
              <a:extLst>
                <a:ext uri="{FF2B5EF4-FFF2-40B4-BE49-F238E27FC236}">
                  <a16:creationId xmlns:a16="http://schemas.microsoft.com/office/drawing/2014/main" id="{983D2E05-E011-DAAC-D581-DB761211952E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35" name="TextBox 23">
              <a:extLst>
                <a:ext uri="{FF2B5EF4-FFF2-40B4-BE49-F238E27FC236}">
                  <a16:creationId xmlns:a16="http://schemas.microsoft.com/office/drawing/2014/main" id="{9717DD71-6C73-E765-60E4-46ED4F9CBF09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236" name="Group 24">
            <a:extLst>
              <a:ext uri="{FF2B5EF4-FFF2-40B4-BE49-F238E27FC236}">
                <a16:creationId xmlns:a16="http://schemas.microsoft.com/office/drawing/2014/main" id="{73BD4D6E-634D-59E5-66BB-9E2344377EB4}"/>
              </a:ext>
            </a:extLst>
          </p:cNvPr>
          <p:cNvGrpSpPr/>
          <p:nvPr/>
        </p:nvGrpSpPr>
        <p:grpSpPr>
          <a:xfrm>
            <a:off x="1988820" y="-7840980"/>
            <a:ext cx="4526280" cy="685800"/>
            <a:chOff x="0" y="0"/>
            <a:chExt cx="6035040" cy="914400"/>
          </a:xfrm>
        </p:grpSpPr>
        <p:sp>
          <p:nvSpPr>
            <p:cNvPr id="237" name="Freeform 25">
              <a:extLst>
                <a:ext uri="{FF2B5EF4-FFF2-40B4-BE49-F238E27FC236}">
                  <a16:creationId xmlns:a16="http://schemas.microsoft.com/office/drawing/2014/main" id="{62D525FC-BEA9-53C3-1549-20894747AF0E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238" name="TextBox 26">
              <a:extLst>
                <a:ext uri="{FF2B5EF4-FFF2-40B4-BE49-F238E27FC236}">
                  <a16:creationId xmlns:a16="http://schemas.microsoft.com/office/drawing/2014/main" id="{C73A8B73-7527-FA6A-2B99-4CD061708A09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Gets verified</a:t>
              </a:r>
            </a:p>
          </p:txBody>
        </p:sp>
      </p:grpSp>
      <p:grpSp>
        <p:nvGrpSpPr>
          <p:cNvPr id="239" name="Group 27">
            <a:extLst>
              <a:ext uri="{FF2B5EF4-FFF2-40B4-BE49-F238E27FC236}">
                <a16:creationId xmlns:a16="http://schemas.microsoft.com/office/drawing/2014/main" id="{B717CE83-5E8B-65A5-9B7C-412E4CD03DAE}"/>
              </a:ext>
            </a:extLst>
          </p:cNvPr>
          <p:cNvGrpSpPr/>
          <p:nvPr/>
        </p:nvGrpSpPr>
        <p:grpSpPr>
          <a:xfrm>
            <a:off x="6720840" y="-7840980"/>
            <a:ext cx="10561320" cy="685800"/>
            <a:chOff x="0" y="0"/>
            <a:chExt cx="14081760" cy="914400"/>
          </a:xfrm>
        </p:grpSpPr>
        <p:sp>
          <p:nvSpPr>
            <p:cNvPr id="240" name="Freeform 28">
              <a:extLst>
                <a:ext uri="{FF2B5EF4-FFF2-40B4-BE49-F238E27FC236}">
                  <a16:creationId xmlns:a16="http://schemas.microsoft.com/office/drawing/2014/main" id="{7F59DD41-7336-FB97-1B24-02E4F29010AE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241" name="TextBox 29">
              <a:extLst>
                <a:ext uri="{FF2B5EF4-FFF2-40B4-BE49-F238E27FC236}">
                  <a16:creationId xmlns:a16="http://schemas.microsoft.com/office/drawing/2014/main" id="{91CE307E-D298-FA08-4A4E-FA0481BFADEA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 one-question AI task runs and his trust score appears.</a:t>
              </a:r>
            </a:p>
          </p:txBody>
        </p:sp>
      </p:grpSp>
      <p:grpSp>
        <p:nvGrpSpPr>
          <p:cNvPr id="242" name="Group 30">
            <a:extLst>
              <a:ext uri="{FF2B5EF4-FFF2-40B4-BE49-F238E27FC236}">
                <a16:creationId xmlns:a16="http://schemas.microsoft.com/office/drawing/2014/main" id="{FDED918E-6871-413A-EA99-7E14CB46B3D0}"/>
              </a:ext>
            </a:extLst>
          </p:cNvPr>
          <p:cNvGrpSpPr/>
          <p:nvPr/>
        </p:nvGrpSpPr>
        <p:grpSpPr>
          <a:xfrm>
            <a:off x="960120" y="-6935724"/>
            <a:ext cx="685800" cy="685800"/>
            <a:chOff x="0" y="0"/>
            <a:chExt cx="914400" cy="914400"/>
          </a:xfrm>
        </p:grpSpPr>
        <p:sp>
          <p:nvSpPr>
            <p:cNvPr id="243" name="Freeform 31">
              <a:extLst>
                <a:ext uri="{FF2B5EF4-FFF2-40B4-BE49-F238E27FC236}">
                  <a16:creationId xmlns:a16="http://schemas.microsoft.com/office/drawing/2014/main" id="{E8FB3518-E76F-2F78-CC88-0D195D4E3D83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44" name="Group 32">
            <a:extLst>
              <a:ext uri="{FF2B5EF4-FFF2-40B4-BE49-F238E27FC236}">
                <a16:creationId xmlns:a16="http://schemas.microsoft.com/office/drawing/2014/main" id="{2AF62ABC-C378-33FF-8ACD-693BEC373A4D}"/>
              </a:ext>
            </a:extLst>
          </p:cNvPr>
          <p:cNvGrpSpPr/>
          <p:nvPr/>
        </p:nvGrpSpPr>
        <p:grpSpPr>
          <a:xfrm>
            <a:off x="960120" y="-6935724"/>
            <a:ext cx="685800" cy="685800"/>
            <a:chOff x="0" y="0"/>
            <a:chExt cx="914400" cy="914400"/>
          </a:xfrm>
        </p:grpSpPr>
        <p:sp>
          <p:nvSpPr>
            <p:cNvPr id="245" name="Freeform 33">
              <a:extLst>
                <a:ext uri="{FF2B5EF4-FFF2-40B4-BE49-F238E27FC236}">
                  <a16:creationId xmlns:a16="http://schemas.microsoft.com/office/drawing/2014/main" id="{FD5705CC-1843-2100-35DB-8F5B6F91D607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46" name="TextBox 34">
              <a:extLst>
                <a:ext uri="{FF2B5EF4-FFF2-40B4-BE49-F238E27FC236}">
                  <a16:creationId xmlns:a16="http://schemas.microsoft.com/office/drawing/2014/main" id="{56AD5D2E-B37A-FA75-A189-50315FE48D80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247" name="Group 35">
            <a:extLst>
              <a:ext uri="{FF2B5EF4-FFF2-40B4-BE49-F238E27FC236}">
                <a16:creationId xmlns:a16="http://schemas.microsoft.com/office/drawing/2014/main" id="{8128155D-67FD-C826-EA65-4281F3A44F86}"/>
              </a:ext>
            </a:extLst>
          </p:cNvPr>
          <p:cNvGrpSpPr/>
          <p:nvPr/>
        </p:nvGrpSpPr>
        <p:grpSpPr>
          <a:xfrm>
            <a:off x="1988820" y="-6935724"/>
            <a:ext cx="4526280" cy="685800"/>
            <a:chOff x="0" y="0"/>
            <a:chExt cx="6035040" cy="914400"/>
          </a:xfrm>
        </p:grpSpPr>
        <p:sp>
          <p:nvSpPr>
            <p:cNvPr id="248" name="Freeform 36">
              <a:extLst>
                <a:ext uri="{FF2B5EF4-FFF2-40B4-BE49-F238E27FC236}">
                  <a16:creationId xmlns:a16="http://schemas.microsoft.com/office/drawing/2014/main" id="{F0E44B45-D24E-86DD-05CA-A481F5BAAFA3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249" name="TextBox 37">
              <a:extLst>
                <a:ext uri="{FF2B5EF4-FFF2-40B4-BE49-F238E27FC236}">
                  <a16:creationId xmlns:a16="http://schemas.microsoft.com/office/drawing/2014/main" id="{DDBFDF19-B635-48D1-CC33-DD7F5390CB09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Gets his CV</a:t>
              </a:r>
            </a:p>
          </p:txBody>
        </p:sp>
      </p:grpSp>
      <p:grpSp>
        <p:nvGrpSpPr>
          <p:cNvPr id="250" name="Group 38">
            <a:extLst>
              <a:ext uri="{FF2B5EF4-FFF2-40B4-BE49-F238E27FC236}">
                <a16:creationId xmlns:a16="http://schemas.microsoft.com/office/drawing/2014/main" id="{29519CD3-FCA9-C2D6-3A0F-A511A0A4F40C}"/>
              </a:ext>
            </a:extLst>
          </p:cNvPr>
          <p:cNvGrpSpPr/>
          <p:nvPr/>
        </p:nvGrpSpPr>
        <p:grpSpPr>
          <a:xfrm>
            <a:off x="6720840" y="-6935724"/>
            <a:ext cx="10561320" cy="685800"/>
            <a:chOff x="0" y="0"/>
            <a:chExt cx="14081760" cy="914400"/>
          </a:xfrm>
        </p:grpSpPr>
        <p:sp>
          <p:nvSpPr>
            <p:cNvPr id="251" name="Freeform 39">
              <a:extLst>
                <a:ext uri="{FF2B5EF4-FFF2-40B4-BE49-F238E27FC236}">
                  <a16:creationId xmlns:a16="http://schemas.microsoft.com/office/drawing/2014/main" id="{731F2FE2-9494-958B-E758-F6325C19FCBF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252" name="TextBox 40">
              <a:extLst>
                <a:ext uri="{FF2B5EF4-FFF2-40B4-BE49-F238E27FC236}">
                  <a16:creationId xmlns:a16="http://schemas.microsoft.com/office/drawing/2014/main" id="{9896919D-B3B5-C7E4-7F8C-9E3BE750679A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 professional CV is generated from what he said and proved.</a:t>
              </a:r>
            </a:p>
          </p:txBody>
        </p:sp>
      </p:grpSp>
      <p:grpSp>
        <p:nvGrpSpPr>
          <p:cNvPr id="253" name="Group 41">
            <a:extLst>
              <a:ext uri="{FF2B5EF4-FFF2-40B4-BE49-F238E27FC236}">
                <a16:creationId xmlns:a16="http://schemas.microsoft.com/office/drawing/2014/main" id="{17069A9B-E3AE-EE11-FB85-930EBE317F3F}"/>
              </a:ext>
            </a:extLst>
          </p:cNvPr>
          <p:cNvGrpSpPr/>
          <p:nvPr/>
        </p:nvGrpSpPr>
        <p:grpSpPr>
          <a:xfrm>
            <a:off x="960120" y="-6030468"/>
            <a:ext cx="685800" cy="685800"/>
            <a:chOff x="0" y="0"/>
            <a:chExt cx="914400" cy="914400"/>
          </a:xfrm>
        </p:grpSpPr>
        <p:sp>
          <p:nvSpPr>
            <p:cNvPr id="254" name="Freeform 42">
              <a:extLst>
                <a:ext uri="{FF2B5EF4-FFF2-40B4-BE49-F238E27FC236}">
                  <a16:creationId xmlns:a16="http://schemas.microsoft.com/office/drawing/2014/main" id="{6F8D2E6B-6000-EBD8-ED5C-0DC914AE0ECB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55" name="Group 43">
            <a:extLst>
              <a:ext uri="{FF2B5EF4-FFF2-40B4-BE49-F238E27FC236}">
                <a16:creationId xmlns:a16="http://schemas.microsoft.com/office/drawing/2014/main" id="{8822F3ED-C338-05A6-9BA2-02CA4571A09D}"/>
              </a:ext>
            </a:extLst>
          </p:cNvPr>
          <p:cNvGrpSpPr/>
          <p:nvPr/>
        </p:nvGrpSpPr>
        <p:grpSpPr>
          <a:xfrm>
            <a:off x="960120" y="-6030468"/>
            <a:ext cx="685800" cy="685800"/>
            <a:chOff x="0" y="0"/>
            <a:chExt cx="914400" cy="914400"/>
          </a:xfrm>
        </p:grpSpPr>
        <p:sp>
          <p:nvSpPr>
            <p:cNvPr id="256" name="Freeform 44">
              <a:extLst>
                <a:ext uri="{FF2B5EF4-FFF2-40B4-BE49-F238E27FC236}">
                  <a16:creationId xmlns:a16="http://schemas.microsoft.com/office/drawing/2014/main" id="{9660E32F-8279-DA4C-A65D-55FA4E30B767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57" name="TextBox 45">
              <a:extLst>
                <a:ext uri="{FF2B5EF4-FFF2-40B4-BE49-F238E27FC236}">
                  <a16:creationId xmlns:a16="http://schemas.microsoft.com/office/drawing/2014/main" id="{55652564-501D-695F-514D-2FCD635E6B36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258" name="Group 46">
            <a:extLst>
              <a:ext uri="{FF2B5EF4-FFF2-40B4-BE49-F238E27FC236}">
                <a16:creationId xmlns:a16="http://schemas.microsoft.com/office/drawing/2014/main" id="{B72FC474-F173-385B-0E4F-A33A5744A378}"/>
              </a:ext>
            </a:extLst>
          </p:cNvPr>
          <p:cNvGrpSpPr/>
          <p:nvPr/>
        </p:nvGrpSpPr>
        <p:grpSpPr>
          <a:xfrm>
            <a:off x="1988820" y="-6030468"/>
            <a:ext cx="4526280" cy="685800"/>
            <a:chOff x="0" y="0"/>
            <a:chExt cx="6035040" cy="914400"/>
          </a:xfrm>
        </p:grpSpPr>
        <p:sp>
          <p:nvSpPr>
            <p:cNvPr id="259" name="Freeform 47">
              <a:extLst>
                <a:ext uri="{FF2B5EF4-FFF2-40B4-BE49-F238E27FC236}">
                  <a16:creationId xmlns:a16="http://schemas.microsoft.com/office/drawing/2014/main" id="{D50D61C4-F368-B4C5-599F-61A427A54A39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260" name="TextBox 48">
              <a:extLst>
                <a:ext uri="{FF2B5EF4-FFF2-40B4-BE49-F238E27FC236}">
                  <a16:creationId xmlns:a16="http://schemas.microsoft.com/office/drawing/2014/main" id="{6F8D5291-F408-DC16-A8D3-C6B44DC288DF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Sees his gap</a:t>
              </a:r>
            </a:p>
          </p:txBody>
        </p:sp>
      </p:grpSp>
      <p:grpSp>
        <p:nvGrpSpPr>
          <p:cNvPr id="261" name="Group 49">
            <a:extLst>
              <a:ext uri="{FF2B5EF4-FFF2-40B4-BE49-F238E27FC236}">
                <a16:creationId xmlns:a16="http://schemas.microsoft.com/office/drawing/2014/main" id="{153CCF50-0EA4-13BC-6CE2-A49F1A1BDCE4}"/>
              </a:ext>
            </a:extLst>
          </p:cNvPr>
          <p:cNvGrpSpPr/>
          <p:nvPr/>
        </p:nvGrpSpPr>
        <p:grpSpPr>
          <a:xfrm>
            <a:off x="6720840" y="-6030468"/>
            <a:ext cx="10561320" cy="685800"/>
            <a:chOff x="0" y="0"/>
            <a:chExt cx="14081760" cy="914400"/>
          </a:xfrm>
        </p:grpSpPr>
        <p:sp>
          <p:nvSpPr>
            <p:cNvPr id="262" name="Freeform 50">
              <a:extLst>
                <a:ext uri="{FF2B5EF4-FFF2-40B4-BE49-F238E27FC236}">
                  <a16:creationId xmlns:a16="http://schemas.microsoft.com/office/drawing/2014/main" id="{82953B89-3725-974B-B906-792E0C4CC4E0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263" name="TextBox 51">
              <a:extLst>
                <a:ext uri="{FF2B5EF4-FFF2-40B4-BE49-F238E27FC236}">
                  <a16:creationId xmlns:a16="http://schemas.microsoft.com/office/drawing/2014/main" id="{88AC901B-B107-84A2-CB0E-6163ADD77B3A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AI shows the one missing skill and the first short lesson.</a:t>
              </a:r>
            </a:p>
          </p:txBody>
        </p:sp>
      </p:grpSp>
      <p:grpSp>
        <p:nvGrpSpPr>
          <p:cNvPr id="264" name="Group 52">
            <a:extLst>
              <a:ext uri="{FF2B5EF4-FFF2-40B4-BE49-F238E27FC236}">
                <a16:creationId xmlns:a16="http://schemas.microsoft.com/office/drawing/2014/main" id="{8B7DE595-64A4-8638-1A6C-B1442E55CA96}"/>
              </a:ext>
            </a:extLst>
          </p:cNvPr>
          <p:cNvGrpSpPr/>
          <p:nvPr/>
        </p:nvGrpSpPr>
        <p:grpSpPr>
          <a:xfrm>
            <a:off x="960120" y="-5125212"/>
            <a:ext cx="685800" cy="685800"/>
            <a:chOff x="0" y="0"/>
            <a:chExt cx="914400" cy="914400"/>
          </a:xfrm>
        </p:grpSpPr>
        <p:sp>
          <p:nvSpPr>
            <p:cNvPr id="265" name="Freeform 53">
              <a:extLst>
                <a:ext uri="{FF2B5EF4-FFF2-40B4-BE49-F238E27FC236}">
                  <a16:creationId xmlns:a16="http://schemas.microsoft.com/office/drawing/2014/main" id="{6AABC2A5-52AC-852F-E1E4-D5FFA0D2FDE6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66" name="Group 54">
            <a:extLst>
              <a:ext uri="{FF2B5EF4-FFF2-40B4-BE49-F238E27FC236}">
                <a16:creationId xmlns:a16="http://schemas.microsoft.com/office/drawing/2014/main" id="{8F336772-2F6B-A73F-5563-7FA2EC034ED4}"/>
              </a:ext>
            </a:extLst>
          </p:cNvPr>
          <p:cNvGrpSpPr/>
          <p:nvPr/>
        </p:nvGrpSpPr>
        <p:grpSpPr>
          <a:xfrm>
            <a:off x="960120" y="-5125212"/>
            <a:ext cx="685800" cy="685800"/>
            <a:chOff x="0" y="0"/>
            <a:chExt cx="914400" cy="914400"/>
          </a:xfrm>
        </p:grpSpPr>
        <p:sp>
          <p:nvSpPr>
            <p:cNvPr id="267" name="Freeform 55">
              <a:extLst>
                <a:ext uri="{FF2B5EF4-FFF2-40B4-BE49-F238E27FC236}">
                  <a16:creationId xmlns:a16="http://schemas.microsoft.com/office/drawing/2014/main" id="{226C90CC-BFD2-310A-7C49-1EFF422F9458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8" name="TextBox 56">
              <a:extLst>
                <a:ext uri="{FF2B5EF4-FFF2-40B4-BE49-F238E27FC236}">
                  <a16:creationId xmlns:a16="http://schemas.microsoft.com/office/drawing/2014/main" id="{AEDC4BEE-8EB8-2CD4-F3E9-94014CC4AA74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FD177455-5746-368B-E6BC-9C863C669F93}"/>
              </a:ext>
            </a:extLst>
          </p:cNvPr>
          <p:cNvGrpSpPr/>
          <p:nvPr/>
        </p:nvGrpSpPr>
        <p:grpSpPr>
          <a:xfrm>
            <a:off x="1988820" y="-5125212"/>
            <a:ext cx="4526280" cy="685800"/>
            <a:chOff x="0" y="0"/>
            <a:chExt cx="6035040" cy="914400"/>
          </a:xfrm>
        </p:grpSpPr>
        <p:sp>
          <p:nvSpPr>
            <p:cNvPr id="270" name="Freeform 58">
              <a:extLst>
                <a:ext uri="{FF2B5EF4-FFF2-40B4-BE49-F238E27FC236}">
                  <a16:creationId xmlns:a16="http://schemas.microsoft.com/office/drawing/2014/main" id="{D20906BF-449D-27A9-428A-2EDA53EAB086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271" name="TextBox 59">
              <a:extLst>
                <a:ext uri="{FF2B5EF4-FFF2-40B4-BE49-F238E27FC236}">
                  <a16:creationId xmlns:a16="http://schemas.microsoft.com/office/drawing/2014/main" id="{B4BF542E-5462-6C45-CAB4-525370C0FCC3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Checks exam eligibility</a:t>
              </a:r>
            </a:p>
          </p:txBody>
        </p:sp>
      </p:grpSp>
      <p:grpSp>
        <p:nvGrpSpPr>
          <p:cNvPr id="272" name="Group 60">
            <a:extLst>
              <a:ext uri="{FF2B5EF4-FFF2-40B4-BE49-F238E27FC236}">
                <a16:creationId xmlns:a16="http://schemas.microsoft.com/office/drawing/2014/main" id="{4BB5F8B3-7B45-AC9D-EFAA-8DF95D98B750}"/>
              </a:ext>
            </a:extLst>
          </p:cNvPr>
          <p:cNvGrpSpPr/>
          <p:nvPr/>
        </p:nvGrpSpPr>
        <p:grpSpPr>
          <a:xfrm>
            <a:off x="6720840" y="-5125212"/>
            <a:ext cx="10561320" cy="685800"/>
            <a:chOff x="0" y="0"/>
            <a:chExt cx="14081760" cy="914400"/>
          </a:xfrm>
        </p:grpSpPr>
        <p:sp>
          <p:nvSpPr>
            <p:cNvPr id="273" name="Freeform 61">
              <a:extLst>
                <a:ext uri="{FF2B5EF4-FFF2-40B4-BE49-F238E27FC236}">
                  <a16:creationId xmlns:a16="http://schemas.microsoft.com/office/drawing/2014/main" id="{DBD1ED91-0F7D-5697-E68F-10F390939D9B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274" name="TextBox 62">
              <a:extLst>
                <a:ext uri="{FF2B5EF4-FFF2-40B4-BE49-F238E27FC236}">
                  <a16:creationId xmlns:a16="http://schemas.microsoft.com/office/drawing/2014/main" id="{923A5C2C-33E3-7E53-97A3-79C6BF1F45D4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He enters qualification, age and category, and sees only the exams he can sit.</a:t>
              </a:r>
            </a:p>
          </p:txBody>
        </p:sp>
      </p:grpSp>
      <p:grpSp>
        <p:nvGrpSpPr>
          <p:cNvPr id="275" name="Group 63">
            <a:extLst>
              <a:ext uri="{FF2B5EF4-FFF2-40B4-BE49-F238E27FC236}">
                <a16:creationId xmlns:a16="http://schemas.microsoft.com/office/drawing/2014/main" id="{AB17B92C-FA24-068B-A60F-88F0B5B13D34}"/>
              </a:ext>
            </a:extLst>
          </p:cNvPr>
          <p:cNvGrpSpPr/>
          <p:nvPr/>
        </p:nvGrpSpPr>
        <p:grpSpPr>
          <a:xfrm>
            <a:off x="960120" y="-4219956"/>
            <a:ext cx="685800" cy="685800"/>
            <a:chOff x="0" y="0"/>
            <a:chExt cx="914400" cy="914400"/>
          </a:xfrm>
        </p:grpSpPr>
        <p:sp>
          <p:nvSpPr>
            <p:cNvPr id="276" name="Freeform 64">
              <a:extLst>
                <a:ext uri="{FF2B5EF4-FFF2-40B4-BE49-F238E27FC236}">
                  <a16:creationId xmlns:a16="http://schemas.microsoft.com/office/drawing/2014/main" id="{F32C3C6F-5404-7C28-EF18-9441AF18A6F7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77" name="Group 65">
            <a:extLst>
              <a:ext uri="{FF2B5EF4-FFF2-40B4-BE49-F238E27FC236}">
                <a16:creationId xmlns:a16="http://schemas.microsoft.com/office/drawing/2014/main" id="{B5DC60AA-56A8-F59C-33AA-EA94B969D277}"/>
              </a:ext>
            </a:extLst>
          </p:cNvPr>
          <p:cNvGrpSpPr/>
          <p:nvPr/>
        </p:nvGrpSpPr>
        <p:grpSpPr>
          <a:xfrm>
            <a:off x="960120" y="-4219956"/>
            <a:ext cx="685800" cy="685800"/>
            <a:chOff x="0" y="0"/>
            <a:chExt cx="914400" cy="914400"/>
          </a:xfrm>
        </p:grpSpPr>
        <p:sp>
          <p:nvSpPr>
            <p:cNvPr id="278" name="Freeform 66">
              <a:extLst>
                <a:ext uri="{FF2B5EF4-FFF2-40B4-BE49-F238E27FC236}">
                  <a16:creationId xmlns:a16="http://schemas.microsoft.com/office/drawing/2014/main" id="{0B62ADA7-B4A7-B399-445A-5E96666FA9A8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79" name="TextBox 67">
              <a:extLst>
                <a:ext uri="{FF2B5EF4-FFF2-40B4-BE49-F238E27FC236}">
                  <a16:creationId xmlns:a16="http://schemas.microsoft.com/office/drawing/2014/main" id="{40DADE23-865E-6544-DFC7-51B67C8E5063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</a:t>
              </a:r>
            </a:p>
          </p:txBody>
        </p:sp>
      </p:grpSp>
      <p:grpSp>
        <p:nvGrpSpPr>
          <p:cNvPr id="280" name="Group 68">
            <a:extLst>
              <a:ext uri="{FF2B5EF4-FFF2-40B4-BE49-F238E27FC236}">
                <a16:creationId xmlns:a16="http://schemas.microsoft.com/office/drawing/2014/main" id="{140C24F0-F133-0E7E-7971-9BCCD96D8E3F}"/>
              </a:ext>
            </a:extLst>
          </p:cNvPr>
          <p:cNvGrpSpPr/>
          <p:nvPr/>
        </p:nvGrpSpPr>
        <p:grpSpPr>
          <a:xfrm>
            <a:off x="1988820" y="-4219956"/>
            <a:ext cx="4526280" cy="685800"/>
            <a:chOff x="0" y="0"/>
            <a:chExt cx="6035040" cy="914400"/>
          </a:xfrm>
        </p:grpSpPr>
        <p:sp>
          <p:nvSpPr>
            <p:cNvPr id="281" name="Freeform 69">
              <a:extLst>
                <a:ext uri="{FF2B5EF4-FFF2-40B4-BE49-F238E27FC236}">
                  <a16:creationId xmlns:a16="http://schemas.microsoft.com/office/drawing/2014/main" id="{59AA3860-2FAC-6281-CAD1-8EE035166CF3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282" name="TextBox 70">
              <a:extLst>
                <a:ext uri="{FF2B5EF4-FFF2-40B4-BE49-F238E27FC236}">
                  <a16:creationId xmlns:a16="http://schemas.microsoft.com/office/drawing/2014/main" id="{0652DB57-2060-6E97-DE10-C410766201CA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Gets the plan</a:t>
              </a:r>
            </a:p>
          </p:txBody>
        </p:sp>
      </p:grpSp>
      <p:grpSp>
        <p:nvGrpSpPr>
          <p:cNvPr id="283" name="Group 71">
            <a:extLst>
              <a:ext uri="{FF2B5EF4-FFF2-40B4-BE49-F238E27FC236}">
                <a16:creationId xmlns:a16="http://schemas.microsoft.com/office/drawing/2014/main" id="{F6989E7F-A5B4-D466-D558-C680440C1F71}"/>
              </a:ext>
            </a:extLst>
          </p:cNvPr>
          <p:cNvGrpSpPr/>
          <p:nvPr/>
        </p:nvGrpSpPr>
        <p:grpSpPr>
          <a:xfrm>
            <a:off x="6720840" y="-4219956"/>
            <a:ext cx="10561320" cy="685800"/>
            <a:chOff x="0" y="0"/>
            <a:chExt cx="14081760" cy="914400"/>
          </a:xfrm>
        </p:grpSpPr>
        <p:sp>
          <p:nvSpPr>
            <p:cNvPr id="284" name="Freeform 72">
              <a:extLst>
                <a:ext uri="{FF2B5EF4-FFF2-40B4-BE49-F238E27FC236}">
                  <a16:creationId xmlns:a16="http://schemas.microsoft.com/office/drawing/2014/main" id="{F715E58A-DE3E-DD23-5D08-4BC69B4B1F54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285" name="TextBox 73">
              <a:extLst>
                <a:ext uri="{FF2B5EF4-FFF2-40B4-BE49-F238E27FC236}">
                  <a16:creationId xmlns:a16="http://schemas.microsoft.com/office/drawing/2014/main" id="{9CCE54DB-4CF6-0CA6-4123-9A0EF381C161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 study timeline and an application checklist appear for one exam.</a:t>
              </a:r>
            </a:p>
          </p:txBody>
        </p:sp>
      </p:grpSp>
      <p:grpSp>
        <p:nvGrpSpPr>
          <p:cNvPr id="286" name="Group 74">
            <a:extLst>
              <a:ext uri="{FF2B5EF4-FFF2-40B4-BE49-F238E27FC236}">
                <a16:creationId xmlns:a16="http://schemas.microsoft.com/office/drawing/2014/main" id="{1276AC13-5ED4-7AFA-4F2C-ECD07892397F}"/>
              </a:ext>
            </a:extLst>
          </p:cNvPr>
          <p:cNvGrpSpPr/>
          <p:nvPr/>
        </p:nvGrpSpPr>
        <p:grpSpPr>
          <a:xfrm>
            <a:off x="960120" y="-3314700"/>
            <a:ext cx="685800" cy="685800"/>
            <a:chOff x="0" y="0"/>
            <a:chExt cx="914400" cy="914400"/>
          </a:xfrm>
        </p:grpSpPr>
        <p:sp>
          <p:nvSpPr>
            <p:cNvPr id="287" name="Freeform 75">
              <a:extLst>
                <a:ext uri="{FF2B5EF4-FFF2-40B4-BE49-F238E27FC236}">
                  <a16:creationId xmlns:a16="http://schemas.microsoft.com/office/drawing/2014/main" id="{9FC08121-DCC7-D7E6-E62B-1618505B3230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8096" y="0"/>
                  </a:lnTo>
                  <a:cubicBezTo>
                    <a:pt x="848868" y="0"/>
                    <a:pt x="914400" y="65532"/>
                    <a:pt x="914400" y="146304"/>
                  </a:cubicBezTo>
                  <a:lnTo>
                    <a:pt x="914400" y="768096"/>
                  </a:lnTo>
                  <a:cubicBezTo>
                    <a:pt x="914400" y="848868"/>
                    <a:pt x="848868" y="914400"/>
                    <a:pt x="76809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88" name="Group 76">
            <a:extLst>
              <a:ext uri="{FF2B5EF4-FFF2-40B4-BE49-F238E27FC236}">
                <a16:creationId xmlns:a16="http://schemas.microsoft.com/office/drawing/2014/main" id="{94FD2A95-3146-D5AC-A298-9A689E3AFEF7}"/>
              </a:ext>
            </a:extLst>
          </p:cNvPr>
          <p:cNvGrpSpPr/>
          <p:nvPr/>
        </p:nvGrpSpPr>
        <p:grpSpPr>
          <a:xfrm>
            <a:off x="960120" y="-3314700"/>
            <a:ext cx="685800" cy="685800"/>
            <a:chOff x="0" y="0"/>
            <a:chExt cx="914400" cy="914400"/>
          </a:xfrm>
        </p:grpSpPr>
        <p:sp>
          <p:nvSpPr>
            <p:cNvPr id="289" name="Freeform 77">
              <a:extLst>
                <a:ext uri="{FF2B5EF4-FFF2-40B4-BE49-F238E27FC236}">
                  <a16:creationId xmlns:a16="http://schemas.microsoft.com/office/drawing/2014/main" id="{FC5F05E6-70F1-01F0-B1E8-84FB745769F9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90" name="TextBox 78">
              <a:extLst>
                <a:ext uri="{FF2B5EF4-FFF2-40B4-BE49-F238E27FC236}">
                  <a16:creationId xmlns:a16="http://schemas.microsoft.com/office/drawing/2014/main" id="{31A9F777-9733-BA75-4FAE-13D9206EAACA}"/>
                </a:ext>
              </a:extLst>
            </p:cNvPr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7</a:t>
              </a:r>
            </a:p>
          </p:txBody>
        </p:sp>
      </p:grpSp>
      <p:grpSp>
        <p:nvGrpSpPr>
          <p:cNvPr id="291" name="Group 79">
            <a:extLst>
              <a:ext uri="{FF2B5EF4-FFF2-40B4-BE49-F238E27FC236}">
                <a16:creationId xmlns:a16="http://schemas.microsoft.com/office/drawing/2014/main" id="{913A81C0-DB12-208A-E7AB-C82E3E8C5694}"/>
              </a:ext>
            </a:extLst>
          </p:cNvPr>
          <p:cNvGrpSpPr/>
          <p:nvPr/>
        </p:nvGrpSpPr>
        <p:grpSpPr>
          <a:xfrm>
            <a:off x="1988820" y="-3314700"/>
            <a:ext cx="4526280" cy="685800"/>
            <a:chOff x="0" y="0"/>
            <a:chExt cx="6035040" cy="914400"/>
          </a:xfrm>
        </p:grpSpPr>
        <p:sp>
          <p:nvSpPr>
            <p:cNvPr id="292" name="Freeform 80">
              <a:extLst>
                <a:ext uri="{FF2B5EF4-FFF2-40B4-BE49-F238E27FC236}">
                  <a16:creationId xmlns:a16="http://schemas.microsoft.com/office/drawing/2014/main" id="{C4FB4B1C-DD7A-604B-A566-1EBBB253B6F0}"/>
                </a:ext>
              </a:extLst>
            </p:cNvPr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293" name="TextBox 81">
              <a:extLst>
                <a:ext uri="{FF2B5EF4-FFF2-40B4-BE49-F238E27FC236}">
                  <a16:creationId xmlns:a16="http://schemas.microsoft.com/office/drawing/2014/main" id="{8AC97718-06B9-8999-DE83-EDF8252AAA8F}"/>
                </a:ext>
              </a:extLst>
            </p:cNvPr>
            <p:cNvSpPr txBox="1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Meets peers</a:t>
              </a:r>
            </a:p>
          </p:txBody>
        </p:sp>
      </p:grpSp>
      <p:grpSp>
        <p:nvGrpSpPr>
          <p:cNvPr id="294" name="Group 82">
            <a:extLst>
              <a:ext uri="{FF2B5EF4-FFF2-40B4-BE49-F238E27FC236}">
                <a16:creationId xmlns:a16="http://schemas.microsoft.com/office/drawing/2014/main" id="{DED96712-DC6A-067C-25A1-0146678F13C6}"/>
              </a:ext>
            </a:extLst>
          </p:cNvPr>
          <p:cNvGrpSpPr/>
          <p:nvPr/>
        </p:nvGrpSpPr>
        <p:grpSpPr>
          <a:xfrm>
            <a:off x="6720840" y="-3314700"/>
            <a:ext cx="10561320" cy="685800"/>
            <a:chOff x="0" y="0"/>
            <a:chExt cx="14081760" cy="914400"/>
          </a:xfrm>
        </p:grpSpPr>
        <p:sp>
          <p:nvSpPr>
            <p:cNvPr id="295" name="Freeform 83">
              <a:extLst>
                <a:ext uri="{FF2B5EF4-FFF2-40B4-BE49-F238E27FC236}">
                  <a16:creationId xmlns:a16="http://schemas.microsoft.com/office/drawing/2014/main" id="{5B2E173F-6492-C495-A6B9-997CD3F63BBB}"/>
                </a:ext>
              </a:extLst>
            </p:cNvPr>
            <p:cNvSpPr/>
            <p:nvPr/>
          </p:nvSpPr>
          <p:spPr>
            <a:xfrm>
              <a:off x="0" y="0"/>
              <a:ext cx="14081761" cy="914400"/>
            </a:xfrm>
            <a:custGeom>
              <a:avLst/>
              <a:gdLst/>
              <a:ahLst/>
              <a:cxnLst/>
              <a:rect l="l" t="t" r="r" b="b"/>
              <a:pathLst>
                <a:path w="14081761" h="914400">
                  <a:moveTo>
                    <a:pt x="0" y="0"/>
                  </a:moveTo>
                  <a:lnTo>
                    <a:pt x="14081761" y="0"/>
                  </a:lnTo>
                  <a:lnTo>
                    <a:pt x="14081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069" b="-250069"/>
              </a:stretch>
            </a:blipFill>
          </p:spPr>
        </p:sp>
        <p:sp>
          <p:nvSpPr>
            <p:cNvPr id="296" name="TextBox 84">
              <a:extLst>
                <a:ext uri="{FF2B5EF4-FFF2-40B4-BE49-F238E27FC236}">
                  <a16:creationId xmlns:a16="http://schemas.microsoft.com/office/drawing/2014/main" id="{280FAE69-00B9-CE4D-E240-EDA33DC47513}"/>
                </a:ext>
              </a:extLst>
            </p:cNvPr>
            <p:cNvSpPr txBox="1"/>
            <p:nvPr/>
          </p:nvSpPr>
          <p:spPr>
            <a:xfrm>
              <a:off x="0" y="0"/>
              <a:ext cx="14081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He joins a study group and is matched with a mentor who cleared the exam.</a:t>
              </a:r>
            </a:p>
          </p:txBody>
        </p:sp>
      </p:grpSp>
      <p:grpSp>
        <p:nvGrpSpPr>
          <p:cNvPr id="297" name="Group 85">
            <a:extLst>
              <a:ext uri="{FF2B5EF4-FFF2-40B4-BE49-F238E27FC236}">
                <a16:creationId xmlns:a16="http://schemas.microsoft.com/office/drawing/2014/main" id="{BAE5692C-43B0-E45E-D5F9-321DE91BB277}"/>
              </a:ext>
            </a:extLst>
          </p:cNvPr>
          <p:cNvGrpSpPr/>
          <p:nvPr/>
        </p:nvGrpSpPr>
        <p:grpSpPr>
          <a:xfrm>
            <a:off x="17213580" y="-1682496"/>
            <a:ext cx="822960" cy="411480"/>
            <a:chOff x="0" y="0"/>
            <a:chExt cx="1097280" cy="548640"/>
          </a:xfrm>
        </p:grpSpPr>
        <p:sp>
          <p:nvSpPr>
            <p:cNvPr id="298" name="Freeform 86">
              <a:extLst>
                <a:ext uri="{FF2B5EF4-FFF2-40B4-BE49-F238E27FC236}">
                  <a16:creationId xmlns:a16="http://schemas.microsoft.com/office/drawing/2014/main" id="{D1BF1CE6-D13E-F3AA-5890-36D006BBA81D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99" name="TextBox 87">
              <a:extLst>
                <a:ext uri="{FF2B5EF4-FFF2-40B4-BE49-F238E27FC236}">
                  <a16:creationId xmlns:a16="http://schemas.microsoft.com/office/drawing/2014/main" id="{F2403C01-5A0D-7099-84D4-B59DFFC76978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14</a:t>
              </a:r>
            </a:p>
          </p:txBody>
        </p:sp>
      </p:grpSp>
      <p:grpSp>
        <p:nvGrpSpPr>
          <p:cNvPr id="300" name="Group 2">
            <a:extLst>
              <a:ext uri="{FF2B5EF4-FFF2-40B4-BE49-F238E27FC236}">
                <a16:creationId xmlns:a16="http://schemas.microsoft.com/office/drawing/2014/main" id="{4C24C94B-F203-F712-A42C-77E0E5477F41}"/>
              </a:ext>
            </a:extLst>
          </p:cNvPr>
          <p:cNvGrpSpPr/>
          <p:nvPr/>
        </p:nvGrpSpPr>
        <p:grpSpPr>
          <a:xfrm>
            <a:off x="1211580" y="11165205"/>
            <a:ext cx="12344400" cy="480060"/>
            <a:chOff x="0" y="0"/>
            <a:chExt cx="16459200" cy="640080"/>
          </a:xfrm>
        </p:grpSpPr>
        <p:sp>
          <p:nvSpPr>
            <p:cNvPr id="301" name="Freeform 3">
              <a:extLst>
                <a:ext uri="{FF2B5EF4-FFF2-40B4-BE49-F238E27FC236}">
                  <a16:creationId xmlns:a16="http://schemas.microsoft.com/office/drawing/2014/main" id="{5A5111EB-5E71-B75B-4843-4BE74394BAAE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302" name="TextBox 4">
              <a:extLst>
                <a:ext uri="{FF2B5EF4-FFF2-40B4-BE49-F238E27FC236}">
                  <a16:creationId xmlns:a16="http://schemas.microsoft.com/office/drawing/2014/main" id="{3E16EE79-C7A8-7F4F-BD88-3C5CB76A427C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BEYOND THE HACKATHON</a:t>
              </a:r>
            </a:p>
          </p:txBody>
        </p:sp>
      </p:grpSp>
      <p:grpSp>
        <p:nvGrpSpPr>
          <p:cNvPr id="303" name="Group 5">
            <a:extLst>
              <a:ext uri="{FF2B5EF4-FFF2-40B4-BE49-F238E27FC236}">
                <a16:creationId xmlns:a16="http://schemas.microsoft.com/office/drawing/2014/main" id="{9C871332-0B6D-28FB-2E46-2C4A78EC30BC}"/>
              </a:ext>
            </a:extLst>
          </p:cNvPr>
          <p:cNvGrpSpPr/>
          <p:nvPr/>
        </p:nvGrpSpPr>
        <p:grpSpPr>
          <a:xfrm>
            <a:off x="1211580" y="11645265"/>
            <a:ext cx="16322040" cy="1234440"/>
            <a:chOff x="0" y="0"/>
            <a:chExt cx="21762720" cy="1645920"/>
          </a:xfrm>
        </p:grpSpPr>
        <p:sp>
          <p:nvSpPr>
            <p:cNvPr id="304" name="Freeform 6">
              <a:extLst>
                <a:ext uri="{FF2B5EF4-FFF2-40B4-BE49-F238E27FC236}">
                  <a16:creationId xmlns:a16="http://schemas.microsoft.com/office/drawing/2014/main" id="{FB55175B-DE78-B934-76F7-C3927C887531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305" name="TextBox 7">
              <a:extLst>
                <a:ext uri="{FF2B5EF4-FFF2-40B4-BE49-F238E27FC236}">
                  <a16:creationId xmlns:a16="http://schemas.microsoft.com/office/drawing/2014/main" id="{A85A3DFF-82EE-5E5B-B17E-5D2FC61DB5C1}"/>
                </a:ext>
              </a:extLst>
            </p:cNvPr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Who it serves, and how it grows</a:t>
              </a:r>
            </a:p>
          </p:txBody>
        </p:sp>
      </p:grpSp>
      <p:grpSp>
        <p:nvGrpSpPr>
          <p:cNvPr id="306" name="Group 8">
            <a:extLst>
              <a:ext uri="{FF2B5EF4-FFF2-40B4-BE49-F238E27FC236}">
                <a16:creationId xmlns:a16="http://schemas.microsoft.com/office/drawing/2014/main" id="{4F541C25-1F6B-1CA4-5CB6-F9D62F63B4A1}"/>
              </a:ext>
            </a:extLst>
          </p:cNvPr>
          <p:cNvGrpSpPr/>
          <p:nvPr/>
        </p:nvGrpSpPr>
        <p:grpSpPr>
          <a:xfrm>
            <a:off x="1202055" y="13350240"/>
            <a:ext cx="5135118" cy="3310890"/>
            <a:chOff x="0" y="0"/>
            <a:chExt cx="6846824" cy="4414520"/>
          </a:xfrm>
        </p:grpSpPr>
        <p:sp>
          <p:nvSpPr>
            <p:cNvPr id="307" name="Freeform 9">
              <a:extLst>
                <a:ext uri="{FF2B5EF4-FFF2-40B4-BE49-F238E27FC236}">
                  <a16:creationId xmlns:a16="http://schemas.microsoft.com/office/drawing/2014/main" id="{74F76328-0214-20CC-209F-BE0B9B824E5C}"/>
                </a:ext>
              </a:extLst>
            </p:cNvPr>
            <p:cNvSpPr/>
            <p:nvPr/>
          </p:nvSpPr>
          <p:spPr>
            <a:xfrm>
              <a:off x="0" y="0"/>
              <a:ext cx="6846824" cy="4414520"/>
            </a:xfrm>
            <a:custGeom>
              <a:avLst/>
              <a:gdLst/>
              <a:ahLst/>
              <a:cxnLst/>
              <a:rect l="l" t="t" r="r" b="b"/>
              <a:pathLst>
                <a:path w="6846824" h="44145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662928" y="0"/>
                  </a:lnTo>
                  <a:cubicBezTo>
                    <a:pt x="6764528" y="0"/>
                    <a:pt x="6846824" y="82296"/>
                    <a:pt x="6846824" y="183896"/>
                  </a:cubicBezTo>
                  <a:lnTo>
                    <a:pt x="6846824" y="4230624"/>
                  </a:lnTo>
                  <a:cubicBezTo>
                    <a:pt x="6846824" y="4332224"/>
                    <a:pt x="6764528" y="4414520"/>
                    <a:pt x="6662928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08" name="Group 10">
            <a:extLst>
              <a:ext uri="{FF2B5EF4-FFF2-40B4-BE49-F238E27FC236}">
                <a16:creationId xmlns:a16="http://schemas.microsoft.com/office/drawing/2014/main" id="{CD938D07-9964-65A2-0ACA-7A918BFF91DD}"/>
              </a:ext>
            </a:extLst>
          </p:cNvPr>
          <p:cNvGrpSpPr/>
          <p:nvPr/>
        </p:nvGrpSpPr>
        <p:grpSpPr>
          <a:xfrm>
            <a:off x="1623060" y="13771245"/>
            <a:ext cx="754380" cy="754380"/>
            <a:chOff x="0" y="0"/>
            <a:chExt cx="1005840" cy="1005840"/>
          </a:xfrm>
        </p:grpSpPr>
        <p:sp>
          <p:nvSpPr>
            <p:cNvPr id="309" name="Freeform 11">
              <a:extLst>
                <a:ext uri="{FF2B5EF4-FFF2-40B4-BE49-F238E27FC236}">
                  <a16:creationId xmlns:a16="http://schemas.microsoft.com/office/drawing/2014/main" id="{CAEAD2AA-F4F6-4046-FBB4-0D4E02AED5FF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310" name="Group 12">
            <a:extLst>
              <a:ext uri="{FF2B5EF4-FFF2-40B4-BE49-F238E27FC236}">
                <a16:creationId xmlns:a16="http://schemas.microsoft.com/office/drawing/2014/main" id="{A0979EAA-90C1-3D1A-86C4-3F2BF0DC57A0}"/>
              </a:ext>
            </a:extLst>
          </p:cNvPr>
          <p:cNvGrpSpPr/>
          <p:nvPr/>
        </p:nvGrpSpPr>
        <p:grpSpPr>
          <a:xfrm>
            <a:off x="1623060" y="13771245"/>
            <a:ext cx="754380" cy="754380"/>
            <a:chOff x="0" y="0"/>
            <a:chExt cx="1005840" cy="1005840"/>
          </a:xfrm>
        </p:grpSpPr>
        <p:sp>
          <p:nvSpPr>
            <p:cNvPr id="311" name="Freeform 13">
              <a:extLst>
                <a:ext uri="{FF2B5EF4-FFF2-40B4-BE49-F238E27FC236}">
                  <a16:creationId xmlns:a16="http://schemas.microsoft.com/office/drawing/2014/main" id="{9E212D8E-B9CA-F81E-D02F-1AEAFE00D194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12" name="TextBox 14">
              <a:extLst>
                <a:ext uri="{FF2B5EF4-FFF2-40B4-BE49-F238E27FC236}">
                  <a16:creationId xmlns:a16="http://schemas.microsoft.com/office/drawing/2014/main" id="{ECE15563-A02D-73CF-C538-6E811A59F7B3}"/>
                </a:ext>
              </a:extLst>
            </p:cNvPr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313" name="Group 15">
            <a:extLst>
              <a:ext uri="{FF2B5EF4-FFF2-40B4-BE49-F238E27FC236}">
                <a16:creationId xmlns:a16="http://schemas.microsoft.com/office/drawing/2014/main" id="{2E6E3F40-E322-9FD3-441B-5E7910C43B24}"/>
              </a:ext>
            </a:extLst>
          </p:cNvPr>
          <p:cNvGrpSpPr/>
          <p:nvPr/>
        </p:nvGrpSpPr>
        <p:grpSpPr>
          <a:xfrm>
            <a:off x="1623060" y="14731365"/>
            <a:ext cx="4293108" cy="548640"/>
            <a:chOff x="0" y="0"/>
            <a:chExt cx="5724144" cy="731520"/>
          </a:xfrm>
        </p:grpSpPr>
        <p:sp>
          <p:nvSpPr>
            <p:cNvPr id="314" name="Freeform 16">
              <a:extLst>
                <a:ext uri="{FF2B5EF4-FFF2-40B4-BE49-F238E27FC236}">
                  <a16:creationId xmlns:a16="http://schemas.microsoft.com/office/drawing/2014/main" id="{21D82EFC-34FF-45F9-9E5D-B395E2E4BF3F}"/>
                </a:ext>
              </a:extLst>
            </p:cNvPr>
            <p:cNvSpPr/>
            <p:nvPr/>
          </p:nvSpPr>
          <p:spPr>
            <a:xfrm>
              <a:off x="0" y="0"/>
              <a:ext cx="5724144" cy="731520"/>
            </a:xfrm>
            <a:custGeom>
              <a:avLst/>
              <a:gdLst/>
              <a:ahLst/>
              <a:cxnLst/>
              <a:rect l="l" t="t" r="r" b="b"/>
              <a:pathLst>
                <a:path w="5724144" h="731520">
                  <a:moveTo>
                    <a:pt x="0" y="0"/>
                  </a:moveTo>
                  <a:lnTo>
                    <a:pt x="5724144" y="0"/>
                  </a:lnTo>
                  <a:lnTo>
                    <a:pt x="5724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470" b="-102470"/>
              </a:stretch>
            </a:blipFill>
          </p:spPr>
        </p:sp>
        <p:sp>
          <p:nvSpPr>
            <p:cNvPr id="315" name="TextBox 17">
              <a:extLst>
                <a:ext uri="{FF2B5EF4-FFF2-40B4-BE49-F238E27FC236}">
                  <a16:creationId xmlns:a16="http://schemas.microsoft.com/office/drawing/2014/main" id="{9B9EE246-6D3D-1C44-C4C3-B52D89A1F620}"/>
                </a:ext>
              </a:extLst>
            </p:cNvPr>
            <p:cNvSpPr txBox="1"/>
            <p:nvPr/>
          </p:nvSpPr>
          <p:spPr>
            <a:xfrm>
              <a:off x="0" y="0"/>
              <a:ext cx="572414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Job seekers</a:t>
              </a:r>
            </a:p>
          </p:txBody>
        </p:sp>
      </p:grpSp>
      <p:sp>
        <p:nvSpPr>
          <p:cNvPr id="316" name="TextBox 18">
            <a:extLst>
              <a:ext uri="{FF2B5EF4-FFF2-40B4-BE49-F238E27FC236}">
                <a16:creationId xmlns:a16="http://schemas.microsoft.com/office/drawing/2014/main" id="{09EE7AF1-1963-D959-34FE-5D88133EE702}"/>
              </a:ext>
            </a:extLst>
          </p:cNvPr>
          <p:cNvSpPr txBox="1"/>
          <p:nvPr/>
        </p:nvSpPr>
        <p:spPr>
          <a:xfrm>
            <a:off x="1623060" y="15250287"/>
            <a:ext cx="4293108" cy="129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People facing hardship building a verified profile, CV and path. Free, always.</a:t>
            </a:r>
          </a:p>
        </p:txBody>
      </p:sp>
      <p:grpSp>
        <p:nvGrpSpPr>
          <p:cNvPr id="317" name="Group 19">
            <a:extLst>
              <a:ext uri="{FF2B5EF4-FFF2-40B4-BE49-F238E27FC236}">
                <a16:creationId xmlns:a16="http://schemas.microsoft.com/office/drawing/2014/main" id="{F1CC79BC-7785-058F-6841-9B674C942CFB}"/>
              </a:ext>
            </a:extLst>
          </p:cNvPr>
          <p:cNvGrpSpPr/>
          <p:nvPr/>
        </p:nvGrpSpPr>
        <p:grpSpPr>
          <a:xfrm>
            <a:off x="6798183" y="13350240"/>
            <a:ext cx="5135118" cy="3310890"/>
            <a:chOff x="0" y="0"/>
            <a:chExt cx="6846824" cy="4414520"/>
          </a:xfrm>
        </p:grpSpPr>
        <p:sp>
          <p:nvSpPr>
            <p:cNvPr id="318" name="Freeform 20">
              <a:extLst>
                <a:ext uri="{FF2B5EF4-FFF2-40B4-BE49-F238E27FC236}">
                  <a16:creationId xmlns:a16="http://schemas.microsoft.com/office/drawing/2014/main" id="{BBDA3F9A-9A8A-EF75-C531-3509D70658E4}"/>
                </a:ext>
              </a:extLst>
            </p:cNvPr>
            <p:cNvSpPr/>
            <p:nvPr/>
          </p:nvSpPr>
          <p:spPr>
            <a:xfrm>
              <a:off x="0" y="0"/>
              <a:ext cx="6846824" cy="4414520"/>
            </a:xfrm>
            <a:custGeom>
              <a:avLst/>
              <a:gdLst/>
              <a:ahLst/>
              <a:cxnLst/>
              <a:rect l="l" t="t" r="r" b="b"/>
              <a:pathLst>
                <a:path w="6846824" h="44145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662928" y="0"/>
                  </a:lnTo>
                  <a:cubicBezTo>
                    <a:pt x="6764528" y="0"/>
                    <a:pt x="6846824" y="82296"/>
                    <a:pt x="6846824" y="183896"/>
                  </a:cubicBezTo>
                  <a:lnTo>
                    <a:pt x="6846824" y="4230624"/>
                  </a:lnTo>
                  <a:cubicBezTo>
                    <a:pt x="6846824" y="4332224"/>
                    <a:pt x="6764528" y="4414520"/>
                    <a:pt x="6662928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19" name="Group 21">
            <a:extLst>
              <a:ext uri="{FF2B5EF4-FFF2-40B4-BE49-F238E27FC236}">
                <a16:creationId xmlns:a16="http://schemas.microsoft.com/office/drawing/2014/main" id="{01416A57-C53F-8D97-9DBD-A755489F8406}"/>
              </a:ext>
            </a:extLst>
          </p:cNvPr>
          <p:cNvGrpSpPr/>
          <p:nvPr/>
        </p:nvGrpSpPr>
        <p:grpSpPr>
          <a:xfrm>
            <a:off x="7219188" y="13771245"/>
            <a:ext cx="754380" cy="754380"/>
            <a:chOff x="0" y="0"/>
            <a:chExt cx="1005840" cy="1005840"/>
          </a:xfrm>
        </p:grpSpPr>
        <p:sp>
          <p:nvSpPr>
            <p:cNvPr id="320" name="Freeform 22">
              <a:extLst>
                <a:ext uri="{FF2B5EF4-FFF2-40B4-BE49-F238E27FC236}">
                  <a16:creationId xmlns:a16="http://schemas.microsoft.com/office/drawing/2014/main" id="{E01CD7E6-44F3-6F8E-BA3E-9D411AE6532B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321" name="Group 23">
            <a:extLst>
              <a:ext uri="{FF2B5EF4-FFF2-40B4-BE49-F238E27FC236}">
                <a16:creationId xmlns:a16="http://schemas.microsoft.com/office/drawing/2014/main" id="{7A699622-BFEF-CD19-6054-669340D65C8F}"/>
              </a:ext>
            </a:extLst>
          </p:cNvPr>
          <p:cNvGrpSpPr/>
          <p:nvPr/>
        </p:nvGrpSpPr>
        <p:grpSpPr>
          <a:xfrm>
            <a:off x="7219188" y="13771245"/>
            <a:ext cx="754380" cy="754380"/>
            <a:chOff x="0" y="0"/>
            <a:chExt cx="1005840" cy="1005840"/>
          </a:xfrm>
        </p:grpSpPr>
        <p:sp>
          <p:nvSpPr>
            <p:cNvPr id="322" name="Freeform 24">
              <a:extLst>
                <a:ext uri="{FF2B5EF4-FFF2-40B4-BE49-F238E27FC236}">
                  <a16:creationId xmlns:a16="http://schemas.microsoft.com/office/drawing/2014/main" id="{DEC7BEDC-CD0F-EB1D-F123-F390769FDC34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23" name="TextBox 25">
              <a:extLst>
                <a:ext uri="{FF2B5EF4-FFF2-40B4-BE49-F238E27FC236}">
                  <a16:creationId xmlns:a16="http://schemas.microsoft.com/office/drawing/2014/main" id="{7E460BF8-B8C9-9270-97C2-7D4A22BDC3B7}"/>
                </a:ext>
              </a:extLst>
            </p:cNvPr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324" name="Group 26">
            <a:extLst>
              <a:ext uri="{FF2B5EF4-FFF2-40B4-BE49-F238E27FC236}">
                <a16:creationId xmlns:a16="http://schemas.microsoft.com/office/drawing/2014/main" id="{30C9ED3D-82D4-1A27-F134-5CA5A7237EF7}"/>
              </a:ext>
            </a:extLst>
          </p:cNvPr>
          <p:cNvGrpSpPr/>
          <p:nvPr/>
        </p:nvGrpSpPr>
        <p:grpSpPr>
          <a:xfrm>
            <a:off x="7219188" y="14731365"/>
            <a:ext cx="4293108" cy="548640"/>
            <a:chOff x="0" y="0"/>
            <a:chExt cx="5724144" cy="731520"/>
          </a:xfrm>
        </p:grpSpPr>
        <p:sp>
          <p:nvSpPr>
            <p:cNvPr id="325" name="Freeform 27">
              <a:extLst>
                <a:ext uri="{FF2B5EF4-FFF2-40B4-BE49-F238E27FC236}">
                  <a16:creationId xmlns:a16="http://schemas.microsoft.com/office/drawing/2014/main" id="{D6854AED-E59F-D24E-09AC-FA36458E9965}"/>
                </a:ext>
              </a:extLst>
            </p:cNvPr>
            <p:cNvSpPr/>
            <p:nvPr/>
          </p:nvSpPr>
          <p:spPr>
            <a:xfrm>
              <a:off x="0" y="0"/>
              <a:ext cx="5724144" cy="731520"/>
            </a:xfrm>
            <a:custGeom>
              <a:avLst/>
              <a:gdLst/>
              <a:ahLst/>
              <a:cxnLst/>
              <a:rect l="l" t="t" r="r" b="b"/>
              <a:pathLst>
                <a:path w="5724144" h="731520">
                  <a:moveTo>
                    <a:pt x="0" y="0"/>
                  </a:moveTo>
                  <a:lnTo>
                    <a:pt x="5724144" y="0"/>
                  </a:lnTo>
                  <a:lnTo>
                    <a:pt x="5724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470" b="-102470"/>
              </a:stretch>
            </a:blipFill>
          </p:spPr>
        </p:sp>
        <p:sp>
          <p:nvSpPr>
            <p:cNvPr id="326" name="TextBox 28">
              <a:extLst>
                <a:ext uri="{FF2B5EF4-FFF2-40B4-BE49-F238E27FC236}">
                  <a16:creationId xmlns:a16="http://schemas.microsoft.com/office/drawing/2014/main" id="{161B4C60-1C61-30A3-0D86-0DA38480AC9D}"/>
                </a:ext>
              </a:extLst>
            </p:cNvPr>
            <p:cNvSpPr txBox="1"/>
            <p:nvPr/>
          </p:nvSpPr>
          <p:spPr>
            <a:xfrm>
              <a:off x="0" y="0"/>
              <a:ext cx="572414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Employers &amp; local demand</a:t>
              </a:r>
            </a:p>
          </p:txBody>
        </p:sp>
      </p:grpSp>
      <p:sp>
        <p:nvSpPr>
          <p:cNvPr id="327" name="TextBox 29">
            <a:extLst>
              <a:ext uri="{FF2B5EF4-FFF2-40B4-BE49-F238E27FC236}">
                <a16:creationId xmlns:a16="http://schemas.microsoft.com/office/drawing/2014/main" id="{557B7C79-605C-29D7-E51B-86298878C9E7}"/>
              </a:ext>
            </a:extLst>
          </p:cNvPr>
          <p:cNvSpPr txBox="1"/>
          <p:nvPr/>
        </p:nvSpPr>
        <p:spPr>
          <a:xfrm>
            <a:off x="7219188" y="15250287"/>
            <a:ext cx="4293108" cy="129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Small businesses and households posting real needs, and hiring verified, stable-minded workers.</a:t>
            </a:r>
          </a:p>
        </p:txBody>
      </p:sp>
      <p:grpSp>
        <p:nvGrpSpPr>
          <p:cNvPr id="328" name="Group 30">
            <a:extLst>
              <a:ext uri="{FF2B5EF4-FFF2-40B4-BE49-F238E27FC236}">
                <a16:creationId xmlns:a16="http://schemas.microsoft.com/office/drawing/2014/main" id="{9003C4D6-F77C-120C-015E-7604B5E4FA8A}"/>
              </a:ext>
            </a:extLst>
          </p:cNvPr>
          <p:cNvGrpSpPr/>
          <p:nvPr/>
        </p:nvGrpSpPr>
        <p:grpSpPr>
          <a:xfrm>
            <a:off x="12394311" y="13350240"/>
            <a:ext cx="5135118" cy="3310890"/>
            <a:chOff x="0" y="0"/>
            <a:chExt cx="6846824" cy="4414520"/>
          </a:xfrm>
        </p:grpSpPr>
        <p:sp>
          <p:nvSpPr>
            <p:cNvPr id="329" name="Freeform 31">
              <a:extLst>
                <a:ext uri="{FF2B5EF4-FFF2-40B4-BE49-F238E27FC236}">
                  <a16:creationId xmlns:a16="http://schemas.microsoft.com/office/drawing/2014/main" id="{03360D1F-8148-5A08-3E58-BB15171585C6}"/>
                </a:ext>
              </a:extLst>
            </p:cNvPr>
            <p:cNvSpPr/>
            <p:nvPr/>
          </p:nvSpPr>
          <p:spPr>
            <a:xfrm>
              <a:off x="0" y="0"/>
              <a:ext cx="6846824" cy="4414520"/>
            </a:xfrm>
            <a:custGeom>
              <a:avLst/>
              <a:gdLst/>
              <a:ahLst/>
              <a:cxnLst/>
              <a:rect l="l" t="t" r="r" b="b"/>
              <a:pathLst>
                <a:path w="6846824" h="44145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662928" y="0"/>
                  </a:lnTo>
                  <a:cubicBezTo>
                    <a:pt x="6764528" y="0"/>
                    <a:pt x="6846824" y="82296"/>
                    <a:pt x="6846824" y="183896"/>
                  </a:cubicBezTo>
                  <a:lnTo>
                    <a:pt x="6846824" y="4230624"/>
                  </a:lnTo>
                  <a:cubicBezTo>
                    <a:pt x="6846824" y="4332224"/>
                    <a:pt x="6764528" y="4414520"/>
                    <a:pt x="6662928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30" name="Group 32">
            <a:extLst>
              <a:ext uri="{FF2B5EF4-FFF2-40B4-BE49-F238E27FC236}">
                <a16:creationId xmlns:a16="http://schemas.microsoft.com/office/drawing/2014/main" id="{CEA38EBC-F0C1-5B4A-8FC7-C85DC46D08F2}"/>
              </a:ext>
            </a:extLst>
          </p:cNvPr>
          <p:cNvGrpSpPr/>
          <p:nvPr/>
        </p:nvGrpSpPr>
        <p:grpSpPr>
          <a:xfrm>
            <a:off x="12815316" y="13771245"/>
            <a:ext cx="754380" cy="754380"/>
            <a:chOff x="0" y="0"/>
            <a:chExt cx="1005840" cy="1005840"/>
          </a:xfrm>
        </p:grpSpPr>
        <p:sp>
          <p:nvSpPr>
            <p:cNvPr id="331" name="Freeform 33">
              <a:extLst>
                <a:ext uri="{FF2B5EF4-FFF2-40B4-BE49-F238E27FC236}">
                  <a16:creationId xmlns:a16="http://schemas.microsoft.com/office/drawing/2014/main" id="{F158EE0D-C7FA-CE95-626B-1168C91263C0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332" name="Group 34">
            <a:extLst>
              <a:ext uri="{FF2B5EF4-FFF2-40B4-BE49-F238E27FC236}">
                <a16:creationId xmlns:a16="http://schemas.microsoft.com/office/drawing/2014/main" id="{6D3515B8-EC97-FF11-309E-3AB26E3720E9}"/>
              </a:ext>
            </a:extLst>
          </p:cNvPr>
          <p:cNvGrpSpPr/>
          <p:nvPr/>
        </p:nvGrpSpPr>
        <p:grpSpPr>
          <a:xfrm>
            <a:off x="12815316" y="13771245"/>
            <a:ext cx="754380" cy="754380"/>
            <a:chOff x="0" y="0"/>
            <a:chExt cx="1005840" cy="1005840"/>
          </a:xfrm>
        </p:grpSpPr>
        <p:sp>
          <p:nvSpPr>
            <p:cNvPr id="333" name="Freeform 35">
              <a:extLst>
                <a:ext uri="{FF2B5EF4-FFF2-40B4-BE49-F238E27FC236}">
                  <a16:creationId xmlns:a16="http://schemas.microsoft.com/office/drawing/2014/main" id="{203E0CC5-F583-12DF-C8AA-5EC614D2D203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34" name="TextBox 36">
              <a:extLst>
                <a:ext uri="{FF2B5EF4-FFF2-40B4-BE49-F238E27FC236}">
                  <a16:creationId xmlns:a16="http://schemas.microsoft.com/office/drawing/2014/main" id="{EBAFEE52-9918-22AC-1A76-A57BF362445F}"/>
                </a:ext>
              </a:extLst>
            </p:cNvPr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335" name="Group 37">
            <a:extLst>
              <a:ext uri="{FF2B5EF4-FFF2-40B4-BE49-F238E27FC236}">
                <a16:creationId xmlns:a16="http://schemas.microsoft.com/office/drawing/2014/main" id="{B16B3456-8575-FE65-E2A3-8A4B3DB5A958}"/>
              </a:ext>
            </a:extLst>
          </p:cNvPr>
          <p:cNvGrpSpPr/>
          <p:nvPr/>
        </p:nvGrpSpPr>
        <p:grpSpPr>
          <a:xfrm>
            <a:off x="12815316" y="14731365"/>
            <a:ext cx="4293108" cy="548640"/>
            <a:chOff x="0" y="0"/>
            <a:chExt cx="5724144" cy="731520"/>
          </a:xfrm>
        </p:grpSpPr>
        <p:sp>
          <p:nvSpPr>
            <p:cNvPr id="336" name="Freeform 38">
              <a:extLst>
                <a:ext uri="{FF2B5EF4-FFF2-40B4-BE49-F238E27FC236}">
                  <a16:creationId xmlns:a16="http://schemas.microsoft.com/office/drawing/2014/main" id="{1EFAAC1F-6A5D-D0DA-7A87-F24D2A314ED5}"/>
                </a:ext>
              </a:extLst>
            </p:cNvPr>
            <p:cNvSpPr/>
            <p:nvPr/>
          </p:nvSpPr>
          <p:spPr>
            <a:xfrm>
              <a:off x="0" y="0"/>
              <a:ext cx="5724144" cy="731520"/>
            </a:xfrm>
            <a:custGeom>
              <a:avLst/>
              <a:gdLst/>
              <a:ahLst/>
              <a:cxnLst/>
              <a:rect l="l" t="t" r="r" b="b"/>
              <a:pathLst>
                <a:path w="5724144" h="731520">
                  <a:moveTo>
                    <a:pt x="0" y="0"/>
                  </a:moveTo>
                  <a:lnTo>
                    <a:pt x="5724144" y="0"/>
                  </a:lnTo>
                  <a:lnTo>
                    <a:pt x="5724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470" b="-102470"/>
              </a:stretch>
            </a:blipFill>
          </p:spPr>
        </p:sp>
        <p:sp>
          <p:nvSpPr>
            <p:cNvPr id="337" name="TextBox 39">
              <a:extLst>
                <a:ext uri="{FF2B5EF4-FFF2-40B4-BE49-F238E27FC236}">
                  <a16:creationId xmlns:a16="http://schemas.microsoft.com/office/drawing/2014/main" id="{738E72AC-A50A-6400-05C9-D7F2A865E5AF}"/>
                </a:ext>
              </a:extLst>
            </p:cNvPr>
            <p:cNvSpPr txBox="1"/>
            <p:nvPr/>
          </p:nvSpPr>
          <p:spPr>
            <a:xfrm>
              <a:off x="0" y="0"/>
              <a:ext cx="572414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Partners</a:t>
              </a:r>
            </a:p>
          </p:txBody>
        </p:sp>
      </p:grpSp>
      <p:sp>
        <p:nvSpPr>
          <p:cNvPr id="338" name="TextBox 40">
            <a:extLst>
              <a:ext uri="{FF2B5EF4-FFF2-40B4-BE49-F238E27FC236}">
                <a16:creationId xmlns:a16="http://schemas.microsoft.com/office/drawing/2014/main" id="{9351E7E1-FEBE-DEAE-6095-2DE27BB455B1}"/>
              </a:ext>
            </a:extLst>
          </p:cNvPr>
          <p:cNvSpPr txBox="1"/>
          <p:nvPr/>
        </p:nvSpPr>
        <p:spPr>
          <a:xfrm>
            <a:off x="12815316" y="15250287"/>
            <a:ext cx="4293108" cy="129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Skilling missions, NGOs and college placement cells that bring users in and track placements.</a:t>
            </a:r>
          </a:p>
        </p:txBody>
      </p:sp>
      <p:grpSp>
        <p:nvGrpSpPr>
          <p:cNvPr id="339" name="Group 41">
            <a:extLst>
              <a:ext uri="{FF2B5EF4-FFF2-40B4-BE49-F238E27FC236}">
                <a16:creationId xmlns:a16="http://schemas.microsoft.com/office/drawing/2014/main" id="{99B650E0-B99A-5F1B-1C71-5CCA8F625D29}"/>
              </a:ext>
            </a:extLst>
          </p:cNvPr>
          <p:cNvGrpSpPr/>
          <p:nvPr/>
        </p:nvGrpSpPr>
        <p:grpSpPr>
          <a:xfrm>
            <a:off x="1202055" y="16984980"/>
            <a:ext cx="16341090" cy="1390650"/>
            <a:chOff x="0" y="0"/>
            <a:chExt cx="21788120" cy="1854200"/>
          </a:xfrm>
        </p:grpSpPr>
        <p:sp>
          <p:nvSpPr>
            <p:cNvPr id="340" name="Freeform 42">
              <a:extLst>
                <a:ext uri="{FF2B5EF4-FFF2-40B4-BE49-F238E27FC236}">
                  <a16:creationId xmlns:a16="http://schemas.microsoft.com/office/drawing/2014/main" id="{9C69B9F6-22BB-C189-16CE-3D996C900211}"/>
                </a:ext>
              </a:extLst>
            </p:cNvPr>
            <p:cNvSpPr/>
            <p:nvPr/>
          </p:nvSpPr>
          <p:spPr>
            <a:xfrm>
              <a:off x="0" y="0"/>
              <a:ext cx="21788120" cy="1854200"/>
            </a:xfrm>
            <a:custGeom>
              <a:avLst/>
              <a:gdLst/>
              <a:ahLst/>
              <a:cxnLst/>
              <a:rect l="l" t="t" r="r" b="b"/>
              <a:pathLst>
                <a:path w="21788120" h="185420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21602700" y="0"/>
                  </a:lnTo>
                  <a:cubicBezTo>
                    <a:pt x="21705063" y="0"/>
                    <a:pt x="21788120" y="83058"/>
                    <a:pt x="21788120" y="185420"/>
                  </a:cubicBezTo>
                  <a:lnTo>
                    <a:pt x="21788120" y="1668780"/>
                  </a:lnTo>
                  <a:cubicBezTo>
                    <a:pt x="21788120" y="1771142"/>
                    <a:pt x="21705063" y="1854200"/>
                    <a:pt x="21602700" y="1854200"/>
                  </a:cubicBezTo>
                  <a:lnTo>
                    <a:pt x="185420" y="1854200"/>
                  </a:lnTo>
                  <a:cubicBezTo>
                    <a:pt x="83058" y="1854200"/>
                    <a:pt x="0" y="1771142"/>
                    <a:pt x="0" y="1668780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41" name="Group 43">
            <a:extLst>
              <a:ext uri="{FF2B5EF4-FFF2-40B4-BE49-F238E27FC236}">
                <a16:creationId xmlns:a16="http://schemas.microsoft.com/office/drawing/2014/main" id="{FD78824A-D91A-E9D6-AA4D-AC7869AEF439}"/>
              </a:ext>
            </a:extLst>
          </p:cNvPr>
          <p:cNvGrpSpPr/>
          <p:nvPr/>
        </p:nvGrpSpPr>
        <p:grpSpPr>
          <a:xfrm>
            <a:off x="1623060" y="17131665"/>
            <a:ext cx="4114800" cy="480060"/>
            <a:chOff x="0" y="0"/>
            <a:chExt cx="5486400" cy="640080"/>
          </a:xfrm>
        </p:grpSpPr>
        <p:sp>
          <p:nvSpPr>
            <p:cNvPr id="342" name="Freeform 44">
              <a:extLst>
                <a:ext uri="{FF2B5EF4-FFF2-40B4-BE49-F238E27FC236}">
                  <a16:creationId xmlns:a16="http://schemas.microsoft.com/office/drawing/2014/main" id="{D1F3F7B0-38F9-D25F-F211-B9906F97435B}"/>
                </a:ext>
              </a:extLst>
            </p:cNvPr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343" name="TextBox 45">
              <a:extLst>
                <a:ext uri="{FF2B5EF4-FFF2-40B4-BE49-F238E27FC236}">
                  <a16:creationId xmlns:a16="http://schemas.microsoft.com/office/drawing/2014/main" id="{BCBB2128-CBE1-AA69-D3F7-3B9AC57EBF01}"/>
                </a:ext>
              </a:extLst>
            </p:cNvPr>
            <p:cNvSpPr txBox="1"/>
            <p:nvPr/>
          </p:nvSpPr>
          <p:spPr>
            <a:xfrm>
              <a:off x="0" y="0"/>
              <a:ext cx="54864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Revenue path</a:t>
              </a:r>
            </a:p>
          </p:txBody>
        </p:sp>
      </p:grpSp>
      <p:sp>
        <p:nvSpPr>
          <p:cNvPr id="344" name="TextBox 46">
            <a:extLst>
              <a:ext uri="{FF2B5EF4-FFF2-40B4-BE49-F238E27FC236}">
                <a16:creationId xmlns:a16="http://schemas.microsoft.com/office/drawing/2014/main" id="{F3B7DE61-076D-F99A-D3A6-AB28DD360165}"/>
              </a:ext>
            </a:extLst>
          </p:cNvPr>
          <p:cNvSpPr txBox="1"/>
          <p:nvPr/>
        </p:nvSpPr>
        <p:spPr>
          <a:xfrm>
            <a:off x="1623060" y="17527143"/>
            <a:ext cx="1549908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Free for job seekers. Small placement or verification fees from employers, plus partnership pilots with skilling missions and municipal livelihood programmes.</a:t>
            </a:r>
          </a:p>
        </p:txBody>
      </p:sp>
      <p:grpSp>
        <p:nvGrpSpPr>
          <p:cNvPr id="345" name="Group 47">
            <a:extLst>
              <a:ext uri="{FF2B5EF4-FFF2-40B4-BE49-F238E27FC236}">
                <a16:creationId xmlns:a16="http://schemas.microsoft.com/office/drawing/2014/main" id="{EFF70DF9-EF7E-43BA-26D2-6E0B6473502B}"/>
              </a:ext>
            </a:extLst>
          </p:cNvPr>
          <p:cNvGrpSpPr/>
          <p:nvPr/>
        </p:nvGrpSpPr>
        <p:grpSpPr>
          <a:xfrm>
            <a:off x="1202055" y="18630900"/>
            <a:ext cx="16341090" cy="1390650"/>
            <a:chOff x="0" y="0"/>
            <a:chExt cx="21788120" cy="1854200"/>
          </a:xfrm>
        </p:grpSpPr>
        <p:sp>
          <p:nvSpPr>
            <p:cNvPr id="346" name="Freeform 48">
              <a:extLst>
                <a:ext uri="{FF2B5EF4-FFF2-40B4-BE49-F238E27FC236}">
                  <a16:creationId xmlns:a16="http://schemas.microsoft.com/office/drawing/2014/main" id="{3D494FD1-EAC8-35D5-C72B-3097F71C8E44}"/>
                </a:ext>
              </a:extLst>
            </p:cNvPr>
            <p:cNvSpPr/>
            <p:nvPr/>
          </p:nvSpPr>
          <p:spPr>
            <a:xfrm>
              <a:off x="0" y="0"/>
              <a:ext cx="21788120" cy="1854200"/>
            </a:xfrm>
            <a:custGeom>
              <a:avLst/>
              <a:gdLst/>
              <a:ahLst/>
              <a:cxnLst/>
              <a:rect l="l" t="t" r="r" b="b"/>
              <a:pathLst>
                <a:path w="21788120" h="185420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21602700" y="0"/>
                  </a:lnTo>
                  <a:cubicBezTo>
                    <a:pt x="21705063" y="0"/>
                    <a:pt x="21788120" y="83058"/>
                    <a:pt x="21788120" y="185420"/>
                  </a:cubicBezTo>
                  <a:lnTo>
                    <a:pt x="21788120" y="1668780"/>
                  </a:lnTo>
                  <a:cubicBezTo>
                    <a:pt x="21788120" y="1771142"/>
                    <a:pt x="21705063" y="1854200"/>
                    <a:pt x="21602700" y="1854200"/>
                  </a:cubicBezTo>
                  <a:lnTo>
                    <a:pt x="185420" y="1854200"/>
                  </a:lnTo>
                  <a:cubicBezTo>
                    <a:pt x="83058" y="1854200"/>
                    <a:pt x="0" y="1771142"/>
                    <a:pt x="0" y="1668780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47" name="Group 49">
            <a:extLst>
              <a:ext uri="{FF2B5EF4-FFF2-40B4-BE49-F238E27FC236}">
                <a16:creationId xmlns:a16="http://schemas.microsoft.com/office/drawing/2014/main" id="{800001B6-37C5-D892-BB3F-0062B4578655}"/>
              </a:ext>
            </a:extLst>
          </p:cNvPr>
          <p:cNvGrpSpPr/>
          <p:nvPr/>
        </p:nvGrpSpPr>
        <p:grpSpPr>
          <a:xfrm>
            <a:off x="1623060" y="18777585"/>
            <a:ext cx="5486400" cy="480060"/>
            <a:chOff x="0" y="0"/>
            <a:chExt cx="7315200" cy="640080"/>
          </a:xfrm>
        </p:grpSpPr>
        <p:sp>
          <p:nvSpPr>
            <p:cNvPr id="348" name="Freeform 50">
              <a:extLst>
                <a:ext uri="{FF2B5EF4-FFF2-40B4-BE49-F238E27FC236}">
                  <a16:creationId xmlns:a16="http://schemas.microsoft.com/office/drawing/2014/main" id="{8F95DB79-4D71-29DE-05B3-93D0A0BFA27C}"/>
                </a:ext>
              </a:extLst>
            </p:cNvPr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349" name="TextBox 51">
              <a:extLst>
                <a:ext uri="{FF2B5EF4-FFF2-40B4-BE49-F238E27FC236}">
                  <a16:creationId xmlns:a16="http://schemas.microsoft.com/office/drawing/2014/main" id="{969525CA-6875-DE20-2FD1-131AFF00D85E}"/>
                </a:ext>
              </a:extLst>
            </p:cNvPr>
            <p:cNvSpPr txBox="1"/>
            <p:nvPr/>
          </p:nvSpPr>
          <p:spPr>
            <a:xfrm>
              <a:off x="0" y="0"/>
              <a:ext cx="7315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How we measure success</a:t>
              </a:r>
            </a:p>
          </p:txBody>
        </p:sp>
      </p:grpSp>
      <p:sp>
        <p:nvSpPr>
          <p:cNvPr id="350" name="TextBox 52">
            <a:extLst>
              <a:ext uri="{FF2B5EF4-FFF2-40B4-BE49-F238E27FC236}">
                <a16:creationId xmlns:a16="http://schemas.microsoft.com/office/drawing/2014/main" id="{6DF2CF0B-D0B0-BC69-241E-D6C3631993C4}"/>
              </a:ext>
            </a:extLst>
          </p:cNvPr>
          <p:cNvSpPr txBox="1"/>
          <p:nvPr/>
        </p:nvSpPr>
        <p:spPr>
          <a:xfrm>
            <a:off x="1623060" y="19173063"/>
            <a:ext cx="1549908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Stable placement rate, six-month retention, and completed exam applications, not just sign-ups.</a:t>
            </a:r>
          </a:p>
        </p:txBody>
      </p:sp>
      <p:grpSp>
        <p:nvGrpSpPr>
          <p:cNvPr id="351" name="Group 53">
            <a:extLst>
              <a:ext uri="{FF2B5EF4-FFF2-40B4-BE49-F238E27FC236}">
                <a16:creationId xmlns:a16="http://schemas.microsoft.com/office/drawing/2014/main" id="{E31E141F-F4D8-A8DD-6F13-557D6A39D0D1}"/>
              </a:ext>
            </a:extLst>
          </p:cNvPr>
          <p:cNvGrpSpPr/>
          <p:nvPr/>
        </p:nvGrpSpPr>
        <p:grpSpPr>
          <a:xfrm>
            <a:off x="17465040" y="20286345"/>
            <a:ext cx="822960" cy="411480"/>
            <a:chOff x="0" y="0"/>
            <a:chExt cx="1097280" cy="548640"/>
          </a:xfrm>
        </p:grpSpPr>
        <p:sp>
          <p:nvSpPr>
            <p:cNvPr id="352" name="Freeform 54">
              <a:extLst>
                <a:ext uri="{FF2B5EF4-FFF2-40B4-BE49-F238E27FC236}">
                  <a16:creationId xmlns:a16="http://schemas.microsoft.com/office/drawing/2014/main" id="{2F24A6BA-47A4-1D77-BF7C-8AD493956BB1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353" name="TextBox 55">
              <a:extLst>
                <a:ext uri="{FF2B5EF4-FFF2-40B4-BE49-F238E27FC236}">
                  <a16:creationId xmlns:a16="http://schemas.microsoft.com/office/drawing/2014/main" id="{6160A388-13E4-84CC-6109-85DB8858141E}"/>
                </a:ext>
              </a:extLst>
            </p:cNvPr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16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BEYOND THE HACKATHON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097280"/>
            <a:ext cx="16322040" cy="1234440"/>
            <a:chOff x="0" y="0"/>
            <a:chExt cx="2176272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Who it serves, and how it grows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595" y="2802255"/>
            <a:ext cx="5135118" cy="3310890"/>
            <a:chOff x="0" y="0"/>
            <a:chExt cx="6846824" cy="4414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46824" cy="4414520"/>
            </a:xfrm>
            <a:custGeom>
              <a:avLst/>
              <a:gdLst/>
              <a:ahLst/>
              <a:cxnLst/>
              <a:rect l="l" t="t" r="r" b="b"/>
              <a:pathLst>
                <a:path w="6846824" h="44145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662928" y="0"/>
                  </a:lnTo>
                  <a:cubicBezTo>
                    <a:pt x="6764528" y="0"/>
                    <a:pt x="6846824" y="82296"/>
                    <a:pt x="6846824" y="183896"/>
                  </a:cubicBezTo>
                  <a:lnTo>
                    <a:pt x="6846824" y="4230624"/>
                  </a:lnTo>
                  <a:cubicBezTo>
                    <a:pt x="6846824" y="4332224"/>
                    <a:pt x="6764528" y="4414520"/>
                    <a:pt x="6662928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371600" y="3223260"/>
            <a:ext cx="754380" cy="754380"/>
            <a:chOff x="0" y="0"/>
            <a:chExt cx="1005840" cy="1005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71600" y="3223260"/>
            <a:ext cx="754380" cy="754380"/>
            <a:chOff x="0" y="0"/>
            <a:chExt cx="1005840" cy="1005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1600" y="4183380"/>
            <a:ext cx="4293108" cy="548640"/>
            <a:chOff x="0" y="0"/>
            <a:chExt cx="5724144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24144" cy="731520"/>
            </a:xfrm>
            <a:custGeom>
              <a:avLst/>
              <a:gdLst/>
              <a:ahLst/>
              <a:cxnLst/>
              <a:rect l="l" t="t" r="r" b="b"/>
              <a:pathLst>
                <a:path w="5724144" h="731520">
                  <a:moveTo>
                    <a:pt x="0" y="0"/>
                  </a:moveTo>
                  <a:lnTo>
                    <a:pt x="5724144" y="0"/>
                  </a:lnTo>
                  <a:lnTo>
                    <a:pt x="5724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470" b="-10247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72414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Job seekers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71600" y="4702302"/>
            <a:ext cx="4293108" cy="129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People facing hardship building a verified profile, CV and path. Free, always.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546723" y="2802255"/>
            <a:ext cx="5135118" cy="3310890"/>
            <a:chOff x="0" y="0"/>
            <a:chExt cx="6846824" cy="4414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46824" cy="4414520"/>
            </a:xfrm>
            <a:custGeom>
              <a:avLst/>
              <a:gdLst/>
              <a:ahLst/>
              <a:cxnLst/>
              <a:rect l="l" t="t" r="r" b="b"/>
              <a:pathLst>
                <a:path w="6846824" h="44145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662928" y="0"/>
                  </a:lnTo>
                  <a:cubicBezTo>
                    <a:pt x="6764528" y="0"/>
                    <a:pt x="6846824" y="82296"/>
                    <a:pt x="6846824" y="183896"/>
                  </a:cubicBezTo>
                  <a:lnTo>
                    <a:pt x="6846824" y="4230624"/>
                  </a:lnTo>
                  <a:cubicBezTo>
                    <a:pt x="6846824" y="4332224"/>
                    <a:pt x="6764528" y="4414520"/>
                    <a:pt x="6662928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967728" y="3223260"/>
            <a:ext cx="754380" cy="754380"/>
            <a:chOff x="0" y="0"/>
            <a:chExt cx="1005840" cy="10058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967728" y="3223260"/>
            <a:ext cx="754380" cy="754380"/>
            <a:chOff x="0" y="0"/>
            <a:chExt cx="1005840" cy="10058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967728" y="4183380"/>
            <a:ext cx="4293108" cy="548640"/>
            <a:chOff x="0" y="0"/>
            <a:chExt cx="5724144" cy="7315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724144" cy="731520"/>
            </a:xfrm>
            <a:custGeom>
              <a:avLst/>
              <a:gdLst/>
              <a:ahLst/>
              <a:cxnLst/>
              <a:rect l="l" t="t" r="r" b="b"/>
              <a:pathLst>
                <a:path w="5724144" h="731520">
                  <a:moveTo>
                    <a:pt x="0" y="0"/>
                  </a:moveTo>
                  <a:lnTo>
                    <a:pt x="5724144" y="0"/>
                  </a:lnTo>
                  <a:lnTo>
                    <a:pt x="5724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470" b="-10247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572414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Employers &amp; local demand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967728" y="4702302"/>
            <a:ext cx="4293108" cy="129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Small businesses and households posting real needs, and hiring verified, stable-minded workers.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142851" y="2802255"/>
            <a:ext cx="5135118" cy="3310890"/>
            <a:chOff x="0" y="0"/>
            <a:chExt cx="6846824" cy="44145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846824" cy="4414520"/>
            </a:xfrm>
            <a:custGeom>
              <a:avLst/>
              <a:gdLst/>
              <a:ahLst/>
              <a:cxnLst/>
              <a:rect l="l" t="t" r="r" b="b"/>
              <a:pathLst>
                <a:path w="6846824" h="44145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662928" y="0"/>
                  </a:lnTo>
                  <a:cubicBezTo>
                    <a:pt x="6764528" y="0"/>
                    <a:pt x="6846824" y="82296"/>
                    <a:pt x="6846824" y="183896"/>
                  </a:cubicBezTo>
                  <a:lnTo>
                    <a:pt x="6846824" y="4230624"/>
                  </a:lnTo>
                  <a:cubicBezTo>
                    <a:pt x="6846824" y="4332224"/>
                    <a:pt x="6764528" y="4414520"/>
                    <a:pt x="6662928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2563856" y="3223260"/>
            <a:ext cx="754380" cy="754380"/>
            <a:chOff x="0" y="0"/>
            <a:chExt cx="1005840" cy="10058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2563856" y="3223260"/>
            <a:ext cx="754380" cy="754380"/>
            <a:chOff x="0" y="0"/>
            <a:chExt cx="1005840" cy="10058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563856" y="4183380"/>
            <a:ext cx="4293108" cy="548640"/>
            <a:chOff x="0" y="0"/>
            <a:chExt cx="5724144" cy="7315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724144" cy="731520"/>
            </a:xfrm>
            <a:custGeom>
              <a:avLst/>
              <a:gdLst/>
              <a:ahLst/>
              <a:cxnLst/>
              <a:rect l="l" t="t" r="r" b="b"/>
              <a:pathLst>
                <a:path w="5724144" h="731520">
                  <a:moveTo>
                    <a:pt x="0" y="0"/>
                  </a:moveTo>
                  <a:lnTo>
                    <a:pt x="5724144" y="0"/>
                  </a:lnTo>
                  <a:lnTo>
                    <a:pt x="5724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470" b="-102470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572414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Partners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563856" y="4702302"/>
            <a:ext cx="4293108" cy="129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Skilling missions, NGOs and college placement cells that bring users in and track placements.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50595" y="6436995"/>
            <a:ext cx="16341090" cy="1390650"/>
            <a:chOff x="0" y="0"/>
            <a:chExt cx="21788120" cy="1854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788120" cy="1854200"/>
            </a:xfrm>
            <a:custGeom>
              <a:avLst/>
              <a:gdLst/>
              <a:ahLst/>
              <a:cxnLst/>
              <a:rect l="l" t="t" r="r" b="b"/>
              <a:pathLst>
                <a:path w="21788120" h="185420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21602700" y="0"/>
                  </a:lnTo>
                  <a:cubicBezTo>
                    <a:pt x="21705063" y="0"/>
                    <a:pt x="21788120" y="83058"/>
                    <a:pt x="21788120" y="185420"/>
                  </a:cubicBezTo>
                  <a:lnTo>
                    <a:pt x="21788120" y="1668780"/>
                  </a:lnTo>
                  <a:cubicBezTo>
                    <a:pt x="21788120" y="1771142"/>
                    <a:pt x="21705063" y="1854200"/>
                    <a:pt x="21602700" y="1854200"/>
                  </a:cubicBezTo>
                  <a:lnTo>
                    <a:pt x="185420" y="1854200"/>
                  </a:lnTo>
                  <a:cubicBezTo>
                    <a:pt x="83058" y="1854200"/>
                    <a:pt x="0" y="1771142"/>
                    <a:pt x="0" y="1668780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371600" y="6583680"/>
            <a:ext cx="4114800" cy="480060"/>
            <a:chOff x="0" y="0"/>
            <a:chExt cx="5486400" cy="64008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54864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Revenue path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371600" y="6979158"/>
            <a:ext cx="1549908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Free for job seekers. Small placement or verification fees from employers, plus partnership pilots with skilling missions and municipal livelihood programmes.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950595" y="8082915"/>
            <a:ext cx="16341090" cy="1390650"/>
            <a:chOff x="0" y="0"/>
            <a:chExt cx="21788120" cy="1854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788120" cy="1854200"/>
            </a:xfrm>
            <a:custGeom>
              <a:avLst/>
              <a:gdLst/>
              <a:ahLst/>
              <a:cxnLst/>
              <a:rect l="l" t="t" r="r" b="b"/>
              <a:pathLst>
                <a:path w="21788120" h="185420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21602700" y="0"/>
                  </a:lnTo>
                  <a:cubicBezTo>
                    <a:pt x="21705063" y="0"/>
                    <a:pt x="21788120" y="83058"/>
                    <a:pt x="21788120" y="185420"/>
                  </a:cubicBezTo>
                  <a:lnTo>
                    <a:pt x="21788120" y="1668780"/>
                  </a:lnTo>
                  <a:cubicBezTo>
                    <a:pt x="21788120" y="1771142"/>
                    <a:pt x="21705063" y="1854200"/>
                    <a:pt x="21602700" y="1854200"/>
                  </a:cubicBezTo>
                  <a:lnTo>
                    <a:pt x="185420" y="1854200"/>
                  </a:lnTo>
                  <a:cubicBezTo>
                    <a:pt x="83058" y="1854200"/>
                    <a:pt x="0" y="1771142"/>
                    <a:pt x="0" y="1668780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371600" y="8229600"/>
            <a:ext cx="5486400" cy="480060"/>
            <a:chOff x="0" y="0"/>
            <a:chExt cx="7315200" cy="6400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7315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How we measure success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371600" y="8625078"/>
            <a:ext cx="1549908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Stable placement rate, six-month retention, and completed exam applications, not just sign-ups.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16</a:t>
              </a:r>
            </a:p>
          </p:txBody>
        </p:sp>
      </p:grpSp>
      <p:grpSp>
        <p:nvGrpSpPr>
          <p:cNvPr id="56" name="Group 2">
            <a:extLst>
              <a:ext uri="{FF2B5EF4-FFF2-40B4-BE49-F238E27FC236}">
                <a16:creationId xmlns:a16="http://schemas.microsoft.com/office/drawing/2014/main" id="{BCF9CC3D-8E68-4A14-54B9-F421A502461F}"/>
              </a:ext>
            </a:extLst>
          </p:cNvPr>
          <p:cNvGrpSpPr/>
          <p:nvPr/>
        </p:nvGrpSpPr>
        <p:grpSpPr>
          <a:xfrm>
            <a:off x="548640" y="-10586656"/>
            <a:ext cx="12344400" cy="480060"/>
            <a:chOff x="0" y="0"/>
            <a:chExt cx="16459200" cy="640080"/>
          </a:xfrm>
        </p:grpSpPr>
        <p:sp>
          <p:nvSpPr>
            <p:cNvPr id="57" name="Freeform 3">
              <a:extLst>
                <a:ext uri="{FF2B5EF4-FFF2-40B4-BE49-F238E27FC236}">
                  <a16:creationId xmlns:a16="http://schemas.microsoft.com/office/drawing/2014/main" id="{520BA109-3C30-9111-8F56-81C4268CE228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58" name="TextBox 4">
              <a:extLst>
                <a:ext uri="{FF2B5EF4-FFF2-40B4-BE49-F238E27FC236}">
                  <a16:creationId xmlns:a16="http://schemas.microsoft.com/office/drawing/2014/main" id="{8D930BD5-CEEF-6E6B-FAEB-FCFF92C915EE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COMPETITIVE LANDSCAPE</a:t>
              </a:r>
            </a:p>
          </p:txBody>
        </p:sp>
      </p:grpSp>
      <p:grpSp>
        <p:nvGrpSpPr>
          <p:cNvPr id="59" name="Group 5">
            <a:extLst>
              <a:ext uri="{FF2B5EF4-FFF2-40B4-BE49-F238E27FC236}">
                <a16:creationId xmlns:a16="http://schemas.microsoft.com/office/drawing/2014/main" id="{265F8C41-BAF2-6052-4768-4B2C23739C89}"/>
              </a:ext>
            </a:extLst>
          </p:cNvPr>
          <p:cNvGrpSpPr/>
          <p:nvPr/>
        </p:nvGrpSpPr>
        <p:grpSpPr>
          <a:xfrm>
            <a:off x="548640" y="-10106596"/>
            <a:ext cx="16322040" cy="1234440"/>
            <a:chOff x="0" y="0"/>
            <a:chExt cx="21762720" cy="1645920"/>
          </a:xfrm>
        </p:grpSpPr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id="{8A986043-F9A5-66DB-E4EA-0817C1C06C5E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61" name="TextBox 7">
              <a:extLst>
                <a:ext uri="{FF2B5EF4-FFF2-40B4-BE49-F238E27FC236}">
                  <a16:creationId xmlns:a16="http://schemas.microsoft.com/office/drawing/2014/main" id="{F553123D-EA7A-E388-C61B-6FF1746F7DF9}"/>
                </a:ext>
              </a:extLst>
            </p:cNvPr>
            <p:cNvSpPr txBox="1"/>
            <p:nvPr/>
          </p:nvSpPr>
          <p:spPr>
            <a:xfrm>
              <a:off x="0" y="9525"/>
              <a:ext cx="21762720" cy="163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 existing options fall short here</a:t>
              </a:r>
            </a:p>
          </p:txBody>
        </p:sp>
      </p:grpSp>
      <p:grpSp>
        <p:nvGrpSpPr>
          <p:cNvPr id="62" name="Group 8">
            <a:extLst>
              <a:ext uri="{FF2B5EF4-FFF2-40B4-BE49-F238E27FC236}">
                <a16:creationId xmlns:a16="http://schemas.microsoft.com/office/drawing/2014/main" id="{32902B52-AF9D-E21C-1728-6C9397C7768A}"/>
              </a:ext>
            </a:extLst>
          </p:cNvPr>
          <p:cNvGrpSpPr/>
          <p:nvPr/>
        </p:nvGrpSpPr>
        <p:grpSpPr>
          <a:xfrm>
            <a:off x="6446520" y="-8392096"/>
            <a:ext cx="2606040" cy="850392"/>
            <a:chOff x="0" y="0"/>
            <a:chExt cx="3474720" cy="1133856"/>
          </a:xfrm>
        </p:grpSpPr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2E774314-E5A2-0BEF-CD10-5E8F96246FD6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64" name="Group 10">
            <a:extLst>
              <a:ext uri="{FF2B5EF4-FFF2-40B4-BE49-F238E27FC236}">
                <a16:creationId xmlns:a16="http://schemas.microsoft.com/office/drawing/2014/main" id="{9BFB9A4C-826B-4893-C7BC-513F64E8044F}"/>
              </a:ext>
            </a:extLst>
          </p:cNvPr>
          <p:cNvGrpSpPr/>
          <p:nvPr/>
        </p:nvGrpSpPr>
        <p:grpSpPr>
          <a:xfrm>
            <a:off x="6515100" y="-8392096"/>
            <a:ext cx="2468880" cy="850392"/>
            <a:chOff x="0" y="0"/>
            <a:chExt cx="3291840" cy="1133856"/>
          </a:xfrm>
        </p:grpSpPr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01A76382-661B-D0B7-1211-35EAEA6E3CCA}"/>
                </a:ext>
              </a:extLst>
            </p:cNvPr>
            <p:cNvSpPr/>
            <p:nvPr/>
          </p:nvSpPr>
          <p:spPr>
            <a:xfrm>
              <a:off x="0" y="0"/>
              <a:ext cx="3291840" cy="1133856"/>
            </a:xfrm>
            <a:custGeom>
              <a:avLst/>
              <a:gdLst/>
              <a:ahLst/>
              <a:cxnLst/>
              <a:rect l="l" t="t" r="r" b="b"/>
              <a:pathLst>
                <a:path w="3291840" h="1133856">
                  <a:moveTo>
                    <a:pt x="0" y="0"/>
                  </a:moveTo>
                  <a:lnTo>
                    <a:pt x="3291840" y="0"/>
                  </a:lnTo>
                  <a:lnTo>
                    <a:pt x="3291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" b="-6569"/>
              </a:stretch>
            </a:blipFill>
          </p:spPr>
        </p:sp>
        <p:sp>
          <p:nvSpPr>
            <p:cNvPr id="66" name="TextBox 12">
              <a:extLst>
                <a:ext uri="{FF2B5EF4-FFF2-40B4-BE49-F238E27FC236}">
                  <a16:creationId xmlns:a16="http://schemas.microsoft.com/office/drawing/2014/main" id="{F6B3D7EA-5E21-B8CB-113E-A32CCDC74AD1}"/>
                </a:ext>
              </a:extLst>
            </p:cNvPr>
            <p:cNvSpPr txBox="1"/>
            <p:nvPr/>
          </p:nvSpPr>
          <p:spPr>
            <a:xfrm>
              <a:off x="0" y="-9525"/>
              <a:ext cx="329184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LinkedIn</a:t>
              </a:r>
            </a:p>
          </p:txBody>
        </p:sp>
      </p:grpSp>
      <p:grpSp>
        <p:nvGrpSpPr>
          <p:cNvPr id="67" name="Group 13">
            <a:extLst>
              <a:ext uri="{FF2B5EF4-FFF2-40B4-BE49-F238E27FC236}">
                <a16:creationId xmlns:a16="http://schemas.microsoft.com/office/drawing/2014/main" id="{2B3951E1-65EF-0FF6-CF92-BCAD697D7F6E}"/>
              </a:ext>
            </a:extLst>
          </p:cNvPr>
          <p:cNvGrpSpPr/>
          <p:nvPr/>
        </p:nvGrpSpPr>
        <p:grpSpPr>
          <a:xfrm>
            <a:off x="9052560" y="-8392096"/>
            <a:ext cx="2606040" cy="850392"/>
            <a:chOff x="0" y="0"/>
            <a:chExt cx="3474720" cy="1133856"/>
          </a:xfrm>
        </p:grpSpPr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8C235EBF-3642-537D-D406-43AB6D3F536D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69" name="Group 15">
            <a:extLst>
              <a:ext uri="{FF2B5EF4-FFF2-40B4-BE49-F238E27FC236}">
                <a16:creationId xmlns:a16="http://schemas.microsoft.com/office/drawing/2014/main" id="{4CCD8C56-5989-0ACC-E9FD-A1083064C620}"/>
              </a:ext>
            </a:extLst>
          </p:cNvPr>
          <p:cNvGrpSpPr/>
          <p:nvPr/>
        </p:nvGrpSpPr>
        <p:grpSpPr>
          <a:xfrm>
            <a:off x="9121140" y="-8392096"/>
            <a:ext cx="2468880" cy="850392"/>
            <a:chOff x="0" y="0"/>
            <a:chExt cx="3291840" cy="1133856"/>
          </a:xfrm>
        </p:grpSpPr>
        <p:sp>
          <p:nvSpPr>
            <p:cNvPr id="70" name="Freeform 16">
              <a:extLst>
                <a:ext uri="{FF2B5EF4-FFF2-40B4-BE49-F238E27FC236}">
                  <a16:creationId xmlns:a16="http://schemas.microsoft.com/office/drawing/2014/main" id="{161F4D65-DD80-4B0B-9AF5-16B6E6833822}"/>
                </a:ext>
              </a:extLst>
            </p:cNvPr>
            <p:cNvSpPr/>
            <p:nvPr/>
          </p:nvSpPr>
          <p:spPr>
            <a:xfrm>
              <a:off x="0" y="0"/>
              <a:ext cx="3291840" cy="1133856"/>
            </a:xfrm>
            <a:custGeom>
              <a:avLst/>
              <a:gdLst/>
              <a:ahLst/>
              <a:cxnLst/>
              <a:rect l="l" t="t" r="r" b="b"/>
              <a:pathLst>
                <a:path w="3291840" h="1133856">
                  <a:moveTo>
                    <a:pt x="0" y="0"/>
                  </a:moveTo>
                  <a:lnTo>
                    <a:pt x="3291840" y="0"/>
                  </a:lnTo>
                  <a:lnTo>
                    <a:pt x="3291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" b="-6569"/>
              </a:stretch>
            </a:blipFill>
          </p:spPr>
        </p:sp>
        <p:sp>
          <p:nvSpPr>
            <p:cNvPr id="71" name="TextBox 17">
              <a:extLst>
                <a:ext uri="{FF2B5EF4-FFF2-40B4-BE49-F238E27FC236}">
                  <a16:creationId xmlns:a16="http://schemas.microsoft.com/office/drawing/2014/main" id="{592925B7-D701-9927-DCFB-1DF70E2833C7}"/>
                </a:ext>
              </a:extLst>
            </p:cNvPr>
            <p:cNvSpPr txBox="1"/>
            <p:nvPr/>
          </p:nvSpPr>
          <p:spPr>
            <a:xfrm>
              <a:off x="0" y="-9525"/>
              <a:ext cx="329184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Job boards</a:t>
              </a:r>
            </a:p>
          </p:txBody>
        </p:sp>
      </p:grpSp>
      <p:grpSp>
        <p:nvGrpSpPr>
          <p:cNvPr id="72" name="Group 18">
            <a:extLst>
              <a:ext uri="{FF2B5EF4-FFF2-40B4-BE49-F238E27FC236}">
                <a16:creationId xmlns:a16="http://schemas.microsoft.com/office/drawing/2014/main" id="{E14EE15B-00D9-826D-6574-F8B0B93B307E}"/>
              </a:ext>
            </a:extLst>
          </p:cNvPr>
          <p:cNvGrpSpPr/>
          <p:nvPr/>
        </p:nvGrpSpPr>
        <p:grpSpPr>
          <a:xfrm>
            <a:off x="11658600" y="-8392096"/>
            <a:ext cx="2606040" cy="850392"/>
            <a:chOff x="0" y="0"/>
            <a:chExt cx="3474720" cy="1133856"/>
          </a:xfrm>
        </p:grpSpPr>
        <p:sp>
          <p:nvSpPr>
            <p:cNvPr id="73" name="Freeform 19">
              <a:extLst>
                <a:ext uri="{FF2B5EF4-FFF2-40B4-BE49-F238E27FC236}">
                  <a16:creationId xmlns:a16="http://schemas.microsoft.com/office/drawing/2014/main" id="{BA5CBA34-DDA8-6F61-F9C1-E046F70BA6B5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11C31"/>
            </a:solidFill>
          </p:spPr>
        </p:sp>
      </p:grpSp>
      <p:grpSp>
        <p:nvGrpSpPr>
          <p:cNvPr id="74" name="Group 20">
            <a:extLst>
              <a:ext uri="{FF2B5EF4-FFF2-40B4-BE49-F238E27FC236}">
                <a16:creationId xmlns:a16="http://schemas.microsoft.com/office/drawing/2014/main" id="{5BCB8528-29FC-16C6-B4EE-D663A16AB46E}"/>
              </a:ext>
            </a:extLst>
          </p:cNvPr>
          <p:cNvGrpSpPr/>
          <p:nvPr/>
        </p:nvGrpSpPr>
        <p:grpSpPr>
          <a:xfrm>
            <a:off x="11727180" y="-8392096"/>
            <a:ext cx="2468880" cy="850392"/>
            <a:chOff x="0" y="0"/>
            <a:chExt cx="3291840" cy="1133856"/>
          </a:xfrm>
        </p:grpSpPr>
        <p:sp>
          <p:nvSpPr>
            <p:cNvPr id="75" name="Freeform 21">
              <a:extLst>
                <a:ext uri="{FF2B5EF4-FFF2-40B4-BE49-F238E27FC236}">
                  <a16:creationId xmlns:a16="http://schemas.microsoft.com/office/drawing/2014/main" id="{6D0520F0-5889-9298-8A17-95B08FCE88CA}"/>
                </a:ext>
              </a:extLst>
            </p:cNvPr>
            <p:cNvSpPr/>
            <p:nvPr/>
          </p:nvSpPr>
          <p:spPr>
            <a:xfrm>
              <a:off x="0" y="0"/>
              <a:ext cx="3291840" cy="1133856"/>
            </a:xfrm>
            <a:custGeom>
              <a:avLst/>
              <a:gdLst/>
              <a:ahLst/>
              <a:cxnLst/>
              <a:rect l="l" t="t" r="r" b="b"/>
              <a:pathLst>
                <a:path w="3291840" h="1133856">
                  <a:moveTo>
                    <a:pt x="0" y="0"/>
                  </a:moveTo>
                  <a:lnTo>
                    <a:pt x="3291840" y="0"/>
                  </a:lnTo>
                  <a:lnTo>
                    <a:pt x="3291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" b="-6569"/>
              </a:stretch>
            </a:blipFill>
          </p:spPr>
        </p:sp>
        <p:sp>
          <p:nvSpPr>
            <p:cNvPr id="76" name="TextBox 22">
              <a:extLst>
                <a:ext uri="{FF2B5EF4-FFF2-40B4-BE49-F238E27FC236}">
                  <a16:creationId xmlns:a16="http://schemas.microsoft.com/office/drawing/2014/main" id="{CDA0B443-B4BA-7CDD-E9C3-44619FF174FE}"/>
                </a:ext>
              </a:extLst>
            </p:cNvPr>
            <p:cNvSpPr txBox="1"/>
            <p:nvPr/>
          </p:nvSpPr>
          <p:spPr>
            <a:xfrm>
              <a:off x="0" y="-9525"/>
              <a:ext cx="329184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Exam-prep apps</a:t>
              </a:r>
            </a:p>
          </p:txBody>
        </p:sp>
      </p:grpSp>
      <p:grpSp>
        <p:nvGrpSpPr>
          <p:cNvPr id="77" name="Group 23">
            <a:extLst>
              <a:ext uri="{FF2B5EF4-FFF2-40B4-BE49-F238E27FC236}">
                <a16:creationId xmlns:a16="http://schemas.microsoft.com/office/drawing/2014/main" id="{D16A5D23-8BBD-7D96-C048-6CA1B81B1C56}"/>
              </a:ext>
            </a:extLst>
          </p:cNvPr>
          <p:cNvGrpSpPr/>
          <p:nvPr/>
        </p:nvGrpSpPr>
        <p:grpSpPr>
          <a:xfrm>
            <a:off x="14264640" y="-8392096"/>
            <a:ext cx="2606040" cy="850392"/>
            <a:chOff x="0" y="0"/>
            <a:chExt cx="3474720" cy="1133856"/>
          </a:xfrm>
        </p:grpSpPr>
        <p:sp>
          <p:nvSpPr>
            <p:cNvPr id="78" name="Freeform 24">
              <a:extLst>
                <a:ext uri="{FF2B5EF4-FFF2-40B4-BE49-F238E27FC236}">
                  <a16:creationId xmlns:a16="http://schemas.microsoft.com/office/drawing/2014/main" id="{B21A1E76-953D-C526-4595-E9681F5C8EA0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79" name="Group 25">
            <a:extLst>
              <a:ext uri="{FF2B5EF4-FFF2-40B4-BE49-F238E27FC236}">
                <a16:creationId xmlns:a16="http://schemas.microsoft.com/office/drawing/2014/main" id="{E2465B96-AF79-3477-AE98-11E0EED706C4}"/>
              </a:ext>
            </a:extLst>
          </p:cNvPr>
          <p:cNvGrpSpPr/>
          <p:nvPr/>
        </p:nvGrpSpPr>
        <p:grpSpPr>
          <a:xfrm>
            <a:off x="14333220" y="-8392096"/>
            <a:ext cx="2468880" cy="850392"/>
            <a:chOff x="0" y="0"/>
            <a:chExt cx="3291840" cy="1133856"/>
          </a:xfrm>
        </p:grpSpPr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1937B186-961E-E8DD-F86F-75CCE659988A}"/>
                </a:ext>
              </a:extLst>
            </p:cNvPr>
            <p:cNvSpPr/>
            <p:nvPr/>
          </p:nvSpPr>
          <p:spPr>
            <a:xfrm>
              <a:off x="0" y="0"/>
              <a:ext cx="3291840" cy="1133856"/>
            </a:xfrm>
            <a:custGeom>
              <a:avLst/>
              <a:gdLst/>
              <a:ahLst/>
              <a:cxnLst/>
              <a:rect l="l" t="t" r="r" b="b"/>
              <a:pathLst>
                <a:path w="3291840" h="1133856">
                  <a:moveTo>
                    <a:pt x="0" y="0"/>
                  </a:moveTo>
                  <a:lnTo>
                    <a:pt x="3291840" y="0"/>
                  </a:lnTo>
                  <a:lnTo>
                    <a:pt x="3291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" b="-6569"/>
              </a:stretch>
            </a:blipFill>
          </p:spPr>
        </p:sp>
        <p:sp>
          <p:nvSpPr>
            <p:cNvPr id="81" name="TextBox 27">
              <a:extLst>
                <a:ext uri="{FF2B5EF4-FFF2-40B4-BE49-F238E27FC236}">
                  <a16:creationId xmlns:a16="http://schemas.microsoft.com/office/drawing/2014/main" id="{FCFB2DCF-7678-30A7-1227-7BA40A3E78A0}"/>
                </a:ext>
              </a:extLst>
            </p:cNvPr>
            <p:cNvSpPr txBox="1"/>
            <p:nvPr/>
          </p:nvSpPr>
          <p:spPr>
            <a:xfrm>
              <a:off x="0" y="-9525"/>
              <a:ext cx="329184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SkillAscend</a:t>
              </a:r>
            </a:p>
          </p:txBody>
        </p:sp>
      </p:grpSp>
      <p:grpSp>
        <p:nvGrpSpPr>
          <p:cNvPr id="82" name="Group 28">
            <a:extLst>
              <a:ext uri="{FF2B5EF4-FFF2-40B4-BE49-F238E27FC236}">
                <a16:creationId xmlns:a16="http://schemas.microsoft.com/office/drawing/2014/main" id="{E5BC1764-207C-A3CF-3960-68EB7DDAA115}"/>
              </a:ext>
            </a:extLst>
          </p:cNvPr>
          <p:cNvGrpSpPr/>
          <p:nvPr/>
        </p:nvGrpSpPr>
        <p:grpSpPr>
          <a:xfrm>
            <a:off x="548640" y="-7541704"/>
            <a:ext cx="16322040" cy="850392"/>
            <a:chOff x="0" y="0"/>
            <a:chExt cx="21762720" cy="1133856"/>
          </a:xfrm>
        </p:grpSpPr>
        <p:sp>
          <p:nvSpPr>
            <p:cNvPr id="83" name="Freeform 29">
              <a:extLst>
                <a:ext uri="{FF2B5EF4-FFF2-40B4-BE49-F238E27FC236}">
                  <a16:creationId xmlns:a16="http://schemas.microsoft.com/office/drawing/2014/main" id="{6A7C90B9-CC45-5B7F-AF6F-88D4789A2657}"/>
                </a:ext>
              </a:extLst>
            </p:cNvPr>
            <p:cNvSpPr/>
            <p:nvPr/>
          </p:nvSpPr>
          <p:spPr>
            <a:xfrm>
              <a:off x="0" y="0"/>
              <a:ext cx="21762720" cy="1133856"/>
            </a:xfrm>
            <a:custGeom>
              <a:avLst/>
              <a:gdLst/>
              <a:ahLst/>
              <a:cxnLst/>
              <a:rect l="l" t="t" r="r" b="b"/>
              <a:pathLst>
                <a:path w="21762720" h="1133856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6243D"/>
            </a:solidFill>
          </p:spPr>
        </p:sp>
      </p:grpSp>
      <p:grpSp>
        <p:nvGrpSpPr>
          <p:cNvPr id="84" name="Group 30">
            <a:extLst>
              <a:ext uri="{FF2B5EF4-FFF2-40B4-BE49-F238E27FC236}">
                <a16:creationId xmlns:a16="http://schemas.microsoft.com/office/drawing/2014/main" id="{8D9C404B-CF5E-F85D-2512-EE3A8FA91DF7}"/>
              </a:ext>
            </a:extLst>
          </p:cNvPr>
          <p:cNvGrpSpPr/>
          <p:nvPr/>
        </p:nvGrpSpPr>
        <p:grpSpPr>
          <a:xfrm>
            <a:off x="754380" y="-7541704"/>
            <a:ext cx="5486400" cy="850392"/>
            <a:chOff x="0" y="0"/>
            <a:chExt cx="7315200" cy="1133856"/>
          </a:xfrm>
        </p:grpSpPr>
        <p:sp>
          <p:nvSpPr>
            <p:cNvPr id="85" name="Freeform 31">
              <a:extLst>
                <a:ext uri="{FF2B5EF4-FFF2-40B4-BE49-F238E27FC236}">
                  <a16:creationId xmlns:a16="http://schemas.microsoft.com/office/drawing/2014/main" id="{B728F8DE-8495-A911-F587-81D146F31149}"/>
                </a:ext>
              </a:extLst>
            </p:cNvPr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86" name="TextBox 32">
              <a:extLst>
                <a:ext uri="{FF2B5EF4-FFF2-40B4-BE49-F238E27FC236}">
                  <a16:creationId xmlns:a16="http://schemas.microsoft.com/office/drawing/2014/main" id="{BEC77A2D-3CB5-9990-D709-F8C278647B95}"/>
                </a:ext>
              </a:extLst>
            </p:cNvPr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Works without an existing CV</a:t>
              </a:r>
            </a:p>
          </p:txBody>
        </p:sp>
      </p:grpSp>
      <p:grpSp>
        <p:nvGrpSpPr>
          <p:cNvPr id="87" name="Group 33">
            <a:extLst>
              <a:ext uri="{FF2B5EF4-FFF2-40B4-BE49-F238E27FC236}">
                <a16:creationId xmlns:a16="http://schemas.microsoft.com/office/drawing/2014/main" id="{CD1DFA7F-B19F-BEFA-FBC6-D0B41BF1A4F2}"/>
              </a:ext>
            </a:extLst>
          </p:cNvPr>
          <p:cNvGrpSpPr/>
          <p:nvPr/>
        </p:nvGrpSpPr>
        <p:grpSpPr>
          <a:xfrm>
            <a:off x="6446520" y="-7541704"/>
            <a:ext cx="2606040" cy="850392"/>
            <a:chOff x="0" y="0"/>
            <a:chExt cx="3474720" cy="1133856"/>
          </a:xfrm>
        </p:grpSpPr>
        <p:sp>
          <p:nvSpPr>
            <p:cNvPr id="88" name="Freeform 34">
              <a:extLst>
                <a:ext uri="{FF2B5EF4-FFF2-40B4-BE49-F238E27FC236}">
                  <a16:creationId xmlns:a16="http://schemas.microsoft.com/office/drawing/2014/main" id="{5393E53F-B378-5117-709A-5F9B31C5EB3C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89" name="TextBox 35">
              <a:extLst>
                <a:ext uri="{FF2B5EF4-FFF2-40B4-BE49-F238E27FC236}">
                  <a16:creationId xmlns:a16="http://schemas.microsoft.com/office/drawing/2014/main" id="{98C456E4-E169-9B78-577B-3FA6E18AF837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90" name="Group 36">
            <a:extLst>
              <a:ext uri="{FF2B5EF4-FFF2-40B4-BE49-F238E27FC236}">
                <a16:creationId xmlns:a16="http://schemas.microsoft.com/office/drawing/2014/main" id="{C07EE818-0289-FD88-7467-F12EAE18D57F}"/>
              </a:ext>
            </a:extLst>
          </p:cNvPr>
          <p:cNvGrpSpPr/>
          <p:nvPr/>
        </p:nvGrpSpPr>
        <p:grpSpPr>
          <a:xfrm>
            <a:off x="9052560" y="-7541704"/>
            <a:ext cx="2606040" cy="850392"/>
            <a:chOff x="0" y="0"/>
            <a:chExt cx="3474720" cy="1133856"/>
          </a:xfrm>
        </p:grpSpPr>
        <p:sp>
          <p:nvSpPr>
            <p:cNvPr id="91" name="Freeform 37">
              <a:extLst>
                <a:ext uri="{FF2B5EF4-FFF2-40B4-BE49-F238E27FC236}">
                  <a16:creationId xmlns:a16="http://schemas.microsoft.com/office/drawing/2014/main" id="{03F6D5F9-BDD6-27AC-6206-47671FC1CB71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92" name="TextBox 38">
              <a:extLst>
                <a:ext uri="{FF2B5EF4-FFF2-40B4-BE49-F238E27FC236}">
                  <a16:creationId xmlns:a16="http://schemas.microsoft.com/office/drawing/2014/main" id="{D2C0CE2B-4F64-A2E8-CCD1-DE91FA55F249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93" name="Group 39">
            <a:extLst>
              <a:ext uri="{FF2B5EF4-FFF2-40B4-BE49-F238E27FC236}">
                <a16:creationId xmlns:a16="http://schemas.microsoft.com/office/drawing/2014/main" id="{22A451BF-77F3-9E65-4D1F-555C2E793561}"/>
              </a:ext>
            </a:extLst>
          </p:cNvPr>
          <p:cNvGrpSpPr/>
          <p:nvPr/>
        </p:nvGrpSpPr>
        <p:grpSpPr>
          <a:xfrm>
            <a:off x="11658600" y="-7541704"/>
            <a:ext cx="2606040" cy="850392"/>
            <a:chOff x="0" y="0"/>
            <a:chExt cx="3474720" cy="1133856"/>
          </a:xfrm>
        </p:grpSpPr>
        <p:sp>
          <p:nvSpPr>
            <p:cNvPr id="94" name="Freeform 40">
              <a:extLst>
                <a:ext uri="{FF2B5EF4-FFF2-40B4-BE49-F238E27FC236}">
                  <a16:creationId xmlns:a16="http://schemas.microsoft.com/office/drawing/2014/main" id="{7D1B98E6-C77C-2741-8AC1-BE5CB24144F0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95" name="TextBox 41">
              <a:extLst>
                <a:ext uri="{FF2B5EF4-FFF2-40B4-BE49-F238E27FC236}">
                  <a16:creationId xmlns:a16="http://schemas.microsoft.com/office/drawing/2014/main" id="{1DE1A7E5-171C-EBA8-A74F-BB20ED873F64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96" name="Group 42">
            <a:extLst>
              <a:ext uri="{FF2B5EF4-FFF2-40B4-BE49-F238E27FC236}">
                <a16:creationId xmlns:a16="http://schemas.microsoft.com/office/drawing/2014/main" id="{24AEE0E3-C0EE-D13B-3BF1-C6DE5835B8C9}"/>
              </a:ext>
            </a:extLst>
          </p:cNvPr>
          <p:cNvGrpSpPr/>
          <p:nvPr/>
        </p:nvGrpSpPr>
        <p:grpSpPr>
          <a:xfrm>
            <a:off x="14264640" y="-7541704"/>
            <a:ext cx="2606040" cy="850392"/>
            <a:chOff x="0" y="0"/>
            <a:chExt cx="3474720" cy="1133856"/>
          </a:xfrm>
        </p:grpSpPr>
        <p:sp>
          <p:nvSpPr>
            <p:cNvPr id="97" name="Freeform 43">
              <a:extLst>
                <a:ext uri="{FF2B5EF4-FFF2-40B4-BE49-F238E27FC236}">
                  <a16:creationId xmlns:a16="http://schemas.microsoft.com/office/drawing/2014/main" id="{1D247532-FDF4-84EA-80A7-958F3EB1B209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98" name="TextBox 44">
              <a:extLst>
                <a:ext uri="{FF2B5EF4-FFF2-40B4-BE49-F238E27FC236}">
                  <a16:creationId xmlns:a16="http://schemas.microsoft.com/office/drawing/2014/main" id="{C8E4686F-E92C-8765-6C34-1A08411D1777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99" name="Group 45">
            <a:extLst>
              <a:ext uri="{FF2B5EF4-FFF2-40B4-BE49-F238E27FC236}">
                <a16:creationId xmlns:a16="http://schemas.microsoft.com/office/drawing/2014/main" id="{C7304A12-E2DB-B2A6-BB02-CD6D15553E3C}"/>
              </a:ext>
            </a:extLst>
          </p:cNvPr>
          <p:cNvGrpSpPr/>
          <p:nvPr/>
        </p:nvGrpSpPr>
        <p:grpSpPr>
          <a:xfrm>
            <a:off x="754380" y="-6691312"/>
            <a:ext cx="5486400" cy="850392"/>
            <a:chOff x="0" y="0"/>
            <a:chExt cx="7315200" cy="1133856"/>
          </a:xfrm>
        </p:grpSpPr>
        <p:sp>
          <p:nvSpPr>
            <p:cNvPr id="100" name="Freeform 46">
              <a:extLst>
                <a:ext uri="{FF2B5EF4-FFF2-40B4-BE49-F238E27FC236}">
                  <a16:creationId xmlns:a16="http://schemas.microsoft.com/office/drawing/2014/main" id="{AA9FDCD7-77DD-38B4-B84B-42BAC14662D5}"/>
                </a:ext>
              </a:extLst>
            </p:cNvPr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101" name="TextBox 47">
              <a:extLst>
                <a:ext uri="{FF2B5EF4-FFF2-40B4-BE49-F238E27FC236}">
                  <a16:creationId xmlns:a16="http://schemas.microsoft.com/office/drawing/2014/main" id="{A1A5BA2D-90A0-E245-685A-B0077F0F9D5E}"/>
                </a:ext>
              </a:extLst>
            </p:cNvPr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Verifies informally learned skills</a:t>
              </a:r>
            </a:p>
          </p:txBody>
        </p:sp>
      </p:grpSp>
      <p:grpSp>
        <p:nvGrpSpPr>
          <p:cNvPr id="102" name="Group 48">
            <a:extLst>
              <a:ext uri="{FF2B5EF4-FFF2-40B4-BE49-F238E27FC236}">
                <a16:creationId xmlns:a16="http://schemas.microsoft.com/office/drawing/2014/main" id="{96F29472-A6F8-E5DC-AACD-053CE442ECA2}"/>
              </a:ext>
            </a:extLst>
          </p:cNvPr>
          <p:cNvGrpSpPr/>
          <p:nvPr/>
        </p:nvGrpSpPr>
        <p:grpSpPr>
          <a:xfrm>
            <a:off x="6446520" y="-6691312"/>
            <a:ext cx="2606040" cy="850392"/>
            <a:chOff x="0" y="0"/>
            <a:chExt cx="3474720" cy="1133856"/>
          </a:xfrm>
        </p:grpSpPr>
        <p:sp>
          <p:nvSpPr>
            <p:cNvPr id="103" name="Freeform 49">
              <a:extLst>
                <a:ext uri="{FF2B5EF4-FFF2-40B4-BE49-F238E27FC236}">
                  <a16:creationId xmlns:a16="http://schemas.microsoft.com/office/drawing/2014/main" id="{40FD9BBB-FDD2-CEBD-2969-F32537E1E436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04" name="TextBox 50">
              <a:extLst>
                <a:ext uri="{FF2B5EF4-FFF2-40B4-BE49-F238E27FC236}">
                  <a16:creationId xmlns:a16="http://schemas.microsoft.com/office/drawing/2014/main" id="{C7BD1E19-4D8D-3319-3A20-233C600BE005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105" name="Group 51">
            <a:extLst>
              <a:ext uri="{FF2B5EF4-FFF2-40B4-BE49-F238E27FC236}">
                <a16:creationId xmlns:a16="http://schemas.microsoft.com/office/drawing/2014/main" id="{C61ACA4E-3191-CCA0-19C4-07CABA8E36A3}"/>
              </a:ext>
            </a:extLst>
          </p:cNvPr>
          <p:cNvGrpSpPr/>
          <p:nvPr/>
        </p:nvGrpSpPr>
        <p:grpSpPr>
          <a:xfrm>
            <a:off x="9052560" y="-6691312"/>
            <a:ext cx="2606040" cy="850392"/>
            <a:chOff x="0" y="0"/>
            <a:chExt cx="3474720" cy="1133856"/>
          </a:xfrm>
        </p:grpSpPr>
        <p:sp>
          <p:nvSpPr>
            <p:cNvPr id="106" name="Freeform 52">
              <a:extLst>
                <a:ext uri="{FF2B5EF4-FFF2-40B4-BE49-F238E27FC236}">
                  <a16:creationId xmlns:a16="http://schemas.microsoft.com/office/drawing/2014/main" id="{4BD01B06-AD23-BF0E-1650-01D95037750C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07" name="TextBox 53">
              <a:extLst>
                <a:ext uri="{FF2B5EF4-FFF2-40B4-BE49-F238E27FC236}">
                  <a16:creationId xmlns:a16="http://schemas.microsoft.com/office/drawing/2014/main" id="{4241ACAE-1DC3-B68E-22F3-C3F7408AFBA9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108" name="Group 54">
            <a:extLst>
              <a:ext uri="{FF2B5EF4-FFF2-40B4-BE49-F238E27FC236}">
                <a16:creationId xmlns:a16="http://schemas.microsoft.com/office/drawing/2014/main" id="{B5D027A7-2C52-299E-641D-2241A2CEF343}"/>
              </a:ext>
            </a:extLst>
          </p:cNvPr>
          <p:cNvGrpSpPr/>
          <p:nvPr/>
        </p:nvGrpSpPr>
        <p:grpSpPr>
          <a:xfrm>
            <a:off x="11658600" y="-6691312"/>
            <a:ext cx="2606040" cy="850392"/>
            <a:chOff x="0" y="0"/>
            <a:chExt cx="3474720" cy="1133856"/>
          </a:xfrm>
        </p:grpSpPr>
        <p:sp>
          <p:nvSpPr>
            <p:cNvPr id="109" name="Freeform 55">
              <a:extLst>
                <a:ext uri="{FF2B5EF4-FFF2-40B4-BE49-F238E27FC236}">
                  <a16:creationId xmlns:a16="http://schemas.microsoft.com/office/drawing/2014/main" id="{AD23555B-C23F-32C2-0058-B7F13EF40E3A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10" name="TextBox 56">
              <a:extLst>
                <a:ext uri="{FF2B5EF4-FFF2-40B4-BE49-F238E27FC236}">
                  <a16:creationId xmlns:a16="http://schemas.microsoft.com/office/drawing/2014/main" id="{32983D48-3F83-C2C9-5C7E-265AFDD897B8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111" name="Group 57">
            <a:extLst>
              <a:ext uri="{FF2B5EF4-FFF2-40B4-BE49-F238E27FC236}">
                <a16:creationId xmlns:a16="http://schemas.microsoft.com/office/drawing/2014/main" id="{F1621751-139E-F3AE-8833-B16B50723B0B}"/>
              </a:ext>
            </a:extLst>
          </p:cNvPr>
          <p:cNvGrpSpPr/>
          <p:nvPr/>
        </p:nvGrpSpPr>
        <p:grpSpPr>
          <a:xfrm>
            <a:off x="14264640" y="-6691312"/>
            <a:ext cx="2606040" cy="850392"/>
            <a:chOff x="0" y="0"/>
            <a:chExt cx="3474720" cy="1133856"/>
          </a:xfrm>
        </p:grpSpPr>
        <p:sp>
          <p:nvSpPr>
            <p:cNvPr id="112" name="Freeform 58">
              <a:extLst>
                <a:ext uri="{FF2B5EF4-FFF2-40B4-BE49-F238E27FC236}">
                  <a16:creationId xmlns:a16="http://schemas.microsoft.com/office/drawing/2014/main" id="{FB8D2B9A-CC8E-AFE6-8068-DA30738C9F8B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13" name="TextBox 59">
              <a:extLst>
                <a:ext uri="{FF2B5EF4-FFF2-40B4-BE49-F238E27FC236}">
                  <a16:creationId xmlns:a16="http://schemas.microsoft.com/office/drawing/2014/main" id="{41A73DCE-80ED-1FB8-B870-E3F6C50FADDC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114" name="Group 60">
            <a:extLst>
              <a:ext uri="{FF2B5EF4-FFF2-40B4-BE49-F238E27FC236}">
                <a16:creationId xmlns:a16="http://schemas.microsoft.com/office/drawing/2014/main" id="{BFC6728D-B46B-79B2-2E56-8A192E808C4D}"/>
              </a:ext>
            </a:extLst>
          </p:cNvPr>
          <p:cNvGrpSpPr/>
          <p:nvPr/>
        </p:nvGrpSpPr>
        <p:grpSpPr>
          <a:xfrm>
            <a:off x="548640" y="-5840920"/>
            <a:ext cx="16322040" cy="850392"/>
            <a:chOff x="0" y="0"/>
            <a:chExt cx="21762720" cy="1133856"/>
          </a:xfrm>
        </p:grpSpPr>
        <p:sp>
          <p:nvSpPr>
            <p:cNvPr id="115" name="Freeform 61">
              <a:extLst>
                <a:ext uri="{FF2B5EF4-FFF2-40B4-BE49-F238E27FC236}">
                  <a16:creationId xmlns:a16="http://schemas.microsoft.com/office/drawing/2014/main" id="{E23CCB45-E896-0E5C-7AFB-E75D1AB54A8D}"/>
                </a:ext>
              </a:extLst>
            </p:cNvPr>
            <p:cNvSpPr/>
            <p:nvPr/>
          </p:nvSpPr>
          <p:spPr>
            <a:xfrm>
              <a:off x="0" y="0"/>
              <a:ext cx="21762720" cy="1133856"/>
            </a:xfrm>
            <a:custGeom>
              <a:avLst/>
              <a:gdLst/>
              <a:ahLst/>
              <a:cxnLst/>
              <a:rect l="l" t="t" r="r" b="b"/>
              <a:pathLst>
                <a:path w="21762720" h="1133856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6243D"/>
            </a:solidFill>
          </p:spPr>
        </p:sp>
      </p:grpSp>
      <p:grpSp>
        <p:nvGrpSpPr>
          <p:cNvPr id="116" name="Group 62">
            <a:extLst>
              <a:ext uri="{FF2B5EF4-FFF2-40B4-BE49-F238E27FC236}">
                <a16:creationId xmlns:a16="http://schemas.microsoft.com/office/drawing/2014/main" id="{EFE66CFA-9ABD-D3D2-BDEC-02F1A64B2CB7}"/>
              </a:ext>
            </a:extLst>
          </p:cNvPr>
          <p:cNvGrpSpPr/>
          <p:nvPr/>
        </p:nvGrpSpPr>
        <p:grpSpPr>
          <a:xfrm>
            <a:off x="754380" y="-5840920"/>
            <a:ext cx="5486400" cy="850392"/>
            <a:chOff x="0" y="0"/>
            <a:chExt cx="7315200" cy="1133856"/>
          </a:xfrm>
        </p:grpSpPr>
        <p:sp>
          <p:nvSpPr>
            <p:cNvPr id="117" name="Freeform 63">
              <a:extLst>
                <a:ext uri="{FF2B5EF4-FFF2-40B4-BE49-F238E27FC236}">
                  <a16:creationId xmlns:a16="http://schemas.microsoft.com/office/drawing/2014/main" id="{00AEC1AE-D9EB-906B-0FF9-9B9129A8FAEC}"/>
                </a:ext>
              </a:extLst>
            </p:cNvPr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118" name="TextBox 64">
              <a:extLst>
                <a:ext uri="{FF2B5EF4-FFF2-40B4-BE49-F238E27FC236}">
                  <a16:creationId xmlns:a16="http://schemas.microsoft.com/office/drawing/2014/main" id="{FBD11FFC-EFEF-F999-D45D-BD52174423FA}"/>
                </a:ext>
              </a:extLst>
            </p:cNvPr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Builds your CV for you</a:t>
              </a:r>
            </a:p>
          </p:txBody>
        </p:sp>
      </p:grpSp>
      <p:grpSp>
        <p:nvGrpSpPr>
          <p:cNvPr id="119" name="Group 65">
            <a:extLst>
              <a:ext uri="{FF2B5EF4-FFF2-40B4-BE49-F238E27FC236}">
                <a16:creationId xmlns:a16="http://schemas.microsoft.com/office/drawing/2014/main" id="{9AB85102-FA3D-28FE-3C78-5B6450BC7642}"/>
              </a:ext>
            </a:extLst>
          </p:cNvPr>
          <p:cNvGrpSpPr/>
          <p:nvPr/>
        </p:nvGrpSpPr>
        <p:grpSpPr>
          <a:xfrm>
            <a:off x="6446520" y="-5840920"/>
            <a:ext cx="2606040" cy="850392"/>
            <a:chOff x="0" y="0"/>
            <a:chExt cx="3474720" cy="1133856"/>
          </a:xfrm>
        </p:grpSpPr>
        <p:sp>
          <p:nvSpPr>
            <p:cNvPr id="120" name="Freeform 66">
              <a:extLst>
                <a:ext uri="{FF2B5EF4-FFF2-40B4-BE49-F238E27FC236}">
                  <a16:creationId xmlns:a16="http://schemas.microsoft.com/office/drawing/2014/main" id="{C29350C5-37EB-68C2-DAA5-BD1766408F7B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21" name="TextBox 67">
              <a:extLst>
                <a:ext uri="{FF2B5EF4-FFF2-40B4-BE49-F238E27FC236}">
                  <a16:creationId xmlns:a16="http://schemas.microsoft.com/office/drawing/2014/main" id="{DBB202C4-1C2C-E1D8-7971-1F9806A4324B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122" name="Group 68">
            <a:extLst>
              <a:ext uri="{FF2B5EF4-FFF2-40B4-BE49-F238E27FC236}">
                <a16:creationId xmlns:a16="http://schemas.microsoft.com/office/drawing/2014/main" id="{E5754F87-D18D-D469-0800-3D8E59EA8C82}"/>
              </a:ext>
            </a:extLst>
          </p:cNvPr>
          <p:cNvGrpSpPr/>
          <p:nvPr/>
        </p:nvGrpSpPr>
        <p:grpSpPr>
          <a:xfrm>
            <a:off x="9052560" y="-5840920"/>
            <a:ext cx="2606040" cy="850392"/>
            <a:chOff x="0" y="0"/>
            <a:chExt cx="3474720" cy="1133856"/>
          </a:xfrm>
        </p:grpSpPr>
        <p:sp>
          <p:nvSpPr>
            <p:cNvPr id="123" name="Freeform 69">
              <a:extLst>
                <a:ext uri="{FF2B5EF4-FFF2-40B4-BE49-F238E27FC236}">
                  <a16:creationId xmlns:a16="http://schemas.microsoft.com/office/drawing/2014/main" id="{2C3AE9C0-50BE-1265-C1E5-AAB9746C7CD8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24" name="TextBox 70">
              <a:extLst>
                <a:ext uri="{FF2B5EF4-FFF2-40B4-BE49-F238E27FC236}">
                  <a16:creationId xmlns:a16="http://schemas.microsoft.com/office/drawing/2014/main" id="{937B3839-3B04-3927-F57C-4FE32918B48E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125" name="Group 71">
            <a:extLst>
              <a:ext uri="{FF2B5EF4-FFF2-40B4-BE49-F238E27FC236}">
                <a16:creationId xmlns:a16="http://schemas.microsoft.com/office/drawing/2014/main" id="{4C2BA44F-611F-9652-0765-EB88BB8B3D4B}"/>
              </a:ext>
            </a:extLst>
          </p:cNvPr>
          <p:cNvGrpSpPr/>
          <p:nvPr/>
        </p:nvGrpSpPr>
        <p:grpSpPr>
          <a:xfrm>
            <a:off x="11658600" y="-5840920"/>
            <a:ext cx="2606040" cy="850392"/>
            <a:chOff x="0" y="0"/>
            <a:chExt cx="3474720" cy="1133856"/>
          </a:xfrm>
        </p:grpSpPr>
        <p:sp>
          <p:nvSpPr>
            <p:cNvPr id="126" name="Freeform 72">
              <a:extLst>
                <a:ext uri="{FF2B5EF4-FFF2-40B4-BE49-F238E27FC236}">
                  <a16:creationId xmlns:a16="http://schemas.microsoft.com/office/drawing/2014/main" id="{852817CE-1362-C522-D8F5-EE283073A87C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27" name="TextBox 73">
              <a:extLst>
                <a:ext uri="{FF2B5EF4-FFF2-40B4-BE49-F238E27FC236}">
                  <a16:creationId xmlns:a16="http://schemas.microsoft.com/office/drawing/2014/main" id="{8F53520C-C86F-B6CB-3E1A-C7AD285DEEBE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128" name="Group 74">
            <a:extLst>
              <a:ext uri="{FF2B5EF4-FFF2-40B4-BE49-F238E27FC236}">
                <a16:creationId xmlns:a16="http://schemas.microsoft.com/office/drawing/2014/main" id="{6D9E5221-A623-971F-01A2-FB92E71B5E42}"/>
              </a:ext>
            </a:extLst>
          </p:cNvPr>
          <p:cNvGrpSpPr/>
          <p:nvPr/>
        </p:nvGrpSpPr>
        <p:grpSpPr>
          <a:xfrm>
            <a:off x="14264640" y="-5840920"/>
            <a:ext cx="2606040" cy="850392"/>
            <a:chOff x="0" y="0"/>
            <a:chExt cx="3474720" cy="1133856"/>
          </a:xfrm>
        </p:grpSpPr>
        <p:sp>
          <p:nvSpPr>
            <p:cNvPr id="129" name="Freeform 75">
              <a:extLst>
                <a:ext uri="{FF2B5EF4-FFF2-40B4-BE49-F238E27FC236}">
                  <a16:creationId xmlns:a16="http://schemas.microsoft.com/office/drawing/2014/main" id="{F3555916-312C-A43B-5484-87B81D2FB351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30" name="TextBox 76">
              <a:extLst>
                <a:ext uri="{FF2B5EF4-FFF2-40B4-BE49-F238E27FC236}">
                  <a16:creationId xmlns:a16="http://schemas.microsoft.com/office/drawing/2014/main" id="{52FF6DBE-BBC3-1D38-8240-B106C06C19D2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131" name="Group 77">
            <a:extLst>
              <a:ext uri="{FF2B5EF4-FFF2-40B4-BE49-F238E27FC236}">
                <a16:creationId xmlns:a16="http://schemas.microsoft.com/office/drawing/2014/main" id="{76782163-7A16-C385-1187-ECEB6D4AFF1F}"/>
              </a:ext>
            </a:extLst>
          </p:cNvPr>
          <p:cNvGrpSpPr/>
          <p:nvPr/>
        </p:nvGrpSpPr>
        <p:grpSpPr>
          <a:xfrm>
            <a:off x="754380" y="-4990528"/>
            <a:ext cx="5486400" cy="850392"/>
            <a:chOff x="0" y="0"/>
            <a:chExt cx="7315200" cy="1133856"/>
          </a:xfrm>
        </p:grpSpPr>
        <p:sp>
          <p:nvSpPr>
            <p:cNvPr id="132" name="Freeform 78">
              <a:extLst>
                <a:ext uri="{FF2B5EF4-FFF2-40B4-BE49-F238E27FC236}">
                  <a16:creationId xmlns:a16="http://schemas.microsoft.com/office/drawing/2014/main" id="{18EAFC4A-B6CA-ABB7-1CE3-35079A4BFF3D}"/>
                </a:ext>
              </a:extLst>
            </p:cNvPr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133" name="TextBox 79">
              <a:extLst>
                <a:ext uri="{FF2B5EF4-FFF2-40B4-BE49-F238E27FC236}">
                  <a16:creationId xmlns:a16="http://schemas.microsoft.com/office/drawing/2014/main" id="{C9F73A44-3EB4-57FC-0169-DBF1B681B6DC}"/>
                </a:ext>
              </a:extLst>
            </p:cNvPr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Teaches the skills you're missing</a:t>
              </a:r>
            </a:p>
          </p:txBody>
        </p:sp>
      </p:grpSp>
      <p:grpSp>
        <p:nvGrpSpPr>
          <p:cNvPr id="134" name="Group 80">
            <a:extLst>
              <a:ext uri="{FF2B5EF4-FFF2-40B4-BE49-F238E27FC236}">
                <a16:creationId xmlns:a16="http://schemas.microsoft.com/office/drawing/2014/main" id="{75651EF7-ECAF-F5F5-3AC7-DBFB9B25846D}"/>
              </a:ext>
            </a:extLst>
          </p:cNvPr>
          <p:cNvGrpSpPr/>
          <p:nvPr/>
        </p:nvGrpSpPr>
        <p:grpSpPr>
          <a:xfrm>
            <a:off x="6446520" y="-4990528"/>
            <a:ext cx="2606040" cy="850392"/>
            <a:chOff x="0" y="0"/>
            <a:chExt cx="3474720" cy="1133856"/>
          </a:xfrm>
        </p:grpSpPr>
        <p:sp>
          <p:nvSpPr>
            <p:cNvPr id="135" name="Freeform 81">
              <a:extLst>
                <a:ext uri="{FF2B5EF4-FFF2-40B4-BE49-F238E27FC236}">
                  <a16:creationId xmlns:a16="http://schemas.microsoft.com/office/drawing/2014/main" id="{FF313A60-ABFD-6511-3616-95705BF85EDA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36" name="TextBox 82">
              <a:extLst>
                <a:ext uri="{FF2B5EF4-FFF2-40B4-BE49-F238E27FC236}">
                  <a16:creationId xmlns:a16="http://schemas.microsoft.com/office/drawing/2014/main" id="{05245EC6-B26C-BBA4-4010-3520F94DB6B7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137" name="Group 83">
            <a:extLst>
              <a:ext uri="{FF2B5EF4-FFF2-40B4-BE49-F238E27FC236}">
                <a16:creationId xmlns:a16="http://schemas.microsoft.com/office/drawing/2014/main" id="{7F5FA1A2-36ED-A4C0-49AD-B522C5ABAACF}"/>
              </a:ext>
            </a:extLst>
          </p:cNvPr>
          <p:cNvGrpSpPr/>
          <p:nvPr/>
        </p:nvGrpSpPr>
        <p:grpSpPr>
          <a:xfrm>
            <a:off x="9052560" y="-4990528"/>
            <a:ext cx="2606040" cy="850392"/>
            <a:chOff x="0" y="0"/>
            <a:chExt cx="3474720" cy="1133856"/>
          </a:xfrm>
        </p:grpSpPr>
        <p:sp>
          <p:nvSpPr>
            <p:cNvPr id="138" name="Freeform 84">
              <a:extLst>
                <a:ext uri="{FF2B5EF4-FFF2-40B4-BE49-F238E27FC236}">
                  <a16:creationId xmlns:a16="http://schemas.microsoft.com/office/drawing/2014/main" id="{2A18983C-3C59-3744-AD63-A6563AA5671E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39" name="TextBox 85">
              <a:extLst>
                <a:ext uri="{FF2B5EF4-FFF2-40B4-BE49-F238E27FC236}">
                  <a16:creationId xmlns:a16="http://schemas.microsoft.com/office/drawing/2014/main" id="{1010C40C-2C13-F50D-AA70-46C6E4511991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140" name="Group 86">
            <a:extLst>
              <a:ext uri="{FF2B5EF4-FFF2-40B4-BE49-F238E27FC236}">
                <a16:creationId xmlns:a16="http://schemas.microsoft.com/office/drawing/2014/main" id="{2B709C83-A88C-870B-AEDC-8EB910C08967}"/>
              </a:ext>
            </a:extLst>
          </p:cNvPr>
          <p:cNvGrpSpPr/>
          <p:nvPr/>
        </p:nvGrpSpPr>
        <p:grpSpPr>
          <a:xfrm>
            <a:off x="11658600" y="-4990528"/>
            <a:ext cx="2606040" cy="850392"/>
            <a:chOff x="0" y="0"/>
            <a:chExt cx="3474720" cy="1133856"/>
          </a:xfrm>
        </p:grpSpPr>
        <p:sp>
          <p:nvSpPr>
            <p:cNvPr id="141" name="Freeform 87">
              <a:extLst>
                <a:ext uri="{FF2B5EF4-FFF2-40B4-BE49-F238E27FC236}">
                  <a16:creationId xmlns:a16="http://schemas.microsoft.com/office/drawing/2014/main" id="{BA59CD99-06CF-8AE8-8B56-D5B710AB1F86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42" name="TextBox 88">
              <a:extLst>
                <a:ext uri="{FF2B5EF4-FFF2-40B4-BE49-F238E27FC236}">
                  <a16:creationId xmlns:a16="http://schemas.microsoft.com/office/drawing/2014/main" id="{2B2646D0-4719-B455-48ED-28D4B17550D5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143" name="Group 89">
            <a:extLst>
              <a:ext uri="{FF2B5EF4-FFF2-40B4-BE49-F238E27FC236}">
                <a16:creationId xmlns:a16="http://schemas.microsoft.com/office/drawing/2014/main" id="{5F4D86F2-5C43-3C0C-BD85-5833E3EE4038}"/>
              </a:ext>
            </a:extLst>
          </p:cNvPr>
          <p:cNvGrpSpPr/>
          <p:nvPr/>
        </p:nvGrpSpPr>
        <p:grpSpPr>
          <a:xfrm>
            <a:off x="14264640" y="-4990528"/>
            <a:ext cx="2606040" cy="850392"/>
            <a:chOff x="0" y="0"/>
            <a:chExt cx="3474720" cy="1133856"/>
          </a:xfrm>
        </p:grpSpPr>
        <p:sp>
          <p:nvSpPr>
            <p:cNvPr id="144" name="Freeform 90">
              <a:extLst>
                <a:ext uri="{FF2B5EF4-FFF2-40B4-BE49-F238E27FC236}">
                  <a16:creationId xmlns:a16="http://schemas.microsoft.com/office/drawing/2014/main" id="{5D482E10-D58A-2B51-DD3F-7718FF0F36D2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45" name="TextBox 91">
              <a:extLst>
                <a:ext uri="{FF2B5EF4-FFF2-40B4-BE49-F238E27FC236}">
                  <a16:creationId xmlns:a16="http://schemas.microsoft.com/office/drawing/2014/main" id="{9458BAB7-BEAB-0769-EEBA-03D93C46A24D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146" name="Group 92">
            <a:extLst>
              <a:ext uri="{FF2B5EF4-FFF2-40B4-BE49-F238E27FC236}">
                <a16:creationId xmlns:a16="http://schemas.microsoft.com/office/drawing/2014/main" id="{BED13B73-9A00-283B-BDB9-09AC99FF6199}"/>
              </a:ext>
            </a:extLst>
          </p:cNvPr>
          <p:cNvGrpSpPr/>
          <p:nvPr/>
        </p:nvGrpSpPr>
        <p:grpSpPr>
          <a:xfrm>
            <a:off x="548640" y="-4140136"/>
            <a:ext cx="16322040" cy="850392"/>
            <a:chOff x="0" y="0"/>
            <a:chExt cx="21762720" cy="1133856"/>
          </a:xfrm>
        </p:grpSpPr>
        <p:sp>
          <p:nvSpPr>
            <p:cNvPr id="147" name="Freeform 93">
              <a:extLst>
                <a:ext uri="{FF2B5EF4-FFF2-40B4-BE49-F238E27FC236}">
                  <a16:creationId xmlns:a16="http://schemas.microsoft.com/office/drawing/2014/main" id="{BEB31809-903C-A379-35B2-27134029C57F}"/>
                </a:ext>
              </a:extLst>
            </p:cNvPr>
            <p:cNvSpPr/>
            <p:nvPr/>
          </p:nvSpPr>
          <p:spPr>
            <a:xfrm>
              <a:off x="0" y="0"/>
              <a:ext cx="21762720" cy="1133856"/>
            </a:xfrm>
            <a:custGeom>
              <a:avLst/>
              <a:gdLst/>
              <a:ahLst/>
              <a:cxnLst/>
              <a:rect l="l" t="t" r="r" b="b"/>
              <a:pathLst>
                <a:path w="21762720" h="1133856">
                  <a:moveTo>
                    <a:pt x="0" y="0"/>
                  </a:moveTo>
                  <a:lnTo>
                    <a:pt x="21762720" y="0"/>
                  </a:lnTo>
                  <a:lnTo>
                    <a:pt x="21762720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6243D"/>
            </a:solidFill>
          </p:spPr>
        </p:sp>
      </p:grpSp>
      <p:grpSp>
        <p:nvGrpSpPr>
          <p:cNvPr id="148" name="Group 94">
            <a:extLst>
              <a:ext uri="{FF2B5EF4-FFF2-40B4-BE49-F238E27FC236}">
                <a16:creationId xmlns:a16="http://schemas.microsoft.com/office/drawing/2014/main" id="{D1179752-FD96-9FC8-1FA5-F4F324CAE08F}"/>
              </a:ext>
            </a:extLst>
          </p:cNvPr>
          <p:cNvGrpSpPr/>
          <p:nvPr/>
        </p:nvGrpSpPr>
        <p:grpSpPr>
          <a:xfrm>
            <a:off x="754380" y="-4140136"/>
            <a:ext cx="5486400" cy="850392"/>
            <a:chOff x="0" y="0"/>
            <a:chExt cx="7315200" cy="1133856"/>
          </a:xfrm>
        </p:grpSpPr>
        <p:sp>
          <p:nvSpPr>
            <p:cNvPr id="149" name="Freeform 95">
              <a:extLst>
                <a:ext uri="{FF2B5EF4-FFF2-40B4-BE49-F238E27FC236}">
                  <a16:creationId xmlns:a16="http://schemas.microsoft.com/office/drawing/2014/main" id="{CFBA0B4C-2F42-62CA-9EDC-F718F07530E6}"/>
                </a:ext>
              </a:extLst>
            </p:cNvPr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150" name="TextBox 96">
              <a:extLst>
                <a:ext uri="{FF2B5EF4-FFF2-40B4-BE49-F238E27FC236}">
                  <a16:creationId xmlns:a16="http://schemas.microsoft.com/office/drawing/2014/main" id="{F5E34411-3CED-4AE3-AFFB-3400C854FDA4}"/>
                </a:ext>
              </a:extLst>
            </p:cNvPr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Government exam eligibility + apply guide</a:t>
              </a:r>
            </a:p>
          </p:txBody>
        </p:sp>
      </p:grpSp>
      <p:grpSp>
        <p:nvGrpSpPr>
          <p:cNvPr id="151" name="Group 97">
            <a:extLst>
              <a:ext uri="{FF2B5EF4-FFF2-40B4-BE49-F238E27FC236}">
                <a16:creationId xmlns:a16="http://schemas.microsoft.com/office/drawing/2014/main" id="{E50782D8-83AD-8A18-40C8-B4A823105327}"/>
              </a:ext>
            </a:extLst>
          </p:cNvPr>
          <p:cNvGrpSpPr/>
          <p:nvPr/>
        </p:nvGrpSpPr>
        <p:grpSpPr>
          <a:xfrm>
            <a:off x="6446520" y="-4140136"/>
            <a:ext cx="2606040" cy="850392"/>
            <a:chOff x="0" y="0"/>
            <a:chExt cx="3474720" cy="1133856"/>
          </a:xfrm>
        </p:grpSpPr>
        <p:sp>
          <p:nvSpPr>
            <p:cNvPr id="152" name="Freeform 98">
              <a:extLst>
                <a:ext uri="{FF2B5EF4-FFF2-40B4-BE49-F238E27FC236}">
                  <a16:creationId xmlns:a16="http://schemas.microsoft.com/office/drawing/2014/main" id="{19EC5D67-F47E-4CF1-F33A-101098824C8C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53" name="TextBox 99">
              <a:extLst>
                <a:ext uri="{FF2B5EF4-FFF2-40B4-BE49-F238E27FC236}">
                  <a16:creationId xmlns:a16="http://schemas.microsoft.com/office/drawing/2014/main" id="{7F76DA9E-9CEF-ADD4-25CF-0429D8FFD373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154" name="Group 100">
            <a:extLst>
              <a:ext uri="{FF2B5EF4-FFF2-40B4-BE49-F238E27FC236}">
                <a16:creationId xmlns:a16="http://schemas.microsoft.com/office/drawing/2014/main" id="{9DB978D2-2866-28CB-DA22-474FA347BEF5}"/>
              </a:ext>
            </a:extLst>
          </p:cNvPr>
          <p:cNvGrpSpPr/>
          <p:nvPr/>
        </p:nvGrpSpPr>
        <p:grpSpPr>
          <a:xfrm>
            <a:off x="9052560" y="-4140136"/>
            <a:ext cx="2606040" cy="850392"/>
            <a:chOff x="0" y="0"/>
            <a:chExt cx="3474720" cy="1133856"/>
          </a:xfrm>
        </p:grpSpPr>
        <p:sp>
          <p:nvSpPr>
            <p:cNvPr id="155" name="Freeform 101">
              <a:extLst>
                <a:ext uri="{FF2B5EF4-FFF2-40B4-BE49-F238E27FC236}">
                  <a16:creationId xmlns:a16="http://schemas.microsoft.com/office/drawing/2014/main" id="{F22AFE90-3040-3262-EFDB-B2F734061517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56" name="TextBox 102">
              <a:extLst>
                <a:ext uri="{FF2B5EF4-FFF2-40B4-BE49-F238E27FC236}">
                  <a16:creationId xmlns:a16="http://schemas.microsoft.com/office/drawing/2014/main" id="{CA7876FD-7B15-DB62-B632-80B7B3E91BB7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157" name="Group 103">
            <a:extLst>
              <a:ext uri="{FF2B5EF4-FFF2-40B4-BE49-F238E27FC236}">
                <a16:creationId xmlns:a16="http://schemas.microsoft.com/office/drawing/2014/main" id="{B6E3DC59-EE60-14F5-74FC-9ECDE8AB6FDB}"/>
              </a:ext>
            </a:extLst>
          </p:cNvPr>
          <p:cNvGrpSpPr/>
          <p:nvPr/>
        </p:nvGrpSpPr>
        <p:grpSpPr>
          <a:xfrm>
            <a:off x="11658600" y="-4140136"/>
            <a:ext cx="2606040" cy="850392"/>
            <a:chOff x="0" y="0"/>
            <a:chExt cx="3474720" cy="1133856"/>
          </a:xfrm>
        </p:grpSpPr>
        <p:sp>
          <p:nvSpPr>
            <p:cNvPr id="158" name="Freeform 104">
              <a:extLst>
                <a:ext uri="{FF2B5EF4-FFF2-40B4-BE49-F238E27FC236}">
                  <a16:creationId xmlns:a16="http://schemas.microsoft.com/office/drawing/2014/main" id="{A1CC210C-3D74-11F9-9264-5595473A04C8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59" name="TextBox 105">
              <a:extLst>
                <a:ext uri="{FF2B5EF4-FFF2-40B4-BE49-F238E27FC236}">
                  <a16:creationId xmlns:a16="http://schemas.microsoft.com/office/drawing/2014/main" id="{8D881002-C42C-6BA0-530E-124CE836959C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160" name="Group 106">
            <a:extLst>
              <a:ext uri="{FF2B5EF4-FFF2-40B4-BE49-F238E27FC236}">
                <a16:creationId xmlns:a16="http://schemas.microsoft.com/office/drawing/2014/main" id="{5FB254C8-04A9-008D-AAC8-9DFBFDB6D010}"/>
              </a:ext>
            </a:extLst>
          </p:cNvPr>
          <p:cNvGrpSpPr/>
          <p:nvPr/>
        </p:nvGrpSpPr>
        <p:grpSpPr>
          <a:xfrm>
            <a:off x="14264640" y="-4140136"/>
            <a:ext cx="2606040" cy="850392"/>
            <a:chOff x="0" y="0"/>
            <a:chExt cx="3474720" cy="1133856"/>
          </a:xfrm>
        </p:grpSpPr>
        <p:sp>
          <p:nvSpPr>
            <p:cNvPr id="161" name="Freeform 107">
              <a:extLst>
                <a:ext uri="{FF2B5EF4-FFF2-40B4-BE49-F238E27FC236}">
                  <a16:creationId xmlns:a16="http://schemas.microsoft.com/office/drawing/2014/main" id="{9AF3DE0A-4279-0E85-5EC3-2FDEDF4976CA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62" name="TextBox 108">
              <a:extLst>
                <a:ext uri="{FF2B5EF4-FFF2-40B4-BE49-F238E27FC236}">
                  <a16:creationId xmlns:a16="http://schemas.microsoft.com/office/drawing/2014/main" id="{8F1A69C8-8FA7-7404-B563-DB7DA8CDBB38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id="163" name="Group 109">
            <a:extLst>
              <a:ext uri="{FF2B5EF4-FFF2-40B4-BE49-F238E27FC236}">
                <a16:creationId xmlns:a16="http://schemas.microsoft.com/office/drawing/2014/main" id="{702542AC-7AC5-BC7B-1170-B30916AD1E1E}"/>
              </a:ext>
            </a:extLst>
          </p:cNvPr>
          <p:cNvGrpSpPr/>
          <p:nvPr/>
        </p:nvGrpSpPr>
        <p:grpSpPr>
          <a:xfrm>
            <a:off x="754380" y="-3289744"/>
            <a:ext cx="5486400" cy="850392"/>
            <a:chOff x="0" y="0"/>
            <a:chExt cx="7315200" cy="1133856"/>
          </a:xfrm>
        </p:grpSpPr>
        <p:sp>
          <p:nvSpPr>
            <p:cNvPr id="164" name="Freeform 110">
              <a:extLst>
                <a:ext uri="{FF2B5EF4-FFF2-40B4-BE49-F238E27FC236}">
                  <a16:creationId xmlns:a16="http://schemas.microsoft.com/office/drawing/2014/main" id="{A4A1B900-4738-3115-B5C3-579ADED78966}"/>
                </a:ext>
              </a:extLst>
            </p:cNvPr>
            <p:cNvSpPr/>
            <p:nvPr/>
          </p:nvSpPr>
          <p:spPr>
            <a:xfrm>
              <a:off x="0" y="0"/>
              <a:ext cx="7315200" cy="1133856"/>
            </a:xfrm>
            <a:custGeom>
              <a:avLst/>
              <a:gdLst/>
              <a:ahLst/>
              <a:cxnLst/>
              <a:rect l="l" t="t" r="r" b="b"/>
              <a:pathLst>
                <a:path w="7315200" h="1133856">
                  <a:moveTo>
                    <a:pt x="0" y="0"/>
                  </a:moveTo>
                  <a:lnTo>
                    <a:pt x="7315200" y="0"/>
                  </a:lnTo>
                  <a:lnTo>
                    <a:pt x="7315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09" b="-75709"/>
              </a:stretch>
            </a:blipFill>
          </p:spPr>
        </p:sp>
        <p:sp>
          <p:nvSpPr>
            <p:cNvPr id="165" name="TextBox 111">
              <a:extLst>
                <a:ext uri="{FF2B5EF4-FFF2-40B4-BE49-F238E27FC236}">
                  <a16:creationId xmlns:a16="http://schemas.microsoft.com/office/drawing/2014/main" id="{B0D9F3B0-E085-4172-2025-7E47338058B9}"/>
                </a:ext>
              </a:extLst>
            </p:cNvPr>
            <p:cNvSpPr txBox="1"/>
            <p:nvPr/>
          </p:nvSpPr>
          <p:spPr>
            <a:xfrm>
              <a:off x="0" y="-9525"/>
              <a:ext cx="731520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Peer and mentor network for first-generation job seekers</a:t>
              </a:r>
            </a:p>
          </p:txBody>
        </p:sp>
      </p:grpSp>
      <p:grpSp>
        <p:nvGrpSpPr>
          <p:cNvPr id="166" name="Group 112">
            <a:extLst>
              <a:ext uri="{FF2B5EF4-FFF2-40B4-BE49-F238E27FC236}">
                <a16:creationId xmlns:a16="http://schemas.microsoft.com/office/drawing/2014/main" id="{1BB0E986-A9A3-4FF7-B628-80FB64BE079E}"/>
              </a:ext>
            </a:extLst>
          </p:cNvPr>
          <p:cNvGrpSpPr/>
          <p:nvPr/>
        </p:nvGrpSpPr>
        <p:grpSpPr>
          <a:xfrm>
            <a:off x="6446520" y="-3289744"/>
            <a:ext cx="2606040" cy="850392"/>
            <a:chOff x="0" y="0"/>
            <a:chExt cx="3474720" cy="1133856"/>
          </a:xfrm>
        </p:grpSpPr>
        <p:sp>
          <p:nvSpPr>
            <p:cNvPr id="167" name="Freeform 113">
              <a:extLst>
                <a:ext uri="{FF2B5EF4-FFF2-40B4-BE49-F238E27FC236}">
                  <a16:creationId xmlns:a16="http://schemas.microsoft.com/office/drawing/2014/main" id="{BA32105D-9084-1018-4A3E-8D4E6712E89A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68" name="TextBox 114">
              <a:extLst>
                <a:ext uri="{FF2B5EF4-FFF2-40B4-BE49-F238E27FC236}">
                  <a16:creationId xmlns:a16="http://schemas.microsoft.com/office/drawing/2014/main" id="{F1585B82-564C-DE59-F577-6E3BF092C3B4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169" name="Group 115">
            <a:extLst>
              <a:ext uri="{FF2B5EF4-FFF2-40B4-BE49-F238E27FC236}">
                <a16:creationId xmlns:a16="http://schemas.microsoft.com/office/drawing/2014/main" id="{456ACE2E-371E-B860-1B92-76F90576EE9E}"/>
              </a:ext>
            </a:extLst>
          </p:cNvPr>
          <p:cNvGrpSpPr/>
          <p:nvPr/>
        </p:nvGrpSpPr>
        <p:grpSpPr>
          <a:xfrm>
            <a:off x="9052560" y="-3289744"/>
            <a:ext cx="2606040" cy="850392"/>
            <a:chOff x="0" y="0"/>
            <a:chExt cx="3474720" cy="1133856"/>
          </a:xfrm>
        </p:grpSpPr>
        <p:sp>
          <p:nvSpPr>
            <p:cNvPr id="170" name="Freeform 116">
              <a:extLst>
                <a:ext uri="{FF2B5EF4-FFF2-40B4-BE49-F238E27FC236}">
                  <a16:creationId xmlns:a16="http://schemas.microsoft.com/office/drawing/2014/main" id="{AC8A8BC7-F202-6F3B-41D5-8E5644191214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71" name="TextBox 117">
              <a:extLst>
                <a:ext uri="{FF2B5EF4-FFF2-40B4-BE49-F238E27FC236}">
                  <a16:creationId xmlns:a16="http://schemas.microsoft.com/office/drawing/2014/main" id="{297E949F-BA46-7818-0973-1C9A26592B1E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✕</a:t>
              </a:r>
            </a:p>
          </p:txBody>
        </p:sp>
      </p:grpSp>
      <p:grpSp>
        <p:nvGrpSpPr>
          <p:cNvPr id="172" name="Group 118">
            <a:extLst>
              <a:ext uri="{FF2B5EF4-FFF2-40B4-BE49-F238E27FC236}">
                <a16:creationId xmlns:a16="http://schemas.microsoft.com/office/drawing/2014/main" id="{7E1AC5A3-5D5A-3C94-7D1F-F3CC290FFFC8}"/>
              </a:ext>
            </a:extLst>
          </p:cNvPr>
          <p:cNvGrpSpPr/>
          <p:nvPr/>
        </p:nvGrpSpPr>
        <p:grpSpPr>
          <a:xfrm>
            <a:off x="11658600" y="-3289744"/>
            <a:ext cx="2606040" cy="850392"/>
            <a:chOff x="0" y="0"/>
            <a:chExt cx="3474720" cy="1133856"/>
          </a:xfrm>
        </p:grpSpPr>
        <p:sp>
          <p:nvSpPr>
            <p:cNvPr id="173" name="Freeform 119">
              <a:extLst>
                <a:ext uri="{FF2B5EF4-FFF2-40B4-BE49-F238E27FC236}">
                  <a16:creationId xmlns:a16="http://schemas.microsoft.com/office/drawing/2014/main" id="{2CE5AE54-7357-7DBC-A576-2182D01B027F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74" name="TextBox 120">
              <a:extLst>
                <a:ext uri="{FF2B5EF4-FFF2-40B4-BE49-F238E27FC236}">
                  <a16:creationId xmlns:a16="http://schemas.microsoft.com/office/drawing/2014/main" id="{F71ACE4C-F77E-A135-7518-E5E04748FDAA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△</a:t>
              </a:r>
            </a:p>
          </p:txBody>
        </p:sp>
      </p:grpSp>
      <p:grpSp>
        <p:nvGrpSpPr>
          <p:cNvPr id="175" name="Group 121">
            <a:extLst>
              <a:ext uri="{FF2B5EF4-FFF2-40B4-BE49-F238E27FC236}">
                <a16:creationId xmlns:a16="http://schemas.microsoft.com/office/drawing/2014/main" id="{B0A40613-E26F-6D98-27E9-C8A7EA0347C9}"/>
              </a:ext>
            </a:extLst>
          </p:cNvPr>
          <p:cNvGrpSpPr/>
          <p:nvPr/>
        </p:nvGrpSpPr>
        <p:grpSpPr>
          <a:xfrm>
            <a:off x="14264640" y="-3289744"/>
            <a:ext cx="2606040" cy="850392"/>
            <a:chOff x="0" y="0"/>
            <a:chExt cx="3474720" cy="1133856"/>
          </a:xfrm>
        </p:grpSpPr>
        <p:sp>
          <p:nvSpPr>
            <p:cNvPr id="176" name="Freeform 122">
              <a:extLst>
                <a:ext uri="{FF2B5EF4-FFF2-40B4-BE49-F238E27FC236}">
                  <a16:creationId xmlns:a16="http://schemas.microsoft.com/office/drawing/2014/main" id="{BA59DB41-8414-C9D9-63D2-35DB6CF37712}"/>
                </a:ext>
              </a:extLst>
            </p:cNvPr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77" name="TextBox 123">
              <a:extLst>
                <a:ext uri="{FF2B5EF4-FFF2-40B4-BE49-F238E27FC236}">
                  <a16:creationId xmlns:a16="http://schemas.microsoft.com/office/drawing/2014/main" id="{4D47D9E4-7753-96BF-79D8-705EF12817A7}"/>
                </a:ext>
              </a:extLst>
            </p:cNvPr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CCFB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sp>
        <p:nvSpPr>
          <p:cNvPr id="178" name="TextBox 124">
            <a:extLst>
              <a:ext uri="{FF2B5EF4-FFF2-40B4-BE49-F238E27FC236}">
                <a16:creationId xmlns:a16="http://schemas.microsoft.com/office/drawing/2014/main" id="{86320A53-8D27-D50C-7270-44EDDA066F9E}"/>
              </a:ext>
            </a:extLst>
          </p:cNvPr>
          <p:cNvSpPr txBox="1"/>
          <p:nvPr/>
        </p:nvSpPr>
        <p:spPr>
          <a:xfrm>
            <a:off x="548640" y="-2233612"/>
            <a:ext cx="1632204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i="1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△ = partial, or varies by product. Simplified from general positioning; confirm current features before presenting.</a:t>
            </a:r>
          </a:p>
        </p:txBody>
      </p:sp>
      <p:grpSp>
        <p:nvGrpSpPr>
          <p:cNvPr id="179" name="Group 125">
            <a:extLst>
              <a:ext uri="{FF2B5EF4-FFF2-40B4-BE49-F238E27FC236}">
                <a16:creationId xmlns:a16="http://schemas.microsoft.com/office/drawing/2014/main" id="{76586C04-26A1-A357-0730-7A343C1D7652}"/>
              </a:ext>
            </a:extLst>
          </p:cNvPr>
          <p:cNvGrpSpPr/>
          <p:nvPr/>
        </p:nvGrpSpPr>
        <p:grpSpPr>
          <a:xfrm>
            <a:off x="16802100" y="-1465516"/>
            <a:ext cx="822960" cy="411480"/>
            <a:chOff x="0" y="0"/>
            <a:chExt cx="1097280" cy="548640"/>
          </a:xfrm>
        </p:grpSpPr>
        <p:sp>
          <p:nvSpPr>
            <p:cNvPr id="180" name="Freeform 126">
              <a:extLst>
                <a:ext uri="{FF2B5EF4-FFF2-40B4-BE49-F238E27FC236}">
                  <a16:creationId xmlns:a16="http://schemas.microsoft.com/office/drawing/2014/main" id="{AE92F337-E3CB-E94A-1B54-953B17B55E53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81" name="TextBox 127">
              <a:extLst>
                <a:ext uri="{FF2B5EF4-FFF2-40B4-BE49-F238E27FC236}">
                  <a16:creationId xmlns:a16="http://schemas.microsoft.com/office/drawing/2014/main" id="{88B2DB4E-0773-3A17-EDE3-A920FEDEAF26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15</a:t>
              </a:r>
            </a:p>
          </p:txBody>
        </p:sp>
      </p:grpSp>
      <p:grpSp>
        <p:nvGrpSpPr>
          <p:cNvPr id="182" name="Group 2">
            <a:extLst>
              <a:ext uri="{FF2B5EF4-FFF2-40B4-BE49-F238E27FC236}">
                <a16:creationId xmlns:a16="http://schemas.microsoft.com/office/drawing/2014/main" id="{0682B4E2-DED0-A6BF-0D71-C43FBFA5CE82}"/>
              </a:ext>
            </a:extLst>
          </p:cNvPr>
          <p:cNvGrpSpPr/>
          <p:nvPr/>
        </p:nvGrpSpPr>
        <p:grpSpPr>
          <a:xfrm>
            <a:off x="960120" y="12121324"/>
            <a:ext cx="12344400" cy="480060"/>
            <a:chOff x="0" y="0"/>
            <a:chExt cx="16459200" cy="640080"/>
          </a:xfrm>
        </p:grpSpPr>
        <p:sp>
          <p:nvSpPr>
            <p:cNvPr id="183" name="Freeform 3">
              <a:extLst>
                <a:ext uri="{FF2B5EF4-FFF2-40B4-BE49-F238E27FC236}">
                  <a16:creationId xmlns:a16="http://schemas.microsoft.com/office/drawing/2014/main" id="{2CEF5EA3-6B5F-5DCD-9F76-BAC9BD924E78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184" name="TextBox 4">
              <a:extLst>
                <a:ext uri="{FF2B5EF4-FFF2-40B4-BE49-F238E27FC236}">
                  <a16:creationId xmlns:a16="http://schemas.microsoft.com/office/drawing/2014/main" id="{ADB370D0-96AC-2069-6EDD-B4D9BB09FB60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 dirty="0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ROADMAP</a:t>
              </a:r>
            </a:p>
          </p:txBody>
        </p:sp>
      </p:grpSp>
      <p:grpSp>
        <p:nvGrpSpPr>
          <p:cNvPr id="185" name="Group 5">
            <a:extLst>
              <a:ext uri="{FF2B5EF4-FFF2-40B4-BE49-F238E27FC236}">
                <a16:creationId xmlns:a16="http://schemas.microsoft.com/office/drawing/2014/main" id="{FDCCF488-677A-3227-1C02-1943F8859733}"/>
              </a:ext>
            </a:extLst>
          </p:cNvPr>
          <p:cNvGrpSpPr/>
          <p:nvPr/>
        </p:nvGrpSpPr>
        <p:grpSpPr>
          <a:xfrm>
            <a:off x="960120" y="12601384"/>
            <a:ext cx="16322040" cy="1234440"/>
            <a:chOff x="0" y="0"/>
            <a:chExt cx="21762720" cy="1645920"/>
          </a:xfrm>
        </p:grpSpPr>
        <p:sp>
          <p:nvSpPr>
            <p:cNvPr id="186" name="Freeform 6">
              <a:extLst>
                <a:ext uri="{FF2B5EF4-FFF2-40B4-BE49-F238E27FC236}">
                  <a16:creationId xmlns:a16="http://schemas.microsoft.com/office/drawing/2014/main" id="{7DFB0D95-50FD-9AE8-A547-595DAEF1880B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187" name="TextBox 7">
              <a:extLst>
                <a:ext uri="{FF2B5EF4-FFF2-40B4-BE49-F238E27FC236}">
                  <a16:creationId xmlns:a16="http://schemas.microsoft.com/office/drawing/2014/main" id="{05C69749-CEFB-90DF-9281-D9B43CCCFD75}"/>
                </a:ext>
              </a:extLst>
            </p:cNvPr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From idea to pilot to scale</a:t>
              </a:r>
            </a:p>
          </p:txBody>
        </p:sp>
      </p:grpSp>
      <p:grpSp>
        <p:nvGrpSpPr>
          <p:cNvPr id="188" name="Group 8">
            <a:extLst>
              <a:ext uri="{FF2B5EF4-FFF2-40B4-BE49-F238E27FC236}">
                <a16:creationId xmlns:a16="http://schemas.microsoft.com/office/drawing/2014/main" id="{EDE5395A-2A77-22E5-9A51-4694512948F3}"/>
              </a:ext>
            </a:extLst>
          </p:cNvPr>
          <p:cNvGrpSpPr/>
          <p:nvPr/>
        </p:nvGrpSpPr>
        <p:grpSpPr>
          <a:xfrm>
            <a:off x="950595" y="14443519"/>
            <a:ext cx="5135118" cy="5916930"/>
            <a:chOff x="0" y="0"/>
            <a:chExt cx="6846824" cy="7889240"/>
          </a:xfrm>
        </p:grpSpPr>
        <p:sp>
          <p:nvSpPr>
            <p:cNvPr id="189" name="Freeform 9">
              <a:extLst>
                <a:ext uri="{FF2B5EF4-FFF2-40B4-BE49-F238E27FC236}">
                  <a16:creationId xmlns:a16="http://schemas.microsoft.com/office/drawing/2014/main" id="{279BABA9-5DAC-DB61-F7B7-6E6688E022C0}"/>
                </a:ext>
              </a:extLst>
            </p:cNvPr>
            <p:cNvSpPr/>
            <p:nvPr/>
          </p:nvSpPr>
          <p:spPr>
            <a:xfrm>
              <a:off x="0" y="0"/>
              <a:ext cx="6846824" cy="7889240"/>
            </a:xfrm>
            <a:custGeom>
              <a:avLst/>
              <a:gdLst/>
              <a:ahLst/>
              <a:cxnLst/>
              <a:rect l="l" t="t" r="r" b="b"/>
              <a:pathLst>
                <a:path w="6846824" h="78892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705725"/>
                  </a:lnTo>
                  <a:cubicBezTo>
                    <a:pt x="6846824" y="7807071"/>
                    <a:pt x="6764655" y="7889240"/>
                    <a:pt x="6663309" y="7889240"/>
                  </a:cubicBezTo>
                  <a:lnTo>
                    <a:pt x="183515" y="7889240"/>
                  </a:lnTo>
                  <a:cubicBezTo>
                    <a:pt x="82169" y="7889240"/>
                    <a:pt x="0" y="7807071"/>
                    <a:pt x="0" y="770572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90" name="Group 10">
            <a:extLst>
              <a:ext uri="{FF2B5EF4-FFF2-40B4-BE49-F238E27FC236}">
                <a16:creationId xmlns:a16="http://schemas.microsoft.com/office/drawing/2014/main" id="{1B97F937-436A-4E58-EFFD-D0330260FD68}"/>
              </a:ext>
            </a:extLst>
          </p:cNvPr>
          <p:cNvGrpSpPr/>
          <p:nvPr/>
        </p:nvGrpSpPr>
        <p:grpSpPr>
          <a:xfrm>
            <a:off x="1371600" y="14864524"/>
            <a:ext cx="1920240" cy="548640"/>
            <a:chOff x="0" y="0"/>
            <a:chExt cx="2560320" cy="731520"/>
          </a:xfrm>
        </p:grpSpPr>
        <p:sp>
          <p:nvSpPr>
            <p:cNvPr id="191" name="Freeform 11">
              <a:extLst>
                <a:ext uri="{FF2B5EF4-FFF2-40B4-BE49-F238E27FC236}">
                  <a16:creationId xmlns:a16="http://schemas.microsoft.com/office/drawing/2014/main" id="{E12FD40C-2D38-78DF-32E3-1605E23F4DC0}"/>
                </a:ext>
              </a:extLst>
            </p:cNvPr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94560" y="0"/>
                  </a:lnTo>
                  <a:cubicBezTo>
                    <a:pt x="2396617" y="0"/>
                    <a:pt x="2560320" y="163703"/>
                    <a:pt x="2560320" y="365760"/>
                  </a:cubicBezTo>
                  <a:cubicBezTo>
                    <a:pt x="2560320" y="567817"/>
                    <a:pt x="2396617" y="731520"/>
                    <a:pt x="21945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92" name="Group 12">
            <a:extLst>
              <a:ext uri="{FF2B5EF4-FFF2-40B4-BE49-F238E27FC236}">
                <a16:creationId xmlns:a16="http://schemas.microsoft.com/office/drawing/2014/main" id="{A52246DA-A85B-9580-23C2-1F9433B07778}"/>
              </a:ext>
            </a:extLst>
          </p:cNvPr>
          <p:cNvGrpSpPr/>
          <p:nvPr/>
        </p:nvGrpSpPr>
        <p:grpSpPr>
          <a:xfrm>
            <a:off x="1371600" y="14864524"/>
            <a:ext cx="1920240" cy="548640"/>
            <a:chOff x="0" y="0"/>
            <a:chExt cx="2560320" cy="731520"/>
          </a:xfrm>
        </p:grpSpPr>
        <p:sp>
          <p:nvSpPr>
            <p:cNvPr id="193" name="Freeform 13">
              <a:extLst>
                <a:ext uri="{FF2B5EF4-FFF2-40B4-BE49-F238E27FC236}">
                  <a16:creationId xmlns:a16="http://schemas.microsoft.com/office/drawing/2014/main" id="{6A4A8917-D6EC-2792-D4BC-CEA45F5A90F5}"/>
                </a:ext>
              </a:extLst>
            </p:cNvPr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194" name="TextBox 14">
              <a:extLst>
                <a:ext uri="{FF2B5EF4-FFF2-40B4-BE49-F238E27FC236}">
                  <a16:creationId xmlns:a16="http://schemas.microsoft.com/office/drawing/2014/main" id="{5406F426-8EA4-E0E2-6436-178DFCD180E8}"/>
                </a:ext>
              </a:extLst>
            </p:cNvPr>
            <p:cNvSpPr txBox="1"/>
            <p:nvPr/>
          </p:nvSpPr>
          <p:spPr>
            <a:xfrm>
              <a:off x="0" y="0"/>
              <a:ext cx="2560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Phase 1</a:t>
              </a:r>
            </a:p>
          </p:txBody>
        </p:sp>
      </p:grpSp>
      <p:grpSp>
        <p:nvGrpSpPr>
          <p:cNvPr id="195" name="Group 15">
            <a:extLst>
              <a:ext uri="{FF2B5EF4-FFF2-40B4-BE49-F238E27FC236}">
                <a16:creationId xmlns:a16="http://schemas.microsoft.com/office/drawing/2014/main" id="{DA50431A-5106-0D11-4685-F4951E93C545}"/>
              </a:ext>
            </a:extLst>
          </p:cNvPr>
          <p:cNvGrpSpPr/>
          <p:nvPr/>
        </p:nvGrpSpPr>
        <p:grpSpPr>
          <a:xfrm>
            <a:off x="1371600" y="15618904"/>
            <a:ext cx="4293108" cy="822960"/>
            <a:chOff x="0" y="0"/>
            <a:chExt cx="5724144" cy="1097280"/>
          </a:xfrm>
        </p:grpSpPr>
        <p:sp>
          <p:nvSpPr>
            <p:cNvPr id="196" name="Freeform 16">
              <a:extLst>
                <a:ext uri="{FF2B5EF4-FFF2-40B4-BE49-F238E27FC236}">
                  <a16:creationId xmlns:a16="http://schemas.microsoft.com/office/drawing/2014/main" id="{44844664-DA66-DF10-8CD5-2D752118A9BE}"/>
                </a:ext>
              </a:extLst>
            </p:cNvPr>
            <p:cNvSpPr/>
            <p:nvPr/>
          </p:nvSpPr>
          <p:spPr>
            <a:xfrm>
              <a:off x="0" y="0"/>
              <a:ext cx="5724144" cy="1097280"/>
            </a:xfrm>
            <a:custGeom>
              <a:avLst/>
              <a:gdLst/>
              <a:ahLst/>
              <a:cxnLst/>
              <a:rect l="l" t="t" r="r" b="b"/>
              <a:pathLst>
                <a:path w="5724144" h="1097280">
                  <a:moveTo>
                    <a:pt x="0" y="0"/>
                  </a:moveTo>
                  <a:lnTo>
                    <a:pt x="5724144" y="0"/>
                  </a:lnTo>
                  <a:lnTo>
                    <a:pt x="572414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646" b="-51646"/>
              </a:stretch>
            </a:blipFill>
          </p:spPr>
        </p:sp>
        <p:sp>
          <p:nvSpPr>
            <p:cNvPr id="197" name="TextBox 17">
              <a:extLst>
                <a:ext uri="{FF2B5EF4-FFF2-40B4-BE49-F238E27FC236}">
                  <a16:creationId xmlns:a16="http://schemas.microsoft.com/office/drawing/2014/main" id="{F4956D25-8DFC-738C-3B9B-B99D9E33FCE4}"/>
                </a:ext>
              </a:extLst>
            </p:cNvPr>
            <p:cNvSpPr txBox="1"/>
            <p:nvPr/>
          </p:nvSpPr>
          <p:spPr>
            <a:xfrm>
              <a:off x="0" y="0"/>
              <a:ext cx="5724144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Build the core</a:t>
              </a:r>
            </a:p>
          </p:txBody>
        </p:sp>
      </p:grpSp>
      <p:sp>
        <p:nvSpPr>
          <p:cNvPr id="198" name="TextBox 18">
            <a:extLst>
              <a:ext uri="{FF2B5EF4-FFF2-40B4-BE49-F238E27FC236}">
                <a16:creationId xmlns:a16="http://schemas.microsoft.com/office/drawing/2014/main" id="{B3DB9AA1-AC79-0996-2127-959D8EE84E58}"/>
              </a:ext>
            </a:extLst>
          </p:cNvPr>
          <p:cNvSpPr txBox="1"/>
          <p:nvPr/>
        </p:nvSpPr>
        <p:spPr>
          <a:xfrm>
            <a:off x="1371600" y="16580929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Voice → verified profile → CV → gap</a:t>
            </a:r>
          </a:p>
        </p:txBody>
      </p:sp>
      <p:sp>
        <p:nvSpPr>
          <p:cNvPr id="199" name="TextBox 19">
            <a:extLst>
              <a:ext uri="{FF2B5EF4-FFF2-40B4-BE49-F238E27FC236}">
                <a16:creationId xmlns:a16="http://schemas.microsoft.com/office/drawing/2014/main" id="{CA91A0FD-249E-DCBF-5D38-88B78BCE03D2}"/>
              </a:ext>
            </a:extLst>
          </p:cNvPr>
          <p:cNvSpPr txBox="1"/>
          <p:nvPr/>
        </p:nvSpPr>
        <p:spPr>
          <a:xfrm>
            <a:off x="1371600" y="17746789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Eligibility check for 5–8 government exams</a:t>
            </a:r>
          </a:p>
        </p:txBody>
      </p:sp>
      <p:sp>
        <p:nvSpPr>
          <p:cNvPr id="200" name="TextBox 20">
            <a:extLst>
              <a:ext uri="{FF2B5EF4-FFF2-40B4-BE49-F238E27FC236}">
                <a16:creationId xmlns:a16="http://schemas.microsoft.com/office/drawing/2014/main" id="{242806EC-5C4F-922A-28ED-CCD017FAC3F7}"/>
              </a:ext>
            </a:extLst>
          </p:cNvPr>
          <p:cNvSpPr txBox="1"/>
          <p:nvPr/>
        </p:nvSpPr>
        <p:spPr>
          <a:xfrm>
            <a:off x="1371600" y="18912649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Peers and jobs added once the core is validated</a:t>
            </a:r>
          </a:p>
        </p:txBody>
      </p:sp>
      <p:grpSp>
        <p:nvGrpSpPr>
          <p:cNvPr id="201" name="Group 21">
            <a:extLst>
              <a:ext uri="{FF2B5EF4-FFF2-40B4-BE49-F238E27FC236}">
                <a16:creationId xmlns:a16="http://schemas.microsoft.com/office/drawing/2014/main" id="{640E3FD1-04F4-94ED-CBB8-CD726062AE98}"/>
              </a:ext>
            </a:extLst>
          </p:cNvPr>
          <p:cNvGrpSpPr/>
          <p:nvPr/>
        </p:nvGrpSpPr>
        <p:grpSpPr>
          <a:xfrm>
            <a:off x="6546723" y="14443519"/>
            <a:ext cx="5135118" cy="5916930"/>
            <a:chOff x="0" y="0"/>
            <a:chExt cx="6846824" cy="7889240"/>
          </a:xfrm>
        </p:grpSpPr>
        <p:sp>
          <p:nvSpPr>
            <p:cNvPr id="202" name="Freeform 22">
              <a:extLst>
                <a:ext uri="{FF2B5EF4-FFF2-40B4-BE49-F238E27FC236}">
                  <a16:creationId xmlns:a16="http://schemas.microsoft.com/office/drawing/2014/main" id="{8CDF1B5D-AB49-B02B-4A1B-ED795CCE4519}"/>
                </a:ext>
              </a:extLst>
            </p:cNvPr>
            <p:cNvSpPr/>
            <p:nvPr/>
          </p:nvSpPr>
          <p:spPr>
            <a:xfrm>
              <a:off x="0" y="0"/>
              <a:ext cx="6846824" cy="7889240"/>
            </a:xfrm>
            <a:custGeom>
              <a:avLst/>
              <a:gdLst/>
              <a:ahLst/>
              <a:cxnLst/>
              <a:rect l="l" t="t" r="r" b="b"/>
              <a:pathLst>
                <a:path w="6846824" h="78892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705725"/>
                  </a:lnTo>
                  <a:cubicBezTo>
                    <a:pt x="6846824" y="7807071"/>
                    <a:pt x="6764655" y="7889240"/>
                    <a:pt x="6663309" y="7889240"/>
                  </a:cubicBezTo>
                  <a:lnTo>
                    <a:pt x="183515" y="7889240"/>
                  </a:lnTo>
                  <a:cubicBezTo>
                    <a:pt x="82169" y="7889240"/>
                    <a:pt x="0" y="7807071"/>
                    <a:pt x="0" y="770572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03" name="Group 23">
            <a:extLst>
              <a:ext uri="{FF2B5EF4-FFF2-40B4-BE49-F238E27FC236}">
                <a16:creationId xmlns:a16="http://schemas.microsoft.com/office/drawing/2014/main" id="{3F768417-C963-679A-5CB1-997D9A58B2BA}"/>
              </a:ext>
            </a:extLst>
          </p:cNvPr>
          <p:cNvGrpSpPr/>
          <p:nvPr/>
        </p:nvGrpSpPr>
        <p:grpSpPr>
          <a:xfrm>
            <a:off x="6967728" y="14864524"/>
            <a:ext cx="1920240" cy="548640"/>
            <a:chOff x="0" y="0"/>
            <a:chExt cx="2560320" cy="731520"/>
          </a:xfrm>
        </p:grpSpPr>
        <p:sp>
          <p:nvSpPr>
            <p:cNvPr id="204" name="Freeform 24">
              <a:extLst>
                <a:ext uri="{FF2B5EF4-FFF2-40B4-BE49-F238E27FC236}">
                  <a16:creationId xmlns:a16="http://schemas.microsoft.com/office/drawing/2014/main" id="{08EBCF7B-B787-F898-D9E7-29D8402F8792}"/>
                </a:ext>
              </a:extLst>
            </p:cNvPr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94560" y="0"/>
                  </a:lnTo>
                  <a:cubicBezTo>
                    <a:pt x="2396617" y="0"/>
                    <a:pt x="2560320" y="163703"/>
                    <a:pt x="2560320" y="365760"/>
                  </a:cubicBezTo>
                  <a:cubicBezTo>
                    <a:pt x="2560320" y="567817"/>
                    <a:pt x="2396617" y="731520"/>
                    <a:pt x="21945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05" name="Group 25">
            <a:extLst>
              <a:ext uri="{FF2B5EF4-FFF2-40B4-BE49-F238E27FC236}">
                <a16:creationId xmlns:a16="http://schemas.microsoft.com/office/drawing/2014/main" id="{3E0E6C80-9397-CCA9-A54D-1CF865CFA418}"/>
              </a:ext>
            </a:extLst>
          </p:cNvPr>
          <p:cNvGrpSpPr/>
          <p:nvPr/>
        </p:nvGrpSpPr>
        <p:grpSpPr>
          <a:xfrm>
            <a:off x="6967728" y="14864524"/>
            <a:ext cx="1920240" cy="548640"/>
            <a:chOff x="0" y="0"/>
            <a:chExt cx="2560320" cy="731520"/>
          </a:xfrm>
        </p:grpSpPr>
        <p:sp>
          <p:nvSpPr>
            <p:cNvPr id="206" name="Freeform 26">
              <a:extLst>
                <a:ext uri="{FF2B5EF4-FFF2-40B4-BE49-F238E27FC236}">
                  <a16:creationId xmlns:a16="http://schemas.microsoft.com/office/drawing/2014/main" id="{88BD1B15-EB47-D540-05C7-DB97B8D0FDD3}"/>
                </a:ext>
              </a:extLst>
            </p:cNvPr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207" name="TextBox 27">
              <a:extLst>
                <a:ext uri="{FF2B5EF4-FFF2-40B4-BE49-F238E27FC236}">
                  <a16:creationId xmlns:a16="http://schemas.microsoft.com/office/drawing/2014/main" id="{0A182153-94AD-1835-B02E-BB9D81801133}"/>
                </a:ext>
              </a:extLst>
            </p:cNvPr>
            <p:cNvSpPr txBox="1"/>
            <p:nvPr/>
          </p:nvSpPr>
          <p:spPr>
            <a:xfrm>
              <a:off x="0" y="0"/>
              <a:ext cx="2560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Phase 2</a:t>
              </a:r>
            </a:p>
          </p:txBody>
        </p:sp>
      </p:grpSp>
      <p:grpSp>
        <p:nvGrpSpPr>
          <p:cNvPr id="208" name="Group 28">
            <a:extLst>
              <a:ext uri="{FF2B5EF4-FFF2-40B4-BE49-F238E27FC236}">
                <a16:creationId xmlns:a16="http://schemas.microsoft.com/office/drawing/2014/main" id="{2014C0FE-63FB-21FD-F43D-7B3AE52B6F92}"/>
              </a:ext>
            </a:extLst>
          </p:cNvPr>
          <p:cNvGrpSpPr/>
          <p:nvPr/>
        </p:nvGrpSpPr>
        <p:grpSpPr>
          <a:xfrm>
            <a:off x="6967728" y="15618904"/>
            <a:ext cx="4293108" cy="822960"/>
            <a:chOff x="0" y="0"/>
            <a:chExt cx="5724144" cy="1097280"/>
          </a:xfrm>
        </p:grpSpPr>
        <p:sp>
          <p:nvSpPr>
            <p:cNvPr id="209" name="Freeform 29">
              <a:extLst>
                <a:ext uri="{FF2B5EF4-FFF2-40B4-BE49-F238E27FC236}">
                  <a16:creationId xmlns:a16="http://schemas.microsoft.com/office/drawing/2014/main" id="{5A538CBF-7362-981F-7A35-26A27A72A297}"/>
                </a:ext>
              </a:extLst>
            </p:cNvPr>
            <p:cNvSpPr/>
            <p:nvPr/>
          </p:nvSpPr>
          <p:spPr>
            <a:xfrm>
              <a:off x="0" y="0"/>
              <a:ext cx="5724144" cy="1097280"/>
            </a:xfrm>
            <a:custGeom>
              <a:avLst/>
              <a:gdLst/>
              <a:ahLst/>
              <a:cxnLst/>
              <a:rect l="l" t="t" r="r" b="b"/>
              <a:pathLst>
                <a:path w="5724144" h="1097280">
                  <a:moveTo>
                    <a:pt x="0" y="0"/>
                  </a:moveTo>
                  <a:lnTo>
                    <a:pt x="5724144" y="0"/>
                  </a:lnTo>
                  <a:lnTo>
                    <a:pt x="572414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646" b="-51646"/>
              </a:stretch>
            </a:blipFill>
          </p:spPr>
        </p:sp>
        <p:sp>
          <p:nvSpPr>
            <p:cNvPr id="210" name="TextBox 30">
              <a:extLst>
                <a:ext uri="{FF2B5EF4-FFF2-40B4-BE49-F238E27FC236}">
                  <a16:creationId xmlns:a16="http://schemas.microsoft.com/office/drawing/2014/main" id="{97D30743-6F11-545E-E679-BBF7D8A88C24}"/>
                </a:ext>
              </a:extLst>
            </p:cNvPr>
            <p:cNvSpPr txBox="1"/>
            <p:nvPr/>
          </p:nvSpPr>
          <p:spPr>
            <a:xfrm>
              <a:off x="0" y="0"/>
              <a:ext cx="5724144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Local pilot</a:t>
              </a:r>
            </a:p>
          </p:txBody>
        </p:sp>
      </p:grpSp>
      <p:sp>
        <p:nvSpPr>
          <p:cNvPr id="211" name="TextBox 31">
            <a:extLst>
              <a:ext uri="{FF2B5EF4-FFF2-40B4-BE49-F238E27FC236}">
                <a16:creationId xmlns:a16="http://schemas.microsoft.com/office/drawing/2014/main" id="{2C2ECA59-5686-9D70-418C-733CAA8BEB57}"/>
              </a:ext>
            </a:extLst>
          </p:cNvPr>
          <p:cNvSpPr txBox="1"/>
          <p:nvPr/>
        </p:nvSpPr>
        <p:spPr>
          <a:xfrm>
            <a:off x="6967728" y="16580929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Partner with one skilling mission, NGO or placement cell</a:t>
            </a:r>
          </a:p>
        </p:txBody>
      </p:sp>
      <p:sp>
        <p:nvSpPr>
          <p:cNvPr id="212" name="TextBox 32">
            <a:extLst>
              <a:ext uri="{FF2B5EF4-FFF2-40B4-BE49-F238E27FC236}">
                <a16:creationId xmlns:a16="http://schemas.microsoft.com/office/drawing/2014/main" id="{14D31A3E-8215-7CF7-2D58-D13F47D8D20D}"/>
              </a:ext>
            </a:extLst>
          </p:cNvPr>
          <p:cNvSpPr txBox="1"/>
          <p:nvPr/>
        </p:nvSpPr>
        <p:spPr>
          <a:xfrm>
            <a:off x="6967728" y="17746789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Real users and a maintained exam-data pipeline</a:t>
            </a:r>
          </a:p>
        </p:txBody>
      </p:sp>
      <p:sp>
        <p:nvSpPr>
          <p:cNvPr id="213" name="TextBox 33">
            <a:extLst>
              <a:ext uri="{FF2B5EF4-FFF2-40B4-BE49-F238E27FC236}">
                <a16:creationId xmlns:a16="http://schemas.microsoft.com/office/drawing/2014/main" id="{66EA7C99-CBF2-494F-511D-2506C420FC27}"/>
              </a:ext>
            </a:extLst>
          </p:cNvPr>
          <p:cNvSpPr txBox="1"/>
          <p:nvPr/>
        </p:nvSpPr>
        <p:spPr>
          <a:xfrm>
            <a:off x="6967728" y="18912649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Tune trust score and recommendations on real outcomes</a:t>
            </a:r>
          </a:p>
        </p:txBody>
      </p:sp>
      <p:grpSp>
        <p:nvGrpSpPr>
          <p:cNvPr id="214" name="Group 34">
            <a:extLst>
              <a:ext uri="{FF2B5EF4-FFF2-40B4-BE49-F238E27FC236}">
                <a16:creationId xmlns:a16="http://schemas.microsoft.com/office/drawing/2014/main" id="{61127B45-E211-0068-1D3B-C5BBC2362F95}"/>
              </a:ext>
            </a:extLst>
          </p:cNvPr>
          <p:cNvGrpSpPr/>
          <p:nvPr/>
        </p:nvGrpSpPr>
        <p:grpSpPr>
          <a:xfrm>
            <a:off x="12142851" y="14443519"/>
            <a:ext cx="5135118" cy="5916930"/>
            <a:chOff x="0" y="0"/>
            <a:chExt cx="6846824" cy="7889240"/>
          </a:xfrm>
        </p:grpSpPr>
        <p:sp>
          <p:nvSpPr>
            <p:cNvPr id="215" name="Freeform 35">
              <a:extLst>
                <a:ext uri="{FF2B5EF4-FFF2-40B4-BE49-F238E27FC236}">
                  <a16:creationId xmlns:a16="http://schemas.microsoft.com/office/drawing/2014/main" id="{63A91954-3409-F255-61FB-54B5AA04B88E}"/>
                </a:ext>
              </a:extLst>
            </p:cNvPr>
            <p:cNvSpPr/>
            <p:nvPr/>
          </p:nvSpPr>
          <p:spPr>
            <a:xfrm>
              <a:off x="0" y="0"/>
              <a:ext cx="6846824" cy="7889240"/>
            </a:xfrm>
            <a:custGeom>
              <a:avLst/>
              <a:gdLst/>
              <a:ahLst/>
              <a:cxnLst/>
              <a:rect l="l" t="t" r="r" b="b"/>
              <a:pathLst>
                <a:path w="6846824" h="78892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705725"/>
                  </a:lnTo>
                  <a:cubicBezTo>
                    <a:pt x="6846824" y="7807071"/>
                    <a:pt x="6764655" y="7889240"/>
                    <a:pt x="6663309" y="7889240"/>
                  </a:cubicBezTo>
                  <a:lnTo>
                    <a:pt x="183515" y="7889240"/>
                  </a:lnTo>
                  <a:cubicBezTo>
                    <a:pt x="82169" y="7889240"/>
                    <a:pt x="0" y="7807071"/>
                    <a:pt x="0" y="770572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16" name="Group 36">
            <a:extLst>
              <a:ext uri="{FF2B5EF4-FFF2-40B4-BE49-F238E27FC236}">
                <a16:creationId xmlns:a16="http://schemas.microsoft.com/office/drawing/2014/main" id="{22C41E39-8BDA-5629-393B-5F8ED6AE262A}"/>
              </a:ext>
            </a:extLst>
          </p:cNvPr>
          <p:cNvGrpSpPr/>
          <p:nvPr/>
        </p:nvGrpSpPr>
        <p:grpSpPr>
          <a:xfrm>
            <a:off x="12563856" y="14864524"/>
            <a:ext cx="1920240" cy="548640"/>
            <a:chOff x="0" y="0"/>
            <a:chExt cx="2560320" cy="731520"/>
          </a:xfrm>
        </p:grpSpPr>
        <p:sp>
          <p:nvSpPr>
            <p:cNvPr id="217" name="Freeform 37">
              <a:extLst>
                <a:ext uri="{FF2B5EF4-FFF2-40B4-BE49-F238E27FC236}">
                  <a16:creationId xmlns:a16="http://schemas.microsoft.com/office/drawing/2014/main" id="{238E4A79-DF1C-1B5F-5C51-D5BE714444EC}"/>
                </a:ext>
              </a:extLst>
            </p:cNvPr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94560" y="0"/>
                  </a:lnTo>
                  <a:cubicBezTo>
                    <a:pt x="2396617" y="0"/>
                    <a:pt x="2560320" y="163703"/>
                    <a:pt x="2560320" y="365760"/>
                  </a:cubicBezTo>
                  <a:cubicBezTo>
                    <a:pt x="2560320" y="567817"/>
                    <a:pt x="2396617" y="731520"/>
                    <a:pt x="21945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18" name="Group 38">
            <a:extLst>
              <a:ext uri="{FF2B5EF4-FFF2-40B4-BE49-F238E27FC236}">
                <a16:creationId xmlns:a16="http://schemas.microsoft.com/office/drawing/2014/main" id="{5FF8FC1D-18EE-C582-F3D6-B2A4242F5399}"/>
              </a:ext>
            </a:extLst>
          </p:cNvPr>
          <p:cNvGrpSpPr/>
          <p:nvPr/>
        </p:nvGrpSpPr>
        <p:grpSpPr>
          <a:xfrm>
            <a:off x="12563856" y="14864524"/>
            <a:ext cx="1920240" cy="548640"/>
            <a:chOff x="0" y="0"/>
            <a:chExt cx="2560320" cy="731520"/>
          </a:xfrm>
        </p:grpSpPr>
        <p:sp>
          <p:nvSpPr>
            <p:cNvPr id="219" name="Freeform 39">
              <a:extLst>
                <a:ext uri="{FF2B5EF4-FFF2-40B4-BE49-F238E27FC236}">
                  <a16:creationId xmlns:a16="http://schemas.microsoft.com/office/drawing/2014/main" id="{24BA9854-59F4-3FD6-1400-367479F93B83}"/>
                </a:ext>
              </a:extLst>
            </p:cNvPr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220" name="TextBox 40">
              <a:extLst>
                <a:ext uri="{FF2B5EF4-FFF2-40B4-BE49-F238E27FC236}">
                  <a16:creationId xmlns:a16="http://schemas.microsoft.com/office/drawing/2014/main" id="{1BB12E60-6A24-9FDD-BCBF-31E56CBDA152}"/>
                </a:ext>
              </a:extLst>
            </p:cNvPr>
            <p:cNvSpPr txBox="1"/>
            <p:nvPr/>
          </p:nvSpPr>
          <p:spPr>
            <a:xfrm>
              <a:off x="0" y="0"/>
              <a:ext cx="2560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Phase 3</a:t>
              </a:r>
            </a:p>
          </p:txBody>
        </p:sp>
      </p:grpSp>
      <p:grpSp>
        <p:nvGrpSpPr>
          <p:cNvPr id="221" name="Group 41">
            <a:extLst>
              <a:ext uri="{FF2B5EF4-FFF2-40B4-BE49-F238E27FC236}">
                <a16:creationId xmlns:a16="http://schemas.microsoft.com/office/drawing/2014/main" id="{267169EE-88CC-9CE4-4A6C-8B76F235CBDE}"/>
              </a:ext>
            </a:extLst>
          </p:cNvPr>
          <p:cNvGrpSpPr/>
          <p:nvPr/>
        </p:nvGrpSpPr>
        <p:grpSpPr>
          <a:xfrm>
            <a:off x="12563856" y="15618904"/>
            <a:ext cx="4293108" cy="822960"/>
            <a:chOff x="0" y="0"/>
            <a:chExt cx="5724144" cy="1097280"/>
          </a:xfrm>
        </p:grpSpPr>
        <p:sp>
          <p:nvSpPr>
            <p:cNvPr id="222" name="Freeform 42">
              <a:extLst>
                <a:ext uri="{FF2B5EF4-FFF2-40B4-BE49-F238E27FC236}">
                  <a16:creationId xmlns:a16="http://schemas.microsoft.com/office/drawing/2014/main" id="{30DEB6E9-741E-7A87-16AB-EAF9E28A5DD0}"/>
                </a:ext>
              </a:extLst>
            </p:cNvPr>
            <p:cNvSpPr/>
            <p:nvPr/>
          </p:nvSpPr>
          <p:spPr>
            <a:xfrm>
              <a:off x="0" y="0"/>
              <a:ext cx="5724144" cy="1097280"/>
            </a:xfrm>
            <a:custGeom>
              <a:avLst/>
              <a:gdLst/>
              <a:ahLst/>
              <a:cxnLst/>
              <a:rect l="l" t="t" r="r" b="b"/>
              <a:pathLst>
                <a:path w="5724144" h="1097280">
                  <a:moveTo>
                    <a:pt x="0" y="0"/>
                  </a:moveTo>
                  <a:lnTo>
                    <a:pt x="5724144" y="0"/>
                  </a:lnTo>
                  <a:lnTo>
                    <a:pt x="572414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646" b="-51646"/>
              </a:stretch>
            </a:blipFill>
          </p:spPr>
        </p:sp>
        <p:sp>
          <p:nvSpPr>
            <p:cNvPr id="223" name="TextBox 43">
              <a:extLst>
                <a:ext uri="{FF2B5EF4-FFF2-40B4-BE49-F238E27FC236}">
                  <a16:creationId xmlns:a16="http://schemas.microsoft.com/office/drawing/2014/main" id="{5CA3FE09-E809-A41A-3ABD-8F8056A86C2A}"/>
                </a:ext>
              </a:extLst>
            </p:cNvPr>
            <p:cNvSpPr txBox="1"/>
            <p:nvPr/>
          </p:nvSpPr>
          <p:spPr>
            <a:xfrm>
              <a:off x="0" y="0"/>
              <a:ext cx="5724144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 via partnership</a:t>
              </a:r>
            </a:p>
          </p:txBody>
        </p:sp>
      </p:grpSp>
      <p:sp>
        <p:nvSpPr>
          <p:cNvPr id="224" name="TextBox 44">
            <a:extLst>
              <a:ext uri="{FF2B5EF4-FFF2-40B4-BE49-F238E27FC236}">
                <a16:creationId xmlns:a16="http://schemas.microsoft.com/office/drawing/2014/main" id="{63F82C2B-0253-57A9-40F5-52B40975C056}"/>
              </a:ext>
            </a:extLst>
          </p:cNvPr>
          <p:cNvSpPr txBox="1"/>
          <p:nvPr/>
        </p:nvSpPr>
        <p:spPr>
          <a:xfrm>
            <a:off x="12563856" y="16580929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Multi-state rollout through skilling and NGO channels</a:t>
            </a:r>
          </a:p>
        </p:txBody>
      </p:sp>
      <p:sp>
        <p:nvSpPr>
          <p:cNvPr id="225" name="TextBox 45">
            <a:extLst>
              <a:ext uri="{FF2B5EF4-FFF2-40B4-BE49-F238E27FC236}">
                <a16:creationId xmlns:a16="http://schemas.microsoft.com/office/drawing/2014/main" id="{93A06649-4F27-7509-C1A4-BFD752CFDBF0}"/>
              </a:ext>
            </a:extLst>
          </p:cNvPr>
          <p:cNvSpPr txBox="1"/>
          <p:nvPr/>
        </p:nvSpPr>
        <p:spPr>
          <a:xfrm>
            <a:off x="12563856" y="17746789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Verified mentor network and employer partnerships</a:t>
            </a:r>
          </a:p>
        </p:txBody>
      </p:sp>
      <p:sp>
        <p:nvSpPr>
          <p:cNvPr id="226" name="TextBox 46">
            <a:extLst>
              <a:ext uri="{FF2B5EF4-FFF2-40B4-BE49-F238E27FC236}">
                <a16:creationId xmlns:a16="http://schemas.microsoft.com/office/drawing/2014/main" id="{55A97C41-0FA7-6BA1-891B-822BAC042490}"/>
              </a:ext>
            </a:extLst>
          </p:cNvPr>
          <p:cNvSpPr txBox="1"/>
          <p:nvPr/>
        </p:nvSpPr>
        <p:spPr>
          <a:xfrm>
            <a:off x="12563856" y="18912649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Wider exam coverage with official-source updates</a:t>
            </a:r>
          </a:p>
        </p:txBody>
      </p:sp>
      <p:grpSp>
        <p:nvGrpSpPr>
          <p:cNvPr id="227" name="Group 47">
            <a:extLst>
              <a:ext uri="{FF2B5EF4-FFF2-40B4-BE49-F238E27FC236}">
                <a16:creationId xmlns:a16="http://schemas.microsoft.com/office/drawing/2014/main" id="{3E6FD652-AE85-A646-B049-9B3AA10A51D4}"/>
              </a:ext>
            </a:extLst>
          </p:cNvPr>
          <p:cNvGrpSpPr/>
          <p:nvPr/>
        </p:nvGrpSpPr>
        <p:grpSpPr>
          <a:xfrm>
            <a:off x="17213580" y="21242464"/>
            <a:ext cx="822960" cy="411480"/>
            <a:chOff x="0" y="0"/>
            <a:chExt cx="1097280" cy="548640"/>
          </a:xfrm>
        </p:grpSpPr>
        <p:sp>
          <p:nvSpPr>
            <p:cNvPr id="228" name="Freeform 48">
              <a:extLst>
                <a:ext uri="{FF2B5EF4-FFF2-40B4-BE49-F238E27FC236}">
                  <a16:creationId xmlns:a16="http://schemas.microsoft.com/office/drawing/2014/main" id="{3B85E631-70EC-F52D-45E2-0B5EB8799375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29" name="TextBox 49">
              <a:extLst>
                <a:ext uri="{FF2B5EF4-FFF2-40B4-BE49-F238E27FC236}">
                  <a16:creationId xmlns:a16="http://schemas.microsoft.com/office/drawing/2014/main" id="{73AEFAE3-5162-B653-C37C-C69966170930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17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 dirty="0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ROADMAP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097280"/>
            <a:ext cx="16322040" cy="1234440"/>
            <a:chOff x="0" y="0"/>
            <a:chExt cx="2176272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From idea to pilot to scale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595" y="2939415"/>
            <a:ext cx="5135118" cy="5916930"/>
            <a:chOff x="0" y="0"/>
            <a:chExt cx="6846824" cy="7889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46824" cy="7889240"/>
            </a:xfrm>
            <a:custGeom>
              <a:avLst/>
              <a:gdLst/>
              <a:ahLst/>
              <a:cxnLst/>
              <a:rect l="l" t="t" r="r" b="b"/>
              <a:pathLst>
                <a:path w="6846824" h="78892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705725"/>
                  </a:lnTo>
                  <a:cubicBezTo>
                    <a:pt x="6846824" y="7807071"/>
                    <a:pt x="6764655" y="7889240"/>
                    <a:pt x="6663309" y="7889240"/>
                  </a:cubicBezTo>
                  <a:lnTo>
                    <a:pt x="183515" y="7889240"/>
                  </a:lnTo>
                  <a:cubicBezTo>
                    <a:pt x="82169" y="7889240"/>
                    <a:pt x="0" y="7807071"/>
                    <a:pt x="0" y="770572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371600" y="3360420"/>
            <a:ext cx="1920240" cy="548640"/>
            <a:chOff x="0" y="0"/>
            <a:chExt cx="256032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94560" y="0"/>
                  </a:lnTo>
                  <a:cubicBezTo>
                    <a:pt x="2396617" y="0"/>
                    <a:pt x="2560320" y="163703"/>
                    <a:pt x="2560320" y="365760"/>
                  </a:cubicBezTo>
                  <a:cubicBezTo>
                    <a:pt x="2560320" y="567817"/>
                    <a:pt x="2396617" y="731520"/>
                    <a:pt x="21945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71600" y="3360420"/>
            <a:ext cx="1920240" cy="548640"/>
            <a:chOff x="0" y="0"/>
            <a:chExt cx="256032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560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Phase 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1600" y="4114800"/>
            <a:ext cx="4293108" cy="822960"/>
            <a:chOff x="0" y="0"/>
            <a:chExt cx="5724144" cy="10972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24144" cy="1097280"/>
            </a:xfrm>
            <a:custGeom>
              <a:avLst/>
              <a:gdLst/>
              <a:ahLst/>
              <a:cxnLst/>
              <a:rect l="l" t="t" r="r" b="b"/>
              <a:pathLst>
                <a:path w="5724144" h="1097280">
                  <a:moveTo>
                    <a:pt x="0" y="0"/>
                  </a:moveTo>
                  <a:lnTo>
                    <a:pt x="5724144" y="0"/>
                  </a:lnTo>
                  <a:lnTo>
                    <a:pt x="572414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646" b="-5164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724144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Build the core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71600" y="5076825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Voice → verified profile → CV → gap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71600" y="6242685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Eligibility check for 5–8 government exams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71600" y="7408545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Peers and jobs added once the core is validated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546723" y="2939415"/>
            <a:ext cx="5135118" cy="5916930"/>
            <a:chOff x="0" y="0"/>
            <a:chExt cx="6846824" cy="78892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46824" cy="7889240"/>
            </a:xfrm>
            <a:custGeom>
              <a:avLst/>
              <a:gdLst/>
              <a:ahLst/>
              <a:cxnLst/>
              <a:rect l="l" t="t" r="r" b="b"/>
              <a:pathLst>
                <a:path w="6846824" h="78892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705725"/>
                  </a:lnTo>
                  <a:cubicBezTo>
                    <a:pt x="6846824" y="7807071"/>
                    <a:pt x="6764655" y="7889240"/>
                    <a:pt x="6663309" y="7889240"/>
                  </a:cubicBezTo>
                  <a:lnTo>
                    <a:pt x="183515" y="7889240"/>
                  </a:lnTo>
                  <a:cubicBezTo>
                    <a:pt x="82169" y="7889240"/>
                    <a:pt x="0" y="7807071"/>
                    <a:pt x="0" y="770572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967728" y="3360420"/>
            <a:ext cx="1920240" cy="548640"/>
            <a:chOff x="0" y="0"/>
            <a:chExt cx="2560320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94560" y="0"/>
                  </a:lnTo>
                  <a:cubicBezTo>
                    <a:pt x="2396617" y="0"/>
                    <a:pt x="2560320" y="163703"/>
                    <a:pt x="2560320" y="365760"/>
                  </a:cubicBezTo>
                  <a:cubicBezTo>
                    <a:pt x="2560320" y="567817"/>
                    <a:pt x="2396617" y="731520"/>
                    <a:pt x="21945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967728" y="3360420"/>
            <a:ext cx="1920240" cy="548640"/>
            <a:chOff x="0" y="0"/>
            <a:chExt cx="2560320" cy="731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2560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Phase 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967728" y="4114800"/>
            <a:ext cx="4293108" cy="822960"/>
            <a:chOff x="0" y="0"/>
            <a:chExt cx="5724144" cy="10972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724144" cy="1097280"/>
            </a:xfrm>
            <a:custGeom>
              <a:avLst/>
              <a:gdLst/>
              <a:ahLst/>
              <a:cxnLst/>
              <a:rect l="l" t="t" r="r" b="b"/>
              <a:pathLst>
                <a:path w="5724144" h="1097280">
                  <a:moveTo>
                    <a:pt x="0" y="0"/>
                  </a:moveTo>
                  <a:lnTo>
                    <a:pt x="5724144" y="0"/>
                  </a:lnTo>
                  <a:lnTo>
                    <a:pt x="572414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646" b="-51646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5724144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Local pilot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967728" y="5076825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Partner with one skilling mission, NGO or placement cell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967728" y="6242685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Real users and a maintained exam-data pipeline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967728" y="7408545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Tune trust score and recommendations on real outcomes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2142851" y="2939415"/>
            <a:ext cx="5135118" cy="5916930"/>
            <a:chOff x="0" y="0"/>
            <a:chExt cx="6846824" cy="78892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846824" cy="7889240"/>
            </a:xfrm>
            <a:custGeom>
              <a:avLst/>
              <a:gdLst/>
              <a:ahLst/>
              <a:cxnLst/>
              <a:rect l="l" t="t" r="r" b="b"/>
              <a:pathLst>
                <a:path w="6846824" h="78892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705725"/>
                  </a:lnTo>
                  <a:cubicBezTo>
                    <a:pt x="6846824" y="7807071"/>
                    <a:pt x="6764655" y="7889240"/>
                    <a:pt x="6663309" y="7889240"/>
                  </a:cubicBezTo>
                  <a:lnTo>
                    <a:pt x="183515" y="7889240"/>
                  </a:lnTo>
                  <a:cubicBezTo>
                    <a:pt x="82169" y="7889240"/>
                    <a:pt x="0" y="7807071"/>
                    <a:pt x="0" y="770572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2563856" y="3360420"/>
            <a:ext cx="1920240" cy="548640"/>
            <a:chOff x="0" y="0"/>
            <a:chExt cx="2560320" cy="731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94560" y="0"/>
                  </a:lnTo>
                  <a:cubicBezTo>
                    <a:pt x="2396617" y="0"/>
                    <a:pt x="2560320" y="163703"/>
                    <a:pt x="2560320" y="365760"/>
                  </a:cubicBezTo>
                  <a:cubicBezTo>
                    <a:pt x="2560320" y="567817"/>
                    <a:pt x="2396617" y="731520"/>
                    <a:pt x="21945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2563856" y="3360420"/>
            <a:ext cx="1920240" cy="548640"/>
            <a:chOff x="0" y="0"/>
            <a:chExt cx="2560320" cy="7315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2560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Phase 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563856" y="4114800"/>
            <a:ext cx="4293108" cy="822960"/>
            <a:chOff x="0" y="0"/>
            <a:chExt cx="5724144" cy="10972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724144" cy="1097280"/>
            </a:xfrm>
            <a:custGeom>
              <a:avLst/>
              <a:gdLst/>
              <a:ahLst/>
              <a:cxnLst/>
              <a:rect l="l" t="t" r="r" b="b"/>
              <a:pathLst>
                <a:path w="5724144" h="1097280">
                  <a:moveTo>
                    <a:pt x="0" y="0"/>
                  </a:moveTo>
                  <a:lnTo>
                    <a:pt x="5724144" y="0"/>
                  </a:lnTo>
                  <a:lnTo>
                    <a:pt x="572414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646" b="-51646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5724144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 via partnership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2563856" y="5076825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Multi-state rollout through skilling and NGO channels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563856" y="6242685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Verified mentor network and employer partnerships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563856" y="7408545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Wider exam coverage with official-source updates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17</a:t>
              </a:r>
            </a:p>
          </p:txBody>
        </p:sp>
      </p:grpSp>
      <p:grpSp>
        <p:nvGrpSpPr>
          <p:cNvPr id="50" name="Group 2">
            <a:extLst>
              <a:ext uri="{FF2B5EF4-FFF2-40B4-BE49-F238E27FC236}">
                <a16:creationId xmlns:a16="http://schemas.microsoft.com/office/drawing/2014/main" id="{F4CB56D4-7209-2756-C80F-911CB1AA267C}"/>
              </a:ext>
            </a:extLst>
          </p:cNvPr>
          <p:cNvGrpSpPr/>
          <p:nvPr/>
        </p:nvGrpSpPr>
        <p:grpSpPr>
          <a:xfrm>
            <a:off x="982980" y="-10419397"/>
            <a:ext cx="12344400" cy="480060"/>
            <a:chOff x="0" y="0"/>
            <a:chExt cx="16459200" cy="640080"/>
          </a:xfrm>
        </p:grpSpPr>
        <p:sp>
          <p:nvSpPr>
            <p:cNvPr id="51" name="Freeform 3">
              <a:extLst>
                <a:ext uri="{FF2B5EF4-FFF2-40B4-BE49-F238E27FC236}">
                  <a16:creationId xmlns:a16="http://schemas.microsoft.com/office/drawing/2014/main" id="{38B810AA-81FE-C2E8-F7D4-2D3A2F95A1FE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59BDF8C3-905B-9138-6F6A-D85C4AF8987D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299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BEYOND THE HACKATHON</a:t>
              </a:r>
            </a:p>
          </p:txBody>
        </p:sp>
      </p:grpSp>
      <p:grpSp>
        <p:nvGrpSpPr>
          <p:cNvPr id="53" name="Group 5">
            <a:extLst>
              <a:ext uri="{FF2B5EF4-FFF2-40B4-BE49-F238E27FC236}">
                <a16:creationId xmlns:a16="http://schemas.microsoft.com/office/drawing/2014/main" id="{236CC668-DC0A-FC26-1093-CB1606E08F97}"/>
              </a:ext>
            </a:extLst>
          </p:cNvPr>
          <p:cNvGrpSpPr/>
          <p:nvPr/>
        </p:nvGrpSpPr>
        <p:grpSpPr>
          <a:xfrm>
            <a:off x="982980" y="-9939337"/>
            <a:ext cx="16322040" cy="1234440"/>
            <a:chOff x="0" y="0"/>
            <a:chExt cx="21762720" cy="1645920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C17BEE45-939F-B9D9-3292-87F35735A0EB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55" name="TextBox 7">
              <a:extLst>
                <a:ext uri="{FF2B5EF4-FFF2-40B4-BE49-F238E27FC236}">
                  <a16:creationId xmlns:a16="http://schemas.microsoft.com/office/drawing/2014/main" id="{B0319735-FBD9-1EC5-FAAA-D5E79D142155}"/>
                </a:ext>
              </a:extLst>
            </p:cNvPr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Who it serves, and how it grows</a:t>
              </a:r>
            </a:p>
          </p:txBody>
        </p:sp>
      </p:grpSp>
      <p:grpSp>
        <p:nvGrpSpPr>
          <p:cNvPr id="56" name="Group 8">
            <a:extLst>
              <a:ext uri="{FF2B5EF4-FFF2-40B4-BE49-F238E27FC236}">
                <a16:creationId xmlns:a16="http://schemas.microsoft.com/office/drawing/2014/main" id="{5934A6E9-0444-57B0-E6F2-5A3288E0DD51}"/>
              </a:ext>
            </a:extLst>
          </p:cNvPr>
          <p:cNvGrpSpPr/>
          <p:nvPr/>
        </p:nvGrpSpPr>
        <p:grpSpPr>
          <a:xfrm>
            <a:off x="973455" y="-8234362"/>
            <a:ext cx="5135118" cy="3310890"/>
            <a:chOff x="0" y="0"/>
            <a:chExt cx="6846824" cy="4414520"/>
          </a:xfrm>
        </p:grpSpPr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740723AB-CF66-A4E3-DFF0-7448E73E7DF7}"/>
                </a:ext>
              </a:extLst>
            </p:cNvPr>
            <p:cNvSpPr/>
            <p:nvPr/>
          </p:nvSpPr>
          <p:spPr>
            <a:xfrm>
              <a:off x="0" y="0"/>
              <a:ext cx="6846824" cy="4414520"/>
            </a:xfrm>
            <a:custGeom>
              <a:avLst/>
              <a:gdLst/>
              <a:ahLst/>
              <a:cxnLst/>
              <a:rect l="l" t="t" r="r" b="b"/>
              <a:pathLst>
                <a:path w="6846824" h="44145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662928" y="0"/>
                  </a:lnTo>
                  <a:cubicBezTo>
                    <a:pt x="6764528" y="0"/>
                    <a:pt x="6846824" y="82296"/>
                    <a:pt x="6846824" y="183896"/>
                  </a:cubicBezTo>
                  <a:lnTo>
                    <a:pt x="6846824" y="4230624"/>
                  </a:lnTo>
                  <a:cubicBezTo>
                    <a:pt x="6846824" y="4332224"/>
                    <a:pt x="6764528" y="4414520"/>
                    <a:pt x="6662928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58" name="Group 10">
            <a:extLst>
              <a:ext uri="{FF2B5EF4-FFF2-40B4-BE49-F238E27FC236}">
                <a16:creationId xmlns:a16="http://schemas.microsoft.com/office/drawing/2014/main" id="{B03A22AF-EF1C-304C-7347-88A0E8186479}"/>
              </a:ext>
            </a:extLst>
          </p:cNvPr>
          <p:cNvGrpSpPr/>
          <p:nvPr/>
        </p:nvGrpSpPr>
        <p:grpSpPr>
          <a:xfrm>
            <a:off x="1394460" y="-7813357"/>
            <a:ext cx="754380" cy="754380"/>
            <a:chOff x="0" y="0"/>
            <a:chExt cx="1005840" cy="1005840"/>
          </a:xfrm>
        </p:grpSpPr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8453E027-A0C2-29B1-77CC-5382CDA5DD21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60" name="Group 12">
            <a:extLst>
              <a:ext uri="{FF2B5EF4-FFF2-40B4-BE49-F238E27FC236}">
                <a16:creationId xmlns:a16="http://schemas.microsoft.com/office/drawing/2014/main" id="{DBCE143E-4023-8BD9-950D-50081D7B8441}"/>
              </a:ext>
            </a:extLst>
          </p:cNvPr>
          <p:cNvGrpSpPr/>
          <p:nvPr/>
        </p:nvGrpSpPr>
        <p:grpSpPr>
          <a:xfrm>
            <a:off x="1394460" y="-7813357"/>
            <a:ext cx="754380" cy="754380"/>
            <a:chOff x="0" y="0"/>
            <a:chExt cx="1005840" cy="1005840"/>
          </a:xfrm>
        </p:grpSpPr>
        <p:sp>
          <p:nvSpPr>
            <p:cNvPr id="61" name="Freeform 13">
              <a:extLst>
                <a:ext uri="{FF2B5EF4-FFF2-40B4-BE49-F238E27FC236}">
                  <a16:creationId xmlns:a16="http://schemas.microsoft.com/office/drawing/2014/main" id="{0841F323-99A8-C388-0C2F-8DEFB3A6A1FB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2" name="TextBox 14">
              <a:extLst>
                <a:ext uri="{FF2B5EF4-FFF2-40B4-BE49-F238E27FC236}">
                  <a16:creationId xmlns:a16="http://schemas.microsoft.com/office/drawing/2014/main" id="{6D059F18-DD97-8C55-8147-FE3248B409BE}"/>
                </a:ext>
              </a:extLst>
            </p:cNvPr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63" name="Group 15">
            <a:extLst>
              <a:ext uri="{FF2B5EF4-FFF2-40B4-BE49-F238E27FC236}">
                <a16:creationId xmlns:a16="http://schemas.microsoft.com/office/drawing/2014/main" id="{8ACDC371-2CC6-E87C-C92E-3C12A402F5EA}"/>
              </a:ext>
            </a:extLst>
          </p:cNvPr>
          <p:cNvGrpSpPr/>
          <p:nvPr/>
        </p:nvGrpSpPr>
        <p:grpSpPr>
          <a:xfrm>
            <a:off x="1394460" y="-6853237"/>
            <a:ext cx="4293108" cy="548640"/>
            <a:chOff x="0" y="0"/>
            <a:chExt cx="5724144" cy="731520"/>
          </a:xfrm>
        </p:grpSpPr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56F76394-BB9A-2C9F-FEB7-1EF7C97B3438}"/>
                </a:ext>
              </a:extLst>
            </p:cNvPr>
            <p:cNvSpPr/>
            <p:nvPr/>
          </p:nvSpPr>
          <p:spPr>
            <a:xfrm>
              <a:off x="0" y="0"/>
              <a:ext cx="5724144" cy="731520"/>
            </a:xfrm>
            <a:custGeom>
              <a:avLst/>
              <a:gdLst/>
              <a:ahLst/>
              <a:cxnLst/>
              <a:rect l="l" t="t" r="r" b="b"/>
              <a:pathLst>
                <a:path w="5724144" h="731520">
                  <a:moveTo>
                    <a:pt x="0" y="0"/>
                  </a:moveTo>
                  <a:lnTo>
                    <a:pt x="5724144" y="0"/>
                  </a:lnTo>
                  <a:lnTo>
                    <a:pt x="5724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470" b="-102470"/>
              </a:stretch>
            </a:blipFill>
          </p:spPr>
        </p:sp>
        <p:sp>
          <p:nvSpPr>
            <p:cNvPr id="65" name="TextBox 17">
              <a:extLst>
                <a:ext uri="{FF2B5EF4-FFF2-40B4-BE49-F238E27FC236}">
                  <a16:creationId xmlns:a16="http://schemas.microsoft.com/office/drawing/2014/main" id="{4A4683F0-2489-969D-F609-03D72505DFAB}"/>
                </a:ext>
              </a:extLst>
            </p:cNvPr>
            <p:cNvSpPr txBox="1"/>
            <p:nvPr/>
          </p:nvSpPr>
          <p:spPr>
            <a:xfrm>
              <a:off x="0" y="0"/>
              <a:ext cx="572414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Job seekers</a:t>
              </a:r>
            </a:p>
          </p:txBody>
        </p:sp>
      </p:grpSp>
      <p:sp>
        <p:nvSpPr>
          <p:cNvPr id="66" name="TextBox 18">
            <a:extLst>
              <a:ext uri="{FF2B5EF4-FFF2-40B4-BE49-F238E27FC236}">
                <a16:creationId xmlns:a16="http://schemas.microsoft.com/office/drawing/2014/main" id="{2E71119C-900F-EA18-CA5B-DA831308A72C}"/>
              </a:ext>
            </a:extLst>
          </p:cNvPr>
          <p:cNvSpPr txBox="1"/>
          <p:nvPr/>
        </p:nvSpPr>
        <p:spPr>
          <a:xfrm>
            <a:off x="1394460" y="-6334315"/>
            <a:ext cx="4293108" cy="129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People facing hardship building a verified profile, CV and path. Free, always.</a:t>
            </a:r>
          </a:p>
        </p:txBody>
      </p:sp>
      <p:grpSp>
        <p:nvGrpSpPr>
          <p:cNvPr id="67" name="Group 19">
            <a:extLst>
              <a:ext uri="{FF2B5EF4-FFF2-40B4-BE49-F238E27FC236}">
                <a16:creationId xmlns:a16="http://schemas.microsoft.com/office/drawing/2014/main" id="{49F84356-7FBB-7DE9-6E0A-55D884521570}"/>
              </a:ext>
            </a:extLst>
          </p:cNvPr>
          <p:cNvGrpSpPr/>
          <p:nvPr/>
        </p:nvGrpSpPr>
        <p:grpSpPr>
          <a:xfrm>
            <a:off x="6569583" y="-8234362"/>
            <a:ext cx="5135118" cy="3310890"/>
            <a:chOff x="0" y="0"/>
            <a:chExt cx="6846824" cy="4414520"/>
          </a:xfrm>
        </p:grpSpPr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A9E9E263-BDFF-BAA9-F46E-39FA856C7100}"/>
                </a:ext>
              </a:extLst>
            </p:cNvPr>
            <p:cNvSpPr/>
            <p:nvPr/>
          </p:nvSpPr>
          <p:spPr>
            <a:xfrm>
              <a:off x="0" y="0"/>
              <a:ext cx="6846824" cy="4414520"/>
            </a:xfrm>
            <a:custGeom>
              <a:avLst/>
              <a:gdLst/>
              <a:ahLst/>
              <a:cxnLst/>
              <a:rect l="l" t="t" r="r" b="b"/>
              <a:pathLst>
                <a:path w="6846824" h="44145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662928" y="0"/>
                  </a:lnTo>
                  <a:cubicBezTo>
                    <a:pt x="6764528" y="0"/>
                    <a:pt x="6846824" y="82296"/>
                    <a:pt x="6846824" y="183896"/>
                  </a:cubicBezTo>
                  <a:lnTo>
                    <a:pt x="6846824" y="4230624"/>
                  </a:lnTo>
                  <a:cubicBezTo>
                    <a:pt x="6846824" y="4332224"/>
                    <a:pt x="6764528" y="4414520"/>
                    <a:pt x="6662928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69" name="Group 21">
            <a:extLst>
              <a:ext uri="{FF2B5EF4-FFF2-40B4-BE49-F238E27FC236}">
                <a16:creationId xmlns:a16="http://schemas.microsoft.com/office/drawing/2014/main" id="{851DEDE0-254F-11A3-3CAE-793CF5AF38EE}"/>
              </a:ext>
            </a:extLst>
          </p:cNvPr>
          <p:cNvGrpSpPr/>
          <p:nvPr/>
        </p:nvGrpSpPr>
        <p:grpSpPr>
          <a:xfrm>
            <a:off x="6990588" y="-7813357"/>
            <a:ext cx="754380" cy="754380"/>
            <a:chOff x="0" y="0"/>
            <a:chExt cx="1005840" cy="1005840"/>
          </a:xfrm>
        </p:grpSpPr>
        <p:sp>
          <p:nvSpPr>
            <p:cNvPr id="70" name="Freeform 22">
              <a:extLst>
                <a:ext uri="{FF2B5EF4-FFF2-40B4-BE49-F238E27FC236}">
                  <a16:creationId xmlns:a16="http://schemas.microsoft.com/office/drawing/2014/main" id="{D03BB6E6-FF90-6CB9-0255-A4F4F642F67B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2B47"/>
            </a:solidFill>
          </p:spPr>
        </p:sp>
      </p:grpSp>
      <p:grpSp>
        <p:nvGrpSpPr>
          <p:cNvPr id="71" name="Group 23">
            <a:extLst>
              <a:ext uri="{FF2B5EF4-FFF2-40B4-BE49-F238E27FC236}">
                <a16:creationId xmlns:a16="http://schemas.microsoft.com/office/drawing/2014/main" id="{1D49E917-0DB4-9945-4F21-C1283ADFDE52}"/>
              </a:ext>
            </a:extLst>
          </p:cNvPr>
          <p:cNvGrpSpPr/>
          <p:nvPr/>
        </p:nvGrpSpPr>
        <p:grpSpPr>
          <a:xfrm>
            <a:off x="6990588" y="-7813357"/>
            <a:ext cx="754380" cy="754380"/>
            <a:chOff x="0" y="0"/>
            <a:chExt cx="1005840" cy="1005840"/>
          </a:xfrm>
        </p:grpSpPr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A6691444-7D47-EB54-2369-9B85BE78587E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3" name="TextBox 25">
              <a:extLst>
                <a:ext uri="{FF2B5EF4-FFF2-40B4-BE49-F238E27FC236}">
                  <a16:creationId xmlns:a16="http://schemas.microsoft.com/office/drawing/2014/main" id="{C8A65E62-15A2-0979-2F0E-4AA545B7F7CA}"/>
                </a:ext>
              </a:extLst>
            </p:cNvPr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74" name="Group 26">
            <a:extLst>
              <a:ext uri="{FF2B5EF4-FFF2-40B4-BE49-F238E27FC236}">
                <a16:creationId xmlns:a16="http://schemas.microsoft.com/office/drawing/2014/main" id="{B8FCAE61-802F-FDF5-6426-E0CB2C7D50CE}"/>
              </a:ext>
            </a:extLst>
          </p:cNvPr>
          <p:cNvGrpSpPr/>
          <p:nvPr/>
        </p:nvGrpSpPr>
        <p:grpSpPr>
          <a:xfrm>
            <a:off x="6990588" y="-6853237"/>
            <a:ext cx="4293108" cy="548640"/>
            <a:chOff x="0" y="0"/>
            <a:chExt cx="5724144" cy="731520"/>
          </a:xfrm>
        </p:grpSpPr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9BFE0061-45BB-347A-B137-F70F2DA30E5C}"/>
                </a:ext>
              </a:extLst>
            </p:cNvPr>
            <p:cNvSpPr/>
            <p:nvPr/>
          </p:nvSpPr>
          <p:spPr>
            <a:xfrm>
              <a:off x="0" y="0"/>
              <a:ext cx="5724144" cy="731520"/>
            </a:xfrm>
            <a:custGeom>
              <a:avLst/>
              <a:gdLst/>
              <a:ahLst/>
              <a:cxnLst/>
              <a:rect l="l" t="t" r="r" b="b"/>
              <a:pathLst>
                <a:path w="5724144" h="731520">
                  <a:moveTo>
                    <a:pt x="0" y="0"/>
                  </a:moveTo>
                  <a:lnTo>
                    <a:pt x="5724144" y="0"/>
                  </a:lnTo>
                  <a:lnTo>
                    <a:pt x="5724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470" b="-102470"/>
              </a:stretch>
            </a:blipFill>
          </p:spPr>
        </p:sp>
        <p:sp>
          <p:nvSpPr>
            <p:cNvPr id="76" name="TextBox 28">
              <a:extLst>
                <a:ext uri="{FF2B5EF4-FFF2-40B4-BE49-F238E27FC236}">
                  <a16:creationId xmlns:a16="http://schemas.microsoft.com/office/drawing/2014/main" id="{C8DCF763-F4D0-F6E8-8DB4-919B3394FCE3}"/>
                </a:ext>
              </a:extLst>
            </p:cNvPr>
            <p:cNvSpPr txBox="1"/>
            <p:nvPr/>
          </p:nvSpPr>
          <p:spPr>
            <a:xfrm>
              <a:off x="0" y="0"/>
              <a:ext cx="572414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Employers &amp; local demand</a:t>
              </a:r>
            </a:p>
          </p:txBody>
        </p:sp>
      </p:grpSp>
      <p:sp>
        <p:nvSpPr>
          <p:cNvPr id="77" name="TextBox 29">
            <a:extLst>
              <a:ext uri="{FF2B5EF4-FFF2-40B4-BE49-F238E27FC236}">
                <a16:creationId xmlns:a16="http://schemas.microsoft.com/office/drawing/2014/main" id="{9F5F2D0F-1C18-CC8D-835A-1862E5D6E045}"/>
              </a:ext>
            </a:extLst>
          </p:cNvPr>
          <p:cNvSpPr txBox="1"/>
          <p:nvPr/>
        </p:nvSpPr>
        <p:spPr>
          <a:xfrm>
            <a:off x="6990588" y="-6334315"/>
            <a:ext cx="4293108" cy="129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Small businesses and households posting real needs, and hiring verified, stable-minded workers.</a:t>
            </a:r>
          </a:p>
        </p:txBody>
      </p:sp>
      <p:grpSp>
        <p:nvGrpSpPr>
          <p:cNvPr id="78" name="Group 30">
            <a:extLst>
              <a:ext uri="{FF2B5EF4-FFF2-40B4-BE49-F238E27FC236}">
                <a16:creationId xmlns:a16="http://schemas.microsoft.com/office/drawing/2014/main" id="{D2011A88-46A5-E20B-9052-E0CB3D430C68}"/>
              </a:ext>
            </a:extLst>
          </p:cNvPr>
          <p:cNvGrpSpPr/>
          <p:nvPr/>
        </p:nvGrpSpPr>
        <p:grpSpPr>
          <a:xfrm>
            <a:off x="12165711" y="-8234362"/>
            <a:ext cx="5135118" cy="3310890"/>
            <a:chOff x="0" y="0"/>
            <a:chExt cx="6846824" cy="4414520"/>
          </a:xfrm>
        </p:grpSpPr>
        <p:sp>
          <p:nvSpPr>
            <p:cNvPr id="79" name="Freeform 31">
              <a:extLst>
                <a:ext uri="{FF2B5EF4-FFF2-40B4-BE49-F238E27FC236}">
                  <a16:creationId xmlns:a16="http://schemas.microsoft.com/office/drawing/2014/main" id="{D2075E66-7A0F-DFAF-E1DC-F8C1E9039D5E}"/>
                </a:ext>
              </a:extLst>
            </p:cNvPr>
            <p:cNvSpPr/>
            <p:nvPr/>
          </p:nvSpPr>
          <p:spPr>
            <a:xfrm>
              <a:off x="0" y="0"/>
              <a:ext cx="6846824" cy="4414520"/>
            </a:xfrm>
            <a:custGeom>
              <a:avLst/>
              <a:gdLst/>
              <a:ahLst/>
              <a:cxnLst/>
              <a:rect l="l" t="t" r="r" b="b"/>
              <a:pathLst>
                <a:path w="6846824" h="44145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662928" y="0"/>
                  </a:lnTo>
                  <a:cubicBezTo>
                    <a:pt x="6764528" y="0"/>
                    <a:pt x="6846824" y="82296"/>
                    <a:pt x="6846824" y="183896"/>
                  </a:cubicBezTo>
                  <a:lnTo>
                    <a:pt x="6846824" y="4230624"/>
                  </a:lnTo>
                  <a:cubicBezTo>
                    <a:pt x="6846824" y="4332224"/>
                    <a:pt x="6764528" y="4414520"/>
                    <a:pt x="6662928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80" name="Group 32">
            <a:extLst>
              <a:ext uri="{FF2B5EF4-FFF2-40B4-BE49-F238E27FC236}">
                <a16:creationId xmlns:a16="http://schemas.microsoft.com/office/drawing/2014/main" id="{A8ED7059-2D1F-6440-ACDF-696979BFA2C5}"/>
              </a:ext>
            </a:extLst>
          </p:cNvPr>
          <p:cNvGrpSpPr/>
          <p:nvPr/>
        </p:nvGrpSpPr>
        <p:grpSpPr>
          <a:xfrm>
            <a:off x="12586716" y="-7813357"/>
            <a:ext cx="754380" cy="754380"/>
            <a:chOff x="0" y="0"/>
            <a:chExt cx="1005840" cy="1005840"/>
          </a:xfrm>
        </p:grpSpPr>
        <p:sp>
          <p:nvSpPr>
            <p:cNvPr id="81" name="Freeform 33">
              <a:extLst>
                <a:ext uri="{FF2B5EF4-FFF2-40B4-BE49-F238E27FC236}">
                  <a16:creationId xmlns:a16="http://schemas.microsoft.com/office/drawing/2014/main" id="{11DAD87D-C0FD-38AA-18A9-7A0C6A12D6FF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82" name="Group 34">
            <a:extLst>
              <a:ext uri="{FF2B5EF4-FFF2-40B4-BE49-F238E27FC236}">
                <a16:creationId xmlns:a16="http://schemas.microsoft.com/office/drawing/2014/main" id="{C8F1A8D9-015F-AB13-3BBC-9657AB3F3E20}"/>
              </a:ext>
            </a:extLst>
          </p:cNvPr>
          <p:cNvGrpSpPr/>
          <p:nvPr/>
        </p:nvGrpSpPr>
        <p:grpSpPr>
          <a:xfrm>
            <a:off x="12586716" y="-7813357"/>
            <a:ext cx="754380" cy="754380"/>
            <a:chOff x="0" y="0"/>
            <a:chExt cx="1005840" cy="1005840"/>
          </a:xfrm>
        </p:grpSpPr>
        <p:sp>
          <p:nvSpPr>
            <p:cNvPr id="83" name="Freeform 35">
              <a:extLst>
                <a:ext uri="{FF2B5EF4-FFF2-40B4-BE49-F238E27FC236}">
                  <a16:creationId xmlns:a16="http://schemas.microsoft.com/office/drawing/2014/main" id="{AA86673B-8E82-D266-7370-8FD309F1A7D2}"/>
                </a:ext>
              </a:extLst>
            </p:cNvPr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4" name="TextBox 36">
              <a:extLst>
                <a:ext uri="{FF2B5EF4-FFF2-40B4-BE49-F238E27FC236}">
                  <a16:creationId xmlns:a16="http://schemas.microsoft.com/office/drawing/2014/main" id="{5FE8DDF1-3B59-CFFA-FC0F-65091F92237E}"/>
                </a:ext>
              </a:extLst>
            </p:cNvPr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85" name="Group 37">
            <a:extLst>
              <a:ext uri="{FF2B5EF4-FFF2-40B4-BE49-F238E27FC236}">
                <a16:creationId xmlns:a16="http://schemas.microsoft.com/office/drawing/2014/main" id="{1D60CE3F-604D-7D07-8FAB-411D9D898EF0}"/>
              </a:ext>
            </a:extLst>
          </p:cNvPr>
          <p:cNvGrpSpPr/>
          <p:nvPr/>
        </p:nvGrpSpPr>
        <p:grpSpPr>
          <a:xfrm>
            <a:off x="12586716" y="-6853237"/>
            <a:ext cx="4293108" cy="548640"/>
            <a:chOff x="0" y="0"/>
            <a:chExt cx="5724144" cy="731520"/>
          </a:xfrm>
        </p:grpSpPr>
        <p:sp>
          <p:nvSpPr>
            <p:cNvPr id="86" name="Freeform 38">
              <a:extLst>
                <a:ext uri="{FF2B5EF4-FFF2-40B4-BE49-F238E27FC236}">
                  <a16:creationId xmlns:a16="http://schemas.microsoft.com/office/drawing/2014/main" id="{25C3E2C3-B4B4-9EA6-3A7C-2E908278B6AB}"/>
                </a:ext>
              </a:extLst>
            </p:cNvPr>
            <p:cNvSpPr/>
            <p:nvPr/>
          </p:nvSpPr>
          <p:spPr>
            <a:xfrm>
              <a:off x="0" y="0"/>
              <a:ext cx="5724144" cy="731520"/>
            </a:xfrm>
            <a:custGeom>
              <a:avLst/>
              <a:gdLst/>
              <a:ahLst/>
              <a:cxnLst/>
              <a:rect l="l" t="t" r="r" b="b"/>
              <a:pathLst>
                <a:path w="5724144" h="731520">
                  <a:moveTo>
                    <a:pt x="0" y="0"/>
                  </a:moveTo>
                  <a:lnTo>
                    <a:pt x="5724144" y="0"/>
                  </a:lnTo>
                  <a:lnTo>
                    <a:pt x="5724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470" b="-102470"/>
              </a:stretch>
            </a:blipFill>
          </p:spPr>
        </p:sp>
        <p:sp>
          <p:nvSpPr>
            <p:cNvPr id="87" name="TextBox 39">
              <a:extLst>
                <a:ext uri="{FF2B5EF4-FFF2-40B4-BE49-F238E27FC236}">
                  <a16:creationId xmlns:a16="http://schemas.microsoft.com/office/drawing/2014/main" id="{FEB22265-2146-5B4A-4C9A-70E9C53F5D42}"/>
                </a:ext>
              </a:extLst>
            </p:cNvPr>
            <p:cNvSpPr txBox="1"/>
            <p:nvPr/>
          </p:nvSpPr>
          <p:spPr>
            <a:xfrm>
              <a:off x="0" y="0"/>
              <a:ext cx="572414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Partners</a:t>
              </a:r>
            </a:p>
          </p:txBody>
        </p:sp>
      </p:grpSp>
      <p:sp>
        <p:nvSpPr>
          <p:cNvPr id="88" name="TextBox 40">
            <a:extLst>
              <a:ext uri="{FF2B5EF4-FFF2-40B4-BE49-F238E27FC236}">
                <a16:creationId xmlns:a16="http://schemas.microsoft.com/office/drawing/2014/main" id="{3BE45312-11B9-B8F1-1643-80275D465280}"/>
              </a:ext>
            </a:extLst>
          </p:cNvPr>
          <p:cNvSpPr txBox="1"/>
          <p:nvPr/>
        </p:nvSpPr>
        <p:spPr>
          <a:xfrm>
            <a:off x="12586716" y="-6334315"/>
            <a:ext cx="4293108" cy="129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Skilling missions, NGOs and college placement cells that bring users in and track placements.</a:t>
            </a:r>
          </a:p>
        </p:txBody>
      </p:sp>
      <p:grpSp>
        <p:nvGrpSpPr>
          <p:cNvPr id="89" name="Group 41">
            <a:extLst>
              <a:ext uri="{FF2B5EF4-FFF2-40B4-BE49-F238E27FC236}">
                <a16:creationId xmlns:a16="http://schemas.microsoft.com/office/drawing/2014/main" id="{9D60494C-8286-2285-35D7-E036486B220E}"/>
              </a:ext>
            </a:extLst>
          </p:cNvPr>
          <p:cNvGrpSpPr/>
          <p:nvPr/>
        </p:nvGrpSpPr>
        <p:grpSpPr>
          <a:xfrm>
            <a:off x="973455" y="-4599622"/>
            <a:ext cx="16341090" cy="1390650"/>
            <a:chOff x="0" y="0"/>
            <a:chExt cx="21788120" cy="1854200"/>
          </a:xfrm>
        </p:grpSpPr>
        <p:sp>
          <p:nvSpPr>
            <p:cNvPr id="90" name="Freeform 42">
              <a:extLst>
                <a:ext uri="{FF2B5EF4-FFF2-40B4-BE49-F238E27FC236}">
                  <a16:creationId xmlns:a16="http://schemas.microsoft.com/office/drawing/2014/main" id="{F6B3BFA2-20F1-9984-5CC4-FF6594297A3B}"/>
                </a:ext>
              </a:extLst>
            </p:cNvPr>
            <p:cNvSpPr/>
            <p:nvPr/>
          </p:nvSpPr>
          <p:spPr>
            <a:xfrm>
              <a:off x="0" y="0"/>
              <a:ext cx="21788120" cy="1854200"/>
            </a:xfrm>
            <a:custGeom>
              <a:avLst/>
              <a:gdLst/>
              <a:ahLst/>
              <a:cxnLst/>
              <a:rect l="l" t="t" r="r" b="b"/>
              <a:pathLst>
                <a:path w="21788120" h="185420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21602700" y="0"/>
                  </a:lnTo>
                  <a:cubicBezTo>
                    <a:pt x="21705063" y="0"/>
                    <a:pt x="21788120" y="83058"/>
                    <a:pt x="21788120" y="185420"/>
                  </a:cubicBezTo>
                  <a:lnTo>
                    <a:pt x="21788120" y="1668780"/>
                  </a:lnTo>
                  <a:cubicBezTo>
                    <a:pt x="21788120" y="1771142"/>
                    <a:pt x="21705063" y="1854200"/>
                    <a:pt x="21602700" y="1854200"/>
                  </a:cubicBezTo>
                  <a:lnTo>
                    <a:pt x="185420" y="1854200"/>
                  </a:lnTo>
                  <a:cubicBezTo>
                    <a:pt x="83058" y="1854200"/>
                    <a:pt x="0" y="1771142"/>
                    <a:pt x="0" y="1668780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91" name="Group 43">
            <a:extLst>
              <a:ext uri="{FF2B5EF4-FFF2-40B4-BE49-F238E27FC236}">
                <a16:creationId xmlns:a16="http://schemas.microsoft.com/office/drawing/2014/main" id="{297F5D3C-C3E0-5CB1-0DA3-4E51F7BAB028}"/>
              </a:ext>
            </a:extLst>
          </p:cNvPr>
          <p:cNvGrpSpPr/>
          <p:nvPr/>
        </p:nvGrpSpPr>
        <p:grpSpPr>
          <a:xfrm>
            <a:off x="1394460" y="-4452937"/>
            <a:ext cx="4114800" cy="480060"/>
            <a:chOff x="0" y="0"/>
            <a:chExt cx="5486400" cy="640080"/>
          </a:xfrm>
        </p:grpSpPr>
        <p:sp>
          <p:nvSpPr>
            <p:cNvPr id="92" name="Freeform 44">
              <a:extLst>
                <a:ext uri="{FF2B5EF4-FFF2-40B4-BE49-F238E27FC236}">
                  <a16:creationId xmlns:a16="http://schemas.microsoft.com/office/drawing/2014/main" id="{9025F921-241D-E7D9-642A-5A39E41D2B06}"/>
                </a:ext>
              </a:extLst>
            </p:cNvPr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93" name="TextBox 45">
              <a:extLst>
                <a:ext uri="{FF2B5EF4-FFF2-40B4-BE49-F238E27FC236}">
                  <a16:creationId xmlns:a16="http://schemas.microsoft.com/office/drawing/2014/main" id="{4ED2E7B6-2741-6E59-1E63-BF2CCEB11C0D}"/>
                </a:ext>
              </a:extLst>
            </p:cNvPr>
            <p:cNvSpPr txBox="1"/>
            <p:nvPr/>
          </p:nvSpPr>
          <p:spPr>
            <a:xfrm>
              <a:off x="0" y="0"/>
              <a:ext cx="54864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Revenue path</a:t>
              </a:r>
            </a:p>
          </p:txBody>
        </p:sp>
      </p:grpSp>
      <p:sp>
        <p:nvSpPr>
          <p:cNvPr id="94" name="TextBox 46">
            <a:extLst>
              <a:ext uri="{FF2B5EF4-FFF2-40B4-BE49-F238E27FC236}">
                <a16:creationId xmlns:a16="http://schemas.microsoft.com/office/drawing/2014/main" id="{0B2DFE4E-D10C-8E57-BBE0-1C9F432B5262}"/>
              </a:ext>
            </a:extLst>
          </p:cNvPr>
          <p:cNvSpPr txBox="1"/>
          <p:nvPr/>
        </p:nvSpPr>
        <p:spPr>
          <a:xfrm>
            <a:off x="1394460" y="-4057459"/>
            <a:ext cx="1549908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Free for job seekers. Small placement or verification fees from employers, plus partnership pilots with skilling missions and municipal livelihood programmes.</a:t>
            </a:r>
          </a:p>
        </p:txBody>
      </p:sp>
      <p:grpSp>
        <p:nvGrpSpPr>
          <p:cNvPr id="95" name="Group 47">
            <a:extLst>
              <a:ext uri="{FF2B5EF4-FFF2-40B4-BE49-F238E27FC236}">
                <a16:creationId xmlns:a16="http://schemas.microsoft.com/office/drawing/2014/main" id="{52DA6B45-6B9A-59BB-87AE-330E3E668A38}"/>
              </a:ext>
            </a:extLst>
          </p:cNvPr>
          <p:cNvGrpSpPr/>
          <p:nvPr/>
        </p:nvGrpSpPr>
        <p:grpSpPr>
          <a:xfrm>
            <a:off x="973455" y="-2953702"/>
            <a:ext cx="16341090" cy="1390650"/>
            <a:chOff x="0" y="0"/>
            <a:chExt cx="21788120" cy="1854200"/>
          </a:xfrm>
        </p:grpSpPr>
        <p:sp>
          <p:nvSpPr>
            <p:cNvPr id="96" name="Freeform 48">
              <a:extLst>
                <a:ext uri="{FF2B5EF4-FFF2-40B4-BE49-F238E27FC236}">
                  <a16:creationId xmlns:a16="http://schemas.microsoft.com/office/drawing/2014/main" id="{614E4B82-A7A9-AB8E-C397-3C7D7AA767DA}"/>
                </a:ext>
              </a:extLst>
            </p:cNvPr>
            <p:cNvSpPr/>
            <p:nvPr/>
          </p:nvSpPr>
          <p:spPr>
            <a:xfrm>
              <a:off x="0" y="0"/>
              <a:ext cx="21788120" cy="1854200"/>
            </a:xfrm>
            <a:custGeom>
              <a:avLst/>
              <a:gdLst/>
              <a:ahLst/>
              <a:cxnLst/>
              <a:rect l="l" t="t" r="r" b="b"/>
              <a:pathLst>
                <a:path w="21788120" h="185420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21602700" y="0"/>
                  </a:lnTo>
                  <a:cubicBezTo>
                    <a:pt x="21705063" y="0"/>
                    <a:pt x="21788120" y="83058"/>
                    <a:pt x="21788120" y="185420"/>
                  </a:cubicBezTo>
                  <a:lnTo>
                    <a:pt x="21788120" y="1668780"/>
                  </a:lnTo>
                  <a:cubicBezTo>
                    <a:pt x="21788120" y="1771142"/>
                    <a:pt x="21705063" y="1854200"/>
                    <a:pt x="21602700" y="1854200"/>
                  </a:cubicBezTo>
                  <a:lnTo>
                    <a:pt x="185420" y="1854200"/>
                  </a:lnTo>
                  <a:cubicBezTo>
                    <a:pt x="83058" y="1854200"/>
                    <a:pt x="0" y="1771142"/>
                    <a:pt x="0" y="1668780"/>
                  </a:cubicBezTo>
                  <a:close/>
                </a:path>
              </a:pathLst>
            </a:custGeom>
            <a:solidFill>
              <a:srgbClr val="16243D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97" name="Group 49">
            <a:extLst>
              <a:ext uri="{FF2B5EF4-FFF2-40B4-BE49-F238E27FC236}">
                <a16:creationId xmlns:a16="http://schemas.microsoft.com/office/drawing/2014/main" id="{0AD2CD8D-B5E5-448C-F655-94A792FE7E60}"/>
              </a:ext>
            </a:extLst>
          </p:cNvPr>
          <p:cNvGrpSpPr/>
          <p:nvPr/>
        </p:nvGrpSpPr>
        <p:grpSpPr>
          <a:xfrm>
            <a:off x="1394460" y="-2807017"/>
            <a:ext cx="5486400" cy="480060"/>
            <a:chOff x="0" y="0"/>
            <a:chExt cx="7315200" cy="640080"/>
          </a:xfrm>
        </p:grpSpPr>
        <p:sp>
          <p:nvSpPr>
            <p:cNvPr id="98" name="Freeform 50">
              <a:extLst>
                <a:ext uri="{FF2B5EF4-FFF2-40B4-BE49-F238E27FC236}">
                  <a16:creationId xmlns:a16="http://schemas.microsoft.com/office/drawing/2014/main" id="{3A6349E3-94FB-F42A-92D0-23D4AE74900B}"/>
                </a:ext>
              </a:extLst>
            </p:cNvPr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99" name="TextBox 51">
              <a:extLst>
                <a:ext uri="{FF2B5EF4-FFF2-40B4-BE49-F238E27FC236}">
                  <a16:creationId xmlns:a16="http://schemas.microsoft.com/office/drawing/2014/main" id="{0011A063-D401-C1AD-BF82-3BBD7D109B5B}"/>
                </a:ext>
              </a:extLst>
            </p:cNvPr>
            <p:cNvSpPr txBox="1"/>
            <p:nvPr/>
          </p:nvSpPr>
          <p:spPr>
            <a:xfrm>
              <a:off x="0" y="0"/>
              <a:ext cx="7315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How we measure success</a:t>
              </a:r>
            </a:p>
          </p:txBody>
        </p:sp>
      </p:grpSp>
      <p:sp>
        <p:nvSpPr>
          <p:cNvPr id="100" name="TextBox 52">
            <a:extLst>
              <a:ext uri="{FF2B5EF4-FFF2-40B4-BE49-F238E27FC236}">
                <a16:creationId xmlns:a16="http://schemas.microsoft.com/office/drawing/2014/main" id="{F03335DC-AA6D-7302-C5B0-F6AE58B4D43D}"/>
              </a:ext>
            </a:extLst>
          </p:cNvPr>
          <p:cNvSpPr txBox="1"/>
          <p:nvPr/>
        </p:nvSpPr>
        <p:spPr>
          <a:xfrm>
            <a:off x="1394460" y="-2411539"/>
            <a:ext cx="1549908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Stable placement rate, six-month retention, and completed exam applications, not just sign-ups.</a:t>
            </a:r>
          </a:p>
        </p:txBody>
      </p:sp>
      <p:grpSp>
        <p:nvGrpSpPr>
          <p:cNvPr id="101" name="Group 53">
            <a:extLst>
              <a:ext uri="{FF2B5EF4-FFF2-40B4-BE49-F238E27FC236}">
                <a16:creationId xmlns:a16="http://schemas.microsoft.com/office/drawing/2014/main" id="{6D7537BE-5C36-902B-E8FE-C3F4FC7C6C1B}"/>
              </a:ext>
            </a:extLst>
          </p:cNvPr>
          <p:cNvGrpSpPr/>
          <p:nvPr/>
        </p:nvGrpSpPr>
        <p:grpSpPr>
          <a:xfrm>
            <a:off x="17236440" y="-1298257"/>
            <a:ext cx="822960" cy="411480"/>
            <a:chOff x="0" y="0"/>
            <a:chExt cx="1097280" cy="548640"/>
          </a:xfrm>
        </p:grpSpPr>
        <p:sp>
          <p:nvSpPr>
            <p:cNvPr id="102" name="Freeform 54">
              <a:extLst>
                <a:ext uri="{FF2B5EF4-FFF2-40B4-BE49-F238E27FC236}">
                  <a16:creationId xmlns:a16="http://schemas.microsoft.com/office/drawing/2014/main" id="{9376AAE1-9033-1323-651B-882639715097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03" name="TextBox 55">
              <a:extLst>
                <a:ext uri="{FF2B5EF4-FFF2-40B4-BE49-F238E27FC236}">
                  <a16:creationId xmlns:a16="http://schemas.microsoft.com/office/drawing/2014/main" id="{10BA01AB-353A-F8FD-D3A1-373B65FCDA50}"/>
                </a:ext>
              </a:extLst>
            </p:cNvPr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16</a:t>
              </a:r>
            </a:p>
          </p:txBody>
        </p:sp>
      </p:grpSp>
      <p:pic>
        <p:nvPicPr>
          <p:cNvPr id="104" name="Picture 103">
            <a:extLst>
              <a:ext uri="{FF2B5EF4-FFF2-40B4-BE49-F238E27FC236}">
                <a16:creationId xmlns:a16="http://schemas.microsoft.com/office/drawing/2014/main" id="{4FB18745-2622-FF78-BFC9-757F7E27FF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418" y="12534900"/>
            <a:ext cx="4229100" cy="845820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AA43EBFB-0246-F3A5-FC94-ADEA1D65DB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747" y="12534900"/>
            <a:ext cx="4229100" cy="845820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D90E496D-7716-338B-6C52-711E2D3C334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6355" y="12420600"/>
            <a:ext cx="4286250" cy="8572500"/>
          </a:xfrm>
          <a:prstGeom prst="rect">
            <a:avLst/>
          </a:prstGeom>
        </p:spPr>
      </p:pic>
      <p:grpSp>
        <p:nvGrpSpPr>
          <p:cNvPr id="107" name="Group 2">
            <a:extLst>
              <a:ext uri="{FF2B5EF4-FFF2-40B4-BE49-F238E27FC236}">
                <a16:creationId xmlns:a16="http://schemas.microsoft.com/office/drawing/2014/main" id="{79835AD5-27C6-EDF6-69B1-B1669DE7CC4C}"/>
              </a:ext>
            </a:extLst>
          </p:cNvPr>
          <p:cNvGrpSpPr/>
          <p:nvPr/>
        </p:nvGrpSpPr>
        <p:grpSpPr>
          <a:xfrm>
            <a:off x="1403075" y="11742420"/>
            <a:ext cx="12344400" cy="480060"/>
            <a:chOff x="0" y="0"/>
            <a:chExt cx="16459200" cy="640080"/>
          </a:xfrm>
        </p:grpSpPr>
        <p:sp>
          <p:nvSpPr>
            <p:cNvPr id="108" name="Freeform 3">
              <a:extLst>
                <a:ext uri="{FF2B5EF4-FFF2-40B4-BE49-F238E27FC236}">
                  <a16:creationId xmlns:a16="http://schemas.microsoft.com/office/drawing/2014/main" id="{0A54C338-CF97-9F6D-D9F3-4C9BF2D6C08A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109" name="TextBox 4">
              <a:extLst>
                <a:ext uri="{FF2B5EF4-FFF2-40B4-BE49-F238E27FC236}">
                  <a16:creationId xmlns:a16="http://schemas.microsoft.com/office/drawing/2014/main" id="{352760EC-F37E-DBDF-0D1B-67EB4BD8979F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 dirty="0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LOOK OF OUR APPLICATION: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6EEAA-AA6C-DD31-B04C-7FF3CA062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DE554E6-E632-5724-9CCE-5B93D389DE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463" y="1409700"/>
            <a:ext cx="4229100" cy="8458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3D705C2-4721-61CD-1B38-E5248B04FF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792" y="1409700"/>
            <a:ext cx="4229100" cy="8458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D5B4FFB-ACFD-511B-B166-DCCC7CD97E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3400" y="1295400"/>
            <a:ext cx="4286250" cy="8572500"/>
          </a:xfrm>
          <a:prstGeom prst="rect">
            <a:avLst/>
          </a:prstGeom>
        </p:spPr>
      </p:pic>
      <p:grpSp>
        <p:nvGrpSpPr>
          <p:cNvPr id="23" name="Group 2">
            <a:extLst>
              <a:ext uri="{FF2B5EF4-FFF2-40B4-BE49-F238E27FC236}">
                <a16:creationId xmlns:a16="http://schemas.microsoft.com/office/drawing/2014/main" id="{EAEA0F4C-221F-301B-5E37-ACCD0F25A7F0}"/>
              </a:ext>
            </a:extLst>
          </p:cNvPr>
          <p:cNvGrpSpPr/>
          <p:nvPr/>
        </p:nvGrpSpPr>
        <p:grpSpPr>
          <a:xfrm>
            <a:off x="960120" y="617220"/>
            <a:ext cx="12344400" cy="480060"/>
            <a:chOff x="0" y="0"/>
            <a:chExt cx="16459200" cy="640080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623C8FAA-0FDF-02A5-88EF-FB019C23E01C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0FD2704E-3FFD-97E4-B7EF-D864CF1CA3C7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 dirty="0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LOOK OF OUR APPLICATION:</a:t>
              </a:r>
            </a:p>
          </p:txBody>
        </p:sp>
      </p:grpSp>
      <p:grpSp>
        <p:nvGrpSpPr>
          <p:cNvPr id="26" name="Group 2">
            <a:extLst>
              <a:ext uri="{FF2B5EF4-FFF2-40B4-BE49-F238E27FC236}">
                <a16:creationId xmlns:a16="http://schemas.microsoft.com/office/drawing/2014/main" id="{9CB9AD58-1402-F7A1-E0C0-EAAF44333A71}"/>
              </a:ext>
            </a:extLst>
          </p:cNvPr>
          <p:cNvGrpSpPr/>
          <p:nvPr/>
        </p:nvGrpSpPr>
        <p:grpSpPr>
          <a:xfrm>
            <a:off x="743860" y="-10589895"/>
            <a:ext cx="12344400" cy="480060"/>
            <a:chOff x="0" y="0"/>
            <a:chExt cx="16459200" cy="640080"/>
          </a:xfrm>
        </p:grpSpPr>
        <p:sp>
          <p:nvSpPr>
            <p:cNvPr id="27" name="Freeform 3">
              <a:extLst>
                <a:ext uri="{FF2B5EF4-FFF2-40B4-BE49-F238E27FC236}">
                  <a16:creationId xmlns:a16="http://schemas.microsoft.com/office/drawing/2014/main" id="{436C31A6-A6BF-963E-5C85-D03FAD243206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28" name="TextBox 4">
              <a:extLst>
                <a:ext uri="{FF2B5EF4-FFF2-40B4-BE49-F238E27FC236}">
                  <a16:creationId xmlns:a16="http://schemas.microsoft.com/office/drawing/2014/main" id="{36B7F0FA-A32D-D9BB-9D1F-4537F97708F9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 dirty="0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ROADMAP</a:t>
              </a:r>
            </a:p>
          </p:txBody>
        </p:sp>
      </p:grpSp>
      <p:grpSp>
        <p:nvGrpSpPr>
          <p:cNvPr id="29" name="Group 5">
            <a:extLst>
              <a:ext uri="{FF2B5EF4-FFF2-40B4-BE49-F238E27FC236}">
                <a16:creationId xmlns:a16="http://schemas.microsoft.com/office/drawing/2014/main" id="{D3FFED59-4D15-1E0D-8534-44119EAC3A37}"/>
              </a:ext>
            </a:extLst>
          </p:cNvPr>
          <p:cNvGrpSpPr/>
          <p:nvPr/>
        </p:nvGrpSpPr>
        <p:grpSpPr>
          <a:xfrm>
            <a:off x="743860" y="-10109835"/>
            <a:ext cx="16322040" cy="1234440"/>
            <a:chOff x="0" y="0"/>
            <a:chExt cx="21762720" cy="1645920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214A0214-957C-EF1A-2A3E-E44C38486DFD}"/>
                </a:ext>
              </a:extLst>
            </p:cNvPr>
            <p:cNvSpPr/>
            <p:nvPr/>
          </p:nvSpPr>
          <p:spPr>
            <a:xfrm>
              <a:off x="0" y="0"/>
              <a:ext cx="21762720" cy="1645920"/>
            </a:xfrm>
            <a:custGeom>
              <a:avLst/>
              <a:gdLst/>
              <a:ahLst/>
              <a:cxnLst/>
              <a:rect l="l" t="t" r="r" b="b"/>
              <a:pathLst>
                <a:path w="21762720" h="16459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7635" b="-207635"/>
              </a:stretch>
            </a:blipFill>
          </p:spPr>
        </p:sp>
        <p:sp>
          <p:nvSpPr>
            <p:cNvPr id="31" name="TextBox 7">
              <a:extLst>
                <a:ext uri="{FF2B5EF4-FFF2-40B4-BE49-F238E27FC236}">
                  <a16:creationId xmlns:a16="http://schemas.microsoft.com/office/drawing/2014/main" id="{7ABE5A2E-A91F-349C-2CD0-8C94695D6C86}"/>
                </a:ext>
              </a:extLst>
            </p:cNvPr>
            <p:cNvSpPr txBox="1"/>
            <p:nvPr/>
          </p:nvSpPr>
          <p:spPr>
            <a:xfrm>
              <a:off x="0" y="0"/>
              <a:ext cx="217627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From idea to pilot to scale</a:t>
              </a:r>
            </a:p>
          </p:txBody>
        </p:sp>
      </p:grpSp>
      <p:grpSp>
        <p:nvGrpSpPr>
          <p:cNvPr id="32" name="Group 8">
            <a:extLst>
              <a:ext uri="{FF2B5EF4-FFF2-40B4-BE49-F238E27FC236}">
                <a16:creationId xmlns:a16="http://schemas.microsoft.com/office/drawing/2014/main" id="{A8C438E8-CBAE-D22B-D697-A4A88B7208F8}"/>
              </a:ext>
            </a:extLst>
          </p:cNvPr>
          <p:cNvGrpSpPr/>
          <p:nvPr/>
        </p:nvGrpSpPr>
        <p:grpSpPr>
          <a:xfrm>
            <a:off x="734335" y="-8267700"/>
            <a:ext cx="5135118" cy="5916930"/>
            <a:chOff x="0" y="0"/>
            <a:chExt cx="6846824" cy="7889240"/>
          </a:xfrm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BAEC916C-7F34-11D6-6CBD-126408642D43}"/>
                </a:ext>
              </a:extLst>
            </p:cNvPr>
            <p:cNvSpPr/>
            <p:nvPr/>
          </p:nvSpPr>
          <p:spPr>
            <a:xfrm>
              <a:off x="0" y="0"/>
              <a:ext cx="6846824" cy="7889240"/>
            </a:xfrm>
            <a:custGeom>
              <a:avLst/>
              <a:gdLst/>
              <a:ahLst/>
              <a:cxnLst/>
              <a:rect l="l" t="t" r="r" b="b"/>
              <a:pathLst>
                <a:path w="6846824" h="78892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705725"/>
                  </a:lnTo>
                  <a:cubicBezTo>
                    <a:pt x="6846824" y="7807071"/>
                    <a:pt x="6764655" y="7889240"/>
                    <a:pt x="6663309" y="7889240"/>
                  </a:cubicBezTo>
                  <a:lnTo>
                    <a:pt x="183515" y="7889240"/>
                  </a:lnTo>
                  <a:cubicBezTo>
                    <a:pt x="82169" y="7889240"/>
                    <a:pt x="0" y="7807071"/>
                    <a:pt x="0" y="770572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34" name="Group 10">
            <a:extLst>
              <a:ext uri="{FF2B5EF4-FFF2-40B4-BE49-F238E27FC236}">
                <a16:creationId xmlns:a16="http://schemas.microsoft.com/office/drawing/2014/main" id="{E8254817-6FFE-199E-0063-012E279A98B0}"/>
              </a:ext>
            </a:extLst>
          </p:cNvPr>
          <p:cNvGrpSpPr/>
          <p:nvPr/>
        </p:nvGrpSpPr>
        <p:grpSpPr>
          <a:xfrm>
            <a:off x="1155340" y="-7846695"/>
            <a:ext cx="1920240" cy="548640"/>
            <a:chOff x="0" y="0"/>
            <a:chExt cx="2560320" cy="731520"/>
          </a:xfrm>
        </p:grpSpPr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C0FF67C6-5563-B3AE-0B60-313482A55C80}"/>
                </a:ext>
              </a:extLst>
            </p:cNvPr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94560" y="0"/>
                  </a:lnTo>
                  <a:cubicBezTo>
                    <a:pt x="2396617" y="0"/>
                    <a:pt x="2560320" y="163703"/>
                    <a:pt x="2560320" y="365760"/>
                  </a:cubicBezTo>
                  <a:cubicBezTo>
                    <a:pt x="2560320" y="567817"/>
                    <a:pt x="2396617" y="731520"/>
                    <a:pt x="21945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36" name="Group 12">
            <a:extLst>
              <a:ext uri="{FF2B5EF4-FFF2-40B4-BE49-F238E27FC236}">
                <a16:creationId xmlns:a16="http://schemas.microsoft.com/office/drawing/2014/main" id="{47E629B2-6FC0-3C4A-8218-CAB0A973A8CF}"/>
              </a:ext>
            </a:extLst>
          </p:cNvPr>
          <p:cNvGrpSpPr/>
          <p:nvPr/>
        </p:nvGrpSpPr>
        <p:grpSpPr>
          <a:xfrm>
            <a:off x="1155340" y="-7846695"/>
            <a:ext cx="1920240" cy="548640"/>
            <a:chOff x="0" y="0"/>
            <a:chExt cx="2560320" cy="731520"/>
          </a:xfrm>
        </p:grpSpPr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C1C9DB3B-782D-322A-D315-4F6478A88A18}"/>
                </a:ext>
              </a:extLst>
            </p:cNvPr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BB42DDE4-1431-C7BE-CA32-94049441D13C}"/>
                </a:ext>
              </a:extLst>
            </p:cNvPr>
            <p:cNvSpPr txBox="1"/>
            <p:nvPr/>
          </p:nvSpPr>
          <p:spPr>
            <a:xfrm>
              <a:off x="0" y="0"/>
              <a:ext cx="2560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Phase 1</a:t>
              </a:r>
            </a:p>
          </p:txBody>
        </p:sp>
      </p:grpSp>
      <p:grpSp>
        <p:nvGrpSpPr>
          <p:cNvPr id="39" name="Group 15">
            <a:extLst>
              <a:ext uri="{FF2B5EF4-FFF2-40B4-BE49-F238E27FC236}">
                <a16:creationId xmlns:a16="http://schemas.microsoft.com/office/drawing/2014/main" id="{062E29B9-405D-AFBE-F20E-1661C8FABA5F}"/>
              </a:ext>
            </a:extLst>
          </p:cNvPr>
          <p:cNvGrpSpPr/>
          <p:nvPr/>
        </p:nvGrpSpPr>
        <p:grpSpPr>
          <a:xfrm>
            <a:off x="1155340" y="-7092315"/>
            <a:ext cx="4293108" cy="822960"/>
            <a:chOff x="0" y="0"/>
            <a:chExt cx="5724144" cy="1097280"/>
          </a:xfrm>
        </p:grpSpPr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B0AE64FF-0CC8-1E4B-31A4-D322374F45B3}"/>
                </a:ext>
              </a:extLst>
            </p:cNvPr>
            <p:cNvSpPr/>
            <p:nvPr/>
          </p:nvSpPr>
          <p:spPr>
            <a:xfrm>
              <a:off x="0" y="0"/>
              <a:ext cx="5724144" cy="1097280"/>
            </a:xfrm>
            <a:custGeom>
              <a:avLst/>
              <a:gdLst/>
              <a:ahLst/>
              <a:cxnLst/>
              <a:rect l="l" t="t" r="r" b="b"/>
              <a:pathLst>
                <a:path w="5724144" h="1097280">
                  <a:moveTo>
                    <a:pt x="0" y="0"/>
                  </a:moveTo>
                  <a:lnTo>
                    <a:pt x="5724144" y="0"/>
                  </a:lnTo>
                  <a:lnTo>
                    <a:pt x="572414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1646" b="-51646"/>
              </a:stretch>
            </a:blipFill>
          </p:spPr>
        </p:sp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2852ADD8-D2F0-B9D4-5E01-06A8FAE904B8}"/>
                </a:ext>
              </a:extLst>
            </p:cNvPr>
            <p:cNvSpPr txBox="1"/>
            <p:nvPr/>
          </p:nvSpPr>
          <p:spPr>
            <a:xfrm>
              <a:off x="0" y="0"/>
              <a:ext cx="5724144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Build the core</a:t>
              </a:r>
            </a:p>
          </p:txBody>
        </p:sp>
      </p:grpSp>
      <p:sp>
        <p:nvSpPr>
          <p:cNvPr id="42" name="TextBox 18">
            <a:extLst>
              <a:ext uri="{FF2B5EF4-FFF2-40B4-BE49-F238E27FC236}">
                <a16:creationId xmlns:a16="http://schemas.microsoft.com/office/drawing/2014/main" id="{D7670D98-9271-DC31-B6DF-DC08E9BF4984}"/>
              </a:ext>
            </a:extLst>
          </p:cNvPr>
          <p:cNvSpPr txBox="1"/>
          <p:nvPr/>
        </p:nvSpPr>
        <p:spPr>
          <a:xfrm>
            <a:off x="1155340" y="-6130290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Voice → verified profile → CV → gap</a:t>
            </a:r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5E134562-E3BE-AEFA-91F9-64D57C3DF9B0}"/>
              </a:ext>
            </a:extLst>
          </p:cNvPr>
          <p:cNvSpPr txBox="1"/>
          <p:nvPr/>
        </p:nvSpPr>
        <p:spPr>
          <a:xfrm>
            <a:off x="1155340" y="-4964430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Eligibility check for 5–8 government exams</a:t>
            </a: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BC84A771-60D0-F6D6-2993-88E2D1D53D3E}"/>
              </a:ext>
            </a:extLst>
          </p:cNvPr>
          <p:cNvSpPr txBox="1"/>
          <p:nvPr/>
        </p:nvSpPr>
        <p:spPr>
          <a:xfrm>
            <a:off x="1155340" y="-3798570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Peers and jobs added once the core is validated</a:t>
            </a:r>
          </a:p>
        </p:txBody>
      </p:sp>
      <p:grpSp>
        <p:nvGrpSpPr>
          <p:cNvPr id="45" name="Group 21">
            <a:extLst>
              <a:ext uri="{FF2B5EF4-FFF2-40B4-BE49-F238E27FC236}">
                <a16:creationId xmlns:a16="http://schemas.microsoft.com/office/drawing/2014/main" id="{DF7A8027-0BE8-DA17-6C36-FDE373DFDBA0}"/>
              </a:ext>
            </a:extLst>
          </p:cNvPr>
          <p:cNvGrpSpPr/>
          <p:nvPr/>
        </p:nvGrpSpPr>
        <p:grpSpPr>
          <a:xfrm>
            <a:off x="6330463" y="-8267700"/>
            <a:ext cx="5135118" cy="5916930"/>
            <a:chOff x="0" y="0"/>
            <a:chExt cx="6846824" cy="7889240"/>
          </a:xfrm>
        </p:grpSpPr>
        <p:sp>
          <p:nvSpPr>
            <p:cNvPr id="46" name="Freeform 22">
              <a:extLst>
                <a:ext uri="{FF2B5EF4-FFF2-40B4-BE49-F238E27FC236}">
                  <a16:creationId xmlns:a16="http://schemas.microsoft.com/office/drawing/2014/main" id="{9425DB84-7F03-0408-7CF2-2A179B767840}"/>
                </a:ext>
              </a:extLst>
            </p:cNvPr>
            <p:cNvSpPr/>
            <p:nvPr/>
          </p:nvSpPr>
          <p:spPr>
            <a:xfrm>
              <a:off x="0" y="0"/>
              <a:ext cx="6846824" cy="7889240"/>
            </a:xfrm>
            <a:custGeom>
              <a:avLst/>
              <a:gdLst/>
              <a:ahLst/>
              <a:cxnLst/>
              <a:rect l="l" t="t" r="r" b="b"/>
              <a:pathLst>
                <a:path w="6846824" h="78892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705725"/>
                  </a:lnTo>
                  <a:cubicBezTo>
                    <a:pt x="6846824" y="7807071"/>
                    <a:pt x="6764655" y="7889240"/>
                    <a:pt x="6663309" y="7889240"/>
                  </a:cubicBezTo>
                  <a:lnTo>
                    <a:pt x="183515" y="7889240"/>
                  </a:lnTo>
                  <a:cubicBezTo>
                    <a:pt x="82169" y="7889240"/>
                    <a:pt x="0" y="7807071"/>
                    <a:pt x="0" y="770572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47" name="Group 23">
            <a:extLst>
              <a:ext uri="{FF2B5EF4-FFF2-40B4-BE49-F238E27FC236}">
                <a16:creationId xmlns:a16="http://schemas.microsoft.com/office/drawing/2014/main" id="{52648100-8932-4D19-3D75-F6C0091BCFFA}"/>
              </a:ext>
            </a:extLst>
          </p:cNvPr>
          <p:cNvGrpSpPr/>
          <p:nvPr/>
        </p:nvGrpSpPr>
        <p:grpSpPr>
          <a:xfrm>
            <a:off x="6751468" y="-7846695"/>
            <a:ext cx="1920240" cy="548640"/>
            <a:chOff x="0" y="0"/>
            <a:chExt cx="2560320" cy="731520"/>
          </a:xfrm>
        </p:grpSpPr>
        <p:sp>
          <p:nvSpPr>
            <p:cNvPr id="48" name="Freeform 24">
              <a:extLst>
                <a:ext uri="{FF2B5EF4-FFF2-40B4-BE49-F238E27FC236}">
                  <a16:creationId xmlns:a16="http://schemas.microsoft.com/office/drawing/2014/main" id="{D9EACBAC-CB55-2D4B-B172-65081031BF2A}"/>
                </a:ext>
              </a:extLst>
            </p:cNvPr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94560" y="0"/>
                  </a:lnTo>
                  <a:cubicBezTo>
                    <a:pt x="2396617" y="0"/>
                    <a:pt x="2560320" y="163703"/>
                    <a:pt x="2560320" y="365760"/>
                  </a:cubicBezTo>
                  <a:cubicBezTo>
                    <a:pt x="2560320" y="567817"/>
                    <a:pt x="2396617" y="731520"/>
                    <a:pt x="21945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49" name="Group 25">
            <a:extLst>
              <a:ext uri="{FF2B5EF4-FFF2-40B4-BE49-F238E27FC236}">
                <a16:creationId xmlns:a16="http://schemas.microsoft.com/office/drawing/2014/main" id="{323F11C9-BE9D-87F5-CF9B-E476172B3403}"/>
              </a:ext>
            </a:extLst>
          </p:cNvPr>
          <p:cNvGrpSpPr/>
          <p:nvPr/>
        </p:nvGrpSpPr>
        <p:grpSpPr>
          <a:xfrm>
            <a:off x="6751468" y="-7846695"/>
            <a:ext cx="1920240" cy="548640"/>
            <a:chOff x="0" y="0"/>
            <a:chExt cx="2560320" cy="731520"/>
          </a:xfrm>
        </p:grpSpPr>
        <p:sp>
          <p:nvSpPr>
            <p:cNvPr id="50" name="Freeform 26">
              <a:extLst>
                <a:ext uri="{FF2B5EF4-FFF2-40B4-BE49-F238E27FC236}">
                  <a16:creationId xmlns:a16="http://schemas.microsoft.com/office/drawing/2014/main" id="{80672AF7-1102-06BF-C3E2-CDB6D08AE067}"/>
                </a:ext>
              </a:extLst>
            </p:cNvPr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51" name="TextBox 27">
              <a:extLst>
                <a:ext uri="{FF2B5EF4-FFF2-40B4-BE49-F238E27FC236}">
                  <a16:creationId xmlns:a16="http://schemas.microsoft.com/office/drawing/2014/main" id="{0962B3BF-62AB-08E3-7034-F7129EDC0FF6}"/>
                </a:ext>
              </a:extLst>
            </p:cNvPr>
            <p:cNvSpPr txBox="1"/>
            <p:nvPr/>
          </p:nvSpPr>
          <p:spPr>
            <a:xfrm>
              <a:off x="0" y="0"/>
              <a:ext cx="2560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Phase 2</a:t>
              </a:r>
            </a:p>
          </p:txBody>
        </p:sp>
      </p:grpSp>
      <p:grpSp>
        <p:nvGrpSpPr>
          <p:cNvPr id="52" name="Group 28">
            <a:extLst>
              <a:ext uri="{FF2B5EF4-FFF2-40B4-BE49-F238E27FC236}">
                <a16:creationId xmlns:a16="http://schemas.microsoft.com/office/drawing/2014/main" id="{A94EA0FC-D8E0-B807-D068-21D03F0030BD}"/>
              </a:ext>
            </a:extLst>
          </p:cNvPr>
          <p:cNvGrpSpPr/>
          <p:nvPr/>
        </p:nvGrpSpPr>
        <p:grpSpPr>
          <a:xfrm>
            <a:off x="6751468" y="-7092315"/>
            <a:ext cx="4293108" cy="822960"/>
            <a:chOff x="0" y="0"/>
            <a:chExt cx="5724144" cy="1097280"/>
          </a:xfrm>
        </p:grpSpPr>
        <p:sp>
          <p:nvSpPr>
            <p:cNvPr id="53" name="Freeform 29">
              <a:extLst>
                <a:ext uri="{FF2B5EF4-FFF2-40B4-BE49-F238E27FC236}">
                  <a16:creationId xmlns:a16="http://schemas.microsoft.com/office/drawing/2014/main" id="{7A3CFA01-923E-BD5D-DEE0-B237A6454AD3}"/>
                </a:ext>
              </a:extLst>
            </p:cNvPr>
            <p:cNvSpPr/>
            <p:nvPr/>
          </p:nvSpPr>
          <p:spPr>
            <a:xfrm>
              <a:off x="0" y="0"/>
              <a:ext cx="5724144" cy="1097280"/>
            </a:xfrm>
            <a:custGeom>
              <a:avLst/>
              <a:gdLst/>
              <a:ahLst/>
              <a:cxnLst/>
              <a:rect l="l" t="t" r="r" b="b"/>
              <a:pathLst>
                <a:path w="5724144" h="1097280">
                  <a:moveTo>
                    <a:pt x="0" y="0"/>
                  </a:moveTo>
                  <a:lnTo>
                    <a:pt x="5724144" y="0"/>
                  </a:lnTo>
                  <a:lnTo>
                    <a:pt x="572414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1646" b="-51646"/>
              </a:stretch>
            </a:blipFill>
          </p:spPr>
        </p:sp>
        <p:sp>
          <p:nvSpPr>
            <p:cNvPr id="54" name="TextBox 30">
              <a:extLst>
                <a:ext uri="{FF2B5EF4-FFF2-40B4-BE49-F238E27FC236}">
                  <a16:creationId xmlns:a16="http://schemas.microsoft.com/office/drawing/2014/main" id="{16ACBC41-E038-C6AE-D985-AAE450FE2E43}"/>
                </a:ext>
              </a:extLst>
            </p:cNvPr>
            <p:cNvSpPr txBox="1"/>
            <p:nvPr/>
          </p:nvSpPr>
          <p:spPr>
            <a:xfrm>
              <a:off x="0" y="0"/>
              <a:ext cx="5724144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Local pilot</a:t>
              </a:r>
            </a:p>
          </p:txBody>
        </p:sp>
      </p:grpSp>
      <p:sp>
        <p:nvSpPr>
          <p:cNvPr id="55" name="TextBox 31">
            <a:extLst>
              <a:ext uri="{FF2B5EF4-FFF2-40B4-BE49-F238E27FC236}">
                <a16:creationId xmlns:a16="http://schemas.microsoft.com/office/drawing/2014/main" id="{AC02B91E-4F2C-A94D-904D-9326A9DEE789}"/>
              </a:ext>
            </a:extLst>
          </p:cNvPr>
          <p:cNvSpPr txBox="1"/>
          <p:nvPr/>
        </p:nvSpPr>
        <p:spPr>
          <a:xfrm>
            <a:off x="6751468" y="-6130290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Partner with one skilling mission, NGO or placement cell</a:t>
            </a:r>
          </a:p>
        </p:txBody>
      </p:sp>
      <p:sp>
        <p:nvSpPr>
          <p:cNvPr id="56" name="TextBox 32">
            <a:extLst>
              <a:ext uri="{FF2B5EF4-FFF2-40B4-BE49-F238E27FC236}">
                <a16:creationId xmlns:a16="http://schemas.microsoft.com/office/drawing/2014/main" id="{CC982B98-FC6A-48EB-5AEE-813122C495FE}"/>
              </a:ext>
            </a:extLst>
          </p:cNvPr>
          <p:cNvSpPr txBox="1"/>
          <p:nvPr/>
        </p:nvSpPr>
        <p:spPr>
          <a:xfrm>
            <a:off x="6751468" y="-4964430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Real users and a maintained exam-data pipeline</a:t>
            </a:r>
          </a:p>
        </p:txBody>
      </p:sp>
      <p:sp>
        <p:nvSpPr>
          <p:cNvPr id="57" name="TextBox 33">
            <a:extLst>
              <a:ext uri="{FF2B5EF4-FFF2-40B4-BE49-F238E27FC236}">
                <a16:creationId xmlns:a16="http://schemas.microsoft.com/office/drawing/2014/main" id="{B9305FBA-123C-0EF7-F396-A20442D2770D}"/>
              </a:ext>
            </a:extLst>
          </p:cNvPr>
          <p:cNvSpPr txBox="1"/>
          <p:nvPr/>
        </p:nvSpPr>
        <p:spPr>
          <a:xfrm>
            <a:off x="6751468" y="-3798570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Tune trust score and recommendations on real outcomes</a:t>
            </a:r>
          </a:p>
        </p:txBody>
      </p:sp>
      <p:grpSp>
        <p:nvGrpSpPr>
          <p:cNvPr id="58" name="Group 34">
            <a:extLst>
              <a:ext uri="{FF2B5EF4-FFF2-40B4-BE49-F238E27FC236}">
                <a16:creationId xmlns:a16="http://schemas.microsoft.com/office/drawing/2014/main" id="{A5D2CA1B-EE79-64F0-B168-C2FC37F515C7}"/>
              </a:ext>
            </a:extLst>
          </p:cNvPr>
          <p:cNvGrpSpPr/>
          <p:nvPr/>
        </p:nvGrpSpPr>
        <p:grpSpPr>
          <a:xfrm>
            <a:off x="11926591" y="-8267700"/>
            <a:ext cx="5135118" cy="5916930"/>
            <a:chOff x="0" y="0"/>
            <a:chExt cx="6846824" cy="7889240"/>
          </a:xfrm>
        </p:grpSpPr>
        <p:sp>
          <p:nvSpPr>
            <p:cNvPr id="59" name="Freeform 35">
              <a:extLst>
                <a:ext uri="{FF2B5EF4-FFF2-40B4-BE49-F238E27FC236}">
                  <a16:creationId xmlns:a16="http://schemas.microsoft.com/office/drawing/2014/main" id="{20607EC6-2E77-CFE5-77EE-2DB274048019}"/>
                </a:ext>
              </a:extLst>
            </p:cNvPr>
            <p:cNvSpPr/>
            <p:nvPr/>
          </p:nvSpPr>
          <p:spPr>
            <a:xfrm>
              <a:off x="0" y="0"/>
              <a:ext cx="6846824" cy="7889240"/>
            </a:xfrm>
            <a:custGeom>
              <a:avLst/>
              <a:gdLst/>
              <a:ahLst/>
              <a:cxnLst/>
              <a:rect l="l" t="t" r="r" b="b"/>
              <a:pathLst>
                <a:path w="6846824" h="78892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663309" y="0"/>
                  </a:lnTo>
                  <a:cubicBezTo>
                    <a:pt x="6764655" y="0"/>
                    <a:pt x="6846824" y="82169"/>
                    <a:pt x="6846824" y="183515"/>
                  </a:cubicBezTo>
                  <a:lnTo>
                    <a:pt x="6846824" y="7705725"/>
                  </a:lnTo>
                  <a:cubicBezTo>
                    <a:pt x="6846824" y="7807071"/>
                    <a:pt x="6764655" y="7889240"/>
                    <a:pt x="6663309" y="7889240"/>
                  </a:cubicBezTo>
                  <a:lnTo>
                    <a:pt x="183515" y="7889240"/>
                  </a:lnTo>
                  <a:cubicBezTo>
                    <a:pt x="82169" y="7889240"/>
                    <a:pt x="0" y="7807071"/>
                    <a:pt x="0" y="7705725"/>
                  </a:cubicBezTo>
                  <a:close/>
                </a:path>
              </a:pathLst>
            </a:custGeom>
            <a:solidFill>
              <a:srgbClr val="111C31"/>
            </a:solidFill>
            <a:ln w="19050" cap="sq">
              <a:solidFill>
                <a:srgbClr val="26394F"/>
              </a:solidFill>
              <a:prstDash val="solid"/>
              <a:miter/>
            </a:ln>
          </p:spPr>
        </p:sp>
      </p:grpSp>
      <p:grpSp>
        <p:nvGrpSpPr>
          <p:cNvPr id="60" name="Group 36">
            <a:extLst>
              <a:ext uri="{FF2B5EF4-FFF2-40B4-BE49-F238E27FC236}">
                <a16:creationId xmlns:a16="http://schemas.microsoft.com/office/drawing/2014/main" id="{A4EA3903-3149-9F3C-5094-B4CFA488FEA5}"/>
              </a:ext>
            </a:extLst>
          </p:cNvPr>
          <p:cNvGrpSpPr/>
          <p:nvPr/>
        </p:nvGrpSpPr>
        <p:grpSpPr>
          <a:xfrm>
            <a:off x="12347596" y="-7846695"/>
            <a:ext cx="1920240" cy="548640"/>
            <a:chOff x="0" y="0"/>
            <a:chExt cx="2560320" cy="731520"/>
          </a:xfrm>
        </p:grpSpPr>
        <p:sp>
          <p:nvSpPr>
            <p:cNvPr id="61" name="Freeform 37">
              <a:extLst>
                <a:ext uri="{FF2B5EF4-FFF2-40B4-BE49-F238E27FC236}">
                  <a16:creationId xmlns:a16="http://schemas.microsoft.com/office/drawing/2014/main" id="{72897979-A760-B828-67AD-CDF167F97DF3}"/>
                </a:ext>
              </a:extLst>
            </p:cNvPr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94560" y="0"/>
                  </a:lnTo>
                  <a:cubicBezTo>
                    <a:pt x="2396617" y="0"/>
                    <a:pt x="2560320" y="163703"/>
                    <a:pt x="2560320" y="365760"/>
                  </a:cubicBezTo>
                  <a:cubicBezTo>
                    <a:pt x="2560320" y="567817"/>
                    <a:pt x="2396617" y="731520"/>
                    <a:pt x="21945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62" name="Group 38">
            <a:extLst>
              <a:ext uri="{FF2B5EF4-FFF2-40B4-BE49-F238E27FC236}">
                <a16:creationId xmlns:a16="http://schemas.microsoft.com/office/drawing/2014/main" id="{A584E4C0-5611-5F9D-8BDD-162E4D6841D4}"/>
              </a:ext>
            </a:extLst>
          </p:cNvPr>
          <p:cNvGrpSpPr/>
          <p:nvPr/>
        </p:nvGrpSpPr>
        <p:grpSpPr>
          <a:xfrm>
            <a:off x="12347596" y="-7846695"/>
            <a:ext cx="1920240" cy="548640"/>
            <a:chOff x="0" y="0"/>
            <a:chExt cx="2560320" cy="731520"/>
          </a:xfrm>
        </p:grpSpPr>
        <p:sp>
          <p:nvSpPr>
            <p:cNvPr id="63" name="Freeform 39">
              <a:extLst>
                <a:ext uri="{FF2B5EF4-FFF2-40B4-BE49-F238E27FC236}">
                  <a16:creationId xmlns:a16="http://schemas.microsoft.com/office/drawing/2014/main" id="{AAE1466D-CCD6-D072-350F-7CA83B70CDB4}"/>
                </a:ext>
              </a:extLst>
            </p:cNvPr>
            <p:cNvSpPr/>
            <p:nvPr/>
          </p:nvSpPr>
          <p:spPr>
            <a:xfrm>
              <a:off x="0" y="0"/>
              <a:ext cx="2560320" cy="731520"/>
            </a:xfrm>
            <a:custGeom>
              <a:avLst/>
              <a:gdLst/>
              <a:ahLst/>
              <a:cxnLst/>
              <a:rect l="l" t="t" r="r" b="b"/>
              <a:pathLst>
                <a:path w="2560320" h="7315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8197" b="-18197"/>
              </a:stretch>
            </a:blipFill>
          </p:spPr>
        </p:sp>
        <p:sp>
          <p:nvSpPr>
            <p:cNvPr id="64" name="TextBox 40">
              <a:extLst>
                <a:ext uri="{FF2B5EF4-FFF2-40B4-BE49-F238E27FC236}">
                  <a16:creationId xmlns:a16="http://schemas.microsoft.com/office/drawing/2014/main" id="{E334E977-9F0A-2D06-5106-31678F831CF8}"/>
                </a:ext>
              </a:extLst>
            </p:cNvPr>
            <p:cNvSpPr txBox="1"/>
            <p:nvPr/>
          </p:nvSpPr>
          <p:spPr>
            <a:xfrm>
              <a:off x="0" y="0"/>
              <a:ext cx="2560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B122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Phase 3</a:t>
              </a:r>
            </a:p>
          </p:txBody>
        </p:sp>
      </p:grpSp>
      <p:grpSp>
        <p:nvGrpSpPr>
          <p:cNvPr id="65" name="Group 41">
            <a:extLst>
              <a:ext uri="{FF2B5EF4-FFF2-40B4-BE49-F238E27FC236}">
                <a16:creationId xmlns:a16="http://schemas.microsoft.com/office/drawing/2014/main" id="{E2AA9CD1-7B78-D3D5-5536-9C68425A1FFD}"/>
              </a:ext>
            </a:extLst>
          </p:cNvPr>
          <p:cNvGrpSpPr/>
          <p:nvPr/>
        </p:nvGrpSpPr>
        <p:grpSpPr>
          <a:xfrm>
            <a:off x="12347596" y="-7092315"/>
            <a:ext cx="4293108" cy="822960"/>
            <a:chOff x="0" y="0"/>
            <a:chExt cx="5724144" cy="1097280"/>
          </a:xfrm>
        </p:grpSpPr>
        <p:sp>
          <p:nvSpPr>
            <p:cNvPr id="66" name="Freeform 42">
              <a:extLst>
                <a:ext uri="{FF2B5EF4-FFF2-40B4-BE49-F238E27FC236}">
                  <a16:creationId xmlns:a16="http://schemas.microsoft.com/office/drawing/2014/main" id="{A23D1838-0F4A-3BE6-16B1-C4815B84DACC}"/>
                </a:ext>
              </a:extLst>
            </p:cNvPr>
            <p:cNvSpPr/>
            <p:nvPr/>
          </p:nvSpPr>
          <p:spPr>
            <a:xfrm>
              <a:off x="0" y="0"/>
              <a:ext cx="5724144" cy="1097280"/>
            </a:xfrm>
            <a:custGeom>
              <a:avLst/>
              <a:gdLst/>
              <a:ahLst/>
              <a:cxnLst/>
              <a:rect l="l" t="t" r="r" b="b"/>
              <a:pathLst>
                <a:path w="5724144" h="1097280">
                  <a:moveTo>
                    <a:pt x="0" y="0"/>
                  </a:moveTo>
                  <a:lnTo>
                    <a:pt x="5724144" y="0"/>
                  </a:lnTo>
                  <a:lnTo>
                    <a:pt x="572414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1646" b="-51646"/>
              </a:stretch>
            </a:blipFill>
          </p:spPr>
        </p:sp>
        <p:sp>
          <p:nvSpPr>
            <p:cNvPr id="67" name="TextBox 43">
              <a:extLst>
                <a:ext uri="{FF2B5EF4-FFF2-40B4-BE49-F238E27FC236}">
                  <a16:creationId xmlns:a16="http://schemas.microsoft.com/office/drawing/2014/main" id="{0BF0D99E-2AB0-2BCA-8D3A-557CBD7D9C06}"/>
                </a:ext>
              </a:extLst>
            </p:cNvPr>
            <p:cNvSpPr txBox="1"/>
            <p:nvPr/>
          </p:nvSpPr>
          <p:spPr>
            <a:xfrm>
              <a:off x="0" y="0"/>
              <a:ext cx="5724144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 via partnership</a:t>
              </a:r>
            </a:p>
          </p:txBody>
        </p:sp>
      </p:grpSp>
      <p:sp>
        <p:nvSpPr>
          <p:cNvPr id="68" name="TextBox 44">
            <a:extLst>
              <a:ext uri="{FF2B5EF4-FFF2-40B4-BE49-F238E27FC236}">
                <a16:creationId xmlns:a16="http://schemas.microsoft.com/office/drawing/2014/main" id="{0187EEB9-2AAD-E1E7-CD62-D7AE385D2128}"/>
              </a:ext>
            </a:extLst>
          </p:cNvPr>
          <p:cNvSpPr txBox="1"/>
          <p:nvPr/>
        </p:nvSpPr>
        <p:spPr>
          <a:xfrm>
            <a:off x="12347596" y="-6130290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Multi-state rollout through skilling and NGO channels</a:t>
            </a:r>
          </a:p>
        </p:txBody>
      </p:sp>
      <p:sp>
        <p:nvSpPr>
          <p:cNvPr id="69" name="TextBox 45">
            <a:extLst>
              <a:ext uri="{FF2B5EF4-FFF2-40B4-BE49-F238E27FC236}">
                <a16:creationId xmlns:a16="http://schemas.microsoft.com/office/drawing/2014/main" id="{B5234680-5852-5487-EB90-790940F640FC}"/>
              </a:ext>
            </a:extLst>
          </p:cNvPr>
          <p:cNvSpPr txBox="1"/>
          <p:nvPr/>
        </p:nvSpPr>
        <p:spPr>
          <a:xfrm>
            <a:off x="12347596" y="-4964430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Verified mentor network and employer partnerships</a:t>
            </a:r>
          </a:p>
        </p:txBody>
      </p:sp>
      <p:sp>
        <p:nvSpPr>
          <p:cNvPr id="70" name="TextBox 46">
            <a:extLst>
              <a:ext uri="{FF2B5EF4-FFF2-40B4-BE49-F238E27FC236}">
                <a16:creationId xmlns:a16="http://schemas.microsoft.com/office/drawing/2014/main" id="{00B312BD-9820-6D8B-3325-55B7DC705AFC}"/>
              </a:ext>
            </a:extLst>
          </p:cNvPr>
          <p:cNvSpPr txBox="1"/>
          <p:nvPr/>
        </p:nvSpPr>
        <p:spPr>
          <a:xfrm>
            <a:off x="12347596" y="-3798570"/>
            <a:ext cx="429310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 Wider exam coverage with official-source updates</a:t>
            </a:r>
          </a:p>
        </p:txBody>
      </p:sp>
      <p:grpSp>
        <p:nvGrpSpPr>
          <p:cNvPr id="71" name="Group 47">
            <a:extLst>
              <a:ext uri="{FF2B5EF4-FFF2-40B4-BE49-F238E27FC236}">
                <a16:creationId xmlns:a16="http://schemas.microsoft.com/office/drawing/2014/main" id="{DEAF82D5-1C02-E9AB-9819-7AFDA396FB5A}"/>
              </a:ext>
            </a:extLst>
          </p:cNvPr>
          <p:cNvGrpSpPr/>
          <p:nvPr/>
        </p:nvGrpSpPr>
        <p:grpSpPr>
          <a:xfrm>
            <a:off x="16997320" y="-1468755"/>
            <a:ext cx="822960" cy="411480"/>
            <a:chOff x="0" y="0"/>
            <a:chExt cx="1097280" cy="548640"/>
          </a:xfrm>
        </p:grpSpPr>
        <p:sp>
          <p:nvSpPr>
            <p:cNvPr id="72" name="Freeform 48">
              <a:extLst>
                <a:ext uri="{FF2B5EF4-FFF2-40B4-BE49-F238E27FC236}">
                  <a16:creationId xmlns:a16="http://schemas.microsoft.com/office/drawing/2014/main" id="{5DF8016A-47FE-DB32-A163-70D9D2DE265B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73" name="TextBox 49">
              <a:extLst>
                <a:ext uri="{FF2B5EF4-FFF2-40B4-BE49-F238E27FC236}">
                  <a16:creationId xmlns:a16="http://schemas.microsoft.com/office/drawing/2014/main" id="{43DA17E0-157D-CAF1-A77D-AF94C89D5A42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17</a:t>
              </a:r>
            </a:p>
          </p:txBody>
        </p:sp>
      </p:grpSp>
      <p:grpSp>
        <p:nvGrpSpPr>
          <p:cNvPr id="74" name="Group 2">
            <a:extLst>
              <a:ext uri="{FF2B5EF4-FFF2-40B4-BE49-F238E27FC236}">
                <a16:creationId xmlns:a16="http://schemas.microsoft.com/office/drawing/2014/main" id="{723CDD65-7678-203D-8288-54FDABC54E85}"/>
              </a:ext>
            </a:extLst>
          </p:cNvPr>
          <p:cNvGrpSpPr/>
          <p:nvPr/>
        </p:nvGrpSpPr>
        <p:grpSpPr>
          <a:xfrm>
            <a:off x="-3177540" y="14813280"/>
            <a:ext cx="8915400" cy="8915400"/>
            <a:chOff x="0" y="0"/>
            <a:chExt cx="11887200" cy="11887200"/>
          </a:xfrm>
        </p:grpSpPr>
        <p:sp>
          <p:nvSpPr>
            <p:cNvPr id="75" name="Freeform 3">
              <a:extLst>
                <a:ext uri="{FF2B5EF4-FFF2-40B4-BE49-F238E27FC236}">
                  <a16:creationId xmlns:a16="http://schemas.microsoft.com/office/drawing/2014/main" id="{0013032D-7204-AF62-36B2-1DA9FB599272}"/>
                </a:ext>
              </a:extLst>
            </p:cNvPr>
            <p:cNvSpPr/>
            <p:nvPr/>
          </p:nvSpPr>
          <p:spPr>
            <a:xfrm>
              <a:off x="0" y="0"/>
              <a:ext cx="11887200" cy="11887200"/>
            </a:xfrm>
            <a:custGeom>
              <a:avLst/>
              <a:gdLst/>
              <a:ahLst/>
              <a:cxnLst/>
              <a:rect l="l" t="t" r="r" b="b"/>
              <a:pathLst>
                <a:path w="11887200" h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14B8A6">
                <a:alpha val="1176"/>
              </a:srgbClr>
            </a:solidFill>
          </p:spPr>
        </p:sp>
      </p:grpSp>
      <p:grpSp>
        <p:nvGrpSpPr>
          <p:cNvPr id="76" name="Group 4">
            <a:extLst>
              <a:ext uri="{FF2B5EF4-FFF2-40B4-BE49-F238E27FC236}">
                <a16:creationId xmlns:a16="http://schemas.microsoft.com/office/drawing/2014/main" id="{CA55936D-72C5-FDA5-71CC-415C5EA0A21B}"/>
              </a:ext>
            </a:extLst>
          </p:cNvPr>
          <p:cNvGrpSpPr/>
          <p:nvPr/>
        </p:nvGrpSpPr>
        <p:grpSpPr>
          <a:xfrm>
            <a:off x="1211580" y="12481560"/>
            <a:ext cx="10972800" cy="1508760"/>
            <a:chOff x="0" y="0"/>
            <a:chExt cx="14630400" cy="2011680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6146D50D-825D-6DF6-A99E-37DA2F572008}"/>
                </a:ext>
              </a:extLst>
            </p:cNvPr>
            <p:cNvSpPr/>
            <p:nvPr/>
          </p:nvSpPr>
          <p:spPr>
            <a:xfrm>
              <a:off x="0" y="0"/>
              <a:ext cx="14630400" cy="2011680"/>
            </a:xfrm>
            <a:custGeom>
              <a:avLst/>
              <a:gdLst/>
              <a:ahLst/>
              <a:cxnLst/>
              <a:rect l="l" t="t" r="r" b="b"/>
              <a:pathLst>
                <a:path w="14630400" h="2011680">
                  <a:moveTo>
                    <a:pt x="0" y="0"/>
                  </a:moveTo>
                  <a:lnTo>
                    <a:pt x="14630400" y="0"/>
                  </a:lnTo>
                  <a:lnTo>
                    <a:pt x="1463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1709" b="-91709"/>
              </a:stretch>
            </a:blipFill>
          </p:spPr>
        </p:sp>
        <p:sp>
          <p:nvSpPr>
            <p:cNvPr id="78" name="TextBox 6">
              <a:extLst>
                <a:ext uri="{FF2B5EF4-FFF2-40B4-BE49-F238E27FC236}">
                  <a16:creationId xmlns:a16="http://schemas.microsoft.com/office/drawing/2014/main" id="{96751575-90EA-633D-72C9-3D54ED5FADA0}"/>
                </a:ext>
              </a:extLst>
            </p:cNvPr>
            <p:cNvSpPr txBox="1"/>
            <p:nvPr/>
          </p:nvSpPr>
          <p:spPr>
            <a:xfrm>
              <a:off x="0" y="0"/>
              <a:ext cx="14630400" cy="2011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Thank you</a:t>
              </a:r>
            </a:p>
          </p:txBody>
        </p:sp>
      </p:grpSp>
      <p:grpSp>
        <p:nvGrpSpPr>
          <p:cNvPr id="79" name="Group 7">
            <a:extLst>
              <a:ext uri="{FF2B5EF4-FFF2-40B4-BE49-F238E27FC236}">
                <a16:creationId xmlns:a16="http://schemas.microsoft.com/office/drawing/2014/main" id="{117E76FF-138B-8C4B-1DD9-572456E7CA23}"/>
              </a:ext>
            </a:extLst>
          </p:cNvPr>
          <p:cNvGrpSpPr/>
          <p:nvPr/>
        </p:nvGrpSpPr>
        <p:grpSpPr>
          <a:xfrm>
            <a:off x="1211580" y="13921740"/>
            <a:ext cx="13030200" cy="822960"/>
            <a:chOff x="0" y="0"/>
            <a:chExt cx="17373600" cy="1097280"/>
          </a:xfrm>
        </p:grpSpPr>
        <p:sp>
          <p:nvSpPr>
            <p:cNvPr id="80" name="Freeform 8">
              <a:extLst>
                <a:ext uri="{FF2B5EF4-FFF2-40B4-BE49-F238E27FC236}">
                  <a16:creationId xmlns:a16="http://schemas.microsoft.com/office/drawing/2014/main" id="{2590A9B2-443A-54C5-AF7C-A9AC6BF46132}"/>
                </a:ext>
              </a:extLst>
            </p:cNvPr>
            <p:cNvSpPr/>
            <p:nvPr/>
          </p:nvSpPr>
          <p:spPr>
            <a:xfrm>
              <a:off x="0" y="0"/>
              <a:ext cx="17373600" cy="1097280"/>
            </a:xfrm>
            <a:custGeom>
              <a:avLst/>
              <a:gdLst/>
              <a:ahLst/>
              <a:cxnLst/>
              <a:rect l="l" t="t" r="r" b="b"/>
              <a:pathLst>
                <a:path w="17373600" h="109728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58513" b="-258513"/>
              </a:stretch>
            </a:blipFill>
          </p:spPr>
        </p:sp>
        <p:sp>
          <p:nvSpPr>
            <p:cNvPr id="81" name="TextBox 9">
              <a:extLst>
                <a:ext uri="{FF2B5EF4-FFF2-40B4-BE49-F238E27FC236}">
                  <a16:creationId xmlns:a16="http://schemas.microsoft.com/office/drawing/2014/main" id="{04840165-B619-4D07-B33A-C936222C4D78}"/>
                </a:ext>
              </a:extLst>
            </p:cNvPr>
            <p:cNvSpPr txBox="1"/>
            <p:nvPr/>
          </p:nvSpPr>
          <p:spPr>
            <a:xfrm>
              <a:off x="0" y="-9525"/>
              <a:ext cx="173736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i="1" dirty="0" err="1">
                  <a:solidFill>
                    <a:srgbClr val="CBD5E1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SkillAscend</a:t>
              </a:r>
              <a:r>
                <a:rPr lang="en-US" sz="2850" i="1" dirty="0">
                  <a:solidFill>
                    <a:srgbClr val="CBD5E1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: from unverified to employed.</a:t>
              </a:r>
            </a:p>
          </p:txBody>
        </p:sp>
      </p:grpSp>
      <p:sp>
        <p:nvSpPr>
          <p:cNvPr id="82" name="AutoShape 10">
            <a:extLst>
              <a:ext uri="{FF2B5EF4-FFF2-40B4-BE49-F238E27FC236}">
                <a16:creationId xmlns:a16="http://schemas.microsoft.com/office/drawing/2014/main" id="{B9B5A2D1-2ABA-CC68-E873-E16A6761E90B}"/>
              </a:ext>
            </a:extLst>
          </p:cNvPr>
          <p:cNvSpPr/>
          <p:nvPr/>
        </p:nvSpPr>
        <p:spPr>
          <a:xfrm rot="39360">
            <a:off x="1192425" y="15078075"/>
            <a:ext cx="3330159" cy="0"/>
          </a:xfrm>
          <a:prstGeom prst="line">
            <a:avLst/>
          </a:prstGeom>
          <a:ln w="19050" cap="rnd">
            <a:solidFill>
              <a:srgbClr val="14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3" name="Group 11">
            <a:extLst>
              <a:ext uri="{FF2B5EF4-FFF2-40B4-BE49-F238E27FC236}">
                <a16:creationId xmlns:a16="http://schemas.microsoft.com/office/drawing/2014/main" id="{4578FB6B-73C7-A573-3B69-A86FFED8757F}"/>
              </a:ext>
            </a:extLst>
          </p:cNvPr>
          <p:cNvGrpSpPr/>
          <p:nvPr/>
        </p:nvGrpSpPr>
        <p:grpSpPr>
          <a:xfrm>
            <a:off x="1211580" y="15430500"/>
            <a:ext cx="8229600" cy="548640"/>
            <a:chOff x="0" y="0"/>
            <a:chExt cx="10972800" cy="731520"/>
          </a:xfrm>
        </p:grpSpPr>
        <p:sp>
          <p:nvSpPr>
            <p:cNvPr id="84" name="Freeform 12">
              <a:extLst>
                <a:ext uri="{FF2B5EF4-FFF2-40B4-BE49-F238E27FC236}">
                  <a16:creationId xmlns:a16="http://schemas.microsoft.com/office/drawing/2014/main" id="{BFA12475-40FC-E3F6-DFEE-FDACBF1C681F}"/>
                </a:ext>
              </a:extLst>
            </p:cNvPr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85" name="TextBox 13">
              <a:extLst>
                <a:ext uri="{FF2B5EF4-FFF2-40B4-BE49-F238E27FC236}">
                  <a16:creationId xmlns:a16="http://schemas.microsoft.com/office/drawing/2014/main" id="{8CE6F761-5386-D687-49B8-190343E2D414}"/>
                </a:ext>
              </a:extLst>
            </p:cNvPr>
            <p:cNvSpPr txBox="1"/>
            <p:nvPr/>
          </p:nvSpPr>
          <p:spPr>
            <a:xfrm>
              <a:off x="0" y="0"/>
              <a:ext cx="10972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Questions welcome.</a:t>
              </a:r>
            </a:p>
          </p:txBody>
        </p:sp>
      </p:grpSp>
      <p:grpSp>
        <p:nvGrpSpPr>
          <p:cNvPr id="86" name="Group 14">
            <a:extLst>
              <a:ext uri="{FF2B5EF4-FFF2-40B4-BE49-F238E27FC236}">
                <a16:creationId xmlns:a16="http://schemas.microsoft.com/office/drawing/2014/main" id="{5E9A3B14-501E-E816-0738-A037EF316B73}"/>
              </a:ext>
            </a:extLst>
          </p:cNvPr>
          <p:cNvGrpSpPr/>
          <p:nvPr/>
        </p:nvGrpSpPr>
        <p:grpSpPr>
          <a:xfrm>
            <a:off x="17465040" y="18790920"/>
            <a:ext cx="822960" cy="411480"/>
            <a:chOff x="0" y="0"/>
            <a:chExt cx="1097280" cy="548640"/>
          </a:xfrm>
        </p:grpSpPr>
        <p:sp>
          <p:nvSpPr>
            <p:cNvPr id="87" name="Freeform 15">
              <a:extLst>
                <a:ext uri="{FF2B5EF4-FFF2-40B4-BE49-F238E27FC236}">
                  <a16:creationId xmlns:a16="http://schemas.microsoft.com/office/drawing/2014/main" id="{3F0B3C7E-B85D-0137-654E-83F31932DB30}"/>
                </a:ext>
              </a:extLst>
            </p:cNvPr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88" name="TextBox 16">
              <a:extLst>
                <a:ext uri="{FF2B5EF4-FFF2-40B4-BE49-F238E27FC236}">
                  <a16:creationId xmlns:a16="http://schemas.microsoft.com/office/drawing/2014/main" id="{40F73B0C-0D5F-9322-B108-5391527EADEE}"/>
                </a:ext>
              </a:extLst>
            </p:cNvPr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174010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9000" y="5760720"/>
            <a:ext cx="8915400" cy="8915400"/>
            <a:chOff x="0" y="0"/>
            <a:chExt cx="11887200" cy="1188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87200" cy="11887200"/>
            </a:xfrm>
            <a:custGeom>
              <a:avLst/>
              <a:gdLst/>
              <a:ahLst/>
              <a:cxnLst/>
              <a:rect l="l" t="t" r="r" b="b"/>
              <a:pathLst>
                <a:path w="11887200" h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14B8A6">
                <a:alpha val="1176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60120" y="3429000"/>
            <a:ext cx="10972800" cy="1508760"/>
            <a:chOff x="0" y="0"/>
            <a:chExt cx="14630400" cy="20116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2011680"/>
            </a:xfrm>
            <a:custGeom>
              <a:avLst/>
              <a:gdLst/>
              <a:ahLst/>
              <a:cxnLst/>
              <a:rect l="l" t="t" r="r" b="b"/>
              <a:pathLst>
                <a:path w="14630400" h="2011680">
                  <a:moveTo>
                    <a:pt x="0" y="0"/>
                  </a:moveTo>
                  <a:lnTo>
                    <a:pt x="14630400" y="0"/>
                  </a:lnTo>
                  <a:lnTo>
                    <a:pt x="14630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709" b="-9170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2011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Thank you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0120" y="4869180"/>
            <a:ext cx="13030200" cy="822960"/>
            <a:chOff x="0" y="0"/>
            <a:chExt cx="1737360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373600" cy="1097280"/>
            </a:xfrm>
            <a:custGeom>
              <a:avLst/>
              <a:gdLst/>
              <a:ahLst/>
              <a:cxnLst/>
              <a:rect l="l" t="t" r="r" b="b"/>
              <a:pathLst>
                <a:path w="17373600" h="109728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513" b="-2585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73736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i="1" dirty="0" err="1">
                  <a:solidFill>
                    <a:srgbClr val="CBD5E1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SkillAscend</a:t>
              </a:r>
              <a:r>
                <a:rPr lang="en-US" sz="2850" i="1" dirty="0">
                  <a:solidFill>
                    <a:srgbClr val="CBD5E1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: from unverified to employed.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 rot="39360">
            <a:off x="940965" y="6025515"/>
            <a:ext cx="3330159" cy="0"/>
          </a:xfrm>
          <a:prstGeom prst="line">
            <a:avLst/>
          </a:prstGeom>
          <a:ln w="19050" cap="rnd">
            <a:solidFill>
              <a:srgbClr val="14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960120" y="6377940"/>
            <a:ext cx="8229600" cy="548640"/>
            <a:chOff x="0" y="0"/>
            <a:chExt cx="1097280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0972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Questions welcome.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213580" y="9738360"/>
            <a:ext cx="822960" cy="411480"/>
            <a:chOff x="0" y="0"/>
            <a:chExt cx="1097280" cy="548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0972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20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579CBF7-F489-E67A-91DC-FAE44705A4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583" y="-10201289"/>
            <a:ext cx="4229100" cy="8458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AFAFA70-2BE2-9254-C7AB-82663FA34C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12" y="-10201289"/>
            <a:ext cx="4229100" cy="8458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B5D40F-DD47-3626-62D2-32B95E24677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520" y="-10315589"/>
            <a:ext cx="4286250" cy="8572500"/>
          </a:xfrm>
          <a:prstGeom prst="rect">
            <a:avLst/>
          </a:prstGeom>
        </p:spPr>
      </p:pic>
      <p:grpSp>
        <p:nvGrpSpPr>
          <p:cNvPr id="20" name="Group 2">
            <a:extLst>
              <a:ext uri="{FF2B5EF4-FFF2-40B4-BE49-F238E27FC236}">
                <a16:creationId xmlns:a16="http://schemas.microsoft.com/office/drawing/2014/main" id="{7F178AD8-4BEC-3631-3CEE-82035C582F4D}"/>
              </a:ext>
            </a:extLst>
          </p:cNvPr>
          <p:cNvGrpSpPr/>
          <p:nvPr/>
        </p:nvGrpSpPr>
        <p:grpSpPr>
          <a:xfrm>
            <a:off x="777240" y="-10993769"/>
            <a:ext cx="12344400" cy="480060"/>
            <a:chOff x="0" y="0"/>
            <a:chExt cx="16459200" cy="640080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AB3CE4B0-4B5B-E961-1FE9-260C067A169B}"/>
                </a:ext>
              </a:extLst>
            </p:cNvPr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22" name="TextBox 4">
              <a:extLst>
                <a:ext uri="{FF2B5EF4-FFF2-40B4-BE49-F238E27FC236}">
                  <a16:creationId xmlns:a16="http://schemas.microsoft.com/office/drawing/2014/main" id="{0EB39FD6-0727-C58B-6EC0-89663B2DB900}"/>
                </a:ext>
              </a:extLst>
            </p:cNvPr>
            <p:cNvSpPr txBox="1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 spc="299" dirty="0">
                  <a:solidFill>
                    <a:srgbClr val="14B8A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LOOK OF OUR APPLICATION: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6053</Words>
  <Application>Microsoft Office PowerPoint</Application>
  <PresentationFormat>Custom</PresentationFormat>
  <Paragraphs>934</Paragraphs>
  <Slides>18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Calibri (MS)</vt:lpstr>
      <vt:lpstr>Inter Bold</vt:lpstr>
      <vt:lpstr>Arial</vt:lpstr>
      <vt:lpstr>Montserrat Italics</vt:lpstr>
      <vt:lpstr>Montserrat Bold</vt:lpstr>
      <vt:lpstr>Inter Italics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SkillAscend_Pitch_Deck_v4.pptx</dc:title>
  <cp:lastModifiedBy>Yadav Amey</cp:lastModifiedBy>
  <cp:revision>6</cp:revision>
  <dcterms:created xsi:type="dcterms:W3CDTF">2006-08-16T00:00:00Z</dcterms:created>
  <dcterms:modified xsi:type="dcterms:W3CDTF">2026-09-30T01:03:49Z</dcterms:modified>
  <dc:identifier>DAHWldtMzsY</dc:identifier>
</cp:coreProperties>
</file>